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01 starts with a practical question: why use a desktop app if you already use Copilot in an editor or terminal? Then it tours the main navigation, compares chats with project sessions, and covers modes, models, and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Why use the app, Tour the app, Sessions, modes,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the why. The editor and terminal are great for work next to the code you already have open. The app focuses on the supervision loop around agent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problems show up when you supervise agent work from an editor or terminal alone. Two agent tasks can blur together in one folder and branch. The plan, diff, tests, and PR live in different tools. A quick question and a real change feel the same until files start changing. Plan steps and checks scroll away in a long chat. And you retype the same prompts every week. The app answers each one. It does not replace your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have to choose one tool. Keep VS Code, Visual Studio, JetBrains, or your usual editor for deep editing. Use the app as a single desktop control center to run and review agent work. From the app, you can open the same project in VS Code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a quick tour of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New is the landing view, where you start a chat or project session and choose a mode and model. Pull requests and Issues list GitHub work that involves you. Dashboards shows My Work widgets for pull requests and issues. Automations holds recurring agent tasks. Customize is where you manage skills, MCP servers, plugins, extensions, and canvases, which Chapters 04 to 06 cover. The Sessions area lists connected repositories and their project sessions. A Chats row appears after your first chat.</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7</ns1:t>
            </ns1:fld>
            <ns1:endParaRPr lang="en-US"/>
          </ns1:p>
        </ns0:txBody>
      </ns0:sp>
    </ns0:spTree>
    <ns0:extLst>
      <ns0:ext uri="{BB962C8B-B14F-4D97-AF65-F5344CB8AC3E}">
        <ns2:creationId val="1024086991"/>
      </ns0:ext>
    </ns0:extLst>
  </ns0:cSld>
  <ns0:clrMapOvr>
    <ns1:masterClrMapping/>
  </ns0:clrMapOvr>
</ns0: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Pull requests view lists GitHub pull requests that involve you. Tabs such as Authored by me and Review requests filter the list. Use the filter icon, select query mode, and enter repo:OWNER/REPOSITORY to limit results to one repository. Open a pull request to read its checks and comments, or start a session to work on it. The Issues view works the same way, with tabs such as Assigned to me and Created by me. You can start a session from an issue or create a new one.</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Automations view shows tasks that run manually, on a schedule, or from events, locally or in the cloud. Chapter 07 covers automations. Settings opens from the gear icon at the bottom of the sidebar. Sessions holds app-wide instructions and branch naming. Model providers add your own models and keys; they do not replace the model picker. Voice dictation is optional and turns speech into editable prompt text. Repository settings are available from the repository menu. You do not need to change anything now.</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9</ns1:t>
            </ns1:fld>
            <ns1:endParaRPr lang="en-US"/>
          </ns1:p>
        </ns0:txBody>
      </ns0:sp>
    </ns0:spTree>
    <ns0:extLst>
      <ns0:ext uri="{BB962C8B-B14F-4D97-AF65-F5344CB8AC3E}">
        <ns2:creationId val="1024086991"/>
      </ns0:ext>
    </ns0:extLst>
  </ns0:cSld>
  <ns0:clrMapOvr>
    <ns1:masterClrMapping/>
  </ns0:clrMapOvr>
</ns0: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sessions, modes,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quick questions just need a fast answer. Some takes need close direction. Some need the arrangement charted out first. The app works the same way: first you choose the kind of session, then a mode for how closely you direct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Try both session types. Select the plus next to Sessions, then Chat, and confirm the project picker shows Chat. Ask when to use each session type. No branch or worktree is created. Then return to the project session from Chapter 00 and ask for a tour of the Book App. The full prompt in the chapter also asks for technologies, data flow, tests, and a reading order. The Chapter 00 session used Current checkout on purpose. The app remembers that choice, so you will switch back to New worktree in Chapter 02.</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12</ns1:t>
            </ns1:fld>
            <ns1:endParaRPr lang="en-US"/>
          </ns1:p>
        </ns0:txBody>
      </ns0:sp>
    </ns0:spTree>
    <ns0:extLst>
      <ns0:ext uri="{BB962C8B-B14F-4D97-AF65-F5344CB8AC3E}">
        <ns2:creationId val="1024086991"/>
      </ns0:ext>
    </ns0:extLst>
  </ns0:cSld>
  <ns0:clrMapOvr>
    <ns1:masterClrMapping/>
  </ns0:clrMapOvr>
</ns0: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is step-by-step collaboration. Plan creates a plan before executing. Autopilot is end-to-end execution without interruption. The mode menu also has Tool permissions: Always ask asks before each tool, Approve all runs tools without asking, and Assisted asks only when a tool request fails an AI safety check. Check this setting so you know when to expect approval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model control is below the prompt box, next to the mode selector. Copilot Fusion offers Standard, High, and Max effort levels. Fusion selects models for the request; it is not a single model. This differs from Autopilot, which controls how independently the agent works. Individual model choices can show Model, Effort, and Context window controls. A larger context window helps long sessions but uses more AI credits. For a tour or short explanation, keep Standard or the model default. For a hard bug or multi-file change, consider a higher effort or a stronger model; neither guarantees a correct answer.</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14</ns1:t>
            </ns1:fld>
            <ns1:endParaRPr lang="en-US"/>
          </ns1:p>
        </ns0:txBody>
      </ns0:sp>
    </ns0:spTree>
    <ns0:extLst>
      <ns0:ext uri="{BB962C8B-B14F-4D97-AF65-F5344CB8AC3E}">
        <ns2:creationId val="1024086991"/>
      </ns0:ext>
    </ns0:extLst>
  </ns0:cSld>
  <ns0:clrMapOvr>
    <ns1:masterClrMapping/>
  </ns0:clrMapOvr>
</ns0: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features save time in the prompt box. If a response does not work for you, select Retry below it and pick a different model, reasoning effort, or context window. You do not retype the prompt. Press Ctrl+R, or Cmd+R on macOS, to open your prompt history across all sessions. Search it and select a prompt to reuse it. Voice dictation is on by default. It turns speech into prompt text that you can edit before you send it. You can change the microphone and transcription model in Settings, Voice dictation, and the operating system must allow microphone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Recap the chapter. Keep the model and effort defaults for simple tasks. Next, Chapter 02 solves the shared working copy problem with isolated worktree sessions and focused context with @, #, and /.</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16</ns1:t>
            </ns1:fld>
            <ns1:endParaRPr lang="en-US"/>
          </ns1:p>
        </ns0:txBody>
      </ns0:sp>
    </ns0:spTree>
    <ns0:extLst>
      <ns0:ext uri="{BB962C8B-B14F-4D97-AF65-F5344CB8AC3E}">
        <ns2:creationId val="1024086991"/>
      </ns0:ext>
    </ns0:extLst>
  </ns0:cSld>
  <ns0:clrMapOvr>
    <ns1:masterClrMapping/>
  </ns0:clrMapOvr>
</ns0: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5" Type="http://schemas.openxmlformats.org/officeDocument/2006/relationships/hyperlink" Target="https://github.com/github/copilot-app-for-beginners/tree/main/01-tour-the-app"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jp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jpg"/><Relationship Id="rId5" Type="http://schemas.openxmlformats.org/officeDocument/2006/relationships/image" Target="../media/image-13-4.png"/><Relationship Id="rId6" Type="http://schemas.openxmlformats.org/officeDocument/2006/relationships/image" Target="../media/image-13-5.png"/><Relationship Id="rId7" Type="http://schemas.openxmlformats.org/officeDocument/2006/relationships/image" Target="../media/image-13-6.png"/><Relationship Id="rId8" Type="http://schemas.openxmlformats.org/officeDocument/2006/relationships/image" Target="../media/image-13-7.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image" Target="../media/image-14-5.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5" Type="http://schemas.openxmlformats.org/officeDocument/2006/relationships/hyperlink" Target="https://github.com/github/copilot-app-for-beginners/tree/main/01-tour-the-app" TargetMode="External"/><Relationship Id="rId6"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image" Target="../media/image-16-3.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1128713"/>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01</a:t>
            </a:r>
            <a:endParaRPr lang="en-US" sz="1450" dirty="0"/>
          </a:p>
        </p:txBody>
      </p:sp>
      <p:sp>
        <p:nvSpPr>
          <p:cNvPr id="5" name="Text 1"/>
          <p:cNvSpPr/>
          <p:nvPr/>
        </p:nvSpPr>
        <p:spPr>
          <a:xfrm>
            <a:off x="1015901" y="1439763"/>
            <a:ext cx="6088279" cy="6096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Tour the App</a:t>
            </a:r>
            <a:endParaRPr lang="en-US" sz="4200" dirty="0"/>
          </a:p>
        </p:txBody>
      </p:sp>
      <p:sp>
        <p:nvSpPr>
          <p:cNvPr id="6" name="Text 2"/>
          <p:cNvSpPr/>
          <p:nvPr/>
        </p:nvSpPr>
        <p:spPr>
          <a:xfrm>
            <a:off x="1015901" y="22779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569964"/>
            <a:ext cx="6088279" cy="99074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you could move from first prompt to pull request without piecing together context across tools?</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825776"/>
            <a:ext cx="177701" cy="177701"/>
          </a:xfrm>
          <a:prstGeom prst="rect">
            <a:avLst/>
          </a:prstGeom>
        </p:spPr>
      </p:pic>
      <p:sp>
        <p:nvSpPr>
          <p:cNvPr id="9" name="Text 4"/>
          <p:cNvSpPr/>
          <p:nvPr/>
        </p:nvSpPr>
        <p:spPr>
          <a:xfrm>
            <a:off x="1282452" y="3814614"/>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1-tour-the-app"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01</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279475"/>
            <a:ext cx="8127950" cy="1073200"/>
          </a:xfrm>
          <a:prstGeom prst="roundRect">
            <a:avLst>
              <a:gd name="adj" fmla="val 9467"/>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284238"/>
            <a:ext cx="8127950" cy="0"/>
          </a:xfrm>
          <a:prstGeom prst="line">
            <a:avLst/>
          </a:prstGeom>
          <a:noFill/>
          <a:ln w="9525">
            <a:solidFill>
              <a:srgbClr val="9CD7FF"/>
            </a:solidFill>
            <a:prstDash val="solid"/>
          </a:ln>
        </p:spPr>
      </p:sp>
      <p:sp>
        <p:nvSpPr>
          <p:cNvPr id="10" name="Shape 6"/>
          <p:cNvSpPr/>
          <p:nvPr/>
        </p:nvSpPr>
        <p:spPr>
          <a:xfrm>
            <a:off x="8631138" y="1279475"/>
            <a:ext cx="0" cy="1073200"/>
          </a:xfrm>
          <a:prstGeom prst="line">
            <a:avLst/>
          </a:prstGeom>
          <a:noFill/>
          <a:ln w="9525">
            <a:solidFill>
              <a:srgbClr val="9CD7FF"/>
            </a:solidFill>
            <a:prstDash val="solid"/>
          </a:ln>
        </p:spPr>
      </p:sp>
      <p:sp>
        <p:nvSpPr>
          <p:cNvPr id="11" name="Shape 7"/>
          <p:cNvSpPr/>
          <p:nvPr/>
        </p:nvSpPr>
        <p:spPr>
          <a:xfrm>
            <a:off x="507950" y="2347912"/>
            <a:ext cx="8127950" cy="0"/>
          </a:xfrm>
          <a:prstGeom prst="line">
            <a:avLst/>
          </a:prstGeom>
          <a:noFill/>
          <a:ln w="9525">
            <a:solidFill>
              <a:srgbClr val="9CD7FF"/>
            </a:solidFill>
            <a:prstDash val="solid"/>
          </a:ln>
        </p:spPr>
      </p:sp>
      <p:sp>
        <p:nvSpPr>
          <p:cNvPr id="12" name="Shape 8"/>
          <p:cNvSpPr/>
          <p:nvPr/>
        </p:nvSpPr>
        <p:spPr>
          <a:xfrm>
            <a:off x="546050" y="1279475"/>
            <a:ext cx="0" cy="1073200"/>
          </a:xfrm>
          <a:prstGeom prst="line">
            <a:avLst/>
          </a:prstGeom>
          <a:noFill/>
          <a:ln w="76200">
            <a:solidFill>
              <a:srgbClr val="0969DA"/>
            </a:solidFill>
            <a:prstDash val="solid"/>
          </a:ln>
        </p:spPr>
      </p:sp>
      <p:sp>
        <p:nvSpPr>
          <p:cNvPr id="13" name="Text 9"/>
          <p:cNvSpPr/>
          <p:nvPr/>
        </p:nvSpPr>
        <p:spPr>
          <a:xfrm>
            <a:off x="812750" y="160168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441400"/>
            <a:ext cx="690772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Why use the app</a:t>
            </a:r>
            <a:endParaRPr lang="en-US" sz="1800" dirty="0"/>
          </a:p>
        </p:txBody>
      </p:sp>
      <p:sp>
        <p:nvSpPr>
          <p:cNvPr id="15" name="Text 11"/>
          <p:cNvSpPr/>
          <p:nvPr/>
        </p:nvSpPr>
        <p:spPr>
          <a:xfrm>
            <a:off x="1625501" y="1758851"/>
            <a:ext cx="6907721" cy="431899"/>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Copilot already works next to your code. The app solves a different problem: supervising agent work end to end.</a:t>
            </a:r>
            <a:endParaRPr lang="en-US" sz="1450" dirty="0"/>
          </a:p>
        </p:txBody>
      </p:sp>
      <p:sp>
        <p:nvSpPr>
          <p:cNvPr id="16" name="Text 12"/>
          <p:cNvSpPr/>
          <p:nvPr/>
        </p:nvSpPr>
        <p:spPr>
          <a:xfrm>
            <a:off x="507950" y="2505075"/>
            <a:ext cx="8127950" cy="1073200"/>
          </a:xfrm>
          <a:prstGeom prst="roundRect">
            <a:avLst>
              <a:gd name="adj" fmla="val 9467"/>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1073200"/>
          </a:xfrm>
          <a:prstGeom prst="line">
            <a:avLst/>
          </a:prstGeom>
          <a:noFill/>
          <a:ln w="9525">
            <a:solidFill>
              <a:srgbClr val="E0C5FF"/>
            </a:solidFill>
            <a:prstDash val="solid"/>
          </a:ln>
        </p:spPr>
      </p:sp>
      <p:sp>
        <p:nvSpPr>
          <p:cNvPr id="19" name="Shape 15"/>
          <p:cNvSpPr/>
          <p:nvPr/>
        </p:nvSpPr>
        <p:spPr>
          <a:xfrm>
            <a:off x="507950" y="3573512"/>
            <a:ext cx="8127950" cy="0"/>
          </a:xfrm>
          <a:prstGeom prst="line">
            <a:avLst/>
          </a:prstGeom>
          <a:noFill/>
          <a:ln w="9525">
            <a:solidFill>
              <a:srgbClr val="E0C5FF"/>
            </a:solidFill>
            <a:prstDash val="solid"/>
          </a:ln>
        </p:spPr>
      </p:sp>
      <p:sp>
        <p:nvSpPr>
          <p:cNvPr id="20" name="Shape 16"/>
          <p:cNvSpPr/>
          <p:nvPr/>
        </p:nvSpPr>
        <p:spPr>
          <a:xfrm>
            <a:off x="546050" y="2505075"/>
            <a:ext cx="0" cy="1073200"/>
          </a:xfrm>
          <a:prstGeom prst="line">
            <a:avLst/>
          </a:prstGeom>
          <a:noFill/>
          <a:ln w="76200">
            <a:solidFill>
              <a:srgbClr val="8250DF"/>
            </a:solidFill>
            <a:prstDash val="solid"/>
          </a:ln>
        </p:spPr>
      </p:sp>
      <p:sp>
        <p:nvSpPr>
          <p:cNvPr id="21" name="Text 17"/>
          <p:cNvSpPr/>
          <p:nvPr/>
        </p:nvSpPr>
        <p:spPr>
          <a:xfrm>
            <a:off x="812750" y="28272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690772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Tour the app</a:t>
            </a:r>
            <a:endParaRPr lang="en-US" sz="1800" dirty="0"/>
          </a:p>
        </p:txBody>
      </p:sp>
      <p:sp>
        <p:nvSpPr>
          <p:cNvPr id="23" name="Text 19"/>
          <p:cNvSpPr/>
          <p:nvPr/>
        </p:nvSpPr>
        <p:spPr>
          <a:xfrm>
            <a:off x="1625501" y="2984450"/>
            <a:ext cx="6907721" cy="431899"/>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Learn where you start work, find GitHub items, save repeat tasks, and extend the app.</a:t>
            </a:r>
            <a:endParaRPr lang="en-US" sz="1450" dirty="0"/>
          </a:p>
        </p:txBody>
      </p:sp>
      <p:sp>
        <p:nvSpPr>
          <p:cNvPr id="24" name="Text 20"/>
          <p:cNvSpPr/>
          <p:nvPr/>
        </p:nvSpPr>
        <p:spPr>
          <a:xfrm>
            <a:off x="507950" y="373067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735437"/>
            <a:ext cx="8127950" cy="0"/>
          </a:xfrm>
          <a:prstGeom prst="line">
            <a:avLst/>
          </a:prstGeom>
          <a:noFill/>
          <a:ln w="9525">
            <a:solidFill>
              <a:srgbClr val="8CE7A5"/>
            </a:solidFill>
            <a:prstDash val="solid"/>
          </a:ln>
        </p:spPr>
      </p:sp>
      <p:sp>
        <p:nvSpPr>
          <p:cNvPr id="26" name="Shape 22"/>
          <p:cNvSpPr/>
          <p:nvPr/>
        </p:nvSpPr>
        <p:spPr>
          <a:xfrm>
            <a:off x="8631138" y="3730675"/>
            <a:ext cx="0" cy="857250"/>
          </a:xfrm>
          <a:prstGeom prst="line">
            <a:avLst/>
          </a:prstGeom>
          <a:noFill/>
          <a:ln w="9525">
            <a:solidFill>
              <a:srgbClr val="8CE7A5"/>
            </a:solidFill>
            <a:prstDash val="solid"/>
          </a:ln>
        </p:spPr>
      </p:sp>
      <p:sp>
        <p:nvSpPr>
          <p:cNvPr id="27" name="Shape 23"/>
          <p:cNvSpPr/>
          <p:nvPr/>
        </p:nvSpPr>
        <p:spPr>
          <a:xfrm>
            <a:off x="507950" y="4583162"/>
            <a:ext cx="8127950" cy="0"/>
          </a:xfrm>
          <a:prstGeom prst="line">
            <a:avLst/>
          </a:prstGeom>
          <a:noFill/>
          <a:ln w="9525">
            <a:solidFill>
              <a:srgbClr val="8CE7A5"/>
            </a:solidFill>
            <a:prstDash val="solid"/>
          </a:ln>
        </p:spPr>
      </p:sp>
      <p:sp>
        <p:nvSpPr>
          <p:cNvPr id="28" name="Shape 24"/>
          <p:cNvSpPr/>
          <p:nvPr/>
        </p:nvSpPr>
        <p:spPr>
          <a:xfrm>
            <a:off x="546050" y="3730675"/>
            <a:ext cx="0" cy="857250"/>
          </a:xfrm>
          <a:prstGeom prst="line">
            <a:avLst/>
          </a:prstGeom>
          <a:noFill/>
          <a:ln w="76200">
            <a:solidFill>
              <a:srgbClr val="1A7F37"/>
            </a:solidFill>
            <a:prstDash val="solid"/>
          </a:ln>
        </p:spPr>
      </p:sp>
      <p:sp>
        <p:nvSpPr>
          <p:cNvPr id="29" name="Text 25"/>
          <p:cNvSpPr/>
          <p:nvPr/>
        </p:nvSpPr>
        <p:spPr>
          <a:xfrm>
            <a:off x="812750" y="3944987"/>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892600"/>
            <a:ext cx="5835524"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Sessions, modes, and models</a:t>
            </a:r>
            <a:endParaRPr lang="en-US" sz="1800" dirty="0"/>
          </a:p>
        </p:txBody>
      </p:sp>
      <p:sp>
        <p:nvSpPr>
          <p:cNvPr id="31" name="Text 27"/>
          <p:cNvSpPr/>
          <p:nvPr/>
        </p:nvSpPr>
        <p:spPr>
          <a:xfrm>
            <a:off x="1625501" y="4210050"/>
            <a:ext cx="5835524"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Pick the session type, mode, and model that fit the task in front of you.</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8"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41312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1724174"/>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Why use the app</a:t>
            </a:r>
            <a:endParaRPr lang="en-US" sz="4000" dirty="0"/>
          </a:p>
        </p:txBody>
      </p:sp>
      <p:sp>
        <p:nvSpPr>
          <p:cNvPr id="11" name="Text 7"/>
          <p:cNvSpPr/>
          <p:nvPr/>
        </p:nvSpPr>
        <p:spPr>
          <a:xfrm>
            <a:off x="711101" y="251147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
        <p:nvSpPr>
          <p:cNvPr id="12" name="Text 8"/>
          <p:cNvSpPr/>
          <p:nvPr/>
        </p:nvSpPr>
        <p:spPr>
          <a:xfrm>
            <a:off x="711101" y="2778026"/>
            <a:ext cx="5570169" cy="95235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Copilot already works next to your code. The app solves a different problem: supervising agent work end to end.</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THE CHALLENGE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Supervising agent work is the hard part</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When work is spread across tools, you ask "where was I?"</a:t>
            </a:r>
            <a:endParaRPr lang="en-US" sz="1650" dirty="0"/>
          </a:p>
        </p:txBody>
      </p:sp>
      <p:sp>
        <p:nvSpPr>
          <p:cNvPr id="9" name="Text 5"/>
          <p:cNvSpPr/>
          <p:nvPr/>
        </p:nvSpPr>
        <p:spPr>
          <a:xfrm>
            <a:off x="507950" y="1574750"/>
            <a:ext cx="8127950" cy="2641253"/>
          </a:xfrm>
          <a:prstGeom prst="roundRect">
            <a:avLst>
              <a:gd name="adj" fmla="val 3847"/>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1584275"/>
            <a:ext cx="8108900" cy="326975"/>
          </a:xfrm>
          <a:prstGeom prst="rect">
            <a:avLst/>
          </a:prstGeom>
          <a:solidFill>
            <a:srgbClr val="DDF4FF"/>
          </a:solidFill>
          <a:ln/>
        </p:spPr>
        <p:txBody>
          <a:bodyPr wrap="square" rtlCol="0" anchor="ctr"/>
          <a:lstStyle/>
          <a:p>
            <a:pPr indent="0" marL="0">
              <a:buNone/>
            </a:pPr>
            <a:endParaRPr lang="en-US" dirty="0"/>
          </a:p>
        </p:txBody>
      </p:sp>
      <p:sp>
        <p:nvSpPr>
          <p:cNvPr id="11" name="Shape 7"/>
          <p:cNvSpPr/>
          <p:nvPr/>
        </p:nvSpPr>
        <p:spPr>
          <a:xfrm>
            <a:off x="517475" y="1906488"/>
            <a:ext cx="8108900" cy="0"/>
          </a:xfrm>
          <a:prstGeom prst="line">
            <a:avLst/>
          </a:prstGeom>
          <a:noFill/>
          <a:ln w="9525">
            <a:solidFill>
              <a:srgbClr val="9CD7FF"/>
            </a:solidFill>
            <a:prstDash val="solid"/>
          </a:ln>
        </p:spPr>
      </p:sp>
      <p:sp>
        <p:nvSpPr>
          <p:cNvPr id="12" name="Text 8"/>
          <p:cNvSpPr/>
          <p:nvPr/>
        </p:nvSpPr>
        <p:spPr>
          <a:xfrm>
            <a:off x="669875" y="1660475"/>
            <a:ext cx="189118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CHALLENGE</a:t>
            </a:r>
            <a:endParaRPr lang="en-US" sz="1150" dirty="0"/>
          </a:p>
        </p:txBody>
      </p:sp>
      <p:sp>
        <p:nvSpPr>
          <p:cNvPr id="13" name="Text 9"/>
          <p:cNvSpPr/>
          <p:nvPr/>
        </p:nvSpPr>
        <p:spPr>
          <a:xfrm>
            <a:off x="2828776" y="1660475"/>
            <a:ext cx="577738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WHAT THE APP ADDS</a:t>
            </a:r>
            <a:endParaRPr lang="en-US" sz="1150" dirty="0"/>
          </a:p>
        </p:txBody>
      </p:sp>
      <p:sp>
        <p:nvSpPr>
          <p:cNvPr id="14" name="Shape 10"/>
          <p:cNvSpPr/>
          <p:nvPr/>
        </p:nvSpPr>
        <p:spPr>
          <a:xfrm>
            <a:off x="517475" y="2326035"/>
            <a:ext cx="8108900" cy="0"/>
          </a:xfrm>
          <a:prstGeom prst="line">
            <a:avLst/>
          </a:prstGeom>
          <a:noFill/>
          <a:ln w="9525">
            <a:solidFill>
              <a:srgbClr val="D1D9E0"/>
            </a:solidFill>
            <a:prstDash val="solid"/>
          </a:ln>
        </p:spPr>
      </p:sp>
      <p:sp>
        <p:nvSpPr>
          <p:cNvPr id="15" name="Text 11"/>
          <p:cNvSpPr/>
          <p:nvPr/>
        </p:nvSpPr>
        <p:spPr>
          <a:xfrm>
            <a:off x="669875" y="2012752"/>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Shared working copy</a:t>
            </a:r>
            <a:endParaRPr lang="en-US" sz="1400" dirty="0"/>
          </a:p>
        </p:txBody>
      </p:sp>
      <p:sp>
        <p:nvSpPr>
          <p:cNvPr id="16" name="Text 12"/>
          <p:cNvSpPr/>
          <p:nvPr/>
        </p:nvSpPr>
        <p:spPr>
          <a:xfrm>
            <a:off x="2828776" y="2012752"/>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Project sessions that keep focused work separate</a:t>
            </a:r>
            <a:endParaRPr lang="en-US" sz="1400" dirty="0"/>
          </a:p>
        </p:txBody>
      </p:sp>
      <p:sp>
        <p:nvSpPr>
          <p:cNvPr id="17" name="Shape 13"/>
          <p:cNvSpPr/>
          <p:nvPr/>
        </p:nvSpPr>
        <p:spPr>
          <a:xfrm>
            <a:off x="517475" y="2745581"/>
            <a:ext cx="8108900" cy="0"/>
          </a:xfrm>
          <a:prstGeom prst="line">
            <a:avLst/>
          </a:prstGeom>
          <a:noFill/>
          <a:ln w="9525">
            <a:solidFill>
              <a:srgbClr val="D1D9E0"/>
            </a:solidFill>
            <a:prstDash val="solid"/>
          </a:ln>
        </p:spPr>
      </p:sp>
      <p:sp>
        <p:nvSpPr>
          <p:cNvPr id="18" name="Text 14"/>
          <p:cNvSpPr/>
          <p:nvPr/>
        </p:nvSpPr>
        <p:spPr>
          <a:xfrm>
            <a:off x="669875" y="2432298"/>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Scattered evidence</a:t>
            </a:r>
            <a:endParaRPr lang="en-US" sz="1400" dirty="0"/>
          </a:p>
        </p:txBody>
      </p:sp>
      <p:sp>
        <p:nvSpPr>
          <p:cNvPr id="19" name="Text 15"/>
          <p:cNvSpPr/>
          <p:nvPr/>
        </p:nvSpPr>
        <p:spPr>
          <a:xfrm>
            <a:off x="2828776" y="2432298"/>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Sessions, diffs, terminal, previews, and GitHub in one app</a:t>
            </a:r>
            <a:endParaRPr lang="en-US" sz="1400" dirty="0"/>
          </a:p>
        </p:txBody>
      </p:sp>
      <p:sp>
        <p:nvSpPr>
          <p:cNvPr id="20" name="Shape 16"/>
          <p:cNvSpPr/>
          <p:nvPr/>
        </p:nvSpPr>
        <p:spPr>
          <a:xfrm>
            <a:off x="517475" y="3165128"/>
            <a:ext cx="8108900" cy="0"/>
          </a:xfrm>
          <a:prstGeom prst="line">
            <a:avLst/>
          </a:prstGeom>
          <a:noFill/>
          <a:ln w="9525">
            <a:solidFill>
              <a:srgbClr val="D1D9E0"/>
            </a:solidFill>
            <a:prstDash val="solid"/>
          </a:ln>
        </p:spPr>
      </p:sp>
      <p:sp>
        <p:nvSpPr>
          <p:cNvPr id="21" name="Text 17"/>
          <p:cNvSpPr/>
          <p:nvPr/>
        </p:nvSpPr>
        <p:spPr>
          <a:xfrm>
            <a:off x="669875" y="2851845"/>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Explore vs. change</a:t>
            </a:r>
            <a:endParaRPr lang="en-US" sz="1400" dirty="0"/>
          </a:p>
        </p:txBody>
      </p:sp>
      <p:sp>
        <p:nvSpPr>
          <p:cNvPr id="22" name="Text 18"/>
          <p:cNvSpPr/>
          <p:nvPr/>
        </p:nvSpPr>
        <p:spPr>
          <a:xfrm>
            <a:off x="2828776" y="2851845"/>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Chats for questions, project sessions for code</a:t>
            </a:r>
            <a:endParaRPr lang="en-US" sz="1400" dirty="0"/>
          </a:p>
        </p:txBody>
      </p:sp>
      <p:sp>
        <p:nvSpPr>
          <p:cNvPr id="23" name="Shape 19"/>
          <p:cNvSpPr/>
          <p:nvPr/>
        </p:nvSpPr>
        <p:spPr>
          <a:xfrm>
            <a:off x="517475" y="3791694"/>
            <a:ext cx="8108900" cy="0"/>
          </a:xfrm>
          <a:prstGeom prst="line">
            <a:avLst/>
          </a:prstGeom>
          <a:noFill/>
          <a:ln w="9525">
            <a:solidFill>
              <a:srgbClr val="D1D9E0"/>
            </a:solidFill>
            <a:prstDash val="solid"/>
          </a:ln>
        </p:spPr>
      </p:sp>
      <p:sp>
        <p:nvSpPr>
          <p:cNvPr id="24" name="Text 20"/>
          <p:cNvSpPr/>
          <p:nvPr/>
        </p:nvSpPr>
        <p:spPr>
          <a:xfrm>
            <a:off x="669875" y="3271391"/>
            <a:ext cx="1891183" cy="41404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Progress buried in chat</a:t>
            </a:r>
            <a:endParaRPr lang="en-US" sz="1400" dirty="0"/>
          </a:p>
        </p:txBody>
      </p:sp>
      <p:sp>
        <p:nvSpPr>
          <p:cNvPr id="25" name="Text 21"/>
          <p:cNvSpPr/>
          <p:nvPr/>
        </p:nvSpPr>
        <p:spPr>
          <a:xfrm>
            <a:off x="2828776" y="3374827"/>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Canvases: a shared board you and the agent update</a:t>
            </a:r>
            <a:endParaRPr lang="en-US" sz="1400" dirty="0"/>
          </a:p>
        </p:txBody>
      </p:sp>
      <p:sp>
        <p:nvSpPr>
          <p:cNvPr id="26" name="Text 22"/>
          <p:cNvSpPr/>
          <p:nvPr/>
        </p:nvSpPr>
        <p:spPr>
          <a:xfrm>
            <a:off x="669875" y="3897957"/>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Repeat work</a:t>
            </a:r>
            <a:endParaRPr lang="en-US" sz="1400" dirty="0"/>
          </a:p>
        </p:txBody>
      </p:sp>
      <p:sp>
        <p:nvSpPr>
          <p:cNvPr id="27" name="Text 23"/>
          <p:cNvSpPr/>
          <p:nvPr/>
        </p:nvSpPr>
        <p:spPr>
          <a:xfrm>
            <a:off x="2828776" y="3897957"/>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Automations that run on demand, on a schedule, or from events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WHERE THE APP FITS</a:t>
            </a:r>
            <a:endParaRPr lang="en-US" sz="1250" dirty="0"/>
          </a:p>
        </p:txBody>
      </p:sp>
      <p:sp>
        <p:nvSpPr>
          <p:cNvPr id="7" name="Text 3"/>
          <p:cNvSpPr/>
          <p:nvPr/>
        </p:nvSpPr>
        <p:spPr>
          <a:xfrm>
            <a:off x="507950" y="622250"/>
            <a:ext cx="8161020" cy="8382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Keep your editor. Switch when the job changes.</a:t>
            </a:r>
            <a:endParaRPr lang="en-US" sz="2800" dirty="0"/>
          </a:p>
        </p:txBody>
      </p:sp>
      <p:sp>
        <p:nvSpPr>
          <p:cNvPr id="8" name="Text 4"/>
          <p:cNvSpPr/>
          <p:nvPr/>
        </p:nvSpPr>
        <p:spPr>
          <a:xfrm>
            <a:off x="511076" y="1463576"/>
            <a:ext cx="4057650" cy="2736800"/>
          </a:xfrm>
          <a:prstGeom prst="roundRect">
            <a:avLst>
              <a:gd name="adj" fmla="val 2784"/>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Editor versus GitHub Copilot app"/>
          <p:cNvPicPr>
            <a:picLocks noChangeAspect="1"/>
          </p:cNvPicPr>
          <p:nvPr/>
        </p:nvPicPr>
        <p:blipFill>
          <a:blip r:embed="rId4"/>
          <a:stretch>
            <a:fillRect/>
          </a:stretch>
        </p:blipFill>
        <p:spPr>
          <a:xfrm>
            <a:off x="558701" y="1511201"/>
            <a:ext cx="3962400" cy="2641550"/>
          </a:xfrm>
          <a:prstGeom prst="rect">
            <a:avLst/>
          </a:prstGeom>
        </p:spPr>
      </p:pic>
      <p:sp>
        <p:nvSpPr>
          <p:cNvPr id="10" name="Text 5"/>
          <p:cNvSpPr/>
          <p:nvPr/>
        </p:nvSpPr>
        <p:spPr>
          <a:xfrm>
            <a:off x="4825752" y="1432173"/>
            <a:ext cx="3810149" cy="724942"/>
          </a:xfrm>
          <a:prstGeom prst="roundRect">
            <a:avLst>
              <a:gd name="adj" fmla="val 17519"/>
            </a:avLst>
          </a:prstGeom>
          <a:solidFill>
            <a:srgbClr val="FFFFFF"/>
          </a:solidFill>
          <a:ln w="9525">
            <a:solidFill>
              <a:srgbClr val="9CD7FF"/>
            </a:solidFill>
          </a:ln>
        </p:spPr>
        <p:txBody>
          <a:bodyPr wrap="square" rtlCol="0" anchor="ctr"/>
          <a:lstStyle/>
          <a:p>
            <a:pPr indent="0" marL="0">
              <a:buNone/>
            </a:pPr>
            <a:endParaRPr lang="en-US" dirty="0"/>
          </a:p>
        </p:txBody>
      </p:sp>
      <p:sp>
        <p:nvSpPr>
          <p:cNvPr id="11" name="Text 6"/>
          <p:cNvSpPr/>
          <p:nvPr/>
        </p:nvSpPr>
        <p:spPr>
          <a:xfrm>
            <a:off x="4987677" y="1604070"/>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70277" y="1686669"/>
            <a:ext cx="215801" cy="215801"/>
          </a:xfrm>
          <a:prstGeom prst="rect">
            <a:avLst/>
          </a:prstGeom>
        </p:spPr>
      </p:pic>
      <p:sp>
        <p:nvSpPr>
          <p:cNvPr id="13" name="Text 7"/>
          <p:cNvSpPr/>
          <p:nvPr/>
        </p:nvSpPr>
        <p:spPr>
          <a:xfrm>
            <a:off x="5521077" y="1568648"/>
            <a:ext cx="251844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Stay in your editor</a:t>
            </a:r>
            <a:endParaRPr lang="en-US" sz="1550" dirty="0"/>
          </a:p>
        </p:txBody>
      </p:sp>
      <p:sp>
        <p:nvSpPr>
          <p:cNvPr id="14" name="Text 8"/>
          <p:cNvSpPr/>
          <p:nvPr/>
        </p:nvSpPr>
        <p:spPr>
          <a:xfrm>
            <a:off x="5521077" y="1822549"/>
            <a:ext cx="251844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For deep editing and debugging.</a:t>
            </a:r>
            <a:endParaRPr lang="en-US" sz="1350" dirty="0"/>
          </a:p>
        </p:txBody>
      </p:sp>
      <p:sp>
        <p:nvSpPr>
          <p:cNvPr id="15" name="Text 9"/>
          <p:cNvSpPr/>
          <p:nvPr/>
        </p:nvSpPr>
        <p:spPr>
          <a:xfrm>
            <a:off x="4825752" y="2334816"/>
            <a:ext cx="3810149" cy="923032"/>
          </a:xfrm>
          <a:prstGeom prst="roundRect">
            <a:avLst>
              <a:gd name="adj" fmla="val 13759"/>
            </a:avLst>
          </a:prstGeom>
          <a:solidFill>
            <a:srgbClr val="FFFFFF"/>
          </a:solidFill>
          <a:ln w="9525">
            <a:solidFill>
              <a:srgbClr val="E0C5FF"/>
            </a:solidFill>
          </a:ln>
        </p:spPr>
        <p:txBody>
          <a:bodyPr wrap="square" rtlCol="0" anchor="ctr"/>
          <a:lstStyle/>
          <a:p>
            <a:pPr indent="0" marL="0">
              <a:buNone/>
            </a:pPr>
            <a:endParaRPr lang="en-US" dirty="0"/>
          </a:p>
        </p:txBody>
      </p:sp>
      <p:sp>
        <p:nvSpPr>
          <p:cNvPr id="16" name="Text 10"/>
          <p:cNvSpPr/>
          <p:nvPr/>
        </p:nvSpPr>
        <p:spPr>
          <a:xfrm>
            <a:off x="4987677" y="2605832"/>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7"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70277" y="2688431"/>
            <a:ext cx="215801" cy="215801"/>
          </a:xfrm>
          <a:prstGeom prst="rect">
            <a:avLst/>
          </a:prstGeom>
        </p:spPr>
      </p:pic>
      <p:sp>
        <p:nvSpPr>
          <p:cNvPr id="18" name="Text 11"/>
          <p:cNvSpPr/>
          <p:nvPr/>
        </p:nvSpPr>
        <p:spPr>
          <a:xfrm>
            <a:off x="5521077" y="2471291"/>
            <a:ext cx="3011957"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Open the app to supervise</a:t>
            </a:r>
            <a:endParaRPr lang="en-US" sz="1550" dirty="0"/>
          </a:p>
        </p:txBody>
      </p:sp>
      <p:sp>
        <p:nvSpPr>
          <p:cNvPr id="19" name="Text 12"/>
          <p:cNvSpPr/>
          <p:nvPr/>
        </p:nvSpPr>
        <p:spPr>
          <a:xfrm>
            <a:off x="5521077" y="2725192"/>
            <a:ext cx="3011957"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Run sessions, review changes, ship PRs.</a:t>
            </a:r>
            <a:endParaRPr lang="en-US" sz="1350" dirty="0"/>
          </a:p>
        </p:txBody>
      </p:sp>
      <p:sp>
        <p:nvSpPr>
          <p:cNvPr id="20" name="Text 13"/>
          <p:cNvSpPr/>
          <p:nvPr/>
        </p:nvSpPr>
        <p:spPr>
          <a:xfrm>
            <a:off x="4825752" y="3435548"/>
            <a:ext cx="3810149" cy="923032"/>
          </a:xfrm>
          <a:prstGeom prst="roundRect">
            <a:avLst>
              <a:gd name="adj" fmla="val 13759"/>
            </a:avLst>
          </a:prstGeom>
          <a:solidFill>
            <a:srgbClr val="FFFFFF"/>
          </a:solidFill>
          <a:ln w="9525">
            <a:solidFill>
              <a:srgbClr val="8CE7A5"/>
            </a:solidFill>
          </a:ln>
        </p:spPr>
        <p:txBody>
          <a:bodyPr wrap="square" rtlCol="0" anchor="ctr"/>
          <a:lstStyle/>
          <a:p>
            <a:pPr indent="0" marL="0">
              <a:buNone/>
            </a:pPr>
            <a:endParaRPr lang="en-US" dirty="0"/>
          </a:p>
        </p:txBody>
      </p:sp>
      <p:sp>
        <p:nvSpPr>
          <p:cNvPr id="21" name="Text 14"/>
          <p:cNvSpPr/>
          <p:nvPr/>
        </p:nvSpPr>
        <p:spPr>
          <a:xfrm>
            <a:off x="4987677" y="3706564"/>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2"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70277" y="3789164"/>
            <a:ext cx="215801" cy="215801"/>
          </a:xfrm>
          <a:prstGeom prst="rect">
            <a:avLst/>
          </a:prstGeom>
        </p:spPr>
      </p:pic>
      <p:sp>
        <p:nvSpPr>
          <p:cNvPr id="23" name="Text 15"/>
          <p:cNvSpPr/>
          <p:nvPr/>
        </p:nvSpPr>
        <p:spPr>
          <a:xfrm>
            <a:off x="5521077" y="3572024"/>
            <a:ext cx="3011957"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Jump back any time</a:t>
            </a:r>
            <a:endParaRPr lang="en-US" sz="1550" dirty="0"/>
          </a:p>
        </p:txBody>
      </p:sp>
      <p:sp>
        <p:nvSpPr>
          <p:cNvPr id="24" name="Text 16"/>
          <p:cNvSpPr/>
          <p:nvPr/>
        </p:nvSpPr>
        <p:spPr>
          <a:xfrm>
            <a:off x="5521077" y="3825925"/>
            <a:ext cx="3011957"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Open the project in VS Code from the app.</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8"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571774"/>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188282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Tour the app</a:t>
            </a:r>
            <a:endParaRPr lang="en-US" sz="4000" dirty="0"/>
          </a:p>
        </p:txBody>
      </p:sp>
      <p:sp>
        <p:nvSpPr>
          <p:cNvPr id="11" name="Text 7"/>
          <p:cNvSpPr/>
          <p:nvPr/>
        </p:nvSpPr>
        <p:spPr>
          <a:xfrm>
            <a:off x="711101" y="267012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
        <p:nvSpPr>
          <p:cNvPr id="12" name="Text 8"/>
          <p:cNvSpPr/>
          <p:nvPr/>
        </p:nvSpPr>
        <p:spPr>
          <a:xfrm>
            <a:off x="711101" y="2936677"/>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Learn where you start work, find GitHub items, save repeat tasks, and extend the app.</a:t>
            </a:r>
            <a:endParaRPr lang="en-US" sz="1900" dirty="0"/>
          </a:p>
        </p:txBody>
      </p:sp>
    </p:spTree>
  </p:cSld>
  <p:clrMapOvr>
    <a:masterClrMapping/>
  </p:clrMapOvr>
</p:sld>
</file>

<file path=ppt/slides/slide7.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7">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TOUR THE APP</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The sidebar views</ns1:t>
            </ns1:r>
            <ns1:endParaRPr lang="en-US" sz="2800" dirty="0"/>
          </ns1:p>
        </ns0:txBody>
      </ns0:sp>
      <ns0:sp>
        <ns0:nvSpPr>
          <ns0:cNvPr id="8" name="Text 4"/>
          <ns0:cNvSpPr/>
          <ns0:nvPr/>
        </ns0:nvSpPr>
        <ns0:spPr>
          <ns1:xfrm>
            <ns1:off x="687586" y="1247626"/>
            <ns1:ext cx="2688580" cy="3320951"/>
          </ns1:xfrm>
          <ns1:prstGeom prst="roundRect">
            <ns1:avLst>
              <ns1:gd name="adj" fmla="val 2834"/>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Current Copilot app sidebar with Dashboards, Customize, Sessions, and the course repository"/>
          <ns0:cNvPicPr>
            <ns1:picLocks noChangeAspect="1"/>
          </ns0:cNvPicPr>
          <ns0:nvPr/>
        </ns0:nvPicPr>
        <ns0:blipFill>
          <ns1:blip ns3:embed="rId4"/>
          <ns1:stretch>
            <ns1:fillRect/>
          </ns1:stretch>
        </ns0:blipFill>
        <ns0:spPr>
          <ns1:xfrm>
            <ns1:off x="735211" y="1295251"/>
            <ns1:ext cx="2593330" cy="3225701"/>
          </ns1:xfrm>
          <ns1:prstGeom prst="rect">
            <ns1:avLst/>
          </ns1:prstGeom>
        </ns0:spPr>
      </ns0:pic>
      <ns0:sp>
        <ns0:nvSpPr>
          <ns0:cNvPr id="10" name="Text 5"/>
          <ns0:cNvSpPr/>
          <ns0:nvPr/>
        </ns0:nvSpPr>
        <ns0:spPr>
          <ns1:xfrm>
            <ns1:off x="4063901" y="1521619"/>
            <ns1:ext cx="355550" cy="355550"/>
          </ns1:xfrm>
          <ns1:prstGeom prst="roundRect">
            <ns1:avLst>
              <ns1:gd name="adj" fmla="val 25004"/>
            </ns1:avLst>
          </ns1:prstGeom>
          <ns1:solidFill>
            <ns1:srgbClr val="DDF4FF"/>
          </ns1:solidFill>
          <ns1:ln/>
        </ns0:spPr>
        <ns0:txBody>
          <ns1:bodyPr wrap="square" rtlCol="0" anchor="ctr"/>
          <ns1:lstStyle/>
          <ns1:p>
            <ns1:pPr indent="0" marL="0">
              <ns1:buNone/>
            </ns1:pPr>
            <ns1:endParaRPr lang="en-US" dirty="0"/>
          </ns1:p>
        </ns0:txBody>
      </ns0:sp>
      <ns0:pic>
        <ns0:nvPicPr>
          <ns0:cNvPr id="11"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4146352" y="1604070"/>
            <ns1:ext cx="190500" cy="190500"/>
          </ns1:xfrm>
          <ns1:prstGeom prst="rect">
            <ns1:avLst/>
          </ns1:prstGeom>
        </ns0:spPr>
      </ns0:pic>
      <ns0:sp>
        <ns0:nvSpPr>
          <ns0:cNvPr id="12" name="Text 6"/>
          <ns0:cNvSpPr/>
          <ns0:nvPr/>
        </ns0:nvSpPr>
        <ns0:spPr>
          <ns1:xfrm>
            <ns1:off x="4571851" y="1473398"/>
            <ns1:ext cx="2362081"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New</ns1:t>
            </ns1:r>
            <ns1:endParaRPr lang="en-US" sz="1550" dirty="0"/>
          </ns1:p>
        </ns0:txBody>
      </ns0:sp>
      <ns0:sp>
        <ns0:nvSpPr>
          <ns0:cNvPr id="13" name="Text 7"/>
          <ns0:cNvSpPr/>
          <ns0:nvPr/>
        </ns0:nvSpPr>
        <ns0:spPr>
          <ns1:xfrm>
            <ns1:off x="4571851" y="1727299"/>
            <ns1:ext cx="2362081"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Start a chat or project session.</ns1:t>
            </ns1:r>
            <ns1:endParaRPr lang="en-US" sz="1350" dirty="0"/>
          </ns1:p>
        </ns0:txBody>
      </ns0:sp>
      <ns0:sp>
        <ns0:nvSpPr>
          <ns0:cNvPr id="14" name="Text 8"/>
          <ns0:cNvSpPr/>
          <ns0:nvPr/>
        </ns0:nvSpPr>
        <ns0:spPr>
          <ns1:xfrm>
            <ns1:off x="4063901" y="2126010"/>
            <ns1:ext cx="355550" cy="355550"/>
          </ns1:xfrm>
          <ns1:prstGeom prst="roundRect">
            <ns1:avLst>
              <ns1:gd name="adj" fmla="val 25004"/>
            </ns1:avLst>
          </ns1:prstGeom>
          <ns1:solidFill>
            <ns1:srgbClr val="FBEFFF"/>
          </ns1:solidFill>
          <ns1:ln/>
        </ns0:spPr>
        <ns0:txBody>
          <ns1:bodyPr wrap="square" rtlCol="0" anchor="ctr"/>
          <ns1:lstStyle/>
          <ns1:p>
            <ns1:pPr indent="0" marL="0">
              <ns1:buNone/>
            </ns1:pPr>
            <ns1:endParaRPr lang="en-US" dirty="0"/>
          </ns1:p>
        </ns0:txBody>
      </ns0:sp>
      <ns0:pic>
        <ns0:nvPicPr>
          <ns0:cNvPr id="15"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4146352" y="2208461"/>
            <ns1:ext cx="190500" cy="190500"/>
          </ns1:xfrm>
          <ns1:prstGeom prst="rect">
            <ns1:avLst/>
          </ns1:prstGeom>
        </ns0:spPr>
      </ns0:pic>
      <ns0:sp>
        <ns0:nvSpPr>
          <ns0:cNvPr id="16" name="Text 9"/>
          <ns0:cNvSpPr/>
          <ns0:nvPr/>
        </ns0:nvSpPr>
        <ns0:spPr>
          <ns1:xfrm>
            <ns1:off x="4571851" y="2077789"/>
            <ns1:ext cx="2361929"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Pull requests and Issues</ns1:t>
            </ns1:r>
            <ns1:endParaRPr lang="en-US" sz="1550" dirty="0"/>
          </ns1:p>
        </ns0:txBody>
      </ns0:sp>
      <ns0:sp>
        <ns0:nvSpPr>
          <ns0:cNvPr id="17" name="Text 10"/>
          <ns0:cNvSpPr/>
          <ns0:nvPr/>
        </ns0:nvSpPr>
        <ns0:spPr>
          <ns1:xfrm>
            <ns1:off x="4571851" y="2331690"/>
            <ns1:ext cx="2361929"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GitHub work that involves you.</ns1:t>
            </ns1:r>
            <ns1:endParaRPr lang="en-US" sz="1350" dirty="0"/>
          </ns1:p>
        </ns0:txBody>
      </ns0:sp>
      <ns0:sp>
        <ns0:nvSpPr>
          <ns0:cNvPr id="18" name="Text 11"/>
          <ns0:cNvSpPr/>
          <ns0:nvPr/>
        </ns0:nvSpPr>
        <ns0:spPr>
          <ns1:xfrm>
            <ns1:off x="4063901" y="2730401"/>
            <ns1:ext cx="355550" cy="355550"/>
          </ns1:xfrm>
          <ns1:prstGeom prst="roundRect">
            <ns1:avLst>
              <ns1:gd name="adj" fmla="val 25004"/>
            </ns1:avLst>
          </ns1:prstGeom>
          <ns1:solidFill>
            <ns1:srgbClr val="FFF1E5"/>
          </ns1:solidFill>
          <ns1:ln/>
        </ns0:spPr>
        <ns0:txBody>
          <ns1:bodyPr wrap="square" rtlCol="0" anchor="ctr"/>
          <ns1:lstStyle/>
          <ns1:p>
            <ns1:pPr indent="0" marL="0">
              <ns1:buNone/>
            </ns1:pPr>
            <ns1:endParaRPr lang="en-US" dirty="0"/>
          </ns1:p>
        </ns0:txBody>
      </ns0:sp>
      <ns0:pic>
        <ns0:nvPicPr>
          <ns0:cNvPr id="19" name="Image 5" descr="">
            <ns1:extLst>
              <ns1:ext uri="{C183D7F6-B498-43B3-948B-1728B52AA6E4}">
                <ns2:decorative val="1"/>
              </ns1:ext>
            </ns1:extLst>
          </ns0:cNvPr>
          <ns0:cNvPicPr>
            <ns1:picLocks noChangeAspect="1"/>
          </ns0:cNvPicPr>
          <ns0:nvPr/>
        </ns0:nvPicPr>
        <ns0:blipFill>
          <ns1:blip ns3:embed="rId7"/>
          <ns1:stretch>
            <ns1:fillRect/>
          </ns1:stretch>
        </ns0:blipFill>
        <ns0:spPr>
          <ns1:xfrm>
            <ns1:off x="4146352" y="2812852"/>
            <ns1:ext cx="190500" cy="190500"/>
          </ns1:xfrm>
          <ns1:prstGeom prst="rect">
            <ns1:avLst/>
          </ns1:prstGeom>
        </ns0:spPr>
      </ns0:pic>
      <ns0:sp>
        <ns0:nvSpPr>
          <ns0:cNvPr id="20" name="Text 12"/>
          <ns0:cNvSpPr/>
          <ns0:nvPr/>
        </ns0:nvSpPr>
        <ns0:spPr>
          <ns1:xfrm>
            <ns1:off x="4571851" y="2682180"/>
            <ns1:ext cx="2605576"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Dashboards</ns1:t>
            </ns1:r>
            <ns1:endParaRPr lang="en-US" sz="1550" dirty="0"/>
          </ns1:p>
        </ns0:txBody>
      </ns0:sp>
      <ns0:sp>
        <ns0:nvSpPr>
          <ns0:cNvPr id="21" name="Text 13"/>
          <ns0:cNvSpPr/>
          <ns0:nvPr/>
        </ns0:nvSpPr>
        <ns0:spPr>
          <ns1:xfrm>
            <ns1:off x="4571851" y="2936081"/>
            <ns1:ext cx="2605576"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My Work widgets for GitHub work.</ns1:t>
            </ns1:r>
            <ns1:endParaRPr lang="en-US" sz="1350" dirty="0"/>
          </ns1:p>
        </ns0:txBody>
      </ns0:sp>
      <ns0:sp>
        <ns0:nvSpPr>
          <ns0:cNvPr id="22" name="Text 14"/>
          <ns0:cNvSpPr/>
          <ns0:nvPr/>
        </ns0:nvSpPr>
        <ns0:spPr>
          <ns1:xfrm>
            <ns1:off x="4063901" y="3334792"/>
            <ns1:ext cx="355550" cy="355550"/>
          </ns1:xfrm>
          <ns1:prstGeom prst="roundRect">
            <ns1:avLst>
              <ns1:gd name="adj" fmla="val 25004"/>
            </ns1:avLst>
          </ns1:prstGeom>
          <ns1:solidFill>
            <ns1:srgbClr val="DAFBE1"/>
          </ns1:solidFill>
          <ns1:ln/>
        </ns0:spPr>
        <ns0:txBody>
          <ns1:bodyPr wrap="square" rtlCol="0" anchor="ctr"/>
          <ns1:lstStyle/>
          <ns1:p>
            <ns1:pPr indent="0" marL="0">
              <ns1:buNone/>
            </ns1:pPr>
            <ns1:endParaRPr lang="en-US" dirty="0"/>
          </ns1:p>
        </ns0:txBody>
      </ns0:sp>
      <ns0:pic>
        <ns0:nvPicPr>
          <ns0:cNvPr id="23" name="Image 6" descr="">
            <ns1:extLst>
              <ns1:ext uri="{C183D7F6-B498-43B3-948B-1728B52AA6E4}">
                <ns2:decorative val="1"/>
              </ns1:ext>
            </ns1:extLst>
          </ns0:cNvPr>
          <ns0:cNvPicPr>
            <ns1:picLocks noChangeAspect="1"/>
          </ns0:cNvPicPr>
          <ns0:nvPr/>
        </ns0:nvPicPr>
        <ns0:blipFill>
          <ns1:blip ns3:embed="rId8"/>
          <ns1:stretch>
            <ns1:fillRect/>
          </ns1:stretch>
        </ns0:blipFill>
        <ns0:spPr>
          <ns1:xfrm>
            <ns1:off x="4146352" y="3417243"/>
            <ns1:ext cx="190500" cy="190500"/>
          </ns1:xfrm>
          <ns1:prstGeom prst="rect">
            <ns1:avLst/>
          </ns1:prstGeom>
        </ns0:spPr>
      </ns0:pic>
      <ns0:sp>
        <ns0:nvSpPr>
          <ns0:cNvPr id="24" name="Text 15"/>
          <ns0:cNvSpPr/>
          <ns0:nvPr/>
        </ns0:nvSpPr>
        <ns0:spPr>
          <ns1:xfrm>
            <ns1:off x="4571851" y="3286571"/>
            <ns1:ext cx="2747665"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Automations</ns1:t>
            </ns1:r>
            <ns1:endParaRPr lang="en-US" sz="1550" dirty="0"/>
          </ns1:p>
        </ns0:txBody>
      </ns0:sp>
      <ns0:sp>
        <ns0:nvSpPr>
          <ns0:cNvPr id="25" name="Text 16"/>
          <ns0:cNvSpPr/>
          <ns0:nvPr/>
        </ns0:nvSpPr>
        <ns0:spPr>
          <ns1:xfrm>
            <ns1:off x="4571851" y="3540472"/>
            <ns1:ext cx="2747665"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Tasks can run on a schedule or event.</ns1:t>
            </ns1:r>
            <ns1:endParaRPr lang="en-US" sz="1350" dirty="0"/>
          </ns1:p>
        </ns0:txBody>
      </ns0:sp>
      <ns0:sp>
        <ns0:nvSpPr>
          <ns0:cNvPr id="26" name="Text 17"/>
          <ns0:cNvSpPr/>
          <ns0:nvPr/>
        </ns0:nvSpPr>
        <ns0:spPr>
          <ns1:xfrm>
            <ns1:off x="4063901" y="3939183"/>
            <ns1:ext cx="355550" cy="355550"/>
          </ns1:xfrm>
          <ns1:prstGeom prst="roundRect">
            <ns1:avLst>
              <ns1:gd name="adj" fmla="val 25004"/>
            </ns1:avLst>
          </ns1:prstGeom>
          <ns1:solidFill>
            <ns1:srgbClr val="F6F8FA"/>
          </ns1:solidFill>
          <ns1:ln/>
        </ns0:spPr>
        <ns0:txBody>
          <ns1:bodyPr wrap="square" rtlCol="0" anchor="ctr"/>
          <ns1:lstStyle/>
          <ns1:p>
            <ns1:pPr indent="0" marL="0">
              <ns1:buNone/>
            </ns1:pPr>
            <ns1:endParaRPr lang="en-US" dirty="0"/>
          </ns1:p>
        </ns0:txBody>
      </ns0:sp>
      <ns0:pic>
        <ns0:nvPicPr>
          <ns0:cNvPr id="27" name="Image 7" descr="">
            <ns1:extLst>
              <ns1:ext uri="{C183D7F6-B498-43B3-948B-1728B52AA6E4}">
                <ns2:decorative val="1"/>
              </ns1:ext>
            </ns1:extLst>
          </ns0:cNvPr>
          <ns0:cNvPicPr>
            <ns1:picLocks noChangeAspect="1"/>
          </ns0:cNvPicPr>
          <ns0:nvPr/>
        </ns0:nvPicPr>
        <ns0:blipFill>
          <ns1:blip ns3:embed="rId9"/>
          <ns1:stretch>
            <ns1:fillRect/>
          </ns1:stretch>
        </ns0:blipFill>
        <ns0:spPr>
          <ns1:xfrm>
            <ns1:off x="4146352" y="4021634"/>
            <ns1:ext cx="190500" cy="190500"/>
          </ns1:xfrm>
          <ns1:prstGeom prst="rect">
            <ns1:avLst/>
          </ns1:prstGeom>
        </ns0:spPr>
      </ns0:pic>
      <ns0:sp>
        <ns0:nvSpPr>
          <ns0:cNvPr id="28" name="Text 18"/>
          <ns0:cNvSpPr/>
          <ns0:nvPr/>
        </ns0:nvSpPr>
        <ns0:spPr>
          <ns1:xfrm>
            <ns1:off x="4571851" y="3890962"/>
            <ns1:ext cx="2216500"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Customize</ns1:t>
            </ns1:r>
            <ns1:endParaRPr lang="en-US" sz="1550" dirty="0"/>
          </ns1:p>
        </ns0:txBody>
      </ns0:sp>
      <ns0:sp>
        <ns0:nvSpPr>
          <ns0:cNvPr id="29" name="Text 19"/>
          <ns0:cNvSpPr/>
          <ns0:nvPr/>
        </ns0:nvSpPr>
        <ns0:spPr>
          <ns1:xfrm>
            <ns1:off x="4571851" y="4144863"/>
            <ns1:ext cx="2216500"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Skills, MCP, plugins, and canvases.</ns1:t>
            </ns1:r>
            <ns1:endParaRPr lang="en-US" sz="1350" dirty="0"/>
          </ns1:p>
        </ns0:txBody>
      </ns0:sp>
    </ns0:spTree>
  </ns0:cSld>
  <ns0:clrMapOvr>
    <ns1:masterClrMapping/>
  </ns0:clrMapOvr>
</ns0: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TOUR THE APP</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Your GitHub work, in two views</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The practice items from setup already appear here.</ns1:t>
            </ns1:r>
            <ns1:endParaRPr lang="en-US" sz="1650" dirty="0"/>
          </ns1:p>
        </ns0:txBody>
      </ns0:sp>
      <ns0:sp>
        <ns0:nvSpPr>
          <ns0:cNvPr id="9" name="Text 5"/>
          <ns0:cNvSpPr/>
          <ns0:nvPr/>
        </ns0:nvSpPr>
        <ns0:spPr>
          <ns1:xfrm>
            <ns1:off x="511076" y="1975396"/>
            <ns1:ext cx="3956000" cy="1642021"/>
          </ns1:xfrm>
          <ns1:prstGeom prst="roundRect">
            <ns1:avLst>
              <ns1:gd name="adj" fmla="val 464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Pull requests view"/>
          <ns0:cNvPicPr>
            <ns1:picLocks noChangeAspect="1"/>
          </ns0:cNvPicPr>
          <ns0:nvPr/>
        </ns0:nvPicPr>
        <ns0:blipFill>
          <ns1:blip ns3:embed="rId4"/>
          <ns1:stretch>
            <ns1:fillRect/>
          </ns1:stretch>
        </ns0:blipFill>
        <ns0:spPr>
          <ns1:xfrm>
            <ns1:off x="558701" y="2023021"/>
            <ns1:ext cx="3860750" cy="1546771"/>
          </ns1:xfrm>
          <ns1:prstGeom prst="rect">
            <ns1:avLst/>
          </ns1:prstGeom>
        </ns0:spPr>
      </ns0:pic>
      <ns0:sp>
        <ns0:nvSpPr>
          <ns0:cNvPr id="11" name="Text 6"/>
          <ns0:cNvSpPr/>
          <ns0:nvPr/>
        </ns0:nvSpPr>
        <ns0:spPr>
          <ns1:xfrm>
            <ns1:off x="507950" y="4165402"/>
            <ns1:ext cx="355550" cy="355550"/>
          </ns1:xfrm>
          <ns1:prstGeom prst="roundRect">
            <ns1:avLst>
              <ns1:gd name="adj" fmla="val 25004"/>
            </ns1:avLst>
          </ns1:prstGeom>
          <ns1:solidFill>
            <ns1:srgbClr val="DDF4FF"/>
          </ns1:solidFill>
          <ns1:ln/>
        </ns0:spPr>
        <ns0:txBody>
          <ns1:bodyPr wrap="square" rtlCol="0" anchor="ctr"/>
          <ns1:lstStyle/>
          <ns1:p>
            <ns1:pPr indent="0" marL="0">
              <ns1:buNone/>
            </ns1:pPr>
            <ns1:endParaRPr lang="en-US" dirty="0"/>
          </ns1:p>
        </ns0:txBody>
      </ns0:sp>
      <ns0:pic>
        <ns0:nvPicPr>
          <ns0:cNvPr id="12"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590401" y="4247852"/>
            <ns1:ext cx="190500" cy="190500"/>
          </ns1:xfrm>
          <ns1:prstGeom prst="rect">
            <ns1:avLst/>
          </ns1:prstGeom>
        </ns0:spPr>
      </ns0:pic>
      <ns0:sp>
        <ns0:nvSpPr>
          <ns0:cNvPr id="13" name="Text 7"/>
          <ns0:cNvSpPr/>
          <ns0:nvPr/>
        </ns0:nvSpPr>
        <ns0:spPr>
          <ns1:xfrm>
            <ns1:off x="1015901" y="4117181"/>
            <ns1:ext cx="2487775"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Pull requests</ns1:t>
            </ns1:r>
            <ns1:endParaRPr lang="en-US" sz="1550" dirty="0"/>
          </ns1:p>
        </ns0:txBody>
      </ns0:sp>
      <ns0:sp>
        <ns0:nvSpPr>
          <ns0:cNvPr id="14" name="Text 8"/>
          <ns0:cNvSpPr/>
          <ns0:nvPr/>
        </ns0:nvSpPr>
        <ns0:spPr>
          <ns1:xfrm>
            <ns1:off x="1015901" y="4371082"/>
            <ns1:ext cx="2487775"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Practice PRs: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Authored by me</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
        <ns0:nvSpPr>
          <ns0:cNvPr id="15" name="Text 9"/>
          <ns0:cNvSpPr/>
          <ns0:nvPr/>
        </ns0:nvSpPr>
        <ns0:spPr>
          <ns1:xfrm>
            <ns1:off x="4676626" y="2125861"/>
            <ns1:ext cx="3956000" cy="1341090"/>
          </ns1:xfrm>
          <ns1:prstGeom prst="roundRect">
            <ns1:avLst>
              <ns1:gd name="adj" fmla="val 5682"/>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6" name="Image 4" descr="Issues view"/>
          <ns0:cNvPicPr>
            <ns1:picLocks noChangeAspect="1"/>
          </ns0:cNvPicPr>
          <ns0:nvPr/>
        </ns0:nvPicPr>
        <ns0:blipFill>
          <ns1:blip ns3:embed="rId6"/>
          <ns1:stretch>
            <ns1:fillRect/>
          </ns1:stretch>
        </ns0:blipFill>
        <ns0:spPr>
          <ns1:xfrm>
            <ns1:off x="4724251" y="2173486"/>
            <ns1:ext cx="3860750" cy="1245840"/>
          </ns1:xfrm>
          <ns1:prstGeom prst="rect">
            <ns1:avLst/>
          </ns1:prstGeom>
        </ns0:spPr>
      </ns0:pic>
      <ns0:sp>
        <ns0:nvSpPr>
          <ns0:cNvPr id="17" name="Text 10"/>
          <ns0:cNvSpPr/>
          <ns0:nvPr/>
        </ns0:nvSpPr>
        <ns0:spPr>
          <ns1:xfrm>
            <ns1:off x="4673501" y="4165402"/>
            <ns1:ext cx="355550" cy="355550"/>
          </ns1:xfrm>
          <ns1:prstGeom prst="roundRect">
            <ns1:avLst>
              <ns1:gd name="adj" fmla="val 25004"/>
            </ns1:avLst>
          </ns1:prstGeom>
          <ns1:solidFill>
            <ns1:srgbClr val="FBEFFF"/>
          </ns1:solidFill>
          <ns1:ln/>
        </ns0:spPr>
        <ns0:txBody>
          <ns1:bodyPr wrap="square" rtlCol="0" anchor="ctr"/>
          <ns1:lstStyle/>
          <ns1:p>
            <ns1:pPr indent="0" marL="0">
              <ns1:buNone/>
            </ns1:pPr>
            <ns1:endParaRPr lang="en-US" dirty="0"/>
          </ns1:p>
        </ns0:txBody>
      </ns0:sp>
      <ns0:pic>
        <ns0:nvPicPr>
          <ns0:cNvPr id="18" name="Image 5" descr="">
            <ns1:extLst>
              <ns1:ext uri="{C183D7F6-B498-43B3-948B-1728B52AA6E4}">
                <ns2:decorative val="1"/>
              </ns1:ext>
            </ns1:extLst>
          </ns0:cNvPr>
          <ns0:cNvPicPr>
            <ns1:picLocks noChangeAspect="1"/>
          </ns0:cNvPicPr>
          <ns0:nvPr/>
        </ns0:nvPicPr>
        <ns0:blipFill>
          <ns1:blip ns3:embed="rId7"/>
          <ns1:stretch>
            <ns1:fillRect/>
          </ns1:stretch>
        </ns0:blipFill>
        <ns0:spPr>
          <ns1:xfrm>
            <ns1:off x="4755952" y="4247852"/>
            <ns1:ext cx="190500" cy="190500"/>
          </ns1:xfrm>
          <ns1:prstGeom prst="rect">
            <ns1:avLst/>
          </ns1:prstGeom>
        </ns0:spPr>
      </ns0:pic>
      <ns0:sp>
        <ns0:nvSpPr>
          <ns0:cNvPr id="19" name="Text 11"/>
          <ns0:cNvSpPr/>
          <ns0:nvPr/>
        </ns0:nvSpPr>
        <ns0:spPr>
          <ns1:xfrm>
            <ns1:off x="5181451" y="4117181"/>
            <ns1:ext cx="2624096"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Issues</ns1:t>
            </ns1:r>
            <ns1:endParaRPr lang="en-US" sz="1550" dirty="0"/>
          </ns1:p>
        </ns0:txBody>
      </ns0:sp>
      <ns0:sp>
        <ns0:nvSpPr>
          <ns0:cNvPr id="20" name="Text 12"/>
          <ns0:cNvSpPr/>
          <ns0:nvPr/>
        </ns0:nvSpPr>
        <ns0:spPr>
          <ns1:xfrm>
            <ns1:off x="5181451" y="4371082"/>
            <ns1:ext cx="2624096"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Practice issues: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Assigned to me</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Tree>
  </ns0:cSld>
  <ns0:clrMapOvr>
    <ns1:masterClrMapping/>
  </ns0:clrMapOvr>
</ns0:sld>
</file>

<file path=ppt/slides/slide9.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9">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TOUR THE APP</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Automations and settings</ns1:t>
            </ns1:r>
            <ns1:endParaRPr lang="en-US" sz="2800" dirty="0"/>
          </ns1:p>
        </ns0:txBody>
      </ns0:sp>
      <ns0:sp>
        <ns0:nvSpPr>
          <ns0:cNvPr id="8" name="Text 4"/>
          <ns0:cNvSpPr/>
          <ns0:nvPr/>
        </ns0:nvSpPr>
        <ns0:spPr>
          <ns1:xfrm>
            <ns1:off x="511076" y="1659880"/>
            <ns1:ext cx="7105650" cy="1421011"/>
          </ns1:xfrm>
          <ns1:prstGeom prst="roundRect">
            <ns1:avLst>
              <ns1:gd name="adj" fmla="val 5362"/>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Automations view"/>
          <ns0:cNvPicPr>
            <ns1:picLocks noChangeAspect="1"/>
          </ns0:cNvPicPr>
          <ns0:nvPr/>
        </ns0:nvPicPr>
        <ns0:blipFill>
          <ns1:blip ns3:embed="rId4"/>
          <ns1:stretch>
            <ns1:fillRect/>
          </ns1:stretch>
        </ns0:blipFill>
        <ns0:spPr>
          <ns1:xfrm>
            <ns1:off x="558701" y="1707505"/>
            <ns1:ext cx="7010400" cy="1325761"/>
          </ns1:xfrm>
          <ns1:prstGeom prst="rect">
            <ns1:avLst/>
          </ns1:prstGeom>
        </ns0:spPr>
      </ns0:pic>
      <ns0:sp>
        <ns0:nvSpPr>
          <ns0:cNvPr id="10" name="Text 5"/>
          <ns0:cNvSpPr/>
          <ns0:nvPr/>
        </ns0:nvSpPr>
        <ns0:spPr>
          <ns1:xfrm>
            <ns1:off x="507950" y="3551486"/>
            <ns1:ext cx="4514701" cy="923032"/>
          </ns1:xfrm>
          <ns1:prstGeom prst="roundRect">
            <ns1:avLst>
              <ns1:gd name="adj" fmla="val 13759"/>
            </ns1:avLst>
          </ns1:prstGeom>
          <ns1:solidFill>
            <ns1:srgbClr val="FFFFFF"/>
          </ns1:solidFill>
          <ns1:ln w="9525">
            <ns1:solidFill>
              <ns1:srgbClr val="FFC49B"/>
            </ns1:solidFill>
          </ns1:ln>
        </ns0:spPr>
        <ns0:txBody>
          <ns1:bodyPr wrap="square" rtlCol="0" anchor="ctr"/>
          <ns1:lstStyle/>
          <ns1:p>
            <ns1:pPr indent="0" marL="0">
              <ns1:buNone/>
            </ns1:pPr>
            <ns1:endParaRPr lang="en-US" dirty="0"/>
          </ns1:p>
        </ns0:txBody>
      </ns0:sp>
      <ns0:sp>
        <ns0:nvSpPr>
          <ns0:cNvPr id="11" name="Text 6"/>
          <ns0:cNvSpPr/>
          <ns0:nvPr/>
        </ns0:nvSpPr>
        <ns0:spPr>
          <ns1:xfrm>
            <ns1:off x="669875" y="3822502"/>
            <ns1:ext cx="381000" cy="381000"/>
          </ns1:xfrm>
          <ns1:prstGeom prst="roundRect">
            <ns1:avLst>
              <ns1:gd name="adj" fmla="val 23333"/>
            </ns1:avLst>
          </ns1:prstGeom>
          <ns1:solidFill>
            <ns1:srgbClr val="FFF1E5"/>
          </ns1:solidFill>
          <ns1:ln/>
        </ns0:spPr>
        <ns0:txBody>
          <ns1:bodyPr wrap="square" rtlCol="0" anchor="ctr"/>
          <ns1:lstStyle/>
          <ns1:p>
            <ns1:pPr indent="0" marL="0">
              <ns1:buNone/>
            </ns1:pPr>
            <ns1:endParaRPr lang="en-US" dirty="0"/>
          </ns1:p>
        </ns0:txBody>
      </ns0:sp>
      <ns0:pic>
        <ns0:nvPicPr>
          <ns0:cNvPr id="12"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752475" y="3905101"/>
            <ns1:ext cx="215801" cy="215801"/>
          </ns1:xfrm>
          <ns1:prstGeom prst="rect">
            <ns1:avLst/>
          </ns1:prstGeom>
        </ns0:spPr>
      </ns0:pic>
      <ns0:sp>
        <ns0:nvSpPr>
          <ns0:cNvPr id="13" name="Text 7"/>
          <ns0:cNvSpPr/>
          <ns0:nvPr/>
        </ns0:nvSpPr>
        <ns0:spPr>
          <ns1:xfrm>
            <ns1:off x="1203275" y="3687961"/>
            <ns1:ext cx="3730600"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Automations</ns1:t>
            </ns1:r>
            <ns1:endParaRPr lang="en-US" sz="1550" dirty="0"/>
          </ns1:p>
        </ns0:txBody>
      </ns0:sp>
      <ns0:sp>
        <ns0:nvSpPr>
          <ns0:cNvPr id="14" name="Text 8"/>
          <ns0:cNvSpPr/>
          <ns0:nvPr/>
        </ns0:nvSpPr>
        <ns0:spPr>
          <ns1:xfrm>
            <ns1:off x="1203275" y="3941862"/>
            <ns1:ext cx="3730600"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Templates you run manually, on a schedule, or from events.</ns1:t>
            </ns1:r>
            <ns1:endParaRPr lang="en-US" sz="1350" dirty="0"/>
          </ns1:p>
        </ns0:txBody>
      </ns0:sp>
      <ns0:sp>
        <ns0:nvSpPr>
          <ns0:cNvPr id="15" name="Text 9"/>
          <ns0:cNvSpPr/>
          <ns0:nvPr/>
        </ns0:nvSpPr>
        <ns0:spPr>
          <ns1:xfrm>
            <ns1:off x="5200352" y="3551486"/>
            <ns1:ext cx="3435548" cy="923032"/>
          </ns1:xfrm>
          <ns1:prstGeom prst="roundRect">
            <ns1:avLst>
              <ns1:gd name="adj" fmla="val 13759"/>
            </ns1:avLst>
          </ns1:prstGeom>
          <ns1:solidFill>
            <ns1:srgbClr val="FFFFFF"/>
          </ns1:solidFill>
          <ns1:ln w="9525">
            <ns1:solidFill>
              <ns1:srgbClr val="8CE7A5"/>
            </ns1:solidFill>
          </ns1:ln>
        </ns0:spPr>
        <ns0:txBody>
          <ns1:bodyPr wrap="square" rtlCol="0" anchor="ctr"/>
          <ns1:lstStyle/>
          <ns1:p>
            <ns1:pPr indent="0" marL="0">
              <ns1:buNone/>
            </ns1:pPr>
            <ns1:endParaRPr lang="en-US" dirty="0"/>
          </ns1:p>
        </ns0:txBody>
      </ns0:sp>
      <ns0:sp>
        <ns0:nvSpPr>
          <ns0:cNvPr id="16" name="Text 10"/>
          <ns0:cNvSpPr/>
          <ns0:nvPr/>
        </ns0:nvSpPr>
        <ns0:spPr>
          <ns1:xfrm>
            <ns1:off x="5362277" y="3822502"/>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17"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5444877" y="3905101"/>
            <ns1:ext cx="215801" cy="215801"/>
          </ns1:xfrm>
          <ns1:prstGeom prst="rect">
            <ns1:avLst/>
          </ns1:prstGeom>
        </ns0:spPr>
      </ns0:pic>
      <ns0:sp>
        <ns0:nvSpPr>
          <ns0:cNvPr id="18" name="Text 11"/>
          <ns0:cNvSpPr/>
          <ns0:nvPr/>
        </ns0:nvSpPr>
        <ns0:spPr>
          <ns1:xfrm>
            <ns1:off x="5895677" y="3687961"/>
            <ns1:ext cx="2629864"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Settings</ns1:t>
            </ns1:r>
            <ns1:endParaRPr lang="en-US" sz="1550" dirty="0"/>
          </ns1:p>
        </ns0:txBody>
      </ns0:sp>
      <ns0:sp>
        <ns0:nvSpPr>
          <ns0:cNvPr id="19" name="Text 12"/>
          <ns0:cNvSpPr/>
          <ns0:nvPr/>
        </ns0:nvSpPr>
        <ns0:spPr>
          <ns1:xfrm>
            <ns1:off x="5895677" y="3941862"/>
            <ns1:ext cx="2629864"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The gear icon at the bottom of the sidebar.</ns1:t>
            </ns1:r>
            <ns1:endParaRPr lang="en-US" sz="1350" dirty="0"/>
          </ns1:p>
        </ns0:txBody>
      </ns0:sp>
    </ns0:spTree>
  </ns0:cSld>
  <ns0:clrMapOvr>
    <ns1:masterClrMapping/>
  </ns0:clrMapOvr>
</ns0: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8"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Sessions, modes, and models</a:t>
            </a:r>
            <a:endParaRPr lang="en-US" sz="4000" dirty="0"/>
          </a:p>
        </p:txBody>
      </p:sp>
      <p:sp>
        <p:nvSpPr>
          <p:cNvPr id="11" name="Text 7"/>
          <p:cNvSpPr/>
          <p:nvPr/>
        </p:nvSpPr>
        <p:spPr>
          <a:xfrm>
            <a:off x="711101" y="296227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Pick the session type, mode, and model that fit the task in front of you.</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the control room</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 producer does not direct every song the same way.</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Producer's control room with a Chat Session and Project Session switch and Interactive, Plan, and Autopilot sections on the mixing desk"/>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633389"/>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1715988"/>
            <a:ext cx="215801" cy="215801"/>
          </a:xfrm>
          <a:prstGeom prst="rect">
            <a:avLst/>
          </a:prstGeom>
        </p:spPr>
      </p:pic>
      <p:sp>
        <p:nvSpPr>
          <p:cNvPr id="13" name="Text 7"/>
          <p:cNvSpPr/>
          <p:nvPr/>
        </p:nvSpPr>
        <p:spPr>
          <a:xfrm>
            <a:off x="5537150" y="1597968"/>
            <a:ext cx="1322219"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Chat</a:t>
            </a:r>
            <a:endParaRPr lang="en-US" sz="1550" dirty="0"/>
          </a:p>
        </p:txBody>
      </p:sp>
      <p:sp>
        <p:nvSpPr>
          <p:cNvPr id="14" name="Text 8"/>
          <p:cNvSpPr/>
          <p:nvPr/>
        </p:nvSpPr>
        <p:spPr>
          <a:xfrm>
            <a:off x="5537150" y="1851868"/>
            <a:ext cx="1322219"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 quick question.</a:t>
            </a:r>
            <a:endParaRPr lang="en-US" sz="1350" dirty="0"/>
          </a:p>
        </p:txBody>
      </p:sp>
      <p:sp>
        <p:nvSpPr>
          <p:cNvPr id="15" name="Text 9"/>
          <p:cNvSpPr/>
          <p:nvPr/>
        </p:nvSpPr>
        <p:spPr>
          <a:xfrm>
            <a:off x="5003750" y="249168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2574280"/>
            <a:ext cx="215801" cy="215801"/>
          </a:xfrm>
          <a:prstGeom prst="rect">
            <a:avLst/>
          </a:prstGeom>
        </p:spPr>
      </p:pic>
      <p:sp>
        <p:nvSpPr>
          <p:cNvPr id="17" name="Text 10"/>
          <p:cNvSpPr/>
          <p:nvPr/>
        </p:nvSpPr>
        <p:spPr>
          <a:xfrm>
            <a:off x="5537150" y="2456259"/>
            <a:ext cx="131220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Interactive</a:t>
            </a:r>
            <a:endParaRPr lang="en-US" sz="1550" dirty="0"/>
          </a:p>
        </p:txBody>
      </p:sp>
      <p:sp>
        <p:nvSpPr>
          <p:cNvPr id="18" name="Text 11"/>
          <p:cNvSpPr/>
          <p:nvPr/>
        </p:nvSpPr>
        <p:spPr>
          <a:xfrm>
            <a:off x="5537150" y="2710160"/>
            <a:ext cx="131220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Direct each take.</a:t>
            </a:r>
            <a:endParaRPr lang="en-US" sz="1350" dirty="0"/>
          </a:p>
        </p:txBody>
      </p:sp>
      <p:sp>
        <p:nvSpPr>
          <p:cNvPr id="19" name="Text 12"/>
          <p:cNvSpPr/>
          <p:nvPr/>
        </p:nvSpPr>
        <p:spPr>
          <a:xfrm>
            <a:off x="5003750" y="334997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432572"/>
            <a:ext cx="215801" cy="215801"/>
          </a:xfrm>
          <a:prstGeom prst="rect">
            <a:avLst/>
          </a:prstGeom>
        </p:spPr>
      </p:pic>
      <p:sp>
        <p:nvSpPr>
          <p:cNvPr id="21" name="Text 13"/>
          <p:cNvSpPr/>
          <p:nvPr/>
        </p:nvSpPr>
        <p:spPr>
          <a:xfrm>
            <a:off x="5537150" y="3314551"/>
            <a:ext cx="94255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Plan</a:t>
            </a:r>
            <a:endParaRPr lang="en-US" sz="1550" dirty="0"/>
          </a:p>
        </p:txBody>
      </p:sp>
      <p:sp>
        <p:nvSpPr>
          <p:cNvPr id="22" name="Text 14"/>
          <p:cNvSpPr/>
          <p:nvPr/>
        </p:nvSpPr>
        <p:spPr>
          <a:xfrm>
            <a:off x="5537150" y="3568452"/>
            <a:ext cx="94255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Chart it first.</a:t>
            </a:r>
            <a:endParaRPr lang="en-US" sz="1350" dirty="0"/>
          </a:p>
        </p:txBody>
      </p:sp>
      <p:sp>
        <p:nvSpPr>
          <p:cNvPr id="23" name="Text 15"/>
          <p:cNvSpPr/>
          <p:nvPr/>
        </p:nvSpPr>
        <p:spPr>
          <a:xfrm>
            <a:off x="5003750" y="4208264"/>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24"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086350" y="4290864"/>
            <a:ext cx="215801" cy="215801"/>
          </a:xfrm>
          <a:prstGeom prst="rect">
            <a:avLst/>
          </a:prstGeom>
        </p:spPr>
      </p:pic>
      <p:sp>
        <p:nvSpPr>
          <p:cNvPr id="25" name="Text 16"/>
          <p:cNvSpPr/>
          <p:nvPr/>
        </p:nvSpPr>
        <p:spPr>
          <a:xfrm>
            <a:off x="5537150" y="4172843"/>
            <a:ext cx="1649358"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Autopilot</a:t>
            </a:r>
            <a:endParaRPr lang="en-US" sz="1550" dirty="0"/>
          </a:p>
        </p:txBody>
      </p:sp>
      <p:sp>
        <p:nvSpPr>
          <p:cNvPr id="26" name="Text 17"/>
          <p:cNvSpPr/>
          <p:nvPr/>
        </p:nvSpPr>
        <p:spPr>
          <a:xfrm>
            <a:off x="5537150" y="4426744"/>
            <a:ext cx="164935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Hand off a clear task.</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SESSIONS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Chat or project session?</a:t>
            </a:r>
            <a:endParaRPr lang="en-US" sz="2800" dirty="0"/>
          </a:p>
        </p:txBody>
      </p:sp>
      <p:sp>
        <p:nvSpPr>
          <p:cNvPr id="8" name="Text 4"/>
          <p:cNvSpPr/>
          <p:nvPr/>
        </p:nvSpPr>
        <p:spPr>
          <a:xfrm>
            <a:off x="507950" y="1244501"/>
            <a:ext cx="3962400" cy="3327350"/>
          </a:xfrm>
          <a:prstGeom prst="roundRect">
            <a:avLst>
              <a:gd name="adj" fmla="val 3817"/>
            </a:avLst>
          </a:prstGeom>
          <a:solidFill>
            <a:srgbClr val="FFFFFF"/>
          </a:solidFill>
          <a:ln w="9525">
            <a:solidFill>
              <a:srgbClr val="9CD7FF"/>
            </a:solidFill>
          </a:ln>
        </p:spPr>
        <p:txBody>
          <a:bodyPr wrap="square" rtlCol="0" anchor="ctr"/>
          <a:lstStyle/>
          <a:p>
            <a:pPr indent="0" marL="0">
              <a:buNone/>
            </a:pPr>
            <a:endParaRPr lang="en-US" dirty="0"/>
          </a:p>
        </p:txBody>
      </p:sp>
      <p:sp>
        <p:nvSpPr>
          <p:cNvPr id="9" name="Text 5"/>
          <p:cNvSpPr/>
          <p:nvPr/>
        </p:nvSpPr>
        <p:spPr>
          <a:xfrm>
            <a:off x="695176" y="1431727"/>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1514326"/>
            <a:ext cx="215801" cy="215801"/>
          </a:xfrm>
          <a:prstGeom prst="rect">
            <a:avLst/>
          </a:prstGeom>
        </p:spPr>
      </p:pic>
      <p:sp>
        <p:nvSpPr>
          <p:cNvPr id="11" name="Text 6"/>
          <p:cNvSpPr/>
          <p:nvPr/>
        </p:nvSpPr>
        <p:spPr>
          <a:xfrm>
            <a:off x="1190476" y="1507927"/>
            <a:ext cx="1330416"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Chat session</a:t>
            </a:r>
            <a:endParaRPr lang="en-US" sz="1650" dirty="0"/>
          </a:p>
        </p:txBody>
      </p:sp>
      <p:sp>
        <p:nvSpPr>
          <p:cNvPr id="12" name="Text 7"/>
          <p:cNvSpPr/>
          <p:nvPr/>
        </p:nvSpPr>
        <p:spPr>
          <a:xfrm>
            <a:off x="695176" y="1968847"/>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3" name="Text 8"/>
          <p:cNvSpPr/>
          <p:nvPr/>
        </p:nvSpPr>
        <p:spPr>
          <a:xfrm>
            <a:off x="853827" y="1888927"/>
            <a:ext cx="2246558"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Ask, brainstorm, summarize</a:t>
            </a:r>
            <a:endParaRPr lang="en-US" sz="1400" dirty="0"/>
          </a:p>
        </p:txBody>
      </p:sp>
      <p:sp>
        <p:nvSpPr>
          <p:cNvPr id="14" name="Text 9"/>
          <p:cNvSpPr/>
          <p:nvPr/>
        </p:nvSpPr>
        <p:spPr>
          <a:xfrm>
            <a:off x="695176" y="2239268"/>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5" name="Text 10"/>
          <p:cNvSpPr/>
          <p:nvPr/>
        </p:nvSpPr>
        <p:spPr>
          <a:xfrm>
            <a:off x="853827" y="2159347"/>
            <a:ext cx="1803591" cy="207020"/>
          </a:xfrm>
          <a:prstGeom prst="rect">
            <a:avLst/>
          </a:prstGeom>
          <a:noFill/>
          <a:ln/>
        </p:spPr>
        <p:txBody>
          <a:bodyPr wrap="square" lIns="0" tIns="0" rIns="0" bIns="0" rtlCol="0" anchor="t"/>
          <a:lstStyle/>
          <a:p>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No</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branch or worktree</a:t>
            </a:r>
            <a:endParaRPr lang="en-US" sz="1400" dirty="0"/>
          </a:p>
        </p:txBody>
      </p:sp>
      <p:sp>
        <p:nvSpPr>
          <p:cNvPr id="16" name="Text 11"/>
          <p:cNvSpPr/>
          <p:nvPr/>
        </p:nvSpPr>
        <p:spPr>
          <a:xfrm>
            <a:off x="695176" y="2509689"/>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7" name="Text 12"/>
          <p:cNvSpPr/>
          <p:nvPr/>
        </p:nvSpPr>
        <p:spPr>
          <a:xfrm>
            <a:off x="853827" y="2429768"/>
            <a:ext cx="1521690"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Start with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&gt;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Chat</a:t>
            </a:r>
            <a:endParaRPr lang="en-US" sz="1400" dirty="0"/>
          </a:p>
        </p:txBody>
      </p:sp>
      <p:sp>
        <p:nvSpPr>
          <p:cNvPr id="18" name="Text 13"/>
          <p:cNvSpPr/>
          <p:nvPr/>
        </p:nvSpPr>
        <p:spPr>
          <a:xfrm>
            <a:off x="695176" y="3445073"/>
            <a:ext cx="3587948"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19" name="Shape 14"/>
          <p:cNvSpPr/>
          <p:nvPr/>
        </p:nvSpPr>
        <p:spPr>
          <a:xfrm>
            <a:off x="695176" y="3449836"/>
            <a:ext cx="3587948" cy="0"/>
          </a:xfrm>
          <a:prstGeom prst="line">
            <a:avLst/>
          </a:prstGeom>
          <a:noFill/>
          <a:ln w="9525">
            <a:solidFill>
              <a:srgbClr val="9CD7FF"/>
            </a:solidFill>
            <a:prstDash val="solid"/>
          </a:ln>
        </p:spPr>
      </p:sp>
      <p:sp>
        <p:nvSpPr>
          <p:cNvPr id="20" name="Shape 15"/>
          <p:cNvSpPr/>
          <p:nvPr/>
        </p:nvSpPr>
        <p:spPr>
          <a:xfrm>
            <a:off x="4278362" y="3445073"/>
            <a:ext cx="0" cy="939552"/>
          </a:xfrm>
          <a:prstGeom prst="line">
            <a:avLst/>
          </a:prstGeom>
          <a:noFill/>
          <a:ln w="9525">
            <a:solidFill>
              <a:srgbClr val="9CD7FF"/>
            </a:solidFill>
            <a:prstDash val="solid"/>
          </a:ln>
        </p:spPr>
      </p:sp>
      <p:sp>
        <p:nvSpPr>
          <p:cNvPr id="21" name="Shape 16"/>
          <p:cNvSpPr/>
          <p:nvPr/>
        </p:nvSpPr>
        <p:spPr>
          <a:xfrm>
            <a:off x="695176" y="4379863"/>
            <a:ext cx="3587948" cy="0"/>
          </a:xfrm>
          <a:prstGeom prst="line">
            <a:avLst/>
          </a:prstGeom>
          <a:noFill/>
          <a:ln w="9525">
            <a:solidFill>
              <a:srgbClr val="9CD7FF"/>
            </a:solidFill>
            <a:prstDash val="solid"/>
          </a:ln>
        </p:spPr>
      </p:sp>
      <p:sp>
        <p:nvSpPr>
          <p:cNvPr id="22" name="Shape 17"/>
          <p:cNvSpPr/>
          <p:nvPr/>
        </p:nvSpPr>
        <p:spPr>
          <a:xfrm>
            <a:off x="718989" y="3445073"/>
            <a:ext cx="0" cy="939552"/>
          </a:xfrm>
          <a:prstGeom prst="line">
            <a:avLst/>
          </a:prstGeom>
          <a:noFill/>
          <a:ln w="47625">
            <a:solidFill>
              <a:srgbClr val="0969DA"/>
            </a:solidFill>
            <a:prstDash val="solid"/>
          </a:ln>
        </p:spPr>
      </p:sp>
      <p:pic>
        <p:nvPicPr>
          <p:cNvPr id="23"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0502" y="3584674"/>
            <a:ext cx="165050" cy="165050"/>
          </a:xfrm>
          <a:prstGeom prst="rect">
            <a:avLst/>
          </a:prstGeom>
        </p:spPr>
      </p:pic>
      <p:sp>
        <p:nvSpPr>
          <p:cNvPr id="24" name="Text 18"/>
          <p:cNvSpPr/>
          <p:nvPr/>
        </p:nvSpPr>
        <p:spPr>
          <a:xfrm>
            <a:off x="1161752" y="3581549"/>
            <a:ext cx="637276"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PROMPT</a:t>
            </a:r>
            <a:endParaRPr lang="en-US" sz="1150" dirty="0"/>
          </a:p>
        </p:txBody>
      </p:sp>
      <p:sp>
        <p:nvSpPr>
          <p:cNvPr id="25" name="Text 19"/>
          <p:cNvSpPr/>
          <p:nvPr/>
        </p:nvSpPr>
        <p:spPr>
          <a:xfrm>
            <a:off x="920502" y="3803749"/>
            <a:ext cx="3238905"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When should I use a chat vs. a project session? Do not change files.</a:t>
            </a:r>
            <a:endParaRPr lang="en-US" sz="1400" dirty="0"/>
          </a:p>
        </p:txBody>
      </p:sp>
      <p:sp>
        <p:nvSpPr>
          <p:cNvPr id="26" name="Text 20"/>
          <p:cNvSpPr/>
          <p:nvPr/>
        </p:nvSpPr>
        <p:spPr>
          <a:xfrm>
            <a:off x="4673501" y="1244501"/>
            <a:ext cx="3962400" cy="3327350"/>
          </a:xfrm>
          <a:prstGeom prst="roundRect">
            <a:avLst>
              <a:gd name="adj" fmla="val 3817"/>
            </a:avLst>
          </a:prstGeom>
          <a:solidFill>
            <a:srgbClr val="FFFFFF"/>
          </a:solidFill>
          <a:ln w="9525">
            <a:solidFill>
              <a:srgbClr val="E0C5FF"/>
            </a:solidFill>
          </a:ln>
        </p:spPr>
        <p:txBody>
          <a:bodyPr wrap="square" rtlCol="0" anchor="ctr"/>
          <a:lstStyle/>
          <a:p>
            <a:pPr indent="0" marL="0">
              <a:buNone/>
            </a:pPr>
            <a:endParaRPr lang="en-US" dirty="0"/>
          </a:p>
        </p:txBody>
      </p:sp>
      <p:sp>
        <p:nvSpPr>
          <p:cNvPr id="27" name="Text 21"/>
          <p:cNvSpPr/>
          <p:nvPr/>
        </p:nvSpPr>
        <p:spPr>
          <a:xfrm>
            <a:off x="4860727" y="1431727"/>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28"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43326" y="1514326"/>
            <a:ext cx="215801" cy="215801"/>
          </a:xfrm>
          <a:prstGeom prst="rect">
            <a:avLst/>
          </a:prstGeom>
        </p:spPr>
      </p:pic>
      <p:sp>
        <p:nvSpPr>
          <p:cNvPr id="29" name="Text 22"/>
          <p:cNvSpPr/>
          <p:nvPr/>
        </p:nvSpPr>
        <p:spPr>
          <a:xfrm>
            <a:off x="5356027" y="1507927"/>
            <a:ext cx="1580135"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Project session</a:t>
            </a:r>
            <a:endParaRPr lang="en-US" sz="1650" dirty="0"/>
          </a:p>
        </p:txBody>
      </p:sp>
      <p:sp>
        <p:nvSpPr>
          <p:cNvPr id="30" name="Text 23"/>
          <p:cNvSpPr/>
          <p:nvPr/>
        </p:nvSpPr>
        <p:spPr>
          <a:xfrm>
            <a:off x="4860727" y="1968847"/>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1" name="Text 24"/>
          <p:cNvSpPr/>
          <p:nvPr/>
        </p:nvSpPr>
        <p:spPr>
          <a:xfrm>
            <a:off x="5019377" y="1888927"/>
            <a:ext cx="2398666"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Plan, edit, test, and open PRs</a:t>
            </a:r>
            <a:endParaRPr lang="en-US" sz="1400" dirty="0"/>
          </a:p>
        </p:txBody>
      </p:sp>
      <p:sp>
        <p:nvSpPr>
          <p:cNvPr id="32" name="Text 25"/>
          <p:cNvSpPr/>
          <p:nvPr/>
        </p:nvSpPr>
        <p:spPr>
          <a:xfrm>
            <a:off x="4860727" y="2239268"/>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3" name="Text 26"/>
          <p:cNvSpPr/>
          <p:nvPr/>
        </p:nvSpPr>
        <p:spPr>
          <a:xfrm>
            <a:off x="5019377" y="2159347"/>
            <a:ext cx="197497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Usually a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New worktree</a:t>
            </a:r>
            <a:endParaRPr lang="en-US" sz="1400" dirty="0"/>
          </a:p>
        </p:txBody>
      </p:sp>
      <p:sp>
        <p:nvSpPr>
          <p:cNvPr id="34" name="Text 27"/>
          <p:cNvSpPr/>
          <p:nvPr/>
        </p:nvSpPr>
        <p:spPr>
          <a:xfrm>
            <a:off x="4860727" y="2509689"/>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5" name="Text 28"/>
          <p:cNvSpPr/>
          <p:nvPr/>
        </p:nvSpPr>
        <p:spPr>
          <a:xfrm>
            <a:off x="5019377" y="2429768"/>
            <a:ext cx="1909855"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Start with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on a project</a:t>
            </a:r>
            <a:endParaRPr lang="en-US" sz="1400" dirty="0"/>
          </a:p>
        </p:txBody>
      </p:sp>
      <p:sp>
        <p:nvSpPr>
          <p:cNvPr id="36" name="Text 29"/>
          <p:cNvSpPr/>
          <p:nvPr/>
        </p:nvSpPr>
        <p:spPr>
          <a:xfrm>
            <a:off x="4860727" y="3222873"/>
            <a:ext cx="3587948" cy="1161752"/>
          </a:xfrm>
          <a:prstGeom prst="roundRect">
            <a:avLst>
              <a:gd name="adj" fmla="val 6559"/>
            </a:avLst>
          </a:prstGeom>
          <a:solidFill>
            <a:srgbClr val="FFFFFF"/>
          </a:solidFill>
          <a:ln/>
        </p:spPr>
        <p:txBody>
          <a:bodyPr wrap="square" rtlCol="0" anchor="ctr"/>
          <a:lstStyle/>
          <a:p>
            <a:pPr indent="0" marL="0">
              <a:buNone/>
            </a:pPr>
            <a:endParaRPr lang="en-US" dirty="0"/>
          </a:p>
        </p:txBody>
      </p:sp>
      <p:sp>
        <p:nvSpPr>
          <p:cNvPr id="37" name="Shape 30"/>
          <p:cNvSpPr/>
          <p:nvPr/>
        </p:nvSpPr>
        <p:spPr>
          <a:xfrm>
            <a:off x="4860727" y="3227636"/>
            <a:ext cx="3587948" cy="0"/>
          </a:xfrm>
          <a:prstGeom prst="line">
            <a:avLst/>
          </a:prstGeom>
          <a:noFill/>
          <a:ln w="9525">
            <a:solidFill>
              <a:srgbClr val="E0C5FF"/>
            </a:solidFill>
            <a:prstDash val="solid"/>
          </a:ln>
        </p:spPr>
      </p:sp>
      <p:sp>
        <p:nvSpPr>
          <p:cNvPr id="38" name="Shape 31"/>
          <p:cNvSpPr/>
          <p:nvPr/>
        </p:nvSpPr>
        <p:spPr>
          <a:xfrm>
            <a:off x="8443912" y="3222873"/>
            <a:ext cx="0" cy="1161752"/>
          </a:xfrm>
          <a:prstGeom prst="line">
            <a:avLst/>
          </a:prstGeom>
          <a:noFill/>
          <a:ln w="9525">
            <a:solidFill>
              <a:srgbClr val="E0C5FF"/>
            </a:solidFill>
            <a:prstDash val="solid"/>
          </a:ln>
        </p:spPr>
      </p:sp>
      <p:sp>
        <p:nvSpPr>
          <p:cNvPr id="39" name="Shape 32"/>
          <p:cNvSpPr/>
          <p:nvPr/>
        </p:nvSpPr>
        <p:spPr>
          <a:xfrm>
            <a:off x="4860727" y="4379863"/>
            <a:ext cx="3587948" cy="0"/>
          </a:xfrm>
          <a:prstGeom prst="line">
            <a:avLst/>
          </a:prstGeom>
          <a:noFill/>
          <a:ln w="9525">
            <a:solidFill>
              <a:srgbClr val="E0C5FF"/>
            </a:solidFill>
            <a:prstDash val="solid"/>
          </a:ln>
        </p:spPr>
      </p:sp>
      <p:sp>
        <p:nvSpPr>
          <p:cNvPr id="40" name="Shape 33"/>
          <p:cNvSpPr/>
          <p:nvPr/>
        </p:nvSpPr>
        <p:spPr>
          <a:xfrm>
            <a:off x="4884539" y="3222873"/>
            <a:ext cx="0" cy="1161752"/>
          </a:xfrm>
          <a:prstGeom prst="line">
            <a:avLst/>
          </a:prstGeom>
          <a:noFill/>
          <a:ln w="47625">
            <a:solidFill>
              <a:srgbClr val="8250DF"/>
            </a:solidFill>
            <a:prstDash val="solid"/>
          </a:ln>
        </p:spPr>
      </p:sp>
      <p:pic>
        <p:nvPicPr>
          <p:cNvPr id="41"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052" y="3362474"/>
            <a:ext cx="165050" cy="165050"/>
          </a:xfrm>
          <a:prstGeom prst="rect">
            <a:avLst/>
          </a:prstGeom>
        </p:spPr>
      </p:pic>
      <p:sp>
        <p:nvSpPr>
          <p:cNvPr id="42" name="Text 34"/>
          <p:cNvSpPr/>
          <p:nvPr/>
        </p:nvSpPr>
        <p:spPr>
          <a:xfrm>
            <a:off x="5327303" y="3359348"/>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43" name="Text 35"/>
          <p:cNvSpPr/>
          <p:nvPr/>
        </p:nvSpPr>
        <p:spPr>
          <a:xfrm>
            <a:off x="5086052" y="3581549"/>
            <a:ext cx="3238905" cy="6666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Give me a beginner-friendly tour of samples/book-app-web. Do not change files.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MODES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Pick a mode for the task</a:t>
            </a:r>
            <a:endParaRPr lang="en-US" sz="2800" dirty="0"/>
          </a:p>
        </p:txBody>
      </p:sp>
      <p:sp>
        <p:nvSpPr>
          <p:cNvPr id="8" name="Text 4"/>
          <p:cNvSpPr/>
          <p:nvPr/>
        </p:nvSpPr>
        <p:spPr>
          <a:xfrm>
            <a:off x="511076" y="1569690"/>
            <a:ext cx="3549551" cy="2397621"/>
          </a:xfrm>
          <a:prstGeom prst="roundRect">
            <a:avLst>
              <a:gd name="adj" fmla="val 317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Session modes: Interactive, Plan, and Autopilot, with more autonomy from left to right. Pick the mode that fits the task."/>
          <p:cNvPicPr>
            <a:picLocks noChangeAspect="1"/>
          </p:cNvPicPr>
          <p:nvPr/>
        </p:nvPicPr>
        <p:blipFill>
          <a:blip r:embed="rId4"/>
          <a:stretch>
            <a:fillRect/>
          </a:stretch>
        </p:blipFill>
        <p:spPr>
          <a:xfrm>
            <a:off x="558701" y="1617315"/>
            <a:ext cx="3454301" cy="2302371"/>
          </a:xfrm>
          <a:prstGeom prst="rect">
            <a:avLst/>
          </a:prstGeom>
        </p:spPr>
      </p:pic>
      <p:sp>
        <p:nvSpPr>
          <p:cNvPr id="10" name="Text 5"/>
          <p:cNvSpPr/>
          <p:nvPr/>
        </p:nvSpPr>
        <p:spPr>
          <a:xfrm>
            <a:off x="4317802" y="1244501"/>
            <a:ext cx="4318099" cy="898773"/>
          </a:xfrm>
          <a:prstGeom prst="roundRect">
            <a:avLst>
              <a:gd name="adj" fmla="val 14130"/>
            </a:avLst>
          </a:prstGeom>
          <a:solidFill>
            <a:srgbClr val="FFFFFF"/>
          </a:solidFill>
          <a:ln w="9525">
            <a:solidFill>
              <a:srgbClr val="9CD7FF"/>
            </a:solidFill>
          </a:ln>
        </p:spPr>
        <p:txBody>
          <a:bodyPr wrap="square" rtlCol="0" anchor="ctr"/>
          <a:lstStyle/>
          <a:p>
            <a:pPr indent="0" marL="0">
              <a:buNone/>
            </a:pPr>
            <a:endParaRPr lang="en-US" dirty="0"/>
          </a:p>
        </p:txBody>
      </p:sp>
      <p:sp>
        <p:nvSpPr>
          <p:cNvPr id="11" name="Text 6"/>
          <p:cNvSpPr/>
          <p:nvPr/>
        </p:nvSpPr>
        <p:spPr>
          <a:xfrm>
            <a:off x="4428827" y="1355527"/>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511427" y="1438126"/>
            <a:ext cx="215801" cy="215801"/>
          </a:xfrm>
          <a:prstGeom prst="rect">
            <a:avLst/>
          </a:prstGeom>
        </p:spPr>
      </p:pic>
      <p:sp>
        <p:nvSpPr>
          <p:cNvPr id="13" name="Text 7"/>
          <p:cNvSpPr/>
          <p:nvPr/>
        </p:nvSpPr>
        <p:spPr>
          <a:xfrm>
            <a:off x="4924127" y="1431727"/>
            <a:ext cx="1069312"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Interactive</a:t>
            </a:r>
            <a:endParaRPr lang="en-US" sz="1650" dirty="0"/>
          </a:p>
        </p:txBody>
      </p:sp>
      <p:sp>
        <p:nvSpPr>
          <p:cNvPr id="14" name="Text 8"/>
          <p:cNvSpPr/>
          <p:nvPr/>
        </p:nvSpPr>
        <p:spPr>
          <a:xfrm>
            <a:off x="4428827" y="1761827"/>
            <a:ext cx="4177969"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Stay involved at every step.</a:t>
            </a:r>
            <a:endParaRPr lang="en-US" sz="1400" dirty="0"/>
          </a:p>
        </p:txBody>
      </p:sp>
      <p:sp>
        <p:nvSpPr>
          <p:cNvPr id="15" name="Text 9"/>
          <p:cNvSpPr/>
          <p:nvPr/>
        </p:nvSpPr>
        <p:spPr>
          <a:xfrm>
            <a:off x="4317802" y="2219474"/>
            <a:ext cx="4318099" cy="898773"/>
          </a:xfrm>
          <a:prstGeom prst="roundRect">
            <a:avLst>
              <a:gd name="adj" fmla="val 14130"/>
            </a:avLst>
          </a:prstGeom>
          <a:solidFill>
            <a:srgbClr val="FFFFFF"/>
          </a:solidFill>
          <a:ln w="9525">
            <a:solidFill>
              <a:srgbClr val="E0C5FF"/>
            </a:solidFill>
          </a:ln>
        </p:spPr>
        <p:txBody>
          <a:bodyPr wrap="square" rtlCol="0" anchor="ctr"/>
          <a:lstStyle/>
          <a:p>
            <a:pPr indent="0" marL="0">
              <a:buNone/>
            </a:pPr>
            <a:endParaRPr lang="en-US" dirty="0"/>
          </a:p>
        </p:txBody>
      </p:sp>
      <p:sp>
        <p:nvSpPr>
          <p:cNvPr id="16" name="Text 10"/>
          <p:cNvSpPr/>
          <p:nvPr/>
        </p:nvSpPr>
        <p:spPr>
          <a:xfrm>
            <a:off x="4428827" y="233050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7"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11427" y="2413099"/>
            <a:ext cx="215801" cy="215801"/>
          </a:xfrm>
          <a:prstGeom prst="rect">
            <a:avLst/>
          </a:prstGeom>
        </p:spPr>
      </p:pic>
      <p:sp>
        <p:nvSpPr>
          <p:cNvPr id="18" name="Text 11"/>
          <p:cNvSpPr/>
          <p:nvPr/>
        </p:nvSpPr>
        <p:spPr>
          <a:xfrm>
            <a:off x="4924127" y="2406700"/>
            <a:ext cx="451467"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Plan</a:t>
            </a:r>
            <a:endParaRPr lang="en-US" sz="1650" dirty="0"/>
          </a:p>
        </p:txBody>
      </p:sp>
      <p:sp>
        <p:nvSpPr>
          <p:cNvPr id="19" name="Text 12"/>
          <p:cNvSpPr/>
          <p:nvPr/>
        </p:nvSpPr>
        <p:spPr>
          <a:xfrm>
            <a:off x="4428827" y="2736800"/>
            <a:ext cx="4177969"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Approve a plan before any change.</a:t>
            </a:r>
            <a:endParaRPr lang="en-US" sz="1400" dirty="0"/>
          </a:p>
        </p:txBody>
      </p:sp>
      <p:sp>
        <p:nvSpPr>
          <p:cNvPr id="20" name="Text 13"/>
          <p:cNvSpPr/>
          <p:nvPr/>
        </p:nvSpPr>
        <p:spPr>
          <a:xfrm>
            <a:off x="4317802" y="3194447"/>
            <a:ext cx="4318099" cy="898773"/>
          </a:xfrm>
          <a:prstGeom prst="roundRect">
            <a:avLst>
              <a:gd name="adj" fmla="val 14130"/>
            </a:avLst>
          </a:prstGeom>
          <a:solidFill>
            <a:srgbClr val="FFFFFF"/>
          </a:solidFill>
          <a:ln w="9525">
            <a:solidFill>
              <a:srgbClr val="8CE7A5"/>
            </a:solidFill>
          </a:ln>
        </p:spPr>
        <p:txBody>
          <a:bodyPr wrap="square" rtlCol="0" anchor="ctr"/>
          <a:lstStyle/>
          <a:p>
            <a:pPr indent="0" marL="0">
              <a:buNone/>
            </a:pPr>
            <a:endParaRPr lang="en-US" dirty="0"/>
          </a:p>
        </p:txBody>
      </p:sp>
      <p:sp>
        <p:nvSpPr>
          <p:cNvPr id="21" name="Text 14"/>
          <p:cNvSpPr/>
          <p:nvPr/>
        </p:nvSpPr>
        <p:spPr>
          <a:xfrm>
            <a:off x="4428827" y="3305473"/>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2"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511427" y="3388072"/>
            <a:ext cx="215801" cy="215801"/>
          </a:xfrm>
          <a:prstGeom prst="rect">
            <a:avLst/>
          </a:prstGeom>
        </p:spPr>
      </p:pic>
      <p:sp>
        <p:nvSpPr>
          <p:cNvPr id="23" name="Text 15"/>
          <p:cNvSpPr/>
          <p:nvPr/>
        </p:nvSpPr>
        <p:spPr>
          <a:xfrm>
            <a:off x="4924127" y="3381673"/>
            <a:ext cx="937849"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Autopilot</a:t>
            </a:r>
            <a:endParaRPr lang="en-US" sz="1650" dirty="0"/>
          </a:p>
        </p:txBody>
      </p:sp>
      <p:sp>
        <p:nvSpPr>
          <p:cNvPr id="24" name="Text 16"/>
          <p:cNvSpPr/>
          <p:nvPr/>
        </p:nvSpPr>
        <p:spPr>
          <a:xfrm>
            <a:off x="4428827" y="3711773"/>
            <a:ext cx="4177969"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Well-defined tasks, clear outcomes.</a:t>
            </a:r>
            <a:endParaRPr lang="en-US" sz="1400" dirty="0"/>
          </a:p>
        </p:txBody>
      </p:sp>
      <p:sp>
        <p:nvSpPr>
          <p:cNvPr id="25" name="Text 17"/>
          <p:cNvSpPr/>
          <p:nvPr/>
        </p:nvSpPr>
        <p:spPr>
          <a:xfrm>
            <a:off x="4317802" y="4169420"/>
            <a:ext cx="4318099" cy="478631"/>
          </a:xfrm>
          <a:prstGeom prst="roundRect">
            <a:avLst>
              <a:gd name="adj" fmla="val 21227"/>
            </a:avLst>
          </a:prstGeom>
          <a:solidFill>
            <a:srgbClr val="DDF4FF"/>
          </a:solidFill>
          <a:ln w="9525">
            <a:solidFill>
              <a:srgbClr val="9CD7FF"/>
            </a:solidFill>
          </a:ln>
        </p:spPr>
        <p:txBody>
          <a:bodyPr wrap="square" rtlCol="0" anchor="ctr"/>
          <a:lstStyle/>
          <a:p>
            <a:pPr indent="0" marL="0">
              <a:buNone/>
            </a:pPr>
            <a:endParaRPr lang="en-US" dirty="0"/>
          </a:p>
        </p:txBody>
      </p:sp>
      <p:pic>
        <p:nvPicPr>
          <p:cNvPr id="26"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505027" y="4307086"/>
            <a:ext cx="203150" cy="203150"/>
          </a:xfrm>
          <a:prstGeom prst="rect">
            <a:avLst/>
          </a:prstGeom>
        </p:spPr>
      </p:pic>
      <p:sp>
        <p:nvSpPr>
          <p:cNvPr id="27" name="Text 18"/>
          <p:cNvSpPr/>
          <p:nvPr/>
        </p:nvSpPr>
        <p:spPr>
          <a:xfrm>
            <a:off x="4835128" y="4305895"/>
            <a:ext cx="2853928" cy="205680"/>
          </a:xfrm>
          <a:prstGeom prst="rect">
            <a:avLst/>
          </a:prstGeom>
          <a:noFill/>
          <a:ln/>
        </p:spPr>
        <p:txBody>
          <a:bodyPr wrap="square" lIns="0" tIns="0" rIns="0" bIns="0" rtlCol="0" anchor="t"/>
          <a:lstStyle/>
          <a:p>
            <a:pPr algn="l" indent="0" marL="0">
              <a:lnSpc>
                <a:spcPts val="1620"/>
              </a:lnSpc>
              <a:buNone/>
            </a:pPr>
            <a:r>
              <a:rPr lang="en-US" sz="1350" b="1" dirty="0">
                <a:solidFill>
                  <a:srgbClr val="1F2328"/>
                </a:solidFill>
                <a:latin typeface="Arial" pitchFamily="34" charset="0"/>
                <a:ea typeface="Arial" pitchFamily="34" charset="-122"/>
                <a:cs typeface="Arial" pitchFamily="34" charset="-120"/>
              </a:rPr>
              <a:t>Tool permissions:</a:t>
            </a:r>
            <a:pPr algn="l" indent="0" marL="0">
              <a:lnSpc>
                <a:spcPts val="1620"/>
              </a:lnSpc>
              <a:buNone/>
            </a:pPr>
            <a:r>
              <a:rPr lang="en-US" sz="1350" dirty="0">
                <a:solidFill>
                  <a:srgbClr val="1F2328"/>
                </a:solidFill>
                <a:latin typeface="Arial" pitchFamily="34" charset="0"/>
                <a:ea typeface="Arial" pitchFamily="34" charset="-122"/>
                <a:cs typeface="Arial" pitchFamily="34" charset="-120"/>
              </a:rPr>
              <a:t> when to ask first.</a:t>
            </a:r>
            <a:endParaRPr lang="en-US" sz="1350" dirty="0"/>
          </a:p>
        </p:txBody>
      </p:sp>
    </p:spTree>
  </p:cSld>
  <p:clrMapOvr>
    <a:masterClrMapping/>
  </p:clrMapOvr>
</p:sld>
</file>

<file path=ppt/slides/slide14.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4">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MODELS AND REASONING EFFORT</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Choose how the agent thinks</ns1:t>
            </ns1:r>
            <ns1:endParaRPr lang="en-US" sz="2800" dirty="0"/>
          </ns1:p>
        </ns0:txBody>
      </ns0:sp>
      <ns0:sp>
        <ns0:nvSpPr>
          <ns0:cNvPr id="8" name="Text 4"/>
          <ns0:cNvSpPr/>
          <ns0:nvPr/>
        </ns0:nvSpPr>
        <ns0:spPr>
          <ns1:xfrm>
            <ns1:off x="507950" y="1825228"/>
            <ns1:ext cx="3810000" cy="1268164"/>
          </ns1:xfrm>
          <ns1:prstGeom prst="roundRect">
            <ns1:avLst>
              <ns1:gd name="adj" fmla="val 8012"/>
            </ns1:avLst>
          </ns1:prstGeom>
          <ns1:solidFill>
            <ns1:srgbClr val="FFFFFF"/>
          </ns1:solidFill>
          <ns1:ln w="9525">
            <ns1:solidFill>
              <ns1:srgbClr val="D1D9E0"/>
            </ns1:solidFill>
          </ns1:ln>
        </ns0:spPr>
        <ns0:txBody>
          <ns1:bodyPr wrap="square" rtlCol="0" anchor="ctr"/>
          <ns1:lstStyle/>
          <ns1:p>
            <ns1:pPr indent="0" marL="0">
              <ns1:buNone/>
            </ns1:pPr>
            <ns1:endParaRPr lang="en-US" dirty="0"/>
          </ns1:p>
        </ns0:txBody>
      </ns0:sp>
      <ns0:sp>
        <ns0:nvSpPr>
          <ns0:cNvPr id="9" name="Shape 5"/>
          <ns0:cNvSpPr/>
          <ns0:nvPr/>
        </ns0:nvSpPr>
        <ns0:spPr>
          <ns1:xfrm>
            <ns1:off x="517475" y="2249537"/>
            <ns1:ext cx="3790950" cy="0"/>
          </ns1:xfrm>
          <ns1:prstGeom prst="line">
            <ns1:avLst/>
          </ns1:prstGeom>
          <ns1:noFill/>
          <ns1:ln w="9525">
            <ns1:solidFill>
              <ns1:srgbClr val="D1D9E0"/>
            </ns1:solidFill>
            <ns1:prstDash val="solid"/>
          </ns1:ln>
        </ns0:spPr>
      </ns0:sp>
      <ns0:sp>
        <ns0:nvSpPr>
          <ns0:cNvPr id="10" name="Text 6"/>
          <ns0:cNvSpPr/>
          <ns0:nvPr/>
        </ns0:nvSpPr>
        <ns0:spPr>
          <ns1:xfrm>
            <ns1:off x="669875" y="1936254"/>
            <ns1:ext cx="1424839"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Model</ns1:t>
            </ns1:r>
            <ns1:endParaRPr lang="en-US" sz="1400" dirty="0"/>
          </ns1:p>
        </ns0:txBody>
      </ns0:sp>
      <ns0:sp>
        <ns0:nvSpPr>
          <ns0:cNvPr id="11" name="Text 7"/>
          <ns0:cNvSpPr/>
          <ns0:nvPr/>
        </ns0:nvSpPr>
        <ns0:spPr>
          <ns1:xfrm>
            <ns1:off x="2371576" y="1936254"/>
            <ns1:ext cx="1839417"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Speed, skill, cost</ns1:t>
            </ns1:r>
            <ns1:endParaRPr lang="en-US" sz="1400" dirty="0"/>
          </ns1:p>
        </ns0:txBody>
      </ns0:sp>
      <ns0:sp>
        <ns0:nvSpPr>
          <ns0:cNvPr id="12" name="Shape 8"/>
          <ns0:cNvSpPr/>
          <ns0:nvPr/>
        </ns0:nvSpPr>
        <ns0:spPr>
          <ns1:xfrm>
            <ns1:off x="517475" y="2669084"/>
            <ns1:ext cx="3790950" cy="0"/>
          </ns1:xfrm>
          <ns1:prstGeom prst="line">
            <ns1:avLst/>
          </ns1:prstGeom>
          <ns1:noFill/>
          <ns1:ln w="9525">
            <ns1:solidFill>
              <ns1:srgbClr val="D1D9E0"/>
            </ns1:solidFill>
            <ns1:prstDash val="solid"/>
          </ns1:ln>
        </ns0:spPr>
      </ns0:sp>
      <ns0:sp>
        <ns0:nvSpPr>
          <ns0:cNvPr id="13" name="Text 9"/>
          <ns0:cNvSpPr/>
          <ns0:nvPr/>
        </ns0:nvSpPr>
        <ns0:spPr>
          <ns1:xfrm>
            <ns1:off x="669875" y="2355800"/>
            <ns1:ext cx="1424839"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Effort</ns1:t>
            </ns1:r>
            <ns1:endParaRPr lang="en-US" sz="1400" dirty="0"/>
          </ns1:p>
        </ns0:txBody>
      </ns0:sp>
      <ns0:sp>
        <ns0:nvSpPr>
          <ns0:cNvPr id="14" name="Text 10"/>
          <ns0:cNvSpPr/>
          <ns0:nvPr/>
        </ns0:nvSpPr>
        <ns0:spPr>
          <ns1:xfrm>
            <ns1:off x="2371576" y="2355800"/>
            <ns1:ext cx="1839417"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Reasoning depth</ns1:t>
            </ns1:r>
            <ns1:endParaRPr lang="en-US" sz="1400" dirty="0"/>
          </ns1:p>
        </ns0:txBody>
      </ns0:sp>
      <ns0:sp>
        <ns0:nvSpPr>
          <ns0:cNvPr id="15" name="Text 11"/>
          <ns0:cNvSpPr/>
          <ns0:nvPr/>
        </ns0:nvSpPr>
        <ns0:spPr>
          <ns1:xfrm>
            <ns1:off x="669875" y="2775347"/>
            <ns1:ext cx="1424839"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Context window</ns1:t>
            </ns1:r>
            <ns1:endParaRPr lang="en-US" sz="1400" dirty="0"/>
          </ns1:p>
        </ns0:txBody>
      </ns0:sp>
      <ns0:sp>
        <ns0:nvSpPr>
          <ns0:cNvPr id="16" name="Text 12"/>
          <ns0:cNvSpPr/>
          <ns0:nvPr/>
        </ns0:nvSpPr>
        <ns0:spPr>
          <ns1:xfrm>
            <ns1:off x="2371576" y="2775347"/>
            <ns1:ext cx="1839417"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Text it can hold</ns1:t>
            </ns1:r>
            <ns1:endParaRPr lang="en-US" sz="1400" dirty="0"/>
          </ns1:p>
        </ns0:txBody>
      </ns0:sp>
      <ns0:sp>
        <ns0:nvSpPr>
          <ns0:cNvPr id="17" name="Text 13"/>
          <ns0:cNvSpPr/>
          <ns0:nvPr/>
        </ns0:nvSpPr>
        <ns0:spPr>
          <ns1:xfrm>
            <ns1:off x="507950" y="3271093"/>
            <ns1:ext cx="3810000" cy="720030"/>
          </ns1:xfrm>
          <ns1:prstGeom prst="roundRect">
            <ns1:avLst>
              <ns1:gd name="adj" fmla="val 14111"/>
            </ns1:avLst>
          </ns1:prstGeom>
          <ns1:solidFill>
            <ns1:srgbClr val="FFF8C5"/>
          </ns1:solidFill>
          <ns1:ln w="9525">
            <ns1:solidFill>
              <ns1:srgbClr val="E7C85A"/>
            </ns1:solidFill>
          </ns1:ln>
        </ns0:spPr>
        <ns0:txBody>
          <ns1:bodyPr wrap="square" rtlCol="0" anchor="ctr"/>
          <ns1:lstStyle/>
          <ns1:p>
            <ns1:pPr indent="0" marL="0">
              <ns1:buNone/>
            </ns1:pPr>
            <ns1:endParaRPr lang="en-US" dirty="0"/>
          </ns1:p>
        </ns0:txBody>
      </ns0:sp>
      <ns0:pic>
        <ns0:nvPicPr>
          <ns0:cNvPr id="18"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695176" y="3529459"/>
            <ns1:ext cx="203150" cy="203150"/>
          </ns1:xfrm>
          <ns1:prstGeom prst="rect">
            <ns1:avLst/>
          </ns1:prstGeom>
        </ns0:spPr>
      </ns0:pic>
      <ns0:sp>
        <ns0:nvSpPr>
          <ns0:cNvPr id="19" name="Text 14"/>
          <ns0:cNvSpPr/>
          <ns0:nvPr/>
        </ns0:nvSpPr>
        <ns0:spPr>
          <ns1:xfrm>
            <ns1:off x="1025277" y="3407569"/>
            <ns1:ext cx="3167557" cy="447080"/>
          </ns1:xfrm>
          <ns1:prstGeom prst="rect">
            <ns1:avLst/>
          </ns1:prstGeom>
          <ns1:noFill/>
          <ns1:ln/>
        </ns0:spPr>
        <ns0:txBody>
          <ns1:bodyPr wrap="square" lIns="0" tIns="0" rIns="0" bIns="0" rtlCol="0" anchor="t"/>
          <ns1:lstStyle/>
          <ns1:p>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Fusion: Standard, High, Max. Autopilot is a mode.</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ns1:r>
            <ns1:endParaRPr lang="en-US" sz="1450" dirty="0"/>
          </ns1:p>
        </ns0:txBody>
      </ns0:sp>
      <ns0:sp>
        <ns0:nvSpPr>
          <ns0:cNvPr id="20" name="Text 15"/>
          <ns0:cNvSpPr/>
          <ns0:nvPr/>
        </ns0:nvSpPr>
        <ns0:spPr>
          <ns1:xfrm>
            <ns1:off x="4546550" y="1770459"/>
            <ns1:ext cx="4089350" cy="1383953"/>
          </ns1:xfrm>
          <ns1:prstGeom prst="roundRect">
            <ns1:avLst>
              <ns1:gd name="adj" fmla="val 5506"/>
            </ns1:avLst>
          </ns1:prstGeom>
          <ns1:solidFill>
            <ns1:srgbClr val="FFFFFF"/>
          </ns1:solidFill>
          <ns1:ln/>
        </ns0:spPr>
        <ns0:txBody>
          <ns1:bodyPr wrap="square" rtlCol="0" anchor="ctr"/>
          <ns1:lstStyle/>
          <ns1:p>
            <ns1:pPr indent="0" marL="0">
              <ns1:buNone/>
            </ns1:pPr>
            <ns1:endParaRPr lang="en-US" dirty="0"/>
          </ns1:p>
        </ns0:txBody>
      </ns0:sp>
      <ns0:sp>
        <ns0:nvSpPr>
          <ns0:cNvPr id="21" name="Shape 16"/>
          <ns0:cNvSpPr/>
          <ns0:nvPr/>
        </ns0:nvSpPr>
        <ns0:spPr>
          <ns1:xfrm>
            <ns1:off x="4546550" y="1775222"/>
            <ns1:ext cx="4089350" cy="0"/>
          </ns1:xfrm>
          <ns1:prstGeom prst="line">
            <ns1:avLst/>
          </ns1:prstGeom>
          <ns1:noFill/>
          <ns1:ln w="9525">
            <ns1:solidFill>
              <ns1:srgbClr val="E0C5FF"/>
            </ns1:solidFill>
            <ns1:prstDash val="solid"/>
          </ns1:ln>
        </ns0:spPr>
      </ns0:sp>
      <ns0:sp>
        <ns0:nvSpPr>
          <ns0:cNvPr id="22" name="Shape 17"/>
          <ns0:cNvSpPr/>
          <ns0:nvPr/>
        </ns0:nvSpPr>
        <ns0:spPr>
          <ns1:xfrm>
            <ns1:off x="8631138" y="1770459"/>
            <ns1:ext cx="0" cy="1383953"/>
          </ns1:xfrm>
          <ns1:prstGeom prst="line">
            <ns1:avLst/>
          </ns1:prstGeom>
          <ns1:noFill/>
          <ns1:ln w="9525">
            <ns1:solidFill>
              <ns1:srgbClr val="E0C5FF"/>
            </ns1:solidFill>
            <ns1:prstDash val="solid"/>
          </ns1:ln>
        </ns0:spPr>
      </ns0:sp>
      <ns0:sp>
        <ns0:nvSpPr>
          <ns0:cNvPr id="23" name="Shape 18"/>
          <ns0:cNvSpPr/>
          <ns0:nvPr/>
        </ns0:nvSpPr>
        <ns0:spPr>
          <ns1:xfrm>
            <ns1:off x="4546550" y="3149650"/>
            <ns1:ext cx="4089350" cy="0"/>
          </ns1:xfrm>
          <ns1:prstGeom prst="line">
            <ns1:avLst/>
          </ns1:prstGeom>
          <ns1:noFill/>
          <ns1:ln w="9525">
            <ns1:solidFill>
              <ns1:srgbClr val="E0C5FF"/>
            </ns1:solidFill>
            <ns1:prstDash val="solid"/>
          </ns1:ln>
        </ns0:spPr>
      </ns0:sp>
      <ns0:sp>
        <ns0:nvSpPr>
          <ns0:cNvPr id="24" name="Shape 19"/>
          <ns0:cNvSpPr/>
          <ns0:nvPr/>
        </ns0:nvSpPr>
        <ns0:spPr>
          <ns1:xfrm>
            <ns1:off x="4570363" y="1770459"/>
            <ns1:ext cx="0" cy="1383953"/>
          </ns1:xfrm>
          <ns1:prstGeom prst="line">
            <ns1:avLst/>
          </ns1:prstGeom>
          <ns1:noFill/>
          <ns1:ln w="47625">
            <ns1:solidFill>
              <ns1:srgbClr val="8250DF"/>
            </ns1:solidFill>
            <ns1:prstDash val="solid"/>
          </ns1:ln>
        </ns0:spPr>
      </ns0:sp>
      <ns0:pic>
        <ns0:nvPicPr>
          <ns0:cNvPr id="25"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4771876" y="1910060"/>
            <ns1:ext cx="165050" cy="165050"/>
          </ns1:xfrm>
          <ns1:prstGeom prst="rect">
            <ns1:avLst/>
          </ns1:prstGeom>
        </ns0:spPr>
      </ns0:pic>
      <ns0:sp>
        <ns0:nvSpPr>
          <ns0:cNvPr id="26" name="Text 20"/>
          <ns0:cNvSpPr/>
          <ns0:nvPr/>
        </ns0:nvSpPr>
        <ns0:spPr>
          <ns1:xfrm>
            <ns1:off x="5013127" y="1906935"/>
            <ns1:ext cx="637276" cy="171450"/>
          </ns1:xfrm>
          <ns1:prstGeom prst="rect">
            <ns1:avLst/>
          </ns1:prstGeom>
          <ns1:noFill/>
          <ns1:ln/>
        </ns0:spPr>
        <ns0:txBody>
          <ns1:bodyPr wrap="square" lIns="0" tIns="0" rIns="0" bIns="0" rtlCol="0" anchor="t"/>
          <ns1:lstStyle/>
          <ns1:p>
            <ns1:pPr algn="l" indent="0" marL="0">
              <ns1:buNone/>
            </ns1:pPr>
            <ns1:r>
              <ns1:rPr lang="en-US" sz="1150" b="1" dirty="0">
                <ns1:solidFill>
                  <ns1:srgbClr val="8250DF"/>
                </ns1:solidFill>
                <ns1:latin typeface="Arial" pitchFamily="34" charset="0"/>
                <ns1:ea typeface="Arial" pitchFamily="34" charset="-122"/>
                <ns1:cs typeface="Arial" pitchFamily="34" charset="-120"/>
              </ns1:rPr>
              <ns1:t>PROMPT</ns1:t>
            </ns1:r>
            <ns1:endParaRPr lang="en-US" sz="1150" dirty="0"/>
          </ns1:p>
        </ns0:txBody>
      </ns0:sp>
      <ns0:sp>
        <ns0:nvSpPr>
          <ns0:cNvPr id="27" name="Text 21"/>
          <ns0:cNvSpPr/>
          <ns0:nvPr/>
        </ns0:nvSpPr>
        <ns0:spPr>
          <ns1:xfrm>
            <ns1:off x="4771876" y="2129135"/>
            <ns1:ext cx="3750335" cy="888802"/>
          </ns1:xfrm>
          <ns1:prstGeom prst="rect">
            <ns1:avLst/>
          </ns1:prstGeom>
          <ns1:noFill/>
          <ns1:ln/>
        </ns0:spPr>
        <ns0:txBody>
          <ns1:bodyPr wrap="square" lIns="0" tIns="0" rIns="0" bIns="0" rtlCol="0" anchor="t"/>
          <ns1:lstStyle/>
          <ns1:p>
            <ns1:pPr algn="l" indent="0" marL="0">
              <ns1:lnSpc>
                <ns1:spcPts val="1750"/>
              </ns1:lnSpc>
              <ns1:buNone/>
            </ns1:pPr>
            <ns1:r>
              <ns1:rPr lang="en-US" sz="1400" dirty="0">
                <ns1:solidFill>
                  <ns1:srgbClr val="1F2328"/>
                </ns1:solidFill>
                <ns1:latin typeface="Arial" pitchFamily="34" charset="0"/>
                <ns1:ea typeface="Arial" pitchFamily="34" charset="-122"/>
                <ns1:cs typeface="Arial" pitchFamily="34" charset="-120"/>
              </ns1:rPr>
              <ns1:t>In samples/book-app-web, explain how filterBooks searches book titles and authors. Does letter case affect the results? Refer to the relevant file. Do not change any files.</ns1:t>
            </ns1:r>
            <ns1:endParaRPr lang="en-US" sz="1400" dirty="0"/>
          </ns1:p>
        </ns0:txBody>
      </ns0:sp>
      <ns0:sp>
        <ns0:nvSpPr>
          <ns0:cNvPr id="28" name="Text 22"/>
          <ns0:cNvSpPr/>
          <ns0:nvPr/>
        </ns0:nvSpPr>
        <ns0:spPr>
          <ns1:xfrm>
            <ns1:off x="4546550" y="3306812"/>
            <ns1:ext cx="4089350" cy="739080"/>
          </ns1:xfrm>
          <ns1:prstGeom prst="roundRect">
            <ns1:avLst>
              <ns1:gd name="adj" fmla="val 13747"/>
            </ns1:avLst>
          </ns1:prstGeom>
          <ns1:solidFill>
            <ns1:srgbClr val="DAFBE1"/>
          </ns1:solidFill>
          <ns1:ln w="9525">
            <ns1:solidFill>
              <ns1:srgbClr val="8CE7A5"/>
            </ns1:solidFill>
          </ns1:ln>
        </ns0:spPr>
        <ns0:txBody>
          <ns1:bodyPr wrap="square" rtlCol="0" anchor="ctr"/>
          <ns1:lstStyle/>
          <ns1:p>
            <ns1:pPr indent="0" marL="0">
              <ns1:buNone/>
            </ns1:pPr>
            <ns1:endParaRPr lang="en-US" dirty="0"/>
          </ns1:p>
        </ns0:txBody>
      </ns0:sp>
      <ns0:pic>
        <ns0:nvPicPr>
          <ns0:cNvPr id="29"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4733776" y="3574703"/>
            <ns1:ext cx="203150" cy="203150"/>
          </ns1:xfrm>
          <ns1:prstGeom prst="rect">
            <ns1:avLst/>
          </ns1:prstGeom>
        </ns0:spPr>
      </ns0:pic>
      <ns0:sp>
        <ns0:nvSpPr>
          <ns0:cNvPr id="30" name="Text 23"/>
          <ns0:cNvSpPr/>
          <ns0:nvPr/>
        </ns0:nvSpPr>
        <ns0:spPr>
          <ns1:xfrm>
            <ns1:off x="5063877" y="3443288"/>
            <ns1:ext cx="3452494" cy="466130"/>
          </ns1:xfrm>
          <ns1:prstGeom prst="rect">
            <ns1:avLst/>
          </ns1:prstGeom>
          <ns1:noFill/>
          <ns1:ln/>
        </ns0:spPr>
        <ns0:txBody>
          <ns1:bodyPr wrap="square" lIns="0" tIns="0" rIns="0" bIns="0" rtlCol="0" anchor="t"/>
          <ns1:lstStyle/>
          <ns1:p>
            <ns1:pPr algn="l" indent="0" marL="0">
              <ns1:lnSpc>
                <ns1:spcPts val="1760"/>
              </ns1:lnSpc>
              <ns1:buNone/>
            </ns1:pPr>
            <ns1:r>
              <ns1:rPr lang="en-US" sz="1450" b="1" dirty="0">
                <ns1:solidFill>
                  <ns1:srgbClr val="1A7F37"/>
                </ns1:solidFill>
                <ns1:latin typeface="Arial" pitchFamily="34" charset="0"/>
                <ns1:ea typeface="Arial" pitchFamily="34" charset="-122"/>
                <ns1:cs typeface="Arial" pitchFamily="34" charset="-120"/>
              </ns1:rPr>
              <ns1:t>Expected:</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Search ignores letter case. The answer points to </ns1:t>
            </ns1:r>
            <ns1:pPr algn="l" indent="0" marL="0">
              <ns1:lnSpc>
                <ns1:spcPts val="1760"/>
              </ns1:lnSpc>
              <ns1:buNone/>
            </ns1:pPr>
            <ns1:r>
              <ns1:rPr lang="en-US" sz="1450" b="1" dirty="0">
                <ns1:solidFill>
                  <ns1:srgbClr val="0550AE"/>
                </ns1:solidFill>
                <ns1:latin typeface="Courier New" pitchFamily="34" charset="0"/>
                <ns1:ea typeface="Courier New" pitchFamily="34" charset="-122"/>
                <ns1:cs typeface="Courier New" pitchFamily="34" charset="-120"/>
              </ns1:rPr>
              <ns1:t>src/App.tsx</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ns1:t>
            </ns1:r>
            <ns1:endParaRPr lang="en-US" sz="1450" dirty="0"/>
          </ns1:p>
        </ns0:txBody>
      </ns0:sp>
    </ns0:spTree>
  </ns0:cSld>
  <ns0:clrMapOvr>
    <ns1:masterClrMapping/>
  </ns0:clrMapOvr>
</ns0: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PROMPT BOX SHORTCUTS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Work faster in the prompt box</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Reuse what worked, and try again without retyping.</a:t>
            </a:r>
            <a:endParaRPr lang="en-US" sz="1650" dirty="0"/>
          </a:p>
        </p:txBody>
      </p:sp>
      <p:sp>
        <p:nvSpPr>
          <p:cNvPr id="9" name="Text 5"/>
          <p:cNvSpPr/>
          <p:nvPr/>
        </p:nvSpPr>
        <p:spPr>
          <a:xfrm>
            <a:off x="507950" y="2266355"/>
            <a:ext cx="2590800" cy="1690092"/>
          </a:xfrm>
          <a:prstGeom prst="roundRect">
            <a:avLst>
              <a:gd name="adj" fmla="val 7514"/>
            </a:avLst>
          </a:prstGeom>
          <a:solidFill>
            <a:srgbClr val="FFFFFF"/>
          </a:solidFill>
          <a:ln w="9525">
            <a:solidFill>
              <a:srgbClr val="9CD7FF"/>
            </a:solidFill>
          </a:ln>
        </p:spPr>
        <p:txBody>
          <a:bodyPr wrap="square" rtlCol="0" anchor="ctr"/>
          <a:lstStyle/>
          <a:p>
            <a:pPr indent="0" marL="0">
              <a:buNone/>
            </a:pPr>
            <a:endParaRPr lang="en-US" dirty="0"/>
          </a:p>
        </p:txBody>
      </p:sp>
      <p:sp>
        <p:nvSpPr>
          <p:cNvPr id="10" name="Text 6"/>
          <p:cNvSpPr/>
          <p:nvPr/>
        </p:nvSpPr>
        <p:spPr>
          <a:xfrm>
            <a:off x="695176" y="2453580"/>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536180"/>
            <a:ext cx="215801" cy="215801"/>
          </a:xfrm>
          <a:prstGeom prst="rect">
            <a:avLst/>
          </a:prstGeom>
        </p:spPr>
      </p:pic>
      <p:sp>
        <p:nvSpPr>
          <p:cNvPr id="12" name="Text 7"/>
          <p:cNvSpPr/>
          <p:nvPr/>
        </p:nvSpPr>
        <p:spPr>
          <a:xfrm>
            <a:off x="1190476" y="2529780"/>
            <a:ext cx="1734520"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Retry a response</a:t>
            </a:r>
            <a:endParaRPr lang="en-US" sz="1650" dirty="0"/>
          </a:p>
        </p:txBody>
      </p:sp>
      <p:sp>
        <p:nvSpPr>
          <p:cNvPr id="13" name="Text 8"/>
          <p:cNvSpPr/>
          <p:nvPr/>
        </p:nvSpPr>
        <p:spPr>
          <a:xfrm>
            <a:off x="695176" y="2910780"/>
            <a:ext cx="2260675" cy="858441"/>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Use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Retry</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below a response to rerun it with a different model, effort, or context window.</a:t>
            </a:r>
            <a:endParaRPr lang="en-US" sz="1400" dirty="0"/>
          </a:p>
        </p:txBody>
      </p:sp>
      <p:sp>
        <p:nvSpPr>
          <p:cNvPr id="14" name="Text 9"/>
          <p:cNvSpPr/>
          <p:nvPr/>
        </p:nvSpPr>
        <p:spPr>
          <a:xfrm>
            <a:off x="3276451" y="2266355"/>
            <a:ext cx="2590949" cy="1690092"/>
          </a:xfrm>
          <a:prstGeom prst="roundRect">
            <a:avLst>
              <a:gd name="adj" fmla="val 7514"/>
            </a:avLst>
          </a:prstGeom>
          <a:solidFill>
            <a:srgbClr val="FFFFFF"/>
          </a:solidFill>
          <a:ln w="9525">
            <a:solidFill>
              <a:srgbClr val="E0C5FF"/>
            </a:solidFill>
          </a:ln>
        </p:spPr>
        <p:txBody>
          <a:bodyPr wrap="square" rtlCol="0" anchor="ctr"/>
          <a:lstStyle/>
          <a:p>
            <a:pPr indent="0" marL="0">
              <a:buNone/>
            </a:pPr>
            <a:endParaRPr lang="en-US" dirty="0"/>
          </a:p>
        </p:txBody>
      </p:sp>
      <p:sp>
        <p:nvSpPr>
          <p:cNvPr id="15" name="Text 10"/>
          <p:cNvSpPr/>
          <p:nvPr/>
        </p:nvSpPr>
        <p:spPr>
          <a:xfrm>
            <a:off x="3463677" y="245358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6"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546277" y="2536180"/>
            <a:ext cx="215801" cy="215801"/>
          </a:xfrm>
          <a:prstGeom prst="rect">
            <a:avLst/>
          </a:prstGeom>
        </p:spPr>
      </p:pic>
      <p:sp>
        <p:nvSpPr>
          <p:cNvPr id="17" name="Text 11"/>
          <p:cNvSpPr/>
          <p:nvPr/>
        </p:nvSpPr>
        <p:spPr>
          <a:xfrm>
            <a:off x="3958977" y="2529780"/>
            <a:ext cx="1520172"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Prompt history</a:t>
            </a:r>
            <a:endParaRPr lang="en-US" sz="1650" dirty="0"/>
          </a:p>
        </p:txBody>
      </p:sp>
      <p:sp>
        <p:nvSpPr>
          <p:cNvPr id="18" name="Text 12"/>
          <p:cNvSpPr/>
          <p:nvPr/>
        </p:nvSpPr>
        <p:spPr>
          <a:xfrm>
            <a:off x="3463677" y="2910780"/>
            <a:ext cx="2260827" cy="858441"/>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Press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Ctrl+R</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Cmd+R</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on macOS) to search recent prompts from all sessions and reuse one.</a:t>
            </a:r>
            <a:endParaRPr lang="en-US" sz="1400" dirty="0"/>
          </a:p>
        </p:txBody>
      </p:sp>
      <p:sp>
        <p:nvSpPr>
          <p:cNvPr id="19" name="Text 13"/>
          <p:cNvSpPr/>
          <p:nvPr/>
        </p:nvSpPr>
        <p:spPr>
          <a:xfrm>
            <a:off x="6045101" y="2266355"/>
            <a:ext cx="2590800" cy="1690092"/>
          </a:xfrm>
          <a:prstGeom prst="roundRect">
            <a:avLst>
              <a:gd name="adj" fmla="val 7514"/>
            </a:avLst>
          </a:prstGeom>
          <a:solidFill>
            <a:srgbClr val="FFFFFF"/>
          </a:solidFill>
          <a:ln w="9525">
            <a:solidFill>
              <a:srgbClr val="8CE7A5"/>
            </a:solidFill>
          </a:ln>
        </p:spPr>
        <p:txBody>
          <a:bodyPr wrap="square" rtlCol="0" anchor="ctr"/>
          <a:lstStyle/>
          <a:p>
            <a:pPr indent="0" marL="0">
              <a:buNone/>
            </a:pPr>
            <a:endParaRPr lang="en-US" dirty="0"/>
          </a:p>
        </p:txBody>
      </p:sp>
      <p:sp>
        <p:nvSpPr>
          <p:cNvPr id="20" name="Text 14"/>
          <p:cNvSpPr/>
          <p:nvPr/>
        </p:nvSpPr>
        <p:spPr>
          <a:xfrm>
            <a:off x="6232327" y="2453580"/>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1"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314926" y="2536180"/>
            <a:ext cx="215801" cy="215801"/>
          </a:xfrm>
          <a:prstGeom prst="rect">
            <a:avLst/>
          </a:prstGeom>
        </p:spPr>
      </p:pic>
      <p:sp>
        <p:nvSpPr>
          <p:cNvPr id="22" name="Text 15"/>
          <p:cNvSpPr/>
          <p:nvPr/>
        </p:nvSpPr>
        <p:spPr>
          <a:xfrm>
            <a:off x="6727627" y="2529780"/>
            <a:ext cx="150438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Voice dictation</a:t>
            </a:r>
            <a:endParaRPr lang="en-US" sz="1650" dirty="0"/>
          </a:p>
        </p:txBody>
      </p:sp>
      <p:sp>
        <p:nvSpPr>
          <p:cNvPr id="23" name="Text 16"/>
          <p:cNvSpPr/>
          <p:nvPr/>
        </p:nvSpPr>
        <p:spPr>
          <a:xfrm>
            <a:off x="6232327" y="2910780"/>
            <a:ext cx="2260675" cy="64383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Speak a prompt, then edit the text before you send it. Optional.</a:t>
            </a:r>
            <a:endParaRPr lang="en-US" sz="1400" dirty="0"/>
          </a:p>
        </p:txBody>
      </p:sp>
    </p:spTree>
  </p:cSld>
  <p:clrMapOvr>
    <a:masterClrMapping/>
  </p:clrMapOvr>
</p:sld>
</file>

<file path=ppt/slides/slide16.xml><?xml version="1.0" encoding="utf-8"?>
<ns0:sld xmlns:ns0="http://schemas.openxmlformats.org/presentationml/2006/main" xmlns:ns1="http://schemas.openxmlformats.org/drawingml/2006/main" xmlns:ns2="http://schemas.microsoft.com/office/drawing/2017/decorative" xmlns:ns3="http://schemas.openxmlformats.org/officeDocument/2006/relationships" xmlns:ns4="http://schemas.microsoft.com/office/drawing/2018/hyperlinkcolor">
  <ns0:cSld name="Slide 16">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KEY TAKEAWAYS</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What to remember</ns1:t>
            </ns1:r>
            <ns1:endParaRPr lang="en-US" sz="2800" dirty="0"/>
          </ns1:p>
        </ns0:txBody>
      </ns0:sp>
      <ns0:sp>
        <ns0:nvSpPr>
          <ns0:cNvPr id="8" name="Text 4"/>
          <ns0:cNvSpPr/>
          <ns0:nvPr/>
        </ns0:nvSpPr>
        <ns0:spPr>
          <ns1:xfrm>
            <ns1:off x="507950" y="1524000"/>
            <ns1:ext cx="3962400" cy="812750"/>
          </ns1:xfrm>
          <ns1:prstGeom prst="roundRect">
            <ns1:avLst>
              <ns1:gd name="adj" fmla="val 15626"/>
            </ns1:avLst>
          </ns1:prstGeom>
          <ns1:solidFill>
            <ns1:srgbClr val="F0FBF3"/>
          </ns1:solidFill>
          <ns1:ln w="9525">
            <ns1:solidFill>
              <ns1:srgbClr val="8CE7A5"/>
            </ns1:solidFill>
          </ns1:ln>
        </ns0:spPr>
        <ns0:txBody>
          <ns1:bodyPr wrap="square" rtlCol="0" anchor="ctr"/>
          <ns1:lstStyle/>
          <ns1:p>
            <ns1:pPr indent="0" marL="0">
              <ns1:buNone/>
            </ns1:pPr>
            <ns1:endParaRPr lang="en-US" dirty="0"/>
          </ns1:p>
        </ns0:txBody>
      </ns0:sp>
      <ns0:sp>
        <ns0:nvSpPr>
          <ns0:cNvPr id="9" name="Text 5"/>
          <ns0:cNvSpPr/>
          <ns0:nvPr/>
        </ns0:nvSpPr>
        <ns0:spPr>
          <ns1:xfrm>
            <ns1:off x="695176" y="1790700"/>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0" name="Text 6"/>
          <ns0:cNvSpPr/>
          <ns0:nvPr/>
        </ns0:nvSpPr>
        <ns0:spPr>
          <ns1:xfrm>
            <ns1:off x="789841" y="1835051"/>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1" name="Text 7"/>
          <ns0:cNvSpPr/>
          <ns0:nvPr/>
        </ns0:nvSpPr>
        <ns0:spPr>
          <ns1:xfrm>
            <ns1:off x="1126927" y="1714351"/>
            <ns1:ext cx="3219322" cy="431899"/>
          </ns1:xfrm>
          <ns1:prstGeom prst="rect">
            <ns1:avLst/>
          </ns1:prstGeom>
          <ns1:noFill/>
          <ns1:ln/>
        </ns0:spPr>
        <ns0:txBody>
          <ns1:bodyPr wrap="square" lIns="0" tIns="0" rIns="0" bIns="0" rtlCol="0" anchor="t"/>
          <ns1:lstStyle/>
          <ns1:p>
            <ns1:pPr algn="l" indent="0" marL="0">
              <ns1:lnSpc>
                <ns1:spcPts val="1700"/>
              </ns1:lnSpc>
              <ns1:buNone/>
            </ns1:pPr>
            <ns1:r>
              <ns1:rPr lang="en-US" sz="1450" dirty="0">
                <ns1:solidFill>
                  <ns1:srgbClr val="1F2328"/>
                </ns1:solidFill>
                <ns1:latin typeface="Arial" pitchFamily="34" charset="0"/>
                <ns1:ea typeface="Arial" pitchFamily="34" charset="-122"/>
                <ns1:cs typeface="Arial" pitchFamily="34" charset="-120"/>
              </ns1:rPr>
              <ns1:t>Keep your editor for deep coding. Use the app to run and review agent work.</ns1:t>
            </ns1:r>
            <ns1:endParaRPr lang="en-US" sz="1450" dirty="0"/>
          </ns1:p>
        </ns0:txBody>
      </ns0:sp>
      <ns0:sp>
        <ns0:nvSpPr>
          <ns0:cNvPr id="12" name="Text 8"/>
          <ns0:cNvSpPr/>
          <ns0:nvPr/>
        </ns0:nvSpPr>
        <ns0:spPr>
          <ns1:xfrm>
            <ns1:off x="4673501" y="1524000"/>
            <ns1:ext cx="3962400" cy="812750"/>
          </ns1:xfrm>
          <ns1:prstGeom prst="roundRect">
            <ns1:avLst>
              <ns1:gd name="adj" fmla="val 15626"/>
            </ns1:avLst>
          </ns1:prstGeom>
          <ns1:solidFill>
            <ns1:srgbClr val="F0FBF3"/>
          </ns1:solidFill>
          <ns1:ln w="9525">
            <ns1:solidFill>
              <ns1:srgbClr val="8CE7A5"/>
            </ns1:solidFill>
          </ns1:ln>
        </ns0:spPr>
        <ns0:txBody>
          <ns1:bodyPr wrap="square" rtlCol="0" anchor="ctr"/>
          <ns1:lstStyle/>
          <ns1:p>
            <ns1:pPr indent="0" marL="0">
              <ns1:buNone/>
            </ns1:pPr>
            <ns1:endParaRPr lang="en-US" dirty="0"/>
          </ns1:p>
        </ns0:txBody>
      </ns0:sp>
      <ns0:sp>
        <ns0:nvSpPr>
          <ns0:cNvPr id="13" name="Text 9"/>
          <ns0:cNvSpPr/>
          <ns0:nvPr/>
        </ns0:nvSpPr>
        <ns0:spPr>
          <ns1:xfrm>
            <ns1:off x="4860727" y="1790700"/>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4" name="Text 10"/>
          <ns0:cNvSpPr/>
          <ns0:nvPr/>
        </ns0:nvSpPr>
        <ns0:spPr>
          <ns1:xfrm>
            <ns1:off x="4955392" y="1835051"/>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5" name="Text 11"/>
          <ns0:cNvSpPr/>
          <ns0:nvPr/>
        </ns0:nvSpPr>
        <ns0:spPr>
          <ns1:xfrm>
            <ns1:off x="5292477" y="1606451"/>
            <ns1:ext cx="3219322" cy="647849"/>
          </ns1:xfrm>
          <ns1:prstGeom prst="rect">
            <ns1:avLst/>
          </ns1:prstGeom>
          <ns1:noFill/>
          <ns1:ln/>
        </ns0:spPr>
        <ns0:txBody>
          <ns1:bodyPr wrap="square" lIns="0" tIns="0" rIns="0" bIns="0" rtlCol="0" anchor="t"/>
          <ns1:lstStyle/>
          <ns1:p>
            <ns1:pPr algn="l" indent="0" marL="0">
              <ns1:lnSpc>
                <ns1:spcPts val="1700"/>
              </ns1:lnSpc>
              <ns1:buNone/>
            </ns1:pPr>
            <ns1:r>
              <ns1:rPr lang="en-US" sz="1450" dirty="0">
                <ns1:solidFill>
                  <ns1:srgbClr val="1F2328"/>
                </ns1:solidFill>
                <ns1:latin typeface="Arial" pitchFamily="34" charset="0"/>
                <ns1:ea typeface="Arial" pitchFamily="34" charset="-122"/>
                <ns1:cs typeface="Arial" pitchFamily="34" charset="-120"/>
              </ns1:rPr>
              <ns1:t>Views: New, Pull requests, Issues, Dashboards, Automations, Customize, and Sessions.</ns1:t>
            </ns1:r>
            <ns1:endParaRPr lang="en-US" sz="1450" dirty="0"/>
          </ns1:p>
        </ns0:txBody>
      </ns0:sp>
      <ns0:sp>
        <ns0:nvSpPr>
          <ns0:cNvPr id="16" name="Text 12"/>
          <ns0:cNvSpPr/>
          <ns0:nvPr/>
        </ns0:nvSpPr>
        <ns0:spPr>
          <ns1:xfrm>
            <ns1:off x="507950" y="2514451"/>
            <ns1:ext cx="3962400" cy="812750"/>
          </ns1:xfrm>
          <ns1:prstGeom prst="roundRect">
            <ns1:avLst>
              <ns1:gd name="adj" fmla="val 15626"/>
            </ns1:avLst>
          </ns1:prstGeom>
          <ns1:solidFill>
            <ns1:srgbClr val="F0FBF3"/>
          </ns1:solidFill>
          <ns1:ln w="9525">
            <ns1:solidFill>
              <ns1:srgbClr val="8CE7A5"/>
            </ns1:solidFill>
          </ns1:ln>
        </ns0:spPr>
        <ns0:txBody>
          <ns1:bodyPr wrap="square" rtlCol="0" anchor="ctr"/>
          <ns1:lstStyle/>
          <ns1:p>
            <ns1:pPr indent="0" marL="0">
              <ns1:buNone/>
            </ns1:pPr>
            <ns1:endParaRPr lang="en-US" dirty="0"/>
          </ns1:p>
        </ns0:txBody>
      </ns0:sp>
      <ns0:sp>
        <ns0:nvSpPr>
          <ns0:cNvPr id="17" name="Text 13"/>
          <ns0:cNvSpPr/>
          <ns0:nvPr/>
        </ns0:nvSpPr>
        <ns0:spPr>
          <ns1:xfrm>
            <ns1:off x="695176" y="2781151"/>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8" name="Text 14"/>
          <ns0:cNvSpPr/>
          <ns0:nvPr/>
        </ns0:nvSpPr>
        <ns0:spPr>
          <ns1:xfrm>
            <ns1:off x="789841" y="2825502"/>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19" name="Text 15"/>
          <ns0:cNvSpPr/>
          <ns0:nvPr/>
        </ns0:nvSpPr>
        <ns0:spPr>
          <ns1:xfrm>
            <ns1:off x="1126927" y="2704802"/>
            <ns1:ext cx="3219322" cy="431899"/>
          </ns1:xfrm>
          <ns1:prstGeom prst="rect">
            <ns1:avLst/>
          </ns1:prstGeom>
          <ns1:noFill/>
          <ns1:ln/>
        </ns0:spPr>
        <ns0:txBody>
          <ns1:bodyPr wrap="square" lIns="0" tIns="0" rIns="0" bIns="0" rtlCol="0" anchor="t"/>
          <ns1:lstStyle/>
          <ns1:p>
            <ns1:pPr algn="l" indent="0" marL="0">
              <ns1:lnSpc>
                <ns1:spcPts val="1700"/>
              </ns1:lnSpc>
              <ns1:buNone/>
            </ns1:pPr>
            <ns1:r>
              <ns1:rPr lang="en-US" sz="1450" dirty="0">
                <ns1:solidFill>
                  <ns1:srgbClr val="1F2328"/>
                </ns1:solidFill>
                <ns1:latin typeface="Arial" pitchFamily="34" charset="0"/>
                <ns1:ea typeface="Arial" pitchFamily="34" charset="-122"/>
                <ns1:cs typeface="Arial" pitchFamily="34" charset="-120"/>
              </ns1:rPr>
              <ns1:t>Chats are for exploration. Project sessions are for repository work.</ns1:t>
            </ns1:r>
            <ns1:endParaRPr lang="en-US" sz="1450" dirty="0"/>
          </ns1:p>
        </ns0:txBody>
      </ns0:sp>
      <ns0:sp>
        <ns0:nvSpPr>
          <ns0:cNvPr id="20" name="Text 16"/>
          <ns0:cNvSpPr/>
          <ns0:nvPr/>
        </ns0:nvSpPr>
        <ns0:spPr>
          <ns1:xfrm>
            <ns1:off x="4673501" y="2514451"/>
            <ns1:ext cx="3962400" cy="812750"/>
          </ns1:xfrm>
          <ns1:prstGeom prst="roundRect">
            <ns1:avLst>
              <ns1:gd name="adj" fmla="val 15626"/>
            </ns1:avLst>
          </ns1:prstGeom>
          <ns1:solidFill>
            <ns1:srgbClr val="F0FBF3"/>
          </ns1:solidFill>
          <ns1:ln w="9525">
            <ns1:solidFill>
              <ns1:srgbClr val="8CE7A5"/>
            </ns1:solidFill>
          </ns1:ln>
        </ns0:spPr>
        <ns0:txBody>
          <ns1:bodyPr wrap="square" rtlCol="0" anchor="ctr"/>
          <ns1:lstStyle/>
          <ns1:p>
            <ns1:pPr indent="0" marL="0">
              <ns1:buNone/>
            </ns1:pPr>
            <ns1:endParaRPr lang="en-US" dirty="0"/>
          </ns1:p>
        </ns0:txBody>
      </ns0:sp>
      <ns0:sp>
        <ns0:nvSpPr>
          <ns0:cNvPr id="21" name="Text 17"/>
          <ns0:cNvSpPr/>
          <ns0:nvPr/>
        </ns0:nvSpPr>
        <ns0:spPr>
          <ns1:xfrm>
            <ns1:off x="4860727" y="2781151"/>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22" name="Text 18"/>
          <ns0:cNvSpPr/>
          <ns0:nvPr/>
        </ns0:nvSpPr>
        <ns0:spPr>
          <ns1:xfrm>
            <ns1:off x="4955392" y="2825502"/>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3" name="Text 19"/>
          <ns0:cNvSpPr/>
          <ns0:nvPr/>
        </ns0:nvSpPr>
        <ns0:spPr>
          <ns1:xfrm>
            <ns1:off x="5292477" y="2704802"/>
            <ns1:ext cx="3219322" cy="431899"/>
          </ns1:xfrm>
          <ns1:prstGeom prst="rect">
            <ns1:avLst/>
          </ns1:prstGeom>
          <ns1:noFill/>
          <ns1:ln/>
        </ns0:spPr>
        <ns0:txBody>
          <ns1:bodyPr wrap="square" lIns="0" tIns="0" rIns="0" bIns="0" rtlCol="0" anchor="t"/>
          <ns1:lstStyle/>
          <ns1:p>
            <ns1:pPr algn="l" indent="0" marL="0">
              <ns1:lnSpc>
                <ns1:spcPts val="1700"/>
              </ns1:lnSpc>
              <ns1:buNone/>
            </ns1:pPr>
            <ns1:r>
              <ns1:rPr lang="en-US" sz="1450" dirty="0">
                <ns1:solidFill>
                  <ns1:srgbClr val="1F2328"/>
                </ns1:solidFill>
                <ns1:latin typeface="Arial" pitchFamily="34" charset="0"/>
                <ns1:ea typeface="Arial" pitchFamily="34" charset="-122"/>
                <ns1:cs typeface="Arial" pitchFamily="34" charset="-120"/>
              </ns1:rPr>
              <ns1:t>Interactive, Plan, and Autopilot set how much autonomy the agent has.</ns1:t>
            </ns1:r>
            <ns1:endParaRPr lang="en-US" sz="1450" dirty="0"/>
          </ns1:p>
        </ns0:txBody>
      </ns0:sp>
      <ns0:sp>
        <ns0:nvSpPr>
          <ns0:cNvPr id="24" name="Text 20"/>
          <ns0:cNvSpPr/>
          <ns0:nvPr/>
        </ns0:nvSpPr>
        <ns0:spPr>
          <ns1:xfrm>
            <ns1:off x="507950" y="3784550"/>
            <ns1:ext cx="8127950" cy="812750"/>
          </ns1:xfrm>
          <ns1:prstGeom prst="roundRect">
            <ns1:avLst>
              <ns1:gd name="adj" fmla="val 15626"/>
            </ns1:avLst>
          </ns1:prstGeom>
          <ns1:solidFill>
            <ns1:srgbClr val="DDF4FF"/>
          </ns1:solidFill>
          <ns1:ln w="9525">
            <ns1:solidFill>
              <ns1:srgbClr val="9CD7FF"/>
            </ns1:solidFill>
          </ns1:ln>
        </ns0:spPr>
        <ns0:txBody>
          <ns1:bodyPr wrap="square" rtlCol="0" anchor="ctr"/>
          <ns1:lstStyle/>
          <ns1:p>
            <ns1:pPr indent="0" marL="0">
              <ns1:buNone/>
            </ns1:pPr>
            <ns1:endParaRPr lang="en-US" dirty="0"/>
          </ns1:p>
        </ns0:txBody>
      </ns0:sp>
      <ns0:sp>
        <ns0:nvSpPr>
          <ns0:cNvPr id="25" name="Text 21"/>
          <ns0:cNvSpPr/>
          <ns0:nvPr/>
        </ns0:nvSpPr>
        <ns0:spPr>
          <ns1:xfrm>
            <ns1:off x="746075" y="3987701"/>
            <ns1:ext cx="406301" cy="406301"/>
          </ns1:xfrm>
          <ns1:prstGeom prst="roundRect">
            <ns1:avLst>
              <ns1:gd name="adj" fmla="val 21880"/>
            </ns1:avLst>
          </ns1:prstGeom>
          <ns1:solidFill>
            <ns1:srgbClr val="DDF4FF"/>
          </ns1:solidFill>
          <ns1:ln/>
        </ns0:spPr>
        <ns0:txBody>
          <ns1:bodyPr wrap="square" rtlCol="0" anchor="ctr"/>
          <ns1:lstStyle/>
          <ns1:p>
            <ns1:pPr indent="0" marL="0">
              <ns1:buNone/>
            </ns1:pPr>
            <ns1:endParaRPr lang="en-US" dirty="0"/>
          </ns1:p>
        </ns0:txBody>
      </ns0:sp>
      <ns0:pic>
        <ns0:nvPicPr>
          <ns0:cNvPr id="26"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834926" y="4076551"/>
            <ns1:ext cx="228600" cy="228600"/>
          </ns1:xfrm>
          <ns1:prstGeom prst="rect">
            <ns1:avLst/>
          </ns1:prstGeom>
        </ns0:spPr>
      </ns0:pic>
      <ns0:sp>
        <ns0:nvSpPr>
          <ns0:cNvPr id="27" name="Text 22"/>
          <ns0:cNvSpPr/>
          <ns0:nvPr/>
        </ns0:nvSpPr>
        <ns0:spPr>
          <ns1:xfrm>
            <ns1:off x="1304776" y="3971776"/>
            <ns1:ext cx="2631838" cy="171450"/>
          </ns1:xfrm>
          <ns1:prstGeom prst="rect">
            <ns1:avLst/>
          </ns1:prstGeom>
          <ns1:noFill/>
          <ns1:ln/>
        </ns0:spPr>
        <ns0:txBody>
          <ns1:bodyPr wrap="square" lIns="0" tIns="0" rIns="0" bIns="0" rtlCol="0" anchor="t"/>
          <ns1:lstStyle/>
          <ns1:p>
            <ns1:pPr algn="l" indent="0" marL="0">
              <ns1:buNone/>
            </ns1:pPr>
            <ns1:r>
              <ns1:rPr lang="en-US" sz="1150" b="1" dirty="0">
                <ns1:solidFill>
                  <ns1:srgbClr val="0969DA"/>
                </ns1:solidFill>
                <ns1:latin typeface="Arial" pitchFamily="34" charset="0"/>
                <ns1:ea typeface="Arial" pitchFamily="34" charset="-122"/>
                <ns1:cs typeface="Arial" pitchFamily="34" charset="-120"/>
              </ns1:rPr>
              <ns1:t>REVISIT THIS CHAPTER</ns1:t>
            </ns1:r>
            <ns1:endParaRPr lang="en-US" sz="1150" dirty="0"/>
          </ns1:p>
        </ns0:txBody>
      </ns0:sp>
      <ns0:sp>
        <ns0:nvSpPr>
          <ns0:cNvPr id="28" name="Text 23"/>
          <ns0:cNvSpPr/>
          <ns0:nvPr/>
        </ns0:nvSpPr>
        <ns0:spPr>
          <ns1:xfrm>
            <ns1:off x="1304776" y="4181326"/>
            <ns1:ext cx="2631838" cy="228600"/>
          </ns1:xfrm>
          <ns1:prstGeom prst="rect">
            <ns1:avLst/>
          </ns1:prstGeom>
          <ns1:noFill/>
          <ns1:ln/>
        </ns0:spPr>
        <ns0:txBody>
          <ns1:bodyPr wrap="square" lIns="0" tIns="0" rIns="0" bIns="0" rtlCol="0" anchor="t"/>
          <ns1:lstStyle/>
          <ns1:p>
            <ns1:pPr algn="l" indent="0" marL="0">
              <ns1:buNone/>
            </ns1:pPr>
            <ns1:r>
              <ns1:rPr lang="en-US" sz="1550" b="1" u="sng" dirty="0">
                <ns1:solidFill>
                  <ns1:srgbClr val="0969DA"/>
                </ns1:solidFill>
                <ns1:latin typeface="Arial" pitchFamily="34" charset="0"/>
                <ns1:ea typeface="Arial" pitchFamily="34" charset="-122"/>
                <ns1:cs typeface="Arial" pitchFamily="34" charset="-120"/>
                <ns1:hlinkClick ns3:id="rId5" invalidUrl="" action="" tgtFrame="" tooltip="https://github.com/github/copilot-app-for-beginners/tree/main/01-tour-the-app" history="1" highlightClick="0" endSnd="0">
                  <ns1:extLst>
                    <ns1:ext uri="{A12FA001-AC4F-418D-AE19-62706E023703}">
                      <ns4:hlinkClr val="tx"/>
                    </ns1:ext>
                  </ns1:extLst>
                </ns1:hlinkClick>
              </ns1:rPr>
              <ns1:t>Open Chapter 01 on GitHub</ns1:t>
            </ns1:r>
            <ns1:endParaRPr lang="en-US" sz="1550" dirty="0"/>
          </ns1:p>
        </ns0:txBody>
      </ns0:sp>
      <ns0:sp>
        <ns0:nvSpPr>
          <ns0:cNvPr id="29" name="Text 24"/>
          <ns0:cNvSpPr/>
          <ns0:nvPr/>
        </ns0:nvSpPr>
        <ns0:spPr>
          <ns1:xfrm>
            <ns1:off x="4714875" y="3971776"/>
            <ns1:ext cx="3756559" cy="171450"/>
          </ns1:xfrm>
          <ns1:prstGeom prst="rect">
            <ns1:avLst/>
          </ns1:prstGeom>
          <ns1:noFill/>
          <ns1:ln/>
        </ns0:spPr>
        <ns0:txBody>
          <ns1:bodyPr wrap="square" lIns="0" tIns="0" rIns="0" bIns="0" rtlCol="0" anchor="t"/>
          <ns1:lstStyle/>
          <ns1:p>
            <ns1:pPr algn="l" indent="0" marL="0">
              <ns1:buNone/>
            </ns1:pPr>
            <ns1:r>
              <ns1:rPr lang="en-US" sz="1150" b="1" dirty="0">
                <ns1:solidFill>
                  <ns1:srgbClr val="0969DA"/>
                </ns1:solidFill>
                <ns1:latin typeface="Arial" pitchFamily="34" charset="0"/>
                <ns1:ea typeface="Arial" pitchFamily="34" charset="-122"/>
                <ns1:cs typeface="Arial" pitchFamily="34" charset="-120"/>
              </ns1:rPr>
              <ns1:t>NEXT · CHAPTER 02</ns1:t>
            </ns1:r>
            <ns1:endParaRPr lang="en-US" sz="1150" dirty="0"/>
          </ns1:p>
        </ns0:txBody>
      </ns0:sp>
      <ns0:sp>
        <ns0:nvSpPr>
          <ns0:cNvPr id="30" name="Text 25"/>
          <ns0:cNvSpPr/>
          <ns0:nvPr/>
        </ns0:nvSpPr>
        <ns0:spPr>
          <ns1:xfrm>
            <ns1:off x="4714875" y="4181326"/>
            <ns1:ext cx="3756559" cy="228600"/>
          </ns1:xfrm>
          <ns1:prstGeom prst="rect">
            <ns1:avLst/>
          </ns1:prstGeom>
          <ns1:noFill/>
          <ns1:ln/>
        </ns0:spPr>
        <ns0:txBody>
          <ns1:bodyPr wrap="square" lIns="0" tIns="0" rIns="0" bIns="0" rtlCol="0" anchor="t"/>
          <ns1:lstStyle/>
          <ns1:p>
            <ns1:pPr algn="l" indent="0" marL="0">
              <ns1:buNone/>
            </ns1:pPr>
            <ns1:r>
              <ns1:rPr lang="en-US" sz="1550" b="1" u="sng" dirty="0">
                <ns1:solidFill>
                  <ns1:srgbClr val="1F2328"/>
                </ns1:solidFill>
                <ns1:latin typeface="Arial" pitchFamily="34" charset="0"/>
                <ns1:ea typeface="Arial" pitchFamily="34" charset="-122"/>
                <ns1:cs typeface="Arial" pitchFamily="34" charset="-120"/>
                <ns1:hlinkClick ns3:id="rId6" invalidUrl="" action="" tgtFrame="" tooltip="https://github.com/github/copilot-app-for-beginners/tree/main/02-sessions-worktrees-context" history="1" highlightClick="0" endSnd="0">
                  <ns1:extLst>
                    <ns1:ext uri="{A12FA001-AC4F-418D-AE19-62706E023703}">
                      <ns4:hlinkClr val="tx"/>
                    </ns1:ext>
                  </ns1:extLst>
                </ns1:hlinkClick>
              </ns1:rPr>
              <ns1:t>Sessions, Worktrees, and Context →</ns1:t>
            </ns1:r>
            <ns1:endParaRPr lang="en-US" sz="1550" dirty="0"/>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01: Tour the App</dc:title>
  <dc:subject>PptxGenJS Presentation</dc:subject>
  <dc:creator>GitHub Copilot app for Beginners</dc:creator>
  <cp:lastModifiedBy>GitHub Copilot app for Beginners</cp:lastModifiedBy>
  <cp:revision>1</cp:revision>
  <dcterms:created xsi:type="dcterms:W3CDTF">2026-10-06T21:17:06Z</dcterms:created>
  <dcterms:modified xsi:type="dcterms:W3CDTF">2026-10-06T21:17:06Z</dcterms:modified>
</cp:coreProperties>
</file>