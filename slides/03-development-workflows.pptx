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 When Copilot gives you a Bash or PowerShell snippet, you can copy it into the Terminal tab, or select the Run button next to the snippet to run it in the session terminal. The terminal reuses the existing shell, so the working folder and environment carry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Issues and Pull requests views list GitHub work that involves you. Select Issues and stay on Assigned to me. Select the filter icon, choose query mode, and enter repo:OWNER/copilot-app-for-beginners, replacing OWNER with your GitHub username. The query can also include state:open assignee:@me. Do the same in Pull requests, where state:open author:@me finds your open practice PRs. Each view has its own query. The repository picker has been replaced by query filtering.</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14</ns1:t>
            </ns1:fld>
            <ns1:endParaRPr lang="en-US"/>
          </ns1:p>
        </ns0:txBody>
      </ns0:sp>
    </ns0:spTree>
    <ns0:extLst>
      <ns0:ext uri="{BB962C8B-B14F-4D97-AF65-F5344CB8AC3E}">
        <ns2:creationId val="1024086991"/>
      </ns0:ext>
    </ns0:extLst>
  </ns0:cSld>
  <ns0:clrMapOvr>
    <ns1:masterClrMapping/>
  </ns0:clrMapOvr>
</ns0: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Record, play back, and re-take analogy for the development loop"/>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Producer review desk analogy for GitHub issues and pull requests"/>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2263140" y="1508760"/>
            <a:ext cx="4617720" cy="3118104"/>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Development loop. Inner loop on your machine: understand, change, inspect, test and build, and preview. Outer loop on GitHub: issue, pull request, feedback, checks, and merge. Human judgment applies to both loops."/>
          <p:cNvPicPr>
            <a:picLocks noChangeAspect="1"/>
          </p:cNvPicPr>
          <p:nvPr/>
        </p:nvPicPr>
        <p:blipFill>
          <a:blip r:embed="rId4"/>
          <a:stretch>
            <a:fillRect/>
          </a:stretch>
        </p:blipFill>
        <p:spPr>
          <a:xfrm>
            <a:off x="2308860" y="1554480"/>
            <a:ext cx="4526280" cy="3017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332803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1764209"/>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1951434"/>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019746"/>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292697"/>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2900660"/>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09976" y="3056781"/>
            <a:ext cx="203150" cy="203150"/>
          </a:xfrm>
          <a:prstGeom prst="rect">
            <a:avLst/>
          </a:prstGeom>
        </p:spPr>
      </p:pic>
      <p:sp>
        <p:nvSpPr>
          <p:cNvPr id="26" name="Text 21"/>
          <p:cNvSpPr/>
          <p:nvPr/>
        </p:nvSpPr>
        <p:spPr>
          <a:xfrm>
            <a:off x="5140077" y="3037136"/>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
        <p:nvSpPr>
          <p:cNvPr id="27" name="Text 22"/>
          <p:cNvSpPr/>
          <p:nvPr/>
        </p:nvSpPr>
        <p:spPr>
          <a:xfrm>
            <a:off x="4622750" y="3568601"/>
            <a:ext cx="4013150" cy="889992"/>
          </a:xfrm>
          <a:prstGeom prst="roundRect">
            <a:avLst>
              <a:gd name="adj" fmla="val 11416"/>
            </a:avLst>
          </a:prstGeom>
          <a:solidFill>
            <a:srgbClr val="DDF4FF"/>
          </a:solidFill>
          <a:ln w="9525">
            <a:solidFill>
              <a:srgbClr val="9CD7FF"/>
            </a:solidFill>
          </a:ln>
        </p:spPr>
        <p:txBody>
          <a:bodyPr wrap="square" rtlCol="0" anchor="ctr"/>
          <a:lstStyle/>
          <a:p>
            <a:pPr indent="0" marL="0">
              <a:buNone/>
            </a:pPr>
            <a:endParaRPr lang="en-US" dirty="0"/>
          </a:p>
        </p:txBody>
      </p:sp>
      <p:pic>
        <p:nvPicPr>
          <p:cNvPr id="2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809976" y="3911947"/>
            <a:ext cx="203150" cy="203150"/>
          </a:xfrm>
          <a:prstGeom prst="rect">
            <a:avLst/>
          </a:prstGeom>
        </p:spPr>
      </p:pic>
      <p:sp>
        <p:nvSpPr>
          <p:cNvPr id="29" name="Text 23"/>
          <p:cNvSpPr/>
          <p:nvPr/>
        </p:nvSpPr>
        <p:spPr>
          <a:xfrm>
            <a:off x="5140077" y="3705076"/>
            <a:ext cx="3374770" cy="617041"/>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Bash and PowerShell snippets in a response have a </a:t>
            </a:r>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Run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button that runs them in this terminal.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ick &amp; Polish with an article.book-card attachment in the prompt box"/>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Pick &amp; Polish with an article.book-card attachment in the prompt box"/>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93753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224858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303588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Issue-to-merge workflow: issue, session, diff, approval gate, pull request, checks, approval gate, and merge. Feedback or a failed check goes back to the session."/>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4">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03</ns1:t>
            </ns1:r>
            <ns1:endParaRPr lang="en-US" sz="1150" dirty="0"/>
          </ns1:p>
        </ns0:txBody>
      </ns0:sp>
      <ns0:pic>
        <ns0:nvPicPr>
          <ns0:cNvPr id="5" name="Image 1" descr="Open this chapter on GitHub">
            <ns1:hlinkClick ns3:id="rId3" tooltip="https://github.com/github/copilot-app-for-beginners/tree/main/03-development-workflows"/>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ISSUES AND PULL REQUESTS</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Find the course work</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Use query filter mode to find your fork.</ns1:t>
            </ns1:r>
            <ns1:endParaRPr lang="en-US" sz="1650" dirty="0"/>
          </ns1:p>
        </ns0:txBody>
      </ns0:sp>
      <ns0:sp>
        <ns0:nvSpPr>
          <ns0:cNvPr id="9" name="Text 5"/>
          <ns0:cNvSpPr/>
          <ns0:nvPr/>
        </ns0:nvSpPr>
        <ns0:spPr>
          <ns1:xfrm>
            <ns1:off x="507950" y="1604814"/>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0" name="Text 6"/>
          <ns0:cNvSpPr/>
          <ns0:nvPr/>
        </ns0:nvSpPr>
        <ns0:spPr>
          <ns1:xfrm>
            <ns1:off x="602615" y="1649164"/>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1" name="Text 7"/>
          <ns0:cNvSpPr/>
          <ns0:nvPr/>
        </ns0:nvSpPr>
        <ns0:spPr>
          <ns1:xfrm>
            <ns1:off x="939701" y="1604814"/>
            <ns1:ext cx="2798064"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Issues &gt; Assigned to me</ns1:t>
            </ns1:r>
            <ns1:endParaRPr lang="en-US" sz="1550" dirty="0"/>
          </ns1:p>
        </ns0:txBody>
      </ns0:sp>
      <ns0:sp>
        <ns0:nvSpPr>
          <ns0:cNvPr id="12" name="Text 8"/>
          <ns0:cNvSpPr/>
          <ns0:nvPr/>
        </ns0:nvSpPr>
        <ns0:spPr>
          <ns1:xfrm>
            <ns1:off x="939701" y="1852315"/>
            <ns1:ext cx="2798064"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Use repo:OWNER/copilot-app-for-beginners.</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endParaRPr lang="en-US" sz="1350" dirty="0"/>
          </ns1:p>
        </ns0:txBody>
      </ns0:sp>
      <ns0:sp>
        <ns0:nvSpPr>
          <ns0:cNvPr id="13" name="Text 9"/>
          <ns0:cNvSpPr/>
          <ns0:nvPr/>
        </ns0:nvSpPr>
        <ns0:spPr>
          <ns1:xfrm>
            <ns1:off x="507950" y="2451646"/>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4" name="Text 10"/>
          <ns0:cNvSpPr/>
          <ns0:nvPr/>
        </ns0:nvSpPr>
        <ns0:spPr>
          <ns1:xfrm>
            <ns1:off x="602615" y="2495996"/>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5" name="Text 11"/>
          <ns0:cNvSpPr/>
          <ns0:nvPr/>
        </ns0:nvSpPr>
        <ns0:spPr>
          <ns1:xfrm>
            <ns1:off x="939701" y="2451646"/>
            <ns1:ext cx="2798064" cy="444401"/>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Pull requests &gt; Authored by me</ns1:t>
            </ns1:r>
            <ns1:endParaRPr lang="en-US" sz="1550" dirty="0"/>
          </ns1:p>
        </ns0:txBody>
      </ns0:sp>
      <ns0:sp>
        <ns0:nvSpPr>
          <ns0:cNvPr id="16" name="Text 12"/>
          <ns0:cNvSpPr/>
          <ns0:nvPr/>
        </ns0:nvSpPr>
        <ns0:spPr>
          <ns1:xfrm>
            <ns1:off x="939701" y="2921347"/>
            <ns1:ext cx="2798064"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Use the same query in Pull requests.</ns1:t>
            </ns1:r>
            <ns1:endParaRPr lang="en-US" sz="1350" dirty="0"/>
          </ns1:p>
        </ns0:txBody>
      </ns0:sp>
      <ns0:sp>
        <ns0:nvSpPr>
          <ns0:cNvPr id="17" name="Text 13"/>
          <ns0:cNvSpPr/>
          <ns0:nvPr/>
        </ns0:nvSpPr>
        <ns0:spPr>
          <ns1:xfrm>
            <ns1:off x="507950" y="3325713"/>
            <ns1:ext cx="2870150" cy="1212800"/>
          </ns1:xfrm>
          <ns1:prstGeom prst="roundRect">
            <ns1:avLst>
              <ns1:gd name="adj" fmla="val 6283"/>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8" name="Image 2" descr="Issues query filter with callouts for query mode and repo:OWNER/copilot-app-for-beginners"/>
          <ns0:cNvPicPr>
            <ns1:picLocks noChangeAspect="1"/>
          </ns0:cNvPicPr>
          <ns0:nvPr/>
        </ns0:nvPicPr>
        <ns0:blipFill>
          <ns1:blip ns3:embed="rId4"/>
          <ns1:stretch>
            <ns1:fillRect/>
          </ns1:stretch>
        </ns0:blipFill>
        <ns0:spPr>
          <ns1:xfrm>
            <ns1:off x="555575" y="3373338"/>
            <ns1:ext cx="2774900" cy="1117550"/>
          </ns1:xfrm>
          <ns1:prstGeom prst="rect">
            <ns1:avLst/>
          </ns1:prstGeom>
        </ns0:spPr>
      </ns0:pic>
      <ns0:sp>
        <ns0:nvSpPr>
          <ns0:cNvPr id="19" name="Text 14"/>
          <ns0:cNvSpPr/>
          <ns0:nvPr/>
        </ns0:nvSpPr>
        <ns0:spPr>
          <ns1:xfrm>
            <ns1:off x="3939927" y="2078236"/>
            <ns1:ext cx="4692551" cy="1989981"/>
          </ns1:xfrm>
          <ns1:prstGeom prst="roundRect">
            <ns1:avLst>
              <ns1:gd name="adj" fmla="val 3829"/>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20" name="Image 3" descr="Issues view filtered to the course repository"/>
          <ns0:cNvPicPr>
            <ns1:picLocks noChangeAspect="1"/>
          </ns0:cNvPicPr>
          <ns0:nvPr/>
        </ns0:nvPicPr>
        <ns0:blipFill>
          <ns1:blip ns3:embed="rId5"/>
          <ns1:stretch>
            <ns1:fillRect/>
          </ns1:stretch>
        </ns0:blipFill>
        <ns0:spPr>
          <ns1:xfrm>
            <ns1:off x="3987552" y="2125861"/>
            <ns1:ext cx="4597301" cy="1894731"/>
          </ns1:xfrm>
          <ns1:prstGeom prst="rect">
            <ns1:avLst/>
          </ns1:prstGeom>
        </ns0:spPr>
      </ns0:pic>
    </ns0:spTree>
  </ns0:cSld>
  <ns0:clrMapOvr>
    <ns1:masterClrMapping/>
  </ns0:clrMapOvr>
</ns0: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63514"/>
            <a:ext cx="3854351" cy="797421"/>
          </a:xfrm>
          <a:prstGeom prst="roundRect">
            <a:avLst>
              <a:gd name="adj" fmla="val 955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ull request conversation with the empty-state copy comment"/>
          <p:cNvPicPr>
            <a:picLocks noChangeAspect="1"/>
          </p:cNvPicPr>
          <p:nvPr/>
        </p:nvPicPr>
        <p:blipFill>
          <a:blip r:embed="rId4"/>
          <a:stretch>
            <a:fillRect/>
          </a:stretch>
        </p:blipFill>
        <p:spPr>
          <a:xfrm>
            <a:off x="558701" y="2211139"/>
            <a:ext cx="3759101" cy="70217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Failing stats check practice pull request showing the failed Book app web validation check"/>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Human judgment stays in the loop"/>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Open this chapter on GitHub">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2026-10-06T21:17:54Z</dcterms:created>
  <dcterms:modified xsi:type="dcterms:W3CDTF">2026-10-06T21:17:54Z</dcterms:modified>
</cp:coreProperties>
</file>