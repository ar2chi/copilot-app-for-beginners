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04 introduced reusable instructions and roles. This chapter extends what the app can access. You connect Context7, an MCP server for up-to-date documentation, and install a plugin that supplies a web-guidance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2 parts: MCP servers connect services, Plugins package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and agents customize how the app works. MCP servers and plugins extend what it can reach. An MCP server is like connecting a piece of equipment: it exposes tools. A plugin is a packaged set of additions you install. Check what is included and what access it needs before you enable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MCP server supplies tools that connect the app to a service or data source; it can run locally or at a remote service. A plugin is a package that can contain skills, agents, MCP servers, or canvas extensions. A plugin can include an MCP server, and you can connect a server directly without a plugin. Installed tools are not isolated by worktrees, so check whether an integration is already installed before adding another. Add an integration only when the task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tools you already have. Add an integration only when it supplies something the task needs. Every extra tool is more noise for the agent and more access to review. Before adding an MCP connection or plugin, check whether it is already installed and enabled; do not create a duplicate.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MCP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Model Context Protocol defines how an AI application connects to tools and data. An MCP server supplies those tools. The graphic shows example connections, not required installations. The app already reads and searches local files, and you do not need another GitHub server for the Chapter 03 work. Manage servers from Customize. Use Browse to find available servers and Installed to check the ones you have added.</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7</ns1:t>
            </ns1:fld>
            <ns1:endParaRPr lang="en-US"/>
          </ns1:p>
        </ns0:txBody>
      </ns0:sp>
    </ns0:spTree>
    <ns0:extLst>
      <ns0:ext uri="{BB962C8B-B14F-4D97-AF65-F5344CB8AC3E}">
        <ns2:creationId val="1024086991"/>
      </ns0:ext>
    </ns0:extLst>
  </ns0:cSld>
  <ns0:clrMapOvr>
    <ns1:masterClrMapping/>
  </ns0:clrMapOvr>
</ns0:notes>
</file>

<file path=ppt/notesSlides/notesSlide8.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Open Customize and select Browse. Choose the MCP type filter, search for Context7, then select Add server. Review the configuration: server name context7, server type HTTP, and the URL https://mcp.context7.com/mcp. HTTP means the app connects to a hosted server instead of starting a local process. After adding it, open Installed, filter to MCP, and confirm Context7 is connected and enabled. An enabled toggle alone does not prove it is connected. Use one connection per service.</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8</ns1:t>
            </ns1:fld>
            <ns1:endParaRPr lang="en-US"/>
          </ns1:p>
        </ns0:txBody>
      </ns0:sp>
    </ns0:spTree>
    <ns0:extLst>
      <ns0:ext uri="{BB962C8B-B14F-4D97-AF65-F5344CB8AC3E}">
        <ns2:creationId val="1024086991"/>
      </ns0:ext>
    </ns0:extLst>
  </ns0:cSld>
  <ns0:clrMapOvr>
    <ns1:masterClrMapping/>
  </ns0:clrMapOvr>
</ns0: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React, a label htmlFor value can match an input id. A label can also wrap its input. Ask Context7 a general question about the two patterns, with no repository code or paths. Expand the tool activity, confirm a Context7 tool returned documentation, and open a source link. Then compare that guidance with BookFilters.tsx locally. The inputs and selects are nested inside label elements, so a missing htmlFor is not a defect. No source files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plugins.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A marketplace is a catalog of plugins. Read a plugin's contents, not only its description; some start processes, call services, or run hooks, which are commands triggered by agent events. In Customize, open Browse, select the Plugins type filter, and search for modern-web-guidance. Expand the awesome-copilot marketplace under Available; the app searches a marketplace only after you expand it. If it is missing and policy allows, select Add &gt; Manage marketplaces and add github/awesome-copilot. Confirm the source, install it, then open Installed and confirm the plugin is listed with its toggle on. The skill uses npx, so it needs Node.js and internet access. If enterprise policy blocks it, record the exercise as blocked and continue.</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11</ns1:t>
            </ns1:fld>
            <ns1:endParaRPr lang="en-US"/>
          </ns1:p>
        </ns0:txBody>
      </ns0:sp>
    </ns0:spTree>
    <ns0:extLst>
      <ns0:ext uri="{BB962C8B-B14F-4D97-AF65-F5344CB8AC3E}">
        <ns2:creationId val="1024086991"/>
      </ns0:ext>
    </ns0:extLst>
  </ns0:cSld>
  <ns0:clrMapOvr>
    <ns1:masterClrMapping/>
  </ns0:clrMapOvr>
</ns0: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displayed command can include a plugin prefix. The full prompt in the chapter also asks the skill to name the guide, explain browser support, and give a browser check. Inspect the skill activity and guide-search output. The recommendation should refer to the current book-title element and CSS. Unlike the repository skill in Chapter 04, this one arrived in an installed package. You still invoke it, inspect it, and check it against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assignment, ask the default agent to summarize both exercises in a table with the capability, the evidence it ran, the source evidence, and what you learned. The rows here are examples of good answers. Compare the table with the actual tool activity and correct unsupported claims. Confirm that Changes is empty. Explain why Context7 is an MCP server and Modern Web Guidance is a plugin that supplies a skill. Disable only what you added if you do not want to keep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now connect external tools and use packaged capabilities without confusing installation with successful execution. Add only what you need; worktrees do not isolate installed tools. Next, Chapter 06 uses canvases, starting with a community canvas installed through a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5" Type="http://schemas.openxmlformats.org/officeDocument/2006/relationships/hyperlink" Target="https://github.com/github/copilot-app-for-beginners/tree/main/05-mcp-plugins"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image" Target="../media/image-3-3.jp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jp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5-mcp-plugins" TargetMode="External"/><Relationship Id="rId5" Type="http://schemas.openxmlformats.org/officeDocument/2006/relationships/hyperlink" Target="https://github.com/github/copilot-app-for-beginners/tree/main/05-mcp-plugins" TargetMode="External"/><Relationship Id="rId6" Type="http://schemas.openxmlformats.org/officeDocument/2006/relationships/hyperlink" Target="https://github.com/github/copilot-app-for-beginners/tree/main/06-canvases"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823913"/>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05</a:t>
            </a:r>
            <a:endParaRPr lang="en-US" sz="1450" dirty="0"/>
          </a:p>
        </p:txBody>
      </p:sp>
      <p:sp>
        <p:nvSpPr>
          <p:cNvPr id="5" name="Text 1"/>
          <p:cNvSpPr/>
          <p:nvPr/>
        </p:nvSpPr>
        <p:spPr>
          <a:xfrm>
            <a:off x="1015901" y="1134963"/>
            <a:ext cx="6088279" cy="12192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MCP Servers and Plugins</a:t>
            </a:r>
            <a:endParaRPr lang="en-US" sz="4200" dirty="0"/>
          </a:p>
        </p:txBody>
      </p:sp>
      <p:sp>
        <p:nvSpPr>
          <p:cNvPr id="6" name="Text 2"/>
          <p:cNvSpPr/>
          <p:nvPr/>
        </p:nvSpPr>
        <p:spPr>
          <a:xfrm>
            <a:off x="1015901" y="25827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2874764"/>
            <a:ext cx="6088279" cy="99074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the agent could look up the documentation it needs instead of relying only on what it already knows?</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4130576"/>
            <a:ext cx="177701" cy="177701"/>
          </a:xfrm>
          <a:prstGeom prst="rect">
            <a:avLst/>
          </a:prstGeom>
        </p:spPr>
      </p:pic>
      <p:sp>
        <p:nvSpPr>
          <p:cNvPr id="9" name="Text 4"/>
          <p:cNvSpPr/>
          <p:nvPr/>
        </p:nvSpPr>
        <p:spPr>
          <a:xfrm>
            <a:off x="1282452" y="4119414"/>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5-mcp-plugins"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05</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2000250"/>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2005013"/>
            <a:ext cx="8127950" cy="0"/>
          </a:xfrm>
          <a:prstGeom prst="line">
            <a:avLst/>
          </a:prstGeom>
          <a:noFill/>
          <a:ln w="9525">
            <a:solidFill>
              <a:srgbClr val="9CD7FF"/>
            </a:solidFill>
            <a:prstDash val="solid"/>
          </a:ln>
        </p:spPr>
      </p:sp>
      <p:sp>
        <p:nvSpPr>
          <p:cNvPr id="10" name="Shape 6"/>
          <p:cNvSpPr/>
          <p:nvPr/>
        </p:nvSpPr>
        <p:spPr>
          <a:xfrm>
            <a:off x="8631138" y="2000250"/>
            <a:ext cx="0" cy="857250"/>
          </a:xfrm>
          <a:prstGeom prst="line">
            <a:avLst/>
          </a:prstGeom>
          <a:noFill/>
          <a:ln w="9525">
            <a:solidFill>
              <a:srgbClr val="9CD7FF"/>
            </a:solidFill>
            <a:prstDash val="solid"/>
          </a:ln>
        </p:spPr>
      </p:sp>
      <p:sp>
        <p:nvSpPr>
          <p:cNvPr id="11" name="Shape 7"/>
          <p:cNvSpPr/>
          <p:nvPr/>
        </p:nvSpPr>
        <p:spPr>
          <a:xfrm>
            <a:off x="507950" y="2852738"/>
            <a:ext cx="8127950" cy="0"/>
          </a:xfrm>
          <a:prstGeom prst="line">
            <a:avLst/>
          </a:prstGeom>
          <a:noFill/>
          <a:ln w="9525">
            <a:solidFill>
              <a:srgbClr val="9CD7FF"/>
            </a:solidFill>
            <a:prstDash val="solid"/>
          </a:ln>
        </p:spPr>
      </p:sp>
      <p:sp>
        <p:nvSpPr>
          <p:cNvPr id="12" name="Shape 8"/>
          <p:cNvSpPr/>
          <p:nvPr/>
        </p:nvSpPr>
        <p:spPr>
          <a:xfrm>
            <a:off x="546050" y="2000250"/>
            <a:ext cx="0" cy="857250"/>
          </a:xfrm>
          <a:prstGeom prst="line">
            <a:avLst/>
          </a:prstGeom>
          <a:noFill/>
          <a:ln w="76200">
            <a:solidFill>
              <a:srgbClr val="0969DA"/>
            </a:solidFill>
            <a:prstDash val="solid"/>
          </a:ln>
        </p:spPr>
      </p:sp>
      <p:sp>
        <p:nvSpPr>
          <p:cNvPr id="13" name="Text 9"/>
          <p:cNvSpPr/>
          <p:nvPr/>
        </p:nvSpPr>
        <p:spPr>
          <a:xfrm>
            <a:off x="812750" y="2214563"/>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2162175"/>
            <a:ext cx="512614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MCP servers connect services</a:t>
            </a:r>
            <a:endParaRPr lang="en-US" sz="1800" dirty="0"/>
          </a:p>
        </p:txBody>
      </p:sp>
      <p:sp>
        <p:nvSpPr>
          <p:cNvPr id="15" name="Text 11"/>
          <p:cNvSpPr/>
          <p:nvPr/>
        </p:nvSpPr>
        <p:spPr>
          <a:xfrm>
            <a:off x="1625501" y="2479625"/>
            <a:ext cx="5126141"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Give the agent a live connection to up-to-date documentation.</a:t>
            </a:r>
            <a:endParaRPr lang="en-US" sz="1450" dirty="0"/>
          </a:p>
        </p:txBody>
      </p:sp>
      <p:sp>
        <p:nvSpPr>
          <p:cNvPr id="16" name="Text 12"/>
          <p:cNvSpPr/>
          <p:nvPr/>
        </p:nvSpPr>
        <p:spPr>
          <a:xfrm>
            <a:off x="507950" y="3009900"/>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3014663"/>
            <a:ext cx="8127950" cy="0"/>
          </a:xfrm>
          <a:prstGeom prst="line">
            <a:avLst/>
          </a:prstGeom>
          <a:noFill/>
          <a:ln w="9525">
            <a:solidFill>
              <a:srgbClr val="E0C5FF"/>
            </a:solidFill>
            <a:prstDash val="solid"/>
          </a:ln>
        </p:spPr>
      </p:sp>
      <p:sp>
        <p:nvSpPr>
          <p:cNvPr id="18" name="Shape 14"/>
          <p:cNvSpPr/>
          <p:nvPr/>
        </p:nvSpPr>
        <p:spPr>
          <a:xfrm>
            <a:off x="8631138" y="3009900"/>
            <a:ext cx="0" cy="857250"/>
          </a:xfrm>
          <a:prstGeom prst="line">
            <a:avLst/>
          </a:prstGeom>
          <a:noFill/>
          <a:ln w="9525">
            <a:solidFill>
              <a:srgbClr val="E0C5FF"/>
            </a:solidFill>
            <a:prstDash val="solid"/>
          </a:ln>
        </p:spPr>
      </p:sp>
      <p:sp>
        <p:nvSpPr>
          <p:cNvPr id="19" name="Shape 15"/>
          <p:cNvSpPr/>
          <p:nvPr/>
        </p:nvSpPr>
        <p:spPr>
          <a:xfrm>
            <a:off x="507950" y="3862387"/>
            <a:ext cx="8127950" cy="0"/>
          </a:xfrm>
          <a:prstGeom prst="line">
            <a:avLst/>
          </a:prstGeom>
          <a:noFill/>
          <a:ln w="9525">
            <a:solidFill>
              <a:srgbClr val="E0C5FF"/>
            </a:solidFill>
            <a:prstDash val="solid"/>
          </a:ln>
        </p:spPr>
      </p:sp>
      <p:sp>
        <p:nvSpPr>
          <p:cNvPr id="20" name="Shape 16"/>
          <p:cNvSpPr/>
          <p:nvPr/>
        </p:nvSpPr>
        <p:spPr>
          <a:xfrm>
            <a:off x="546050" y="3009900"/>
            <a:ext cx="0" cy="857250"/>
          </a:xfrm>
          <a:prstGeom prst="line">
            <a:avLst/>
          </a:prstGeom>
          <a:noFill/>
          <a:ln w="76200">
            <a:solidFill>
              <a:srgbClr val="8250DF"/>
            </a:solidFill>
            <a:prstDash val="solid"/>
          </a:ln>
        </p:spPr>
      </p:sp>
      <p:sp>
        <p:nvSpPr>
          <p:cNvPr id="21" name="Text 17"/>
          <p:cNvSpPr/>
          <p:nvPr/>
        </p:nvSpPr>
        <p:spPr>
          <a:xfrm>
            <a:off x="812750" y="3224213"/>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3171825"/>
            <a:ext cx="6389156"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Plugins package capabilities</a:t>
            </a:r>
            <a:endParaRPr lang="en-US" sz="1800" dirty="0"/>
          </a:p>
        </p:txBody>
      </p:sp>
      <p:sp>
        <p:nvSpPr>
          <p:cNvPr id="23" name="Text 19"/>
          <p:cNvSpPr/>
          <p:nvPr/>
        </p:nvSpPr>
        <p:spPr>
          <a:xfrm>
            <a:off x="1625501" y="3489275"/>
            <a:ext cx="6389156"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Install a package, then invoke the capability inside it. Installing is not running.</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Connecting the gear</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 song chart says what to play. It does not plug in a microphone.</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Skills and agents customize the Copilot app's work; MCP servers and plugins extend its capabilities"/>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98626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2068860"/>
            <a:ext cx="215801" cy="215801"/>
          </a:xfrm>
          <a:prstGeom prst="rect">
            <a:avLst/>
          </a:prstGeom>
        </p:spPr>
      </p:pic>
      <p:sp>
        <p:nvSpPr>
          <p:cNvPr id="13" name="Text 7"/>
          <p:cNvSpPr/>
          <p:nvPr/>
        </p:nvSpPr>
        <p:spPr>
          <a:xfrm>
            <a:off x="5537150" y="1950839"/>
            <a:ext cx="241035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Skills and agents</a:t>
            </a:r>
            <a:endParaRPr lang="en-US" sz="1550" dirty="0"/>
          </a:p>
        </p:txBody>
      </p:sp>
      <p:sp>
        <p:nvSpPr>
          <p:cNvPr id="14" name="Text 8"/>
          <p:cNvSpPr/>
          <p:nvPr/>
        </p:nvSpPr>
        <p:spPr>
          <a:xfrm>
            <a:off x="5537150" y="2204740"/>
            <a:ext cx="2410355"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Customize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how</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the app works.</a:t>
            </a:r>
            <a:endParaRPr lang="en-US" sz="1350" dirty="0"/>
          </a:p>
        </p:txBody>
      </p:sp>
      <p:sp>
        <p:nvSpPr>
          <p:cNvPr id="15" name="Text 9"/>
          <p:cNvSpPr/>
          <p:nvPr/>
        </p:nvSpPr>
        <p:spPr>
          <a:xfrm>
            <a:off x="5003750" y="2920752"/>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3003352"/>
            <a:ext cx="215801" cy="215801"/>
          </a:xfrm>
          <a:prstGeom prst="rect">
            <a:avLst/>
          </a:prstGeom>
        </p:spPr>
      </p:pic>
      <p:sp>
        <p:nvSpPr>
          <p:cNvPr id="17" name="Text 10"/>
          <p:cNvSpPr/>
          <p:nvPr/>
        </p:nvSpPr>
        <p:spPr>
          <a:xfrm>
            <a:off x="5537150" y="2885331"/>
            <a:ext cx="2449672"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MCP servers</a:t>
            </a:r>
            <a:endParaRPr lang="en-US" sz="1550" dirty="0"/>
          </a:p>
        </p:txBody>
      </p:sp>
      <p:sp>
        <p:nvSpPr>
          <p:cNvPr id="18" name="Text 11"/>
          <p:cNvSpPr/>
          <p:nvPr/>
        </p:nvSpPr>
        <p:spPr>
          <a:xfrm>
            <a:off x="5537150" y="3139232"/>
            <a:ext cx="2449672"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Connect it to services and data.</a:t>
            </a:r>
            <a:endParaRPr lang="en-US" sz="1350" dirty="0"/>
          </a:p>
        </p:txBody>
      </p:sp>
      <p:sp>
        <p:nvSpPr>
          <p:cNvPr id="19" name="Text 12"/>
          <p:cNvSpPr/>
          <p:nvPr/>
        </p:nvSpPr>
        <p:spPr>
          <a:xfrm>
            <a:off x="5003750" y="3855244"/>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937843"/>
            <a:ext cx="215801" cy="215801"/>
          </a:xfrm>
          <a:prstGeom prst="rect">
            <a:avLst/>
          </a:prstGeom>
        </p:spPr>
      </p:pic>
      <p:sp>
        <p:nvSpPr>
          <p:cNvPr id="21" name="Text 13"/>
          <p:cNvSpPr/>
          <p:nvPr/>
        </p:nvSpPr>
        <p:spPr>
          <a:xfrm>
            <a:off x="5537150" y="3819823"/>
            <a:ext cx="2226216"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Plugins</a:t>
            </a:r>
            <a:endParaRPr lang="en-US" sz="1550" dirty="0"/>
          </a:p>
        </p:txBody>
      </p:sp>
      <p:sp>
        <p:nvSpPr>
          <p:cNvPr id="22" name="Text 14"/>
          <p:cNvSpPr/>
          <p:nvPr/>
        </p:nvSpPr>
        <p:spPr>
          <a:xfrm>
            <a:off x="5537150" y="4073723"/>
            <a:ext cx="2226216"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Install packaged capabilities.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MCP server or plugin?</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Both live under </a:t>
            </a:r>
            <a:pPr algn="l" indent="0" marL="0">
              <a:lnSpc>
                <a:spcPts val="2000"/>
              </a:lnSpc>
              <a:spcBef>
                <a:spcPts val="500"/>
              </a:spcBef>
              <a:buNone/>
            </a:pPr>
            <a:r>
              <a:rPr lang="en-US" sz="1650" b="1" dirty="0">
                <a:solidFill>
                  <a:srgbClr val="59636E"/>
                </a:solidFill>
                <a:latin typeface="Arial" pitchFamily="34" charset="0"/>
                <a:ea typeface="Arial" pitchFamily="34" charset="-122"/>
                <a:cs typeface="Arial" pitchFamily="34" charset="-120"/>
              </a:rPr>
              <a:t>Customize</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They are not the same thing.</a:t>
            </a:r>
            <a:endParaRPr lang="en-US" sz="1650" dirty="0"/>
          </a:p>
        </p:txBody>
      </p:sp>
      <p:sp>
        <p:nvSpPr>
          <p:cNvPr id="9" name="Text 5"/>
          <p:cNvSpPr/>
          <p:nvPr/>
        </p:nvSpPr>
        <p:spPr>
          <a:xfrm>
            <a:off x="507950" y="1809006"/>
            <a:ext cx="3962400" cy="1905000"/>
          </a:xfrm>
          <a:prstGeom prst="roundRect">
            <a:avLst>
              <a:gd name="adj" fmla="val 6667"/>
            </a:avLst>
          </a:prstGeom>
          <a:solidFill>
            <a:srgbClr val="FFFFFF"/>
          </a:solidFill>
          <a:ln w="9525">
            <a:solidFill>
              <a:srgbClr val="9CD7FF"/>
            </a:solidFill>
          </a:ln>
        </p:spPr>
        <p:txBody>
          <a:bodyPr wrap="square" rtlCol="0" anchor="ctr"/>
          <a:lstStyle/>
          <a:p>
            <a:pPr indent="0" marL="0">
              <a:buNone/>
            </a:pPr>
            <a:endParaRPr lang="en-US" dirty="0"/>
          </a:p>
        </p:txBody>
      </p:sp>
      <p:sp>
        <p:nvSpPr>
          <p:cNvPr id="10" name="Text 6"/>
          <p:cNvSpPr/>
          <p:nvPr/>
        </p:nvSpPr>
        <p:spPr>
          <a:xfrm>
            <a:off x="695176" y="1996232"/>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078831"/>
            <a:ext cx="215801" cy="215801"/>
          </a:xfrm>
          <a:prstGeom prst="rect">
            <a:avLst/>
          </a:prstGeom>
        </p:spPr>
      </p:pic>
      <p:sp>
        <p:nvSpPr>
          <p:cNvPr id="12" name="Text 7"/>
          <p:cNvSpPr/>
          <p:nvPr/>
        </p:nvSpPr>
        <p:spPr>
          <a:xfrm>
            <a:off x="1190476" y="2072432"/>
            <a:ext cx="1172388"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MCP server</a:t>
            </a:r>
            <a:endParaRPr lang="en-US" sz="1650" dirty="0"/>
          </a:p>
        </p:txBody>
      </p:sp>
      <p:sp>
        <p:nvSpPr>
          <p:cNvPr id="13" name="Text 8"/>
          <p:cNvSpPr/>
          <p:nvPr/>
        </p:nvSpPr>
        <p:spPr>
          <a:xfrm>
            <a:off x="695176" y="2453432"/>
            <a:ext cx="3659707"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Supplies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tools</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that connect the app to a service or data source.</a:t>
            </a:r>
            <a:endParaRPr lang="en-US" sz="1400" dirty="0"/>
          </a:p>
        </p:txBody>
      </p:sp>
      <p:sp>
        <p:nvSpPr>
          <p:cNvPr id="14" name="Text 9"/>
          <p:cNvSpPr/>
          <p:nvPr/>
        </p:nvSpPr>
        <p:spPr>
          <a:xfrm>
            <a:off x="695176" y="3312170"/>
            <a:ext cx="3659707" cy="214610"/>
          </a:xfrm>
          <a:prstGeom prst="rect">
            <a:avLst/>
          </a:prstGeom>
          <a:noFill/>
          <a:ln/>
        </p:spPr>
        <p:txBody>
          <a:bodyPr wrap="square" lIns="0" tIns="0" rIns="0" bIns="0" rtlCol="0" anchor="t"/>
          <a:lstStyle/>
          <a:p>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Here:</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Context7 for React docs</a:t>
            </a:r>
            <a:endParaRPr lang="en-US" sz="1400" dirty="0"/>
          </a:p>
        </p:txBody>
      </p:sp>
      <p:sp>
        <p:nvSpPr>
          <p:cNvPr id="15" name="Text 10"/>
          <p:cNvSpPr/>
          <p:nvPr/>
        </p:nvSpPr>
        <p:spPr>
          <a:xfrm>
            <a:off x="4673501" y="1809006"/>
            <a:ext cx="3962400" cy="1905000"/>
          </a:xfrm>
          <a:prstGeom prst="roundRect">
            <a:avLst>
              <a:gd name="adj" fmla="val 6667"/>
            </a:avLst>
          </a:prstGeom>
          <a:solidFill>
            <a:srgbClr val="FFFFFF"/>
          </a:solidFill>
          <a:ln w="9525">
            <a:solidFill>
              <a:srgbClr val="8CE7A5"/>
            </a:solidFill>
          </a:ln>
        </p:spPr>
        <p:txBody>
          <a:bodyPr wrap="square" rtlCol="0" anchor="ctr"/>
          <a:lstStyle/>
          <a:p>
            <a:pPr indent="0" marL="0">
              <a:buNone/>
            </a:pPr>
            <a:endParaRPr lang="en-US" dirty="0"/>
          </a:p>
        </p:txBody>
      </p:sp>
      <p:sp>
        <p:nvSpPr>
          <p:cNvPr id="16" name="Text 11"/>
          <p:cNvSpPr/>
          <p:nvPr/>
        </p:nvSpPr>
        <p:spPr>
          <a:xfrm>
            <a:off x="4860727" y="1996232"/>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943326" y="2078831"/>
            <a:ext cx="215801" cy="215801"/>
          </a:xfrm>
          <a:prstGeom prst="rect">
            <a:avLst/>
          </a:prstGeom>
        </p:spPr>
      </p:pic>
      <p:sp>
        <p:nvSpPr>
          <p:cNvPr id="18" name="Text 12"/>
          <p:cNvSpPr/>
          <p:nvPr/>
        </p:nvSpPr>
        <p:spPr>
          <a:xfrm>
            <a:off x="5356027" y="2072432"/>
            <a:ext cx="65306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Plugin</a:t>
            </a:r>
            <a:endParaRPr lang="en-US" sz="1650" dirty="0"/>
          </a:p>
        </p:txBody>
      </p:sp>
      <p:sp>
        <p:nvSpPr>
          <p:cNvPr id="19" name="Text 13"/>
          <p:cNvSpPr/>
          <p:nvPr/>
        </p:nvSpPr>
        <p:spPr>
          <a:xfrm>
            <a:off x="4860727" y="2453432"/>
            <a:ext cx="3659707"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An installable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package</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of skills, agents, MCP servers, or canvases.</a:t>
            </a:r>
            <a:endParaRPr lang="en-US" sz="1400" dirty="0"/>
          </a:p>
        </p:txBody>
      </p:sp>
      <p:sp>
        <p:nvSpPr>
          <p:cNvPr id="20" name="Text 14"/>
          <p:cNvSpPr/>
          <p:nvPr/>
        </p:nvSpPr>
        <p:spPr>
          <a:xfrm>
            <a:off x="4860727" y="3312170"/>
            <a:ext cx="3659707" cy="214610"/>
          </a:xfrm>
          <a:prstGeom prst="rect">
            <a:avLst/>
          </a:prstGeom>
          <a:noFill/>
          <a:ln/>
        </p:spPr>
        <p:txBody>
          <a:bodyPr wrap="square" lIns="0" tIns="0" rIns="0" bIns="0" rtlCol="0" anchor="t"/>
          <a:lstStyle/>
          <a:p>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Here:</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Modern Web Guidance</a:t>
            </a:r>
            <a:endParaRPr lang="en-US" sz="1400" dirty="0"/>
          </a:p>
        </p:txBody>
      </p:sp>
      <p:sp>
        <p:nvSpPr>
          <p:cNvPr id="21" name="Text 15"/>
          <p:cNvSpPr/>
          <p:nvPr/>
        </p:nvSpPr>
        <p:spPr>
          <a:xfrm>
            <a:off x="507950" y="3917156"/>
            <a:ext cx="8127950" cy="496491"/>
          </a:xfrm>
          <a:prstGeom prst="roundRect">
            <a:avLst>
              <a:gd name="adj" fmla="val 20464"/>
            </a:avLst>
          </a:prstGeom>
          <a:solidFill>
            <a:srgbClr val="FFF8C5"/>
          </a:solidFill>
          <a:ln w="9525">
            <a:solidFill>
              <a:srgbClr val="E7C85A"/>
            </a:solidFill>
          </a:ln>
        </p:spPr>
        <p:txBody>
          <a:bodyPr wrap="square" rtlCol="0" anchor="ctr"/>
          <a:lstStyle/>
          <a:p>
            <a:pPr indent="0" marL="0">
              <a:buNone/>
            </a:pPr>
            <a:endParaRPr lang="en-US" dirty="0"/>
          </a:p>
        </p:txBody>
      </p:sp>
      <p:pic>
        <p:nvPicPr>
          <p:cNvPr id="22"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95176" y="4063752"/>
            <a:ext cx="203150" cy="203150"/>
          </a:xfrm>
          <a:prstGeom prst="rect">
            <a:avLst/>
          </a:prstGeom>
        </p:spPr>
      </p:pic>
      <p:sp>
        <p:nvSpPr>
          <p:cNvPr id="23" name="Text 16"/>
          <p:cNvSpPr/>
          <p:nvPr/>
        </p:nvSpPr>
        <p:spPr>
          <a:xfrm>
            <a:off x="1025277" y="4053632"/>
            <a:ext cx="5876815" cy="22354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Worktrees do </a:t>
            </a:r>
            <a:pPr algn="l" indent="0" marL="0">
              <a:lnSpc>
                <a:spcPts val="1760"/>
              </a:lnSpc>
              <a:buNone/>
            </a:pPr>
            <a:r>
              <a:rPr lang="en-US" sz="1450" b="1" dirty="0">
                <a:solidFill>
                  <a:srgbClr val="1F2328"/>
                </a:solidFill>
                <a:latin typeface="Arial" pitchFamily="34" charset="0"/>
                <a:ea typeface="Arial" pitchFamily="34" charset="-122"/>
                <a:cs typeface="Arial" pitchFamily="34" charset="-120"/>
              </a:rPr>
              <a:t>not</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isolate installed tools. They can affect every session.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Give the agent only what it needs</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Every extra tool is more noise for the agent and more access to review.</a:t>
            </a:r>
            <a:endParaRPr lang="en-US" sz="1650" dirty="0"/>
          </a:p>
        </p:txBody>
      </p:sp>
      <p:sp>
        <p:nvSpPr>
          <p:cNvPr id="9" name="Text 5"/>
          <p:cNvSpPr/>
          <p:nvPr/>
        </p:nvSpPr>
        <p:spPr>
          <a:xfrm>
            <a:off x="511076" y="1704826"/>
            <a:ext cx="4057650" cy="2736800"/>
          </a:xfrm>
          <a:prstGeom prst="roundRect">
            <a:avLst>
              <a:gd name="adj" fmla="val 2784"/>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A toolbox where only Repo, Docs, and Skill are highlighted: give the agent only what it needs for less noise"/>
          <p:cNvPicPr>
            <a:picLocks noChangeAspect="1"/>
          </p:cNvPicPr>
          <p:nvPr/>
        </p:nvPicPr>
        <p:blipFill>
          <a:blip r:embed="rId4"/>
          <a:stretch>
            <a:fillRect/>
          </a:stretch>
        </p:blipFill>
        <p:spPr>
          <a:xfrm>
            <a:off x="558701" y="1752451"/>
            <a:ext cx="3962400" cy="2641550"/>
          </a:xfrm>
          <a:prstGeom prst="rect">
            <a:avLst/>
          </a:prstGeom>
        </p:spPr>
      </p:pic>
      <p:sp>
        <p:nvSpPr>
          <p:cNvPr id="11" name="Text 6"/>
          <p:cNvSpPr/>
          <p:nvPr/>
        </p:nvSpPr>
        <p:spPr>
          <a:xfrm>
            <a:off x="4876651" y="2202061"/>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959251" y="2284661"/>
            <a:ext cx="215801" cy="215801"/>
          </a:xfrm>
          <a:prstGeom prst="rect">
            <a:avLst/>
          </a:prstGeom>
        </p:spPr>
      </p:pic>
      <p:sp>
        <p:nvSpPr>
          <p:cNvPr id="13" name="Text 7"/>
          <p:cNvSpPr/>
          <p:nvPr/>
        </p:nvSpPr>
        <p:spPr>
          <a:xfrm>
            <a:off x="5410051" y="2166640"/>
            <a:ext cx="3256666"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Start with what you have</a:t>
            </a:r>
            <a:endParaRPr lang="en-US" sz="1550" dirty="0"/>
          </a:p>
        </p:txBody>
      </p:sp>
      <p:sp>
        <p:nvSpPr>
          <p:cNvPr id="14" name="Text 8"/>
          <p:cNvSpPr/>
          <p:nvPr/>
        </p:nvSpPr>
        <p:spPr>
          <a:xfrm>
            <a:off x="5410051" y="2420541"/>
            <a:ext cx="3256666"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The app already reads and searches files.</a:t>
            </a:r>
            <a:endParaRPr lang="en-US" sz="1350" dirty="0"/>
          </a:p>
        </p:txBody>
      </p:sp>
      <p:sp>
        <p:nvSpPr>
          <p:cNvPr id="15" name="Text 9"/>
          <p:cNvSpPr/>
          <p:nvPr/>
        </p:nvSpPr>
        <p:spPr>
          <a:xfrm>
            <a:off x="4876651" y="2882652"/>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959251" y="2965252"/>
            <a:ext cx="215801" cy="215801"/>
          </a:xfrm>
          <a:prstGeom prst="rect">
            <a:avLst/>
          </a:prstGeom>
        </p:spPr>
      </p:pic>
      <p:sp>
        <p:nvSpPr>
          <p:cNvPr id="17" name="Text 10"/>
          <p:cNvSpPr/>
          <p:nvPr/>
        </p:nvSpPr>
        <p:spPr>
          <a:xfrm>
            <a:off x="5410051" y="2847231"/>
            <a:ext cx="2821897"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Add only what the task needs</a:t>
            </a:r>
            <a:endParaRPr lang="en-US" sz="1550" dirty="0"/>
          </a:p>
        </p:txBody>
      </p:sp>
      <p:sp>
        <p:nvSpPr>
          <p:cNvPr id="18" name="Text 11"/>
          <p:cNvSpPr/>
          <p:nvPr/>
        </p:nvSpPr>
        <p:spPr>
          <a:xfrm>
            <a:off x="5410051" y="3101132"/>
            <a:ext cx="2821897"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One connection per service.</a:t>
            </a:r>
            <a:endParaRPr lang="en-US" sz="1350" dirty="0"/>
          </a:p>
        </p:txBody>
      </p:sp>
      <p:sp>
        <p:nvSpPr>
          <p:cNvPr id="19" name="Text 12"/>
          <p:cNvSpPr/>
          <p:nvPr/>
        </p:nvSpPr>
        <p:spPr>
          <a:xfrm>
            <a:off x="4876651" y="3563243"/>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959251" y="3645843"/>
            <a:ext cx="215801" cy="215801"/>
          </a:xfrm>
          <a:prstGeom prst="rect">
            <a:avLst/>
          </a:prstGeom>
        </p:spPr>
      </p:pic>
      <p:sp>
        <p:nvSpPr>
          <p:cNvPr id="21" name="Text 13"/>
          <p:cNvSpPr/>
          <p:nvPr/>
        </p:nvSpPr>
        <p:spPr>
          <a:xfrm>
            <a:off x="5410051" y="3527822"/>
            <a:ext cx="300421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Review the access</a:t>
            </a:r>
            <a:endParaRPr lang="en-US" sz="1550" dirty="0"/>
          </a:p>
        </p:txBody>
      </p:sp>
      <p:sp>
        <p:nvSpPr>
          <p:cNvPr id="22" name="Text 14"/>
          <p:cNvSpPr/>
          <p:nvPr/>
        </p:nvSpPr>
        <p:spPr>
          <a:xfrm>
            <a:off x="5410051" y="3781723"/>
            <a:ext cx="3004215"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Know what each tool can do and send.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8"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2</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MCP servers connect services</a:t>
            </a:r>
            <a:endParaRPr lang="en-US" sz="4000" dirty="0"/>
          </a:p>
        </p:txBody>
      </p:sp>
      <p:sp>
        <p:nvSpPr>
          <p:cNvPr id="11" name="Text 7"/>
          <p:cNvSpPr/>
          <p:nvPr/>
        </p:nvSpPr>
        <p:spPr>
          <a:xfrm>
            <a:off x="711101" y="296227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Give the agent a live connection to up-to-date documentation.</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Like a browser extension</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An extension connects a browser to a service. MCP does that for the app.</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Browser extensions connect a browser to services, just as MCP servers connect the Copilot app to GitHub, files, and Context7 documentation"/>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986260"/>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2068860"/>
            <a:ext cx="215801" cy="215801"/>
          </a:xfrm>
          <a:prstGeom prst="rect">
            <a:avLst/>
          </a:prstGeom>
        </p:spPr>
      </p:pic>
      <p:sp>
        <p:nvSpPr>
          <p:cNvPr id="13" name="Text 7"/>
          <p:cNvSpPr/>
          <p:nvPr/>
        </p:nvSpPr>
        <p:spPr>
          <a:xfrm>
            <a:off x="5537150" y="1950839"/>
            <a:ext cx="2420678"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The server supplies tools</a:t>
            </a:r>
            <a:endParaRPr lang="en-US" sz="1550" dirty="0"/>
          </a:p>
        </p:txBody>
      </p:sp>
      <p:sp>
        <p:nvSpPr>
          <p:cNvPr id="14" name="Text 8"/>
          <p:cNvSpPr/>
          <p:nvPr/>
        </p:nvSpPr>
        <p:spPr>
          <a:xfrm>
            <a:off x="5537150" y="2204740"/>
            <a:ext cx="2420678"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Local or hosted at a service.</a:t>
            </a:r>
            <a:endParaRPr lang="en-US" sz="1350" dirty="0"/>
          </a:p>
        </p:txBody>
      </p:sp>
      <p:sp>
        <p:nvSpPr>
          <p:cNvPr id="15" name="Text 9"/>
          <p:cNvSpPr/>
          <p:nvPr/>
        </p:nvSpPr>
        <p:spPr>
          <a:xfrm>
            <a:off x="5003750" y="2920752"/>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3003352"/>
            <a:ext cx="215801" cy="215801"/>
          </a:xfrm>
          <a:prstGeom prst="rect">
            <a:avLst/>
          </a:prstGeom>
        </p:spPr>
      </p:pic>
      <p:sp>
        <p:nvSpPr>
          <p:cNvPr id="17" name="Text 10"/>
          <p:cNvSpPr/>
          <p:nvPr/>
        </p:nvSpPr>
        <p:spPr>
          <a:xfrm>
            <a:off x="5537150" y="2885331"/>
            <a:ext cx="2333086"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Context7 supplies docs</a:t>
            </a:r>
            <a:endParaRPr lang="en-US" sz="1550" dirty="0"/>
          </a:p>
        </p:txBody>
      </p:sp>
      <p:sp>
        <p:nvSpPr>
          <p:cNvPr id="18" name="Text 11"/>
          <p:cNvSpPr/>
          <p:nvPr/>
        </p:nvSpPr>
        <p:spPr>
          <a:xfrm>
            <a:off x="5537150" y="3139232"/>
            <a:ext cx="2333086"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Current React documentation.</a:t>
            </a:r>
            <a:endParaRPr lang="en-US" sz="1350" dirty="0"/>
          </a:p>
        </p:txBody>
      </p:sp>
      <p:sp>
        <p:nvSpPr>
          <p:cNvPr id="19" name="Text 12"/>
          <p:cNvSpPr/>
          <p:nvPr/>
        </p:nvSpPr>
        <p:spPr>
          <a:xfrm>
            <a:off x="5003750" y="3855244"/>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937843"/>
            <a:ext cx="215801" cy="215801"/>
          </a:xfrm>
          <a:prstGeom prst="rect">
            <a:avLst/>
          </a:prstGeom>
        </p:spPr>
      </p:pic>
      <p:sp>
        <p:nvSpPr>
          <p:cNvPr id="21" name="Text 13"/>
          <p:cNvSpPr/>
          <p:nvPr/>
        </p:nvSpPr>
        <p:spPr>
          <a:xfrm>
            <a:off x="5537150" y="3819823"/>
            <a:ext cx="2916927"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Not an app dependency</a:t>
            </a:r>
            <a:endParaRPr lang="en-US" sz="1550" dirty="0"/>
          </a:p>
        </p:txBody>
      </p:sp>
      <p:sp>
        <p:nvSpPr>
          <p:cNvPr id="22" name="Text 14"/>
          <p:cNvSpPr/>
          <p:nvPr/>
        </p:nvSpPr>
        <p:spPr>
          <a:xfrm>
            <a:off x="5537150" y="4073723"/>
            <a:ext cx="2916927"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The Book App code does not change.</a:t>
            </a:r>
            <a:endParaRPr lang="en-US" sz="1350" dirty="0"/>
          </a:p>
        </p:txBody>
      </p:sp>
    </p:spTree>
  </p:cSld>
  <p:clrMapOvr>
    <a:masterClrMapping/>
  </p:clrMapOvr>
</p:sld>
</file>

<file path=ppt/slides/slide8.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8">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05</ns1:t>
            </ns1:r>
            <ns1:endParaRPr lang="en-US" sz="1150" dirty="0"/>
          </ns1:p>
        </ns0:txBody>
      </ns0:sp>
      <ns0:pic>
        <ns0:nvPicPr>
          <ns0:cNvPr id="5" name="Image 1" descr="Open this chapter on GitHub">
            <ns1:hlinkClick ns3:id="rId3" tooltip="https://github.com/github/copilot-app-for-beginners/tree/main/05-mcp-plugi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0969DA"/>
                </ns1:solidFill>
                <ns1:latin typeface="Arial" pitchFamily="34" charset="0"/>
                <ns1:ea typeface="Arial" pitchFamily="34" charset="-122"/>
                <ns1:cs typeface="Arial" pitchFamily="34" charset="-120"/>
              </ns1:rPr>
              <ns1:t>EXERCISE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Connect Context7</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Skip this if it is already connected.</ns1:t>
            </ns1:r>
            <ns1:endParaRPr lang="en-US" sz="1650" dirty="0"/>
          </ns1:p>
        </ns0:txBody>
      </ns0:sp>
      <ns0:sp>
        <ns0:nvSpPr>
          <ns0:cNvPr id="9" name="Text 5"/>
          <ns0:cNvSpPr/>
          <ns0:nvPr/>
        </ns0:nvSpPr>
        <ns0:spPr>
          <ns1:xfrm>
            <ns1:off x="612725" y="1564928"/>
            <ns1:ext cx="7918400" cy="1771650"/>
          </ns1:xfrm>
          <ns1:prstGeom prst="roundRect">
            <ns1:avLst>
              <ns1:gd name="adj" fmla="val 4301"/>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0" name="Image 2" descr="Context7 MCP server dialog with server name context7, HTTP selected, and URL https://mcp.context7.com/mcp"/>
          <ns0:cNvPicPr>
            <ns1:picLocks noChangeAspect="1"/>
          </ns0:cNvPicPr>
          <ns0:nvPr/>
        </ns0:nvPicPr>
        <ns0:blipFill>
          <ns1:blip ns3:embed="rId4"/>
          <ns1:stretch>
            <ns1:fillRect/>
          </ns1:stretch>
        </ns0:blipFill>
        <ns0:spPr>
          <ns1:xfrm>
            <ns1:off x="660350" y="1612553"/>
            <ns1:ext cx="7823150" cy="1676400"/>
          </ns1:xfrm>
          <ns1:prstGeom prst="rect">
            <ns1:avLst/>
          </ns1:prstGeom>
        </ns0:spPr>
      </ns0:pic>
      <ns0:sp>
        <ns0:nvSpPr>
          <ns0:cNvPr id="11" name="Text 6"/>
          <ns0:cNvSpPr/>
          <ns0:nvPr/>
        </ns0:nvSpPr>
        <ns0:spPr>
          <ns1:xfrm>
            <ns1:off x="507950" y="3542854"/>
            <ns1:ext cx="2607618" cy="1118146"/>
          </ns1:xfrm>
          <ns1:prstGeom prst="roundRect">
            <ns1:avLst>
              <ns1:gd name="adj" fmla="val 11358"/>
            </ns1:avLst>
          </ns1:prstGeom>
          <ns1:solidFill>
            <ns1:srgbClr val="FFFFFF"/>
          </ns1:solidFill>
          <ns1:ln w="9525">
            <ns1:solidFill>
              <ns1:srgbClr val="9CD7FF"/>
            </ns1:solidFill>
          </ns1:ln>
        </ns0:spPr>
        <ns0:txBody>
          <ns1:bodyPr wrap="square" rtlCol="0" anchor="ctr"/>
          <ns1:lstStyle/>
          <ns1:p>
            <ns1:pPr indent="0" marL="0">
              <ns1:buNone/>
            </ns1:pPr>
            <ns1:endParaRPr lang="en-US" dirty="0"/>
          </ns1:p>
        </ns0:txBody>
      </ns0:sp>
      <ns0:sp>
        <ns0:nvSpPr>
          <ns0:cNvPr id="12" name="Text 7"/>
          <ns0:cNvSpPr/>
          <ns0:nvPr/>
        </ns0:nvSpPr>
        <ns0:spPr>
          <ns1:xfrm>
            <ns1:off x="669875" y="3704779"/>
            <ns1:ext cx="279350" cy="279350"/>
          </ns1:xfrm>
          <ns1:prstGeom prst="roundRect">
            <ns1:avLst>
              <ns1:gd name="adj" fmla="val 327331"/>
            </ns1:avLst>
          </ns1:prstGeom>
          <ns1:solidFill>
            <ns1:srgbClr val="0969DA"/>
          </ns1:solidFill>
          <ns1:ln/>
        </ns0:spPr>
        <ns0:txBody>
          <ns1:bodyPr wrap="square" rtlCol="0" anchor="ctr"/>
          <ns1:lstStyle/>
          <ns1:p>
            <ns1:pPr indent="0" marL="0">
              <ns1:buNone/>
            </ns1:pPr>
            <ns1:endParaRPr lang="en-US" dirty="0"/>
          </ns1:p>
        </ns0:txBody>
      </ns0:sp>
      <ns0:sp>
        <ns0:nvSpPr>
          <ns0:cNvPr id="13" name="Text 8"/>
          <ns0:cNvSpPr/>
          <ns0:nvPr/>
        </ns0:nvSpPr>
        <ns0:spPr>
          <ns1:xfrm>
            <ns1:off x="764540" y="374912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4" name="Text 9"/>
          <ns0:cNvSpPr/>
          <ns0:nvPr/>
        </ns0:nvSpPr>
        <ns0:spPr>
          <ns1:xfrm>
            <ns1:off x="1063526" y="3730079"/>
            <ns1:ext cx="1799341"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Customize</ns1:t>
            </ns1:r>
            <ns1:endParaRPr lang="en-US" sz="1650" dirty="0"/>
          </ns1:p>
        </ns0:txBody>
      </ns0:sp>
      <ns0:sp>
        <ns0:nvSpPr>
          <ns0:cNvPr id="15" name="Text 10"/>
          <ns0:cNvSpPr/>
          <ns0:nvPr/>
        </ns0:nvSpPr>
        <ns0:spPr>
          <ns1:xfrm>
            <ns1:off x="669875" y="4060329"/>
            <ns1:ext cx="2329443" cy="438745"/>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Browse &gt; MCP; search Context7.</ns1:t>
            </ns1:r>
            <ns1:pPr algn="l" indent="0" marL="0">
              <ns1:lnSpc>
                <ns1:spcPts val="1690"/>
              </ns1:lnSpc>
              <ns1:buNone/>
            </ns1:pPr>
            <ns1:r>
              <ns1:rPr lang="en-US" sz="1400" b="1" dirty="0">
                <ns1:solidFill>
                  <ns1:srgbClr val="0550AE"/>
                </ns1:solidFill>
                <ns1:latin typeface="Courier New" pitchFamily="34" charset="0"/>
                <ns1:ea typeface="Courier New" pitchFamily="34" charset="-122"/>
                <ns1:cs typeface="Courier New" pitchFamily="34" charset="-120"/>
              </ns1:rPr>
              <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
            </ns1:r>
            <ns1:pPr algn="l" indent="0" marL="0">
              <ns1:lnSpc>
                <ns1:spcPts val="1690"/>
              </ns1:lnSpc>
              <ns1:buNone/>
            </ns1:pPr>
            <ns1:r>
              <ns1:rPr lang="en-US" sz="1400" b="1" dirty="0">
                <ns1:solidFill>
                  <ns1:srgbClr val="59636E"/>
                </ns1:solidFill>
                <ns1:latin typeface="Arial" pitchFamily="34" charset="0"/>
                <ns1:ea typeface="Arial" pitchFamily="34" charset="-122"/>
                <ns1:cs typeface="Arial" pitchFamily="34" charset="-120"/>
              </ns1:rPr>
              <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
            </ns1:r>
            <ns1:endParaRPr lang="en-US" sz="1400" dirty="0"/>
          </ns1:p>
        </ns0:txBody>
      </ns0:sp>
      <ns0:sp>
        <ns0:nvSpPr>
          <ns0:cNvPr id="16" name="Text 11"/>
          <ns0:cNvSpPr/>
          <ns0:nvPr/>
        </ns0:nvSpPr>
        <ns0:spPr>
          <ns1:xfrm>
            <ns1:off x="3267968" y="3542854"/>
            <ns1:ext cx="2607766" cy="1118146"/>
          </ns1:xfrm>
          <ns1:prstGeom prst="roundRect">
            <ns1:avLst>
              <ns1:gd name="adj" fmla="val 11358"/>
            </ns1:avLst>
          </ns1:prstGeom>
          <ns1:solidFill>
            <ns1:srgbClr val="FFFFFF"/>
          </ns1:solidFill>
          <ns1:ln w="9525">
            <ns1:solidFill>
              <ns1:srgbClr val="9CD7FF"/>
            </ns1:solidFill>
          </ns1:ln>
        </ns0:spPr>
        <ns0:txBody>
          <ns1:bodyPr wrap="square" rtlCol="0" anchor="ctr"/>
          <ns1:lstStyle/>
          <ns1:p>
            <ns1:pPr indent="0" marL="0">
              <ns1:buNone/>
            </ns1:pPr>
            <ns1:endParaRPr lang="en-US" dirty="0"/>
          </ns1:p>
        </ns0:txBody>
      </ns0:sp>
      <ns0:sp>
        <ns0:nvSpPr>
          <ns0:cNvPr id="17" name="Text 12"/>
          <ns0:cNvSpPr/>
          <ns0:nvPr/>
        </ns0:nvSpPr>
        <ns0:spPr>
          <ns1:xfrm>
            <ns1:off x="3429893" y="3704779"/>
            <ns1:ext cx="279350" cy="279350"/>
          </ns1:xfrm>
          <ns1:prstGeom prst="roundRect">
            <ns1:avLst>
              <ns1:gd name="adj" fmla="val 327331"/>
            </ns1:avLst>
          </ns1:prstGeom>
          <ns1:solidFill>
            <ns1:srgbClr val="0969DA"/>
          </ns1:solidFill>
          <ns1:ln/>
        </ns0:spPr>
        <ns0:txBody>
          <ns1:bodyPr wrap="square" rtlCol="0" anchor="ctr"/>
          <ns1:lstStyle/>
          <ns1:p>
            <ns1:pPr indent="0" marL="0">
              <ns1:buNone/>
            </ns1:pPr>
            <ns1:endParaRPr lang="en-US" dirty="0"/>
          </ns1:p>
        </ns0:txBody>
      </ns0:sp>
      <ns0:sp>
        <ns0:nvSpPr>
          <ns0:cNvPr id="18" name="Text 13"/>
          <ns0:cNvSpPr/>
          <ns0:nvPr/>
        </ns0:nvSpPr>
        <ns0:spPr>
          <ns1:xfrm>
            <ns1:off x="3524558" y="374912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9" name="Text 14"/>
          <ns0:cNvSpPr/>
          <ns0:nvPr/>
        </ns0:nvSpPr>
        <ns0:spPr>
          <ns1:xfrm>
            <ns1:off x="3823543" y="3730079"/>
            <ns1:ext cx="1841543"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Review the values</ns1:t>
            </ns1:r>
            <ns1:endParaRPr lang="en-US" sz="1650" dirty="0"/>
          </ns1:p>
        </ns0:txBody>
      </ns0:sp>
      <ns0:sp>
        <ns0:nvSpPr>
          <ns0:cNvPr id="20" name="Text 15"/>
          <ns0:cNvSpPr/>
          <ns0:nvPr/>
        </ns0:nvSpPr>
        <ns0:spPr>
          <ns1:xfrm>
            <ns1:off x="3429893" y="4060329"/>
            <ns1:ext cx="2329595" cy="438745"/>
          </ns1:xfrm>
          <ns1:prstGeom prst="rect">
            <ns1:avLst/>
          </ns1:prstGeom>
          <ns1:noFill/>
          <ns1:ln/>
        </ns0:spPr>
        <ns0:txBody>
          <ns1:bodyPr wrap="square" lIns="0" tIns="0" rIns="0" bIns="0" rtlCol="0" anchor="t"/>
          <ns1:lstStyle/>
          <ns1:p>
            <ns1:pPr algn="l" indent="0" marL="0">
              <ns1:lnSpc>
                <ns1:spcPts val="1690"/>
              </ns1:lnSpc>
              <ns1:buNone/>
            </ns1:pPr>
            <ns1:r>
              <ns1:rPr lang="en-US" sz="1400" b="1" dirty="0">
                <ns1:solidFill>
                  <ns1:srgbClr val="0550AE"/>
                </ns1:solidFill>
                <ns1:latin typeface="Courier New" pitchFamily="34" charset="0"/>
                <ns1:ea typeface="Courier New" pitchFamily="34" charset="-122"/>
                <ns1:cs typeface="Courier New" pitchFamily="34" charset="-120"/>
              </ns1:rPr>
              <ns1:t>HTTP</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 means a hosted server.</ns1:t>
            </ns1:r>
            <ns1:endParaRPr lang="en-US" sz="1400" dirty="0"/>
          </ns1:p>
        </ns0:txBody>
      </ns0:sp>
      <ns0:sp>
        <ns0:nvSpPr>
          <ns0:cNvPr id="21" name="Text 16"/>
          <ns0:cNvSpPr/>
          <ns0:nvPr/>
        </ns0:nvSpPr>
        <ns0:spPr>
          <ns1:xfrm>
            <ns1:off x="6028134" y="3542854"/>
            <ns1:ext cx="2607766" cy="1118146"/>
          </ns1:xfrm>
          <ns1:prstGeom prst="roundRect">
            <ns1:avLst>
              <ns1:gd name="adj" fmla="val 11358"/>
            </ns1:avLst>
          </ns1:prstGeom>
          <ns1:solidFill>
            <ns1:srgbClr val="FFFFFF"/>
          </ns1:solidFill>
          <ns1:ln w="9525">
            <ns1:solidFill>
              <ns1:srgbClr val="9CD7FF"/>
            </ns1:solidFill>
          </ns1:ln>
        </ns0:spPr>
        <ns0:txBody>
          <ns1:bodyPr wrap="square" rtlCol="0" anchor="ctr"/>
          <ns1:lstStyle/>
          <ns1:p>
            <ns1:pPr indent="0" marL="0">
              <ns1:buNone/>
            </ns1:pPr>
            <ns1:endParaRPr lang="en-US" dirty="0"/>
          </ns1:p>
        </ns0:txBody>
      </ns0:sp>
      <ns0:sp>
        <ns0:nvSpPr>
          <ns0:cNvPr id="22" name="Text 17"/>
          <ns0:cNvSpPr/>
          <ns0:nvPr/>
        </ns0:nvSpPr>
        <ns0:spPr>
          <ns1:xfrm>
            <ns1:off x="6190059" y="3704779"/>
            <ns1:ext cx="279350" cy="279350"/>
          </ns1:xfrm>
          <ns1:prstGeom prst="roundRect">
            <ns1:avLst>
              <ns1:gd name="adj" fmla="val 327331"/>
            </ns1:avLst>
          </ns1:prstGeom>
          <ns1:solidFill>
            <ns1:srgbClr val="0969DA"/>
          </ns1:solidFill>
          <ns1:ln/>
        </ns0:spPr>
        <ns0:txBody>
          <ns1:bodyPr wrap="square" rtlCol="0" anchor="ctr"/>
          <ns1:lstStyle/>
          <ns1:p>
            <ns1:pPr indent="0" marL="0">
              <ns1:buNone/>
            </ns1:pPr>
            <ns1:endParaRPr lang="en-US" dirty="0"/>
          </ns1:p>
        </ns0:txBody>
      </ns0:sp>
      <ns0:sp>
        <ns0:nvSpPr>
          <ns0:cNvPr id="23" name="Text 18"/>
          <ns0:cNvSpPr/>
          <ns0:nvPr/>
        </ns0:nvSpPr>
        <ns0:spPr>
          <ns1:xfrm>
            <ns1:off x="6284724" y="3749129"/>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4" name="Text 19"/>
          <ns0:cNvSpPr/>
          <ns0:nvPr/>
        </ns0:nvSpPr>
        <ns0:spPr>
          <ns1:xfrm>
            <ns1:off x="6583710" y="3730079"/>
            <ns1:ext cx="1009349"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Confirm it</ns1:t>
            </ns1:r>
            <ns1:endParaRPr lang="en-US" sz="1650" dirty="0"/>
          </ns1:p>
        </ns0:txBody>
      </ns0:sp>
      <ns0:sp>
        <ns0:nvSpPr>
          <ns0:cNvPr id="25" name="Text 20"/>
          <ns0:cNvSpPr/>
          <ns0:nvPr/>
        </ns0:nvSpPr>
        <ns0:spPr>
          <ns1:xfrm>
            <ns1:off x="6190059" y="4060329"/>
            <ns1:ext cx="2329595" cy="214610"/>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Installed, connected, and enabled.</ns1:t>
            </ns1:r>
            <ns1:endParaRPr lang="en-US" sz="1400" dirty="0"/>
          </ns1:p>
        </ns0:txBody>
      </ns0:sp>
    </ns0:spTree>
  </ns0:cSld>
  <ns0:clrMapOvr>
    <ns1:masterClrMapping/>
  </ns0:clrMapOvr>
</ns0: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EXERCISE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Ask a general question. Compare locally.</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Use the docs without sending your code to the service.</a:t>
            </a:r>
            <a:endParaRPr lang="en-US" sz="1650" dirty="0"/>
          </a:p>
        </p:txBody>
      </p:sp>
      <p:sp>
        <p:nvSpPr>
          <p:cNvPr id="9" name="Text 5"/>
          <p:cNvSpPr/>
          <p:nvPr/>
        </p:nvSpPr>
        <p:spPr>
          <a:xfrm>
            <a:off x="507950" y="1574750"/>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0"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90550" y="1657350"/>
            <a:ext cx="215801" cy="215801"/>
          </a:xfrm>
          <a:prstGeom prst="rect">
            <a:avLst/>
          </a:prstGeom>
        </p:spPr>
      </p:pic>
      <p:sp>
        <p:nvSpPr>
          <p:cNvPr id="11" name="Text 6"/>
          <p:cNvSpPr/>
          <p:nvPr/>
        </p:nvSpPr>
        <p:spPr>
          <a:xfrm>
            <a:off x="1041350" y="1650950"/>
            <a:ext cx="2442537"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Step 1 · Goes to Context7</a:t>
            </a:r>
            <a:endParaRPr lang="en-US" sz="1550" dirty="0"/>
          </a:p>
        </p:txBody>
      </p:sp>
      <p:sp>
        <p:nvSpPr>
          <p:cNvPr id="12" name="Text 7"/>
          <p:cNvSpPr/>
          <p:nvPr/>
        </p:nvSpPr>
        <p:spPr>
          <a:xfrm>
            <a:off x="507950" y="2108150"/>
            <a:ext cx="3936950" cy="1383953"/>
          </a:xfrm>
          <a:prstGeom prst="roundRect">
            <a:avLst>
              <a:gd name="adj" fmla="val 5506"/>
            </a:avLst>
          </a:prstGeom>
          <a:solidFill>
            <a:srgbClr val="FFFFFF"/>
          </a:solidFill>
          <a:ln/>
        </p:spPr>
        <p:txBody>
          <a:bodyPr wrap="square" rtlCol="0" anchor="ctr"/>
          <a:lstStyle/>
          <a:p>
            <a:pPr indent="0" marL="0">
              <a:buNone/>
            </a:pPr>
            <a:endParaRPr lang="en-US" dirty="0"/>
          </a:p>
        </p:txBody>
      </p:sp>
      <p:sp>
        <p:nvSpPr>
          <p:cNvPr id="13" name="Shape 8"/>
          <p:cNvSpPr/>
          <p:nvPr/>
        </p:nvSpPr>
        <p:spPr>
          <a:xfrm>
            <a:off x="507950" y="2112913"/>
            <a:ext cx="3936950" cy="0"/>
          </a:xfrm>
          <a:prstGeom prst="line">
            <a:avLst/>
          </a:prstGeom>
          <a:noFill/>
          <a:ln w="9525">
            <a:solidFill>
              <a:srgbClr val="9CD7FF"/>
            </a:solidFill>
            <a:prstDash val="solid"/>
          </a:ln>
        </p:spPr>
      </p:sp>
      <p:sp>
        <p:nvSpPr>
          <p:cNvPr id="14" name="Shape 9"/>
          <p:cNvSpPr/>
          <p:nvPr/>
        </p:nvSpPr>
        <p:spPr>
          <a:xfrm>
            <a:off x="4440138" y="2108150"/>
            <a:ext cx="0" cy="1383953"/>
          </a:xfrm>
          <a:prstGeom prst="line">
            <a:avLst/>
          </a:prstGeom>
          <a:noFill/>
          <a:ln w="9525">
            <a:solidFill>
              <a:srgbClr val="9CD7FF"/>
            </a:solidFill>
            <a:prstDash val="solid"/>
          </a:ln>
        </p:spPr>
      </p:sp>
      <p:sp>
        <p:nvSpPr>
          <p:cNvPr id="15" name="Shape 10"/>
          <p:cNvSpPr/>
          <p:nvPr/>
        </p:nvSpPr>
        <p:spPr>
          <a:xfrm>
            <a:off x="507950" y="3487341"/>
            <a:ext cx="3936950" cy="0"/>
          </a:xfrm>
          <a:prstGeom prst="line">
            <a:avLst/>
          </a:prstGeom>
          <a:noFill/>
          <a:ln w="9525">
            <a:solidFill>
              <a:srgbClr val="9CD7FF"/>
            </a:solidFill>
            <a:prstDash val="solid"/>
          </a:ln>
        </p:spPr>
      </p:sp>
      <p:sp>
        <p:nvSpPr>
          <p:cNvPr id="16" name="Shape 11"/>
          <p:cNvSpPr/>
          <p:nvPr/>
        </p:nvSpPr>
        <p:spPr>
          <a:xfrm>
            <a:off x="531763" y="2108150"/>
            <a:ext cx="0" cy="1383953"/>
          </a:xfrm>
          <a:prstGeom prst="line">
            <a:avLst/>
          </a:prstGeom>
          <a:noFill/>
          <a:ln w="47625">
            <a:solidFill>
              <a:srgbClr val="0969DA"/>
            </a:solidFill>
            <a:prstDash val="solid"/>
          </a:ln>
        </p:spPr>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33276" y="2247751"/>
            <a:ext cx="165050" cy="165050"/>
          </a:xfrm>
          <a:prstGeom prst="rect">
            <a:avLst/>
          </a:prstGeom>
        </p:spPr>
      </p:pic>
      <p:sp>
        <p:nvSpPr>
          <p:cNvPr id="18" name="Text 12"/>
          <p:cNvSpPr/>
          <p:nvPr/>
        </p:nvSpPr>
        <p:spPr>
          <a:xfrm>
            <a:off x="974527" y="2244626"/>
            <a:ext cx="637276"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PROMPT</a:t>
            </a:r>
            <a:endParaRPr lang="en-US" sz="1150" dirty="0"/>
          </a:p>
        </p:txBody>
      </p:sp>
      <p:sp>
        <p:nvSpPr>
          <p:cNvPr id="19" name="Text 13"/>
          <p:cNvSpPr/>
          <p:nvPr/>
        </p:nvSpPr>
        <p:spPr>
          <a:xfrm>
            <a:off x="733276" y="2466826"/>
            <a:ext cx="3594887" cy="888802"/>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Use the Context7 MCP tools to find React guidance on input labels: nested labels vs. htmlFor and id. Include source links. Do not send repository code.</a:t>
            </a:r>
            <a:endParaRPr lang="en-US" sz="1400" dirty="0"/>
          </a:p>
        </p:txBody>
      </p:sp>
      <p:sp>
        <p:nvSpPr>
          <p:cNvPr id="20" name="Text 14"/>
          <p:cNvSpPr/>
          <p:nvPr/>
        </p:nvSpPr>
        <p:spPr>
          <a:xfrm>
            <a:off x="4698802" y="1574750"/>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1"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781401" y="1657350"/>
            <a:ext cx="215801" cy="215801"/>
          </a:xfrm>
          <a:prstGeom prst="rect">
            <a:avLst/>
          </a:prstGeom>
        </p:spPr>
      </p:pic>
      <p:sp>
        <p:nvSpPr>
          <p:cNvPr id="22" name="Text 15"/>
          <p:cNvSpPr/>
          <p:nvPr/>
        </p:nvSpPr>
        <p:spPr>
          <a:xfrm>
            <a:off x="5232202" y="1650950"/>
            <a:ext cx="1829550"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Step 2 · Stays local</a:t>
            </a:r>
            <a:endParaRPr lang="en-US" sz="1550" dirty="0"/>
          </a:p>
        </p:txBody>
      </p:sp>
      <p:sp>
        <p:nvSpPr>
          <p:cNvPr id="23" name="Text 16"/>
          <p:cNvSpPr/>
          <p:nvPr/>
        </p:nvSpPr>
        <p:spPr>
          <a:xfrm>
            <a:off x="4698802" y="2108150"/>
            <a:ext cx="3937099" cy="1383953"/>
          </a:xfrm>
          <a:prstGeom prst="roundRect">
            <a:avLst>
              <a:gd name="adj" fmla="val 5506"/>
            </a:avLst>
          </a:prstGeom>
          <a:solidFill>
            <a:srgbClr val="FFFFFF"/>
          </a:solidFill>
          <a:ln/>
        </p:spPr>
        <p:txBody>
          <a:bodyPr wrap="square" rtlCol="0" anchor="ctr"/>
          <a:lstStyle/>
          <a:p>
            <a:pPr indent="0" marL="0">
              <a:buNone/>
            </a:pPr>
            <a:endParaRPr lang="en-US" dirty="0"/>
          </a:p>
        </p:txBody>
      </p:sp>
      <p:sp>
        <p:nvSpPr>
          <p:cNvPr id="24" name="Shape 17"/>
          <p:cNvSpPr/>
          <p:nvPr/>
        </p:nvSpPr>
        <p:spPr>
          <a:xfrm>
            <a:off x="4698802" y="2112913"/>
            <a:ext cx="3937099" cy="0"/>
          </a:xfrm>
          <a:prstGeom prst="line">
            <a:avLst/>
          </a:prstGeom>
          <a:noFill/>
          <a:ln w="9525">
            <a:solidFill>
              <a:srgbClr val="8CE7A5"/>
            </a:solidFill>
            <a:prstDash val="solid"/>
          </a:ln>
        </p:spPr>
      </p:sp>
      <p:sp>
        <p:nvSpPr>
          <p:cNvPr id="25" name="Shape 18"/>
          <p:cNvSpPr/>
          <p:nvPr/>
        </p:nvSpPr>
        <p:spPr>
          <a:xfrm>
            <a:off x="8631138" y="2108150"/>
            <a:ext cx="0" cy="1383953"/>
          </a:xfrm>
          <a:prstGeom prst="line">
            <a:avLst/>
          </a:prstGeom>
          <a:noFill/>
          <a:ln w="9525">
            <a:solidFill>
              <a:srgbClr val="8CE7A5"/>
            </a:solidFill>
            <a:prstDash val="solid"/>
          </a:ln>
        </p:spPr>
      </p:sp>
      <p:sp>
        <p:nvSpPr>
          <p:cNvPr id="26" name="Shape 19"/>
          <p:cNvSpPr/>
          <p:nvPr/>
        </p:nvSpPr>
        <p:spPr>
          <a:xfrm>
            <a:off x="4698802" y="3487341"/>
            <a:ext cx="3937099" cy="0"/>
          </a:xfrm>
          <a:prstGeom prst="line">
            <a:avLst/>
          </a:prstGeom>
          <a:noFill/>
          <a:ln w="9525">
            <a:solidFill>
              <a:srgbClr val="8CE7A5"/>
            </a:solidFill>
            <a:prstDash val="solid"/>
          </a:ln>
        </p:spPr>
      </p:sp>
      <p:sp>
        <p:nvSpPr>
          <p:cNvPr id="27" name="Shape 20"/>
          <p:cNvSpPr/>
          <p:nvPr/>
        </p:nvSpPr>
        <p:spPr>
          <a:xfrm>
            <a:off x="4722614" y="2108150"/>
            <a:ext cx="0" cy="1383953"/>
          </a:xfrm>
          <a:prstGeom prst="line">
            <a:avLst/>
          </a:prstGeom>
          <a:noFill/>
          <a:ln w="47625">
            <a:solidFill>
              <a:srgbClr val="1A7F37"/>
            </a:solidFill>
            <a:prstDash val="solid"/>
          </a:ln>
        </p:spPr>
      </p:sp>
      <p:pic>
        <p:nvPicPr>
          <p:cNvPr id="28"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924127" y="2247751"/>
            <a:ext cx="165050" cy="165050"/>
          </a:xfrm>
          <a:prstGeom prst="rect">
            <a:avLst/>
          </a:prstGeom>
        </p:spPr>
      </p:pic>
      <p:sp>
        <p:nvSpPr>
          <p:cNvPr id="29" name="Text 21"/>
          <p:cNvSpPr/>
          <p:nvPr/>
        </p:nvSpPr>
        <p:spPr>
          <a:xfrm>
            <a:off x="5165378" y="2244626"/>
            <a:ext cx="637276" cy="171450"/>
          </a:xfrm>
          <a:prstGeom prst="rect">
            <a:avLst/>
          </a:prstGeom>
          <a:noFill/>
          <a:ln/>
        </p:spPr>
        <p:txBody>
          <a:bodyPr wrap="square" lIns="0" tIns="0" rIns="0" bIns="0" rtlCol="0" anchor="t"/>
          <a:lstStyle/>
          <a:p>
            <a:pPr algn="l" indent="0" marL="0">
              <a:buNone/>
            </a:pPr>
            <a:r>
              <a:rPr lang="en-US" sz="1150" b="1" dirty="0">
                <a:solidFill>
                  <a:srgbClr val="1A7F37"/>
                </a:solidFill>
                <a:latin typeface="Arial" pitchFamily="34" charset="0"/>
                <a:ea typeface="Arial" pitchFamily="34" charset="-122"/>
                <a:cs typeface="Arial" pitchFamily="34" charset="-120"/>
              </a:rPr>
              <a:t>PROMPT</a:t>
            </a:r>
            <a:endParaRPr lang="en-US" sz="1150" dirty="0"/>
          </a:p>
        </p:txBody>
      </p:sp>
      <p:sp>
        <p:nvSpPr>
          <p:cNvPr id="30" name="Text 22"/>
          <p:cNvSpPr/>
          <p:nvPr/>
        </p:nvSpPr>
        <p:spPr>
          <a:xfrm>
            <a:off x="4924127" y="2466826"/>
            <a:ext cx="3595039" cy="888802"/>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Compare that guidance with @samples/book-app-web/src/components/BookFilters.tsx. Keep this comparison local. Do not edit files.</a:t>
            </a:r>
            <a:endParaRPr lang="en-US" sz="1400" dirty="0"/>
          </a:p>
        </p:txBody>
      </p:sp>
      <p:sp>
        <p:nvSpPr>
          <p:cNvPr id="31" name="Text 23"/>
          <p:cNvSpPr/>
          <p:nvPr/>
        </p:nvSpPr>
        <p:spPr>
          <a:xfrm>
            <a:off x="4698802" y="3644503"/>
            <a:ext cx="3937099" cy="739080"/>
          </a:xfrm>
          <a:prstGeom prst="roundRect">
            <a:avLst>
              <a:gd name="adj" fmla="val 13747"/>
            </a:avLst>
          </a:prstGeom>
          <a:solidFill>
            <a:srgbClr val="DAFBE1"/>
          </a:solidFill>
          <a:ln w="9525">
            <a:solidFill>
              <a:srgbClr val="8CE7A5"/>
            </a:solidFill>
          </a:ln>
        </p:spPr>
        <p:txBody>
          <a:bodyPr wrap="square" rtlCol="0" anchor="ctr"/>
          <a:lstStyle/>
          <a:p>
            <a:pPr indent="0" marL="0">
              <a:buNone/>
            </a:pPr>
            <a:endParaRPr lang="en-US" dirty="0"/>
          </a:p>
        </p:txBody>
      </p:sp>
      <p:pic>
        <p:nvPicPr>
          <p:cNvPr id="32" name="Image 6"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886027" y="3912394"/>
            <a:ext cx="203150" cy="203150"/>
          </a:xfrm>
          <a:prstGeom prst="rect">
            <a:avLst/>
          </a:prstGeom>
        </p:spPr>
      </p:pic>
      <p:sp>
        <p:nvSpPr>
          <p:cNvPr id="33" name="Text 24"/>
          <p:cNvSpPr/>
          <p:nvPr/>
        </p:nvSpPr>
        <p:spPr>
          <a:xfrm>
            <a:off x="5216128" y="3780979"/>
            <a:ext cx="3297198" cy="466130"/>
          </a:xfrm>
          <a:prstGeom prst="rect">
            <a:avLst/>
          </a:prstGeom>
          <a:noFill/>
          <a:ln/>
        </p:spPr>
        <p:txBody>
          <a:bodyPr wrap="square" lIns="0" tIns="0" rIns="0" bIns="0" rtlCol="0" anchor="t"/>
          <a:lstStyle/>
          <a:p>
            <a:pPr algn="l" indent="0" marL="0">
              <a:lnSpc>
                <a:spcPts val="1760"/>
              </a:lnSpc>
              <a:buNone/>
            </a:pPr>
            <a:r>
              <a:rPr lang="en-US" sz="1450" b="1" dirty="0">
                <a:solidFill>
                  <a:srgbClr val="1A7F37"/>
                </a:solidFill>
                <a:latin typeface="Arial" pitchFamily="34" charset="0"/>
                <a:ea typeface="Arial" pitchFamily="34" charset="-122"/>
                <a:cs typeface="Arial" pitchFamily="34" charset="-120"/>
              </a:rPr>
              <a:t>Expected:</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Inputs are nested in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&lt;label&gt;</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so they are labeled.</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8"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2</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Plugins package capabilities</a:t>
            </a:r>
            <a:endParaRPr lang="en-US" sz="4000" dirty="0"/>
          </a:p>
        </p:txBody>
      </p:sp>
      <p:sp>
        <p:nvSpPr>
          <p:cNvPr id="11" name="Text 7"/>
          <p:cNvSpPr/>
          <p:nvPr/>
        </p:nvSpPr>
        <p:spPr>
          <a:xfrm>
            <a:off x="711101" y="296227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Install a package, then invoke the capability inside it. Installing is not running.</a:t>
            </a:r>
            <a:endParaRPr lang="en-US" sz="1900" dirty="0"/>
          </a:p>
        </p:txBody>
      </p:sp>
    </p:spTree>
  </p:cSld>
  <p:clrMapOvr>
    <a:masterClrMapping/>
  </p:clrMapOvr>
</p:sld>
</file>

<file path=ppt/slides/slide11.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1">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05</ns1:t>
            </ns1:r>
            <ns1:endParaRPr lang="en-US" sz="1150" dirty="0"/>
          </ns1:p>
        </ns0:txBody>
      </ns0:sp>
      <ns0:pic>
        <ns0:nvPicPr>
          <ns0:cNvPr id="5" name="Image 1" descr="Open this chapter on GitHub">
            <ns1:hlinkClick ns3:id="rId3" tooltip="https://github.com/github/copilot-app-for-beginners/tree/main/05-mcp-plugin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EXERCISE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Install Modern Web Guidance</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Read what a plugin contains before you install it.</ns1:t>
            </ns1:r>
            <ns1:endParaRPr lang="en-US" sz="1650" dirty="0"/>
          </ns1:p>
        </ns0:txBody>
      </ns0:sp>
      <ns0:sp>
        <ns0:nvSpPr>
          <ns0:cNvPr id="9" name="Text 5"/>
          <ns0:cNvSpPr/>
          <ns0:nvPr/>
        </ns0:nvSpPr>
        <ns0:spPr>
          <ns1:xfrm>
            <ns1:off x="507950" y="1574750"/>
            <ns1:ext cx="8127950" cy="1222177"/>
          </ns1:xfrm>
          <ns1:prstGeom prst="roundRect">
            <ns1:avLst>
              <ns1:gd name="adj" fmla="val 10391"/>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sp>
        <ns0:nvSpPr>
          <ns0:cNvPr id="10" name="Text 6"/>
          <ns0:cNvSpPr/>
          <ns0:nvPr/>
        </ns0:nvSpPr>
        <ns0:spPr>
          <ns1:xfrm>
            <ns1:off x="517475" y="1584275"/>
            <ns1:ext cx="8108900" cy="412552"/>
          </ns1:xfrm>
          <ns1:prstGeom prst="roundRect">
            <ns1:avLst>
              <ns1:gd name="adj" fmla="val 30784"/>
            </ns1:avLst>
          </ns1:prstGeom>
          <ns1:solidFill>
            <ns1:srgbClr val="F6F8FA"/>
          </ns1:solidFill>
          <ns1:ln/>
        </ns0:spPr>
        <ns0:txBody>
          <ns1:bodyPr wrap="square" rtlCol="0" anchor="ctr"/>
          <ns1:lstStyle/>
          <ns1:p>
            <ns1:pPr indent="0" marL="0">
              <ns1:buNone/>
            </ns1:pPr>
            <ns1:endParaRPr lang="en-US" dirty="0"/>
          </ns1:p>
        </ns0:txBody>
      </ns0:sp>
      <ns0:sp>
        <ns0:nvSpPr>
          <ns0:cNvPr id="11" name="Shape 7"/>
          <ns0:cNvSpPr/>
          <ns0:nvPr/>
        </ns0:nvSpPr>
        <ns0:spPr>
          <ns1:xfrm>
            <ns1:off x="517475" y="1992064"/>
            <ns1:ext cx="8108900" cy="0"/>
          </ns1:xfrm>
          <ns1:prstGeom prst="line">
            <ns1:avLst/>
          </ns1:prstGeom>
          <ns1:noFill/>
          <ns1:ln w="9525">
            <ns1:solidFill>
              <ns1:srgbClr val="D1D9E0"/>
            </ns1:solidFill>
            <ns1:prstDash val="solid"/>
          </ns1:ln>
        </ns0:spPr>
      </ns0:sp>
      <ns0:pic>
        <ns0:nvPicPr>
          <ns0:cNvPr id="12"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695176" y="1709589"/>
            <ns1:ext cx="152400" cy="152400"/>
          </ns1:xfrm>
          <ns1:prstGeom prst="rect">
            <ns1:avLst/>
          </ns1:prstGeom>
        </ns0:spPr>
      </ns0:pic>
      <ns0:sp>
        <ns0:nvSpPr>
          <ns0:cNvPr id="13" name="Text 8"/>
          <ns0:cNvSpPr/>
          <ns0:nvPr/>
        </ns0:nvSpPr>
        <ns0:spPr>
          <ns1:xfrm>
            <ns1:off x="949077" y="1685776"/>
            <ns1:ext cx="1418767" cy="200025"/>
          </ns1:xfrm>
          <ns1:prstGeom prst="rect">
            <ns1:avLst/>
          </ns1:prstGeom>
          <ns1:noFill/>
          <ns1:ln/>
        </ns0:spPr>
        <ns0:txBody>
          <ns1:bodyPr wrap="square" lIns="0" tIns="0" rIns="0" bIns="0" rtlCol="0" anchor="t"/>
          <ns1:lstStyle/>
          <ns1:p>
            <ns1:pPr algn="l" indent="0" marL="0">
              <ns1:buNone/>
            </ns1:pPr>
            <ns1:r>
              <ns1:rPr lang="en-US" sz="1350" b="1" dirty="0">
                <ns1:solidFill>
                  <ns1:srgbClr val="1F2328"/>
                </ns1:solidFill>
                <ns1:latin typeface="Arial" pitchFamily="34" charset="0"/>
                <ns1:ea typeface="Arial" pitchFamily="34" charset="-122"/>
                <ns1:cs typeface="Arial" pitchFamily="34" charset="-120"/>
              </ns1:rPr>
              <ns1:t>awesome-copilot</ns1:t>
            </ns1:r>
            <ns1:endParaRPr lang="en-US" sz="1350" dirty="0"/>
          </ns1:p>
        </ns0:txBody>
      </ns0:sp>
      <ns0:sp>
        <ns0:nvSpPr>
          <ns0:cNvPr id="14" name="Text 9"/>
          <ns0:cNvSpPr/>
          <ns0:nvPr/>
        </ns0:nvSpPr>
        <ns0:spPr>
          <ns1:xfrm>
            <ns1:off x="2441525" y="1690539"/>
            <ns1:ext cx="881682" cy="190500"/>
          </ns1:xfrm>
          <ns1:prstGeom prst="rect">
            <ns1:avLst/>
          </ns1:prstGeom>
          <ns1:noFill/>
          <ns1:ln/>
        </ns0:spPr>
        <ns0:txBody>
          <ns1:bodyPr wrap="square" lIns="0" tIns="0" rIns="0" bIns="0" rtlCol="0" anchor="t"/>
          <ns1:lstStyle/>
          <ns1:p>
            <ns1:pPr algn="l" indent="0" marL="0">
              <ns1:buNone/>
            </ns1:pPr>
            <ns1:r>
              <ns1:rPr lang="en-US" sz="1250" dirty="0">
                <ns1:solidFill>
                  <ns1:srgbClr val="59636E"/>
                </ns1:solidFill>
                <ns1:latin typeface="Arial" pitchFamily="34" charset="0"/>
                <ns1:ea typeface="Arial" pitchFamily="34" charset="-122"/>
                <ns1:cs typeface="Arial" pitchFamily="34" charset="-120"/>
              </ns1:rPr>
              <ns1:t>Marketplace</ns1:t>
            </ns1:r>
            <ns1:endParaRPr lang="en-US" sz="1250" dirty="0"/>
          </ns1:p>
        </ns0:txBody>
      </ns0:sp>
      <ns0:sp>
        <ns0:nvSpPr>
          <ns0:cNvPr id="15" name="Text 10"/>
          <ns0:cNvSpPr/>
          <ns0:nvPr/>
        </ns0:nvSpPr>
        <ns0:spPr>
          <ns1:xfrm>
            <ns1:off x="695176" y="2176165"/>
            <ns1:ext cx="431750" cy="431750"/>
          </ns1:xfrm>
          <ns1:prstGeom prst="roundRect">
            <ns1:avLst>
              <ns1:gd name="adj" fmla="val 20591"/>
            </ns1:avLst>
          </ns1:prstGeom>
          <ns1:solidFill>
            <ns1:srgbClr val="FBEFFF"/>
          </ns1:solidFill>
          <ns1:ln/>
        </ns0:spPr>
        <ns0:txBody>
          <ns1:bodyPr wrap="square" rtlCol="0" anchor="ctr"/>
          <ns1:lstStyle/>
          <ns1:p>
            <ns1:pPr indent="0" marL="0">
              <ns1:buNone/>
            </ns1:pPr>
            <ns1:endParaRPr lang="en-US" dirty="0"/>
          </ns1:p>
        </ns0:txBody>
      </ns0:sp>
      <ns0:pic>
        <ns0:nvPicPr>
          <ns0:cNvPr id="16"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790426" y="2271415"/>
            <ns1:ext cx="241250" cy="241250"/>
          </ns1:xfrm>
          <ns1:prstGeom prst="rect">
            <ns1:avLst/>
          </ns1:prstGeom>
        </ns0:spPr>
      </ns0:pic>
      <ns0:sp>
        <ns0:nvSpPr>
          <ns0:cNvPr id="17" name="Text 11"/>
          <ns0:cNvSpPr/>
          <ns0:nvPr/>
        </ns0:nvSpPr>
        <ns0:spPr>
          <ns1:xfrm>
            <ns1:off x="1304627" y="2149227"/>
            <ns1:ext cx="6043496" cy="247650"/>
          </ns1:xfrm>
          <ns1:prstGeom prst="rect">
            <ns1:avLst/>
          </ns1:prstGeom>
          <ns1:noFill/>
          <ns1:ln/>
        </ns0:spPr>
        <ns0:txBody>
          <ns1:bodyPr wrap="square" lIns="0" tIns="0" rIns="0" bIns="0" rtlCol="0" anchor="t"/>
          <ns1:lstStyle/>
          <ns1:p>
            <ns1:pPr algn="l" indent="0" marL="0">
              <ns1:buNone/>
            </ns1:pPr>
            <ns1:r>
              <ns1:rPr lang="en-US" sz="1650" b="1" dirty="0">
                <ns1:solidFill>
                  <ns1:srgbClr val="1F2328"/>
                </ns1:solidFill>
                <ns1:latin typeface="Arial" pitchFamily="34" charset="0"/>
                <ns1:ea typeface="Arial" pitchFamily="34" charset="-122"/>
                <ns1:cs typeface="Arial" pitchFamily="34" charset="-120"/>
              </ns1:rPr>
              <ns1:t>modern-web-guidance</ns1:t>
            </ns1:r>
            <ns1:endParaRPr lang="en-US" sz="1650" dirty="0"/>
          </ns1:p>
        </ns0:txBody>
      </ns0:sp>
      <ns0:sp>
        <ns0:nvSpPr>
          <ns0:cNvPr id="18" name="Text 12"/>
          <ns0:cNvSpPr/>
          <ns0:nvPr/>
        </ns0:nvSpPr>
        <ns0:spPr>
          <ns1:xfrm>
            <ns1:off x="1304627" y="2434977"/>
            <ns1:ext cx="6043496" cy="200025"/>
          </ns1:xfrm>
          <ns1:prstGeom prst="rect">
            <ns1:avLst/>
          </ns1:prstGeom>
          <ns1:noFill/>
          <ns1:ln/>
        </ns0:spPr>
        <ns0:txBody>
          <ns1:bodyPr wrap="square" lIns="0" tIns="0" rIns="0" bIns="0" rtlCol="0" anchor="t"/>
          <ns1:lstStyle/>
          <ns1:p>
            <ns1:pPr algn="l" indent="0" marL="0">
              <ns1:buNone/>
            </ns1:pPr>
            <ns1:r>
              <ns1:rPr lang="en-US" sz="1350" dirty="0">
                <ns1:solidFill>
                  <ns1:srgbClr val="59636E"/>
                </ns1:solidFill>
                <ns1:latin typeface="Arial" pitchFamily="34" charset="0"/>
                <ns1:ea typeface="Arial" pitchFamily="34" charset="-122"/>
                <ns1:cs typeface="Arial" pitchFamily="34" charset="-120"/>
              </ns1:rPr>
              <ns1:t>A skill and CLI tool that help agents build web apps with modern, secure APIs.</ns1:t>
            </ns1:r>
            <ns1:endParaRPr lang="en-US" sz="1350" dirty="0"/>
          </ns1:p>
        </ns0:txBody>
      </ns0:sp>
      <ns0:sp>
        <ns0:nvSpPr>
          <ns0:cNvPr id="19" name="Text 13"/>
          <ns0:cNvSpPr/>
          <ns0:nvPr/>
        </ns0:nvSpPr>
        <ns0:spPr>
          <ns1:xfrm>
            <ns1:off x="7407325" y="2214414"/>
            <ns1:ext cx="1041350" cy="355402"/>
          </ns1:xfrm>
          <ns1:prstGeom prst="roundRect">
            <ns1:avLst>
              <ns1:gd name="adj" fmla="val 21441"/>
            </ns1:avLst>
          </ns1:prstGeom>
          <ns1:solidFill>
            <ns1:srgbClr val="FFFFFF"/>
          </ns1:solidFill>
          <ns1:ln w="9525">
            <ns1:solidFill>
              <ns1:srgbClr val="D1D9E0"/>
            </ns1:solidFill>
          </ns1:ln>
        </ns0:spPr>
        <ns0:txBody>
          <ns1:bodyPr wrap="square" rtlCol="0" anchor="ctr"/>
          <ns1:lstStyle/>
          <ns1:p>
            <ns1:pPr indent="0" marL="0">
              <ns1:buNone/>
            </ns1:pPr>
            <ns1:endParaRPr lang="en-US" dirty="0"/>
          </ns1:p>
        </ns0:txBody>
      </ns0:sp>
      <ns0:sp>
        <ns0:nvSpPr>
          <ns0:cNvPr id="20" name="Text 14"/>
          <ns0:cNvSpPr/>
          <ns0:nvPr/>
        </ns0:nvSpPr>
        <ns0:spPr>
          <ns1:xfrm>
            <ns1:off x="7594550" y="2287339"/>
            <ns1:ext cx="680237" cy="209550"/>
          </ns1:xfrm>
          <ns1:prstGeom prst="rect">
            <ns1:avLst/>
          </ns1:prstGeom>
          <ns1:noFill/>
          <ns1:ln/>
        </ns0:spPr>
        <ns0:txBody>
          <ns1:bodyPr wrap="square" lIns="0" tIns="0" rIns="0" bIns="0" rtlCol="0" anchor="t"/>
          <ns1:lstStyle/>
          <ns1:p>
            <ns1:pPr algn="l" indent="0" marL="0">
              <ns1:buNone/>
            </ns1:pPr>
            <ns1:r>
              <ns1:rPr lang="en-US" sz="1400" b="1" dirty="0">
                <ns1:solidFill>
                  <ns1:srgbClr val="1F2328"/>
                </ns1:solidFill>
                <ns1:latin typeface="Arial" pitchFamily="34" charset="0"/>
                <ns1:ea typeface="Arial" pitchFamily="34" charset="-122"/>
                <ns1:cs typeface="Arial" pitchFamily="34" charset="-120"/>
              </ns1:rPr>
              <ns1:t>+ Install</ns1:t>
            </ns1:r>
            <ns1:endParaRPr lang="en-US" sz="1400" dirty="0"/>
          </ns1:p>
        </ns0:txBody>
      </ns0:sp>
      <ns0:sp>
        <ns0:nvSpPr>
          <ns0:cNvPr id="21" name="Text 15"/>
          <ns0:cNvSpPr/>
          <ns0:nvPr/>
        </ns0:nvSpPr>
        <ns0:spPr>
          <ns1:xfrm>
            <ns1:off x="507950" y="2974628"/>
            <ns1:ext cx="2607618" cy="1127671"/>
          </ns1:xfrm>
          <ns1:prstGeom prst="roundRect">
            <ns1:avLst>
              <ns1:gd name="adj" fmla="val 11262"/>
            </ns1:avLst>
          </ns1:prstGeom>
          <ns1:solidFill>
            <ns1:srgbClr val="FFFFFF"/>
          </ns1:solidFill>
          <ns1:ln w="9525">
            <ns1:solidFill>
              <ns1:srgbClr val="E0C5FF"/>
            </ns1:solidFill>
          </ns1:ln>
        </ns0:spPr>
        <ns0:txBody>
          <ns1:bodyPr wrap="square" rtlCol="0" anchor="ctr"/>
          <ns1:lstStyle/>
          <ns1:p>
            <ns1:pPr indent="0" marL="0">
              <ns1:buNone/>
            </ns1:pPr>
            <ns1:endParaRPr lang="en-US" dirty="0"/>
          </ns1:p>
        </ns0:txBody>
      </ns0:sp>
      <ns0:sp>
        <ns0:nvSpPr>
          <ns0:cNvPr id="22" name="Text 16"/>
          <ns0:cNvSpPr/>
          <ns0:nvPr/>
        </ns0:nvSpPr>
        <ns0:spPr>
          <ns1:xfrm>
            <ns1:off x="669875" y="3136553"/>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3" name="Text 17"/>
          <ns0:cNvSpPr/>
          <ns0:nvPr/>
        </ns0:nvSpPr>
        <ns0:spPr>
          <ns1:xfrm>
            <ns1:off x="764540" y="318090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24" name="Text 18"/>
          <ns0:cNvSpPr/>
          <ns0:nvPr/>
        </ns0:nvSpPr>
        <ns0:spPr>
          <ns1:xfrm>
            <ns1:off x="1063526" y="3161854"/>
            <ns1:ext cx="641071"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Find it</ns1:t>
            </ns1:r>
            <ns1:endParaRPr lang="en-US" sz="1650" dirty="0"/>
          </ns1:p>
        </ns0:txBody>
      </ns0:sp>
      <ns0:sp>
        <ns0:nvSpPr>
          <ns0:cNvPr id="25" name="Text 19"/>
          <ns0:cNvSpPr/>
          <ns0:nvPr/>
        </ns0:nvSpPr>
        <ns0:spPr>
          <ns1:xfrm>
            <ns1:off x="669875" y="3492103"/>
            <ns1:ext cx="2329443" cy="429220"/>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Browse &gt; Plugins; search the catalog.</ns1:t>
            </ns1:r>
            <ns1:pPr algn="l" indent="0" marL="0">
              <ns1:lnSpc>
                <ns1:spcPts val="1690"/>
              </ns1:lnSpc>
              <ns1:buNone/>
            </ns1:pPr>
            <ns1:r>
              <ns1:rPr lang="en-US" sz="1400" b="1" dirty="0">
                <ns1:solidFill>
                  <ns1:srgbClr val="59636E"/>
                </ns1:solidFill>
                <ns1:latin typeface="Arial" pitchFamily="34" charset="0"/>
                <ns1:ea typeface="Arial" pitchFamily="34" charset="-122"/>
                <ns1:cs typeface="Arial" pitchFamily="34" charset="-120"/>
              </ns1:rPr>
              <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
            </ns1:r>
            <ns1:endParaRPr lang="en-US" sz="1400" dirty="0"/>
          </ns1:p>
        </ns0:txBody>
      </ns0:sp>
      <ns0:sp>
        <ns0:nvSpPr>
          <ns0:cNvPr id="26" name="Text 20"/>
          <ns0:cNvSpPr/>
          <ns0:nvPr/>
        </ns0:nvSpPr>
        <ns0:spPr>
          <ns1:xfrm>
            <ns1:off x="3267968" y="2974628"/>
            <ns1:ext cx="2607766" cy="1127671"/>
          </ns1:xfrm>
          <ns1:prstGeom prst="roundRect">
            <ns1:avLst>
              <ns1:gd name="adj" fmla="val 11262"/>
            </ns1:avLst>
          </ns1:prstGeom>
          <ns1:solidFill>
            <ns1:srgbClr val="FFFFFF"/>
          </ns1:solidFill>
          <ns1:ln w="9525">
            <ns1:solidFill>
              <ns1:srgbClr val="E0C5FF"/>
            </ns1:solidFill>
          </ns1:ln>
        </ns0:spPr>
        <ns0:txBody>
          <ns1:bodyPr wrap="square" rtlCol="0" anchor="ctr"/>
          <ns1:lstStyle/>
          <ns1:p>
            <ns1:pPr indent="0" marL="0">
              <ns1:buNone/>
            </ns1:pPr>
            <ns1:endParaRPr lang="en-US" dirty="0"/>
          </ns1:p>
        </ns0:txBody>
      </ns0:sp>
      <ns0:sp>
        <ns0:nvSpPr>
          <ns0:cNvPr id="27" name="Text 21"/>
          <ns0:cNvSpPr/>
          <ns0:nvPr/>
        </ns0:nvSpPr>
        <ns0:spPr>
          <ns1:xfrm>
            <ns1:off x="3429893" y="3136553"/>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8" name="Text 22"/>
          <ns0:cNvSpPr/>
          <ns0:nvPr/>
        </ns0:nvSpPr>
        <ns0:spPr>
          <ns1:xfrm>
            <ns1:off x="3524558" y="318090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29" name="Text 23"/>
          <ns0:cNvSpPr/>
          <ns0:nvPr/>
        </ns0:nvSpPr>
        <ns0:spPr>
          <ns1:xfrm>
            <ns1:off x="3823543" y="3161854"/>
            <ns1:ext cx="1781883"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Check the source</ns1:t>
            </ns1:r>
            <ns1:endParaRPr lang="en-US" sz="1650" dirty="0"/>
          </ns1:p>
        </ns0:txBody>
      </ns0:sp>
      <ns0:sp>
        <ns0:nvSpPr>
          <ns0:cNvPr id="30" name="Text 24"/>
          <ns0:cNvSpPr/>
          <ns0:nvPr/>
        </ns0:nvSpPr>
        <ns0:spPr>
          <ns1:xfrm>
            <ns1:off x="3429893" y="3492103"/>
            <ns1:ext cx="2329595" cy="448270"/>
          </ns1:xfrm>
          <ns1:prstGeom prst="rect">
            <ns1:avLst/>
          </ns1:prstGeom>
          <ns1:noFill/>
          <ns1:ln/>
        </ns0:spPr>
        <ns0:txBody>
          <ns1:bodyPr wrap="square" lIns="0" tIns="0" rIns="0" bIns="0" rtlCol="0" anchor="t"/>
          <ns1:lstStyle/>
          <ns1:p>
            <ns1:pPr algn="l" indent="0" marL="0">
              <ns1:lnSpc>
                <ns1:spcPts val="1690"/>
              </ns1:lnSpc>
              <ns1:buNone/>
            </ns1:pPr>
            <ns1:r>
              <ns1:rPr lang="en-US" sz="1400" b="1" dirty="0">
                <ns1:solidFill>
                  <ns1:srgbClr val="0550AE"/>
                </ns1:solidFill>
                <ns1:latin typeface="Courier New" pitchFamily="34" charset="0"/>
                <ns1:ea typeface="Courier New" pitchFamily="34" charset="-122"/>
                <ns1:cs typeface="Courier New" pitchFamily="34" charset="-120"/>
              </ns1:rPr>
              <ns1:t>GoogleChrome/modern-web-guidance</ns1:t>
            </ns1:r>
            <ns1:endParaRPr lang="en-US" sz="1400" dirty="0"/>
          </ns1:p>
        </ns0:txBody>
      </ns0:sp>
      <ns0:sp>
        <ns0:nvSpPr>
          <ns0:cNvPr id="31" name="Text 25"/>
          <ns0:cNvSpPr/>
          <ns0:nvPr/>
        </ns0:nvSpPr>
        <ns0:spPr>
          <ns1:xfrm>
            <ns1:off x="6028134" y="2974628"/>
            <ns1:ext cx="2607766" cy="1127671"/>
          </ns1:xfrm>
          <ns1:prstGeom prst="roundRect">
            <ns1:avLst>
              <ns1:gd name="adj" fmla="val 11262"/>
            </ns1:avLst>
          </ns1:prstGeom>
          <ns1:solidFill>
            <ns1:srgbClr val="FFFFFF"/>
          </ns1:solidFill>
          <ns1:ln w="9525">
            <ns1:solidFill>
              <ns1:srgbClr val="E0C5FF"/>
            </ns1:solidFill>
          </ns1:ln>
        </ns0:spPr>
        <ns0:txBody>
          <ns1:bodyPr wrap="square" rtlCol="0" anchor="ctr"/>
          <ns1:lstStyle/>
          <ns1:p>
            <ns1:pPr indent="0" marL="0">
              <ns1:buNone/>
            </ns1:pPr>
            <ns1:endParaRPr lang="en-US" dirty="0"/>
          </ns1:p>
        </ns0:txBody>
      </ns0:sp>
      <ns0:sp>
        <ns0:nvSpPr>
          <ns0:cNvPr id="32" name="Text 26"/>
          <ns0:cNvSpPr/>
          <ns0:nvPr/>
        </ns0:nvSpPr>
        <ns0:spPr>
          <ns1:xfrm>
            <ns1:off x="6190059" y="3136553"/>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33" name="Text 27"/>
          <ns0:cNvSpPr/>
          <ns0:nvPr/>
        </ns0:nvSpPr>
        <ns0:spPr>
          <ns1:xfrm>
            <ns1:off x="6284724" y="318090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34" name="Text 28"/>
          <ns0:cNvSpPr/>
          <ns0:nvPr/>
        </ns0:nvSpPr>
        <ns0:spPr>
          <ns1:xfrm>
            <ns1:off x="6583710" y="3161854"/>
            <ns1:ext cx="1900291"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Install and confirm</ns1:t>
            </ns1:r>
            <ns1:endParaRPr lang="en-US" sz="1650" dirty="0"/>
          </ns1:p>
        </ns0:txBody>
      </ns0:sp>
      <ns0:sp>
        <ns0:nvSpPr>
          <ns0:cNvPr id="35" name="Text 29"/>
          <ns0:cNvSpPr/>
          <ns0:nvPr/>
        </ns0:nvSpPr>
        <ns0:spPr>
          <ns1:xfrm>
            <ns1:off x="6190059" y="3492103"/>
            <ns1:ext cx="2329595" cy="429220"/>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Confirm it under Installed, with its toggle on.</ns1:t>
            </ns1:r>
            <ns1:pPr algn="l" indent="0" marL="0">
              <ns1:lnSpc>
                <ns1:spcPts val="1690"/>
              </ns1:lnSpc>
              <ns1:buNone/>
            </ns1:pPr>
            <ns1:r>
              <ns1:rPr lang="en-US" sz="1400" b="1" dirty="0">
                <ns1:solidFill>
                  <ns1:srgbClr val="59636E"/>
                </ns1:solidFill>
                <ns1:latin typeface="Arial" pitchFamily="34" charset="0"/>
                <ns1:ea typeface="Arial" pitchFamily="34" charset="-122"/>
                <ns1:cs typeface="Arial" pitchFamily="34" charset="-120"/>
              </ns1:rPr>
              <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
            </ns1:r>
            <ns1:endParaRPr lang="en-US" sz="1400" dirty="0"/>
          </ns1:p>
        </ns0:txBody>
      </ns0:sp>
    </ns0:spTree>
  </ns0:cSld>
  <ns0:clrMapOvr>
    <ns1:masterClrMapping/>
  </ns0:clrMapOvr>
</ns0: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EXERCISE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Invoke the plugin's skill</a:t>
            </a:r>
            <a:endParaRPr lang="en-US" sz="2800" dirty="0"/>
          </a:p>
        </p:txBody>
      </p:sp>
      <p:sp>
        <p:nvSpPr>
          <p:cNvPr id="8" name="Text 4"/>
          <p:cNvSpPr/>
          <p:nvPr/>
        </p:nvSpPr>
        <p:spPr>
          <a:xfrm>
            <a:off x="507950" y="1104751"/>
            <a:ext cx="8161020" cy="27310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Run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/skills reload</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then select the skill from the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menu.</a:t>
            </a:r>
            <a:endParaRPr lang="en-US" sz="1650" dirty="0"/>
          </a:p>
        </p:txBody>
      </p:sp>
      <p:sp>
        <p:nvSpPr>
          <p:cNvPr id="9" name="Text 5"/>
          <p:cNvSpPr/>
          <p:nvPr/>
        </p:nvSpPr>
        <p:spPr>
          <a:xfrm>
            <a:off x="507950" y="2146399"/>
            <a:ext cx="4572000" cy="1929854"/>
          </a:xfrm>
          <a:prstGeom prst="roundRect">
            <a:avLst>
              <a:gd name="adj" fmla="val 3948"/>
            </a:avLst>
          </a:prstGeom>
          <a:solidFill>
            <a:srgbClr val="FFFFFF"/>
          </a:solidFill>
          <a:ln/>
        </p:spPr>
        <p:txBody>
          <a:bodyPr wrap="square" rtlCol="0" anchor="ctr"/>
          <a:lstStyle/>
          <a:p>
            <a:pPr indent="0" marL="0">
              <a:buNone/>
            </a:pPr>
            <a:endParaRPr lang="en-US" dirty="0"/>
          </a:p>
        </p:txBody>
      </p:sp>
      <p:sp>
        <p:nvSpPr>
          <p:cNvPr id="10" name="Shape 6"/>
          <p:cNvSpPr/>
          <p:nvPr/>
        </p:nvSpPr>
        <p:spPr>
          <a:xfrm>
            <a:off x="507950" y="2151162"/>
            <a:ext cx="4572000" cy="0"/>
          </a:xfrm>
          <a:prstGeom prst="line">
            <a:avLst/>
          </a:prstGeom>
          <a:noFill/>
          <a:ln w="9525">
            <a:solidFill>
              <a:srgbClr val="E0C5FF"/>
            </a:solidFill>
            <a:prstDash val="solid"/>
          </a:ln>
        </p:spPr>
      </p:sp>
      <p:sp>
        <p:nvSpPr>
          <p:cNvPr id="11" name="Shape 7"/>
          <p:cNvSpPr/>
          <p:nvPr/>
        </p:nvSpPr>
        <p:spPr>
          <a:xfrm>
            <a:off x="5075188" y="2146399"/>
            <a:ext cx="0" cy="1929854"/>
          </a:xfrm>
          <a:prstGeom prst="line">
            <a:avLst/>
          </a:prstGeom>
          <a:noFill/>
          <a:ln w="9525">
            <a:solidFill>
              <a:srgbClr val="E0C5FF"/>
            </a:solidFill>
            <a:prstDash val="solid"/>
          </a:ln>
        </p:spPr>
      </p:sp>
      <p:sp>
        <p:nvSpPr>
          <p:cNvPr id="12" name="Shape 8"/>
          <p:cNvSpPr/>
          <p:nvPr/>
        </p:nvSpPr>
        <p:spPr>
          <a:xfrm>
            <a:off x="507950" y="4071491"/>
            <a:ext cx="4572000" cy="0"/>
          </a:xfrm>
          <a:prstGeom prst="line">
            <a:avLst/>
          </a:prstGeom>
          <a:noFill/>
          <a:ln w="9525">
            <a:solidFill>
              <a:srgbClr val="E0C5FF"/>
            </a:solidFill>
            <a:prstDash val="solid"/>
          </a:ln>
        </p:spPr>
      </p:sp>
      <p:sp>
        <p:nvSpPr>
          <p:cNvPr id="13" name="Shape 9"/>
          <p:cNvSpPr/>
          <p:nvPr/>
        </p:nvSpPr>
        <p:spPr>
          <a:xfrm>
            <a:off x="531763" y="2146399"/>
            <a:ext cx="0" cy="1929854"/>
          </a:xfrm>
          <a:prstGeom prst="line">
            <a:avLst/>
          </a:prstGeom>
          <a:noFill/>
          <a:ln w="47625">
            <a:solidFill>
              <a:srgbClr val="8250DF"/>
            </a:solidFill>
            <a:prstDash val="solid"/>
          </a:ln>
        </p:spPr>
      </p:sp>
      <p:pic>
        <p:nvPicPr>
          <p:cNvPr id="14"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33276" y="2286000"/>
            <a:ext cx="165050" cy="165050"/>
          </a:xfrm>
          <a:prstGeom prst="rect">
            <a:avLst/>
          </a:prstGeom>
        </p:spPr>
      </p:pic>
      <p:sp>
        <p:nvSpPr>
          <p:cNvPr id="15" name="Text 10"/>
          <p:cNvSpPr/>
          <p:nvPr/>
        </p:nvSpPr>
        <p:spPr>
          <a:xfrm>
            <a:off x="974527" y="2282875"/>
            <a:ext cx="637276"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PROMPT</a:t>
            </a:r>
            <a:endParaRPr lang="en-US" sz="1150" dirty="0"/>
          </a:p>
        </p:txBody>
      </p:sp>
      <p:sp>
        <p:nvSpPr>
          <p:cNvPr id="16" name="Text 11"/>
          <p:cNvSpPr/>
          <p:nvPr/>
        </p:nvSpPr>
        <p:spPr>
          <a:xfrm>
            <a:off x="733276" y="2505075"/>
            <a:ext cx="4242637" cy="6666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Use the modern-web-guidance skill to look up guidance for wrapping short headings. Use only general terms in external queries.</a:t>
            </a:r>
            <a:endParaRPr lang="en-US" sz="1400" dirty="0"/>
          </a:p>
        </p:txBody>
      </p:sp>
      <p:sp>
        <p:nvSpPr>
          <p:cNvPr id="17" name="Text 12"/>
          <p:cNvSpPr/>
          <p:nvPr/>
        </p:nvSpPr>
        <p:spPr>
          <a:xfrm>
            <a:off x="733276" y="3273177"/>
            <a:ext cx="4242637" cy="6666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Then inspect BookCard.tsx and app.css locally. Propose at most one CSS-only improvement for long titles on narrow screens. Do not change files.</a:t>
            </a:r>
            <a:endParaRPr lang="en-US" sz="1400" dirty="0"/>
          </a:p>
        </p:txBody>
      </p:sp>
      <p:sp>
        <p:nvSpPr>
          <p:cNvPr id="18" name="Text 13"/>
          <p:cNvSpPr/>
          <p:nvPr/>
        </p:nvSpPr>
        <p:spPr>
          <a:xfrm>
            <a:off x="5308550" y="1754535"/>
            <a:ext cx="3327350" cy="1579513"/>
          </a:xfrm>
          <a:prstGeom prst="roundRect">
            <a:avLst>
              <a:gd name="adj" fmla="val 8040"/>
            </a:avLst>
          </a:prstGeom>
          <a:solidFill>
            <a:srgbClr val="FFFFFF"/>
          </a:solidFill>
          <a:ln w="9525">
            <a:solidFill>
              <a:srgbClr val="8CE7A5"/>
            </a:solidFill>
          </a:ln>
        </p:spPr>
        <p:txBody>
          <a:bodyPr wrap="square" rtlCol="0" anchor="ctr"/>
          <a:lstStyle/>
          <a:p>
            <a:pPr indent="0" marL="0">
              <a:buNone/>
            </a:pPr>
            <a:endParaRPr lang="en-US" dirty="0"/>
          </a:p>
        </p:txBody>
      </p:sp>
      <p:sp>
        <p:nvSpPr>
          <p:cNvPr id="19" name="Text 14"/>
          <p:cNvSpPr/>
          <p:nvPr/>
        </p:nvSpPr>
        <p:spPr>
          <a:xfrm>
            <a:off x="5495776" y="1941761"/>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578376" y="2024360"/>
            <a:ext cx="215801" cy="215801"/>
          </a:xfrm>
          <a:prstGeom prst="rect">
            <a:avLst/>
          </a:prstGeom>
        </p:spPr>
      </p:pic>
      <p:sp>
        <p:nvSpPr>
          <p:cNvPr id="21" name="Text 15"/>
          <p:cNvSpPr/>
          <p:nvPr/>
        </p:nvSpPr>
        <p:spPr>
          <a:xfrm>
            <a:off x="5991076" y="2017961"/>
            <a:ext cx="950449"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Expected</a:t>
            </a:r>
            <a:endParaRPr lang="en-US" sz="1650" dirty="0"/>
          </a:p>
        </p:txBody>
      </p:sp>
      <p:sp>
        <p:nvSpPr>
          <p:cNvPr id="22" name="Text 16"/>
          <p:cNvSpPr/>
          <p:nvPr/>
        </p:nvSpPr>
        <p:spPr>
          <a:xfrm>
            <a:off x="5495776" y="2478881"/>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23" name="Text 17"/>
          <p:cNvSpPr/>
          <p:nvPr/>
        </p:nvSpPr>
        <p:spPr>
          <a:xfrm>
            <a:off x="5654427" y="2398961"/>
            <a:ext cx="258007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The skill loads and finds a guide</a:t>
            </a:r>
            <a:endParaRPr lang="en-US" sz="1400" dirty="0"/>
          </a:p>
        </p:txBody>
      </p:sp>
      <p:sp>
        <p:nvSpPr>
          <p:cNvPr id="24" name="Text 18"/>
          <p:cNvSpPr/>
          <p:nvPr/>
        </p:nvSpPr>
        <p:spPr>
          <a:xfrm>
            <a:off x="5495776" y="2749302"/>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25" name="Text 19"/>
          <p:cNvSpPr/>
          <p:nvPr/>
        </p:nvSpPr>
        <p:spPr>
          <a:xfrm>
            <a:off x="5654427" y="2669381"/>
            <a:ext cx="234796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One small CSS idea, or none</a:t>
            </a:r>
            <a:endParaRPr lang="en-US" sz="1400" dirty="0"/>
          </a:p>
        </p:txBody>
      </p:sp>
      <p:sp>
        <p:nvSpPr>
          <p:cNvPr id="26" name="Text 20"/>
          <p:cNvSpPr/>
          <p:nvPr/>
        </p:nvSpPr>
        <p:spPr>
          <a:xfrm>
            <a:off x="5495776" y="3019723"/>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27" name="Text 21"/>
          <p:cNvSpPr/>
          <p:nvPr/>
        </p:nvSpPr>
        <p:spPr>
          <a:xfrm>
            <a:off x="5654427" y="2939802"/>
            <a:ext cx="1249656"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No files change</a:t>
            </a:r>
            <a:endParaRPr lang="en-US" sz="1400" dirty="0"/>
          </a:p>
        </p:txBody>
      </p:sp>
      <p:sp>
        <p:nvSpPr>
          <p:cNvPr id="28" name="Text 22"/>
          <p:cNvSpPr/>
          <p:nvPr/>
        </p:nvSpPr>
        <p:spPr>
          <a:xfrm>
            <a:off x="5308550" y="3486448"/>
            <a:ext cx="3327350" cy="981670"/>
          </a:xfrm>
          <a:prstGeom prst="roundRect">
            <a:avLst>
              <a:gd name="adj" fmla="val 10350"/>
            </a:avLst>
          </a:prstGeom>
          <a:solidFill>
            <a:srgbClr val="DDF4FF"/>
          </a:solidFill>
          <a:ln w="9525">
            <a:solidFill>
              <a:srgbClr val="9CD7FF"/>
            </a:solidFill>
          </a:ln>
        </p:spPr>
        <p:txBody>
          <a:bodyPr wrap="square" rtlCol="0" anchor="ctr"/>
          <a:lstStyle/>
          <a:p>
            <a:pPr indent="0" marL="0">
              <a:buNone/>
            </a:pPr>
            <a:endParaRPr lang="en-US" dirty="0"/>
          </a:p>
        </p:txBody>
      </p:sp>
      <p:pic>
        <p:nvPicPr>
          <p:cNvPr id="29"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495776" y="3875633"/>
            <a:ext cx="203150" cy="203150"/>
          </a:xfrm>
          <a:prstGeom prst="rect">
            <a:avLst/>
          </a:prstGeom>
        </p:spPr>
      </p:pic>
      <p:sp>
        <p:nvSpPr>
          <p:cNvPr id="30" name="Text 23"/>
          <p:cNvSpPr/>
          <p:nvPr/>
        </p:nvSpPr>
        <p:spPr>
          <a:xfrm>
            <a:off x="5825877" y="3622923"/>
            <a:ext cx="2675254" cy="70872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Ideas like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text-wrap: balance</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must cover older browsers.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BC4C00"/>
                </a:solidFill>
                <a:latin typeface="Arial" pitchFamily="34" charset="0"/>
                <a:ea typeface="Arial" pitchFamily="34" charset="-122"/>
                <a:cs typeface="Arial" pitchFamily="34" charset="-120"/>
              </a:rPr>
              <a:t>YOUR TURN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Summarize the evidence, not the claims</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Ask for a table built only from this session. Then check it.</a:t>
            </a:r>
            <a:endParaRPr lang="en-US" sz="1650" dirty="0"/>
          </a:p>
        </p:txBody>
      </p:sp>
      <p:sp>
        <p:nvSpPr>
          <p:cNvPr id="9" name="Text 5"/>
          <p:cNvSpPr/>
          <p:nvPr/>
        </p:nvSpPr>
        <p:spPr>
          <a:xfrm>
            <a:off x="507950" y="2122884"/>
            <a:ext cx="8127950" cy="1277392"/>
          </a:xfrm>
          <a:prstGeom prst="roundRect">
            <a:avLst>
              <a:gd name="adj" fmla="val 7954"/>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2132409"/>
            <a:ext cx="8108900" cy="326975"/>
          </a:xfrm>
          <a:prstGeom prst="rect">
            <a:avLst/>
          </a:prstGeom>
          <a:solidFill>
            <a:srgbClr val="DDF4FF"/>
          </a:solidFill>
          <a:ln/>
        </p:spPr>
        <p:txBody>
          <a:bodyPr wrap="square" rtlCol="0" anchor="ctr"/>
          <a:lstStyle/>
          <a:p>
            <a:pPr indent="0" marL="0">
              <a:buNone/>
            </a:pPr>
            <a:endParaRPr lang="en-US" dirty="0"/>
          </a:p>
        </p:txBody>
      </p:sp>
      <p:sp>
        <p:nvSpPr>
          <p:cNvPr id="11" name="Shape 7"/>
          <p:cNvSpPr/>
          <p:nvPr/>
        </p:nvSpPr>
        <p:spPr>
          <a:xfrm>
            <a:off x="517475" y="2454622"/>
            <a:ext cx="8108900" cy="0"/>
          </a:xfrm>
          <a:prstGeom prst="line">
            <a:avLst/>
          </a:prstGeom>
          <a:noFill/>
          <a:ln w="9525">
            <a:solidFill>
              <a:srgbClr val="9CD7FF"/>
            </a:solidFill>
            <a:prstDash val="solid"/>
          </a:ln>
        </p:spPr>
      </p:sp>
      <p:sp>
        <p:nvSpPr>
          <p:cNvPr id="12" name="Text 8"/>
          <p:cNvSpPr/>
          <p:nvPr/>
        </p:nvSpPr>
        <p:spPr>
          <a:xfrm>
            <a:off x="669875" y="2208609"/>
            <a:ext cx="2020824"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CAPABILITY</a:t>
            </a:r>
            <a:endParaRPr lang="en-US" sz="1150" dirty="0"/>
          </a:p>
        </p:txBody>
      </p:sp>
      <p:sp>
        <p:nvSpPr>
          <p:cNvPr id="13" name="Text 9"/>
          <p:cNvSpPr/>
          <p:nvPr/>
        </p:nvSpPr>
        <p:spPr>
          <a:xfrm>
            <a:off x="2955875" y="2208609"/>
            <a:ext cx="266842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EVIDENCE IT RAN</a:t>
            </a:r>
            <a:endParaRPr lang="en-US" sz="1150" dirty="0"/>
          </a:p>
        </p:txBody>
      </p:sp>
      <p:sp>
        <p:nvSpPr>
          <p:cNvPr id="14" name="Text 10"/>
          <p:cNvSpPr/>
          <p:nvPr/>
        </p:nvSpPr>
        <p:spPr>
          <a:xfrm>
            <a:off x="5876776" y="2208609"/>
            <a:ext cx="266842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WHAT WE LEARNED</a:t>
            </a:r>
            <a:endParaRPr lang="en-US" sz="1150" dirty="0"/>
          </a:p>
        </p:txBody>
      </p:sp>
      <p:sp>
        <p:nvSpPr>
          <p:cNvPr id="15" name="Shape 11"/>
          <p:cNvSpPr/>
          <p:nvPr/>
        </p:nvSpPr>
        <p:spPr>
          <a:xfrm>
            <a:off x="517475" y="2925068"/>
            <a:ext cx="8108900" cy="0"/>
          </a:xfrm>
          <a:prstGeom prst="line">
            <a:avLst/>
          </a:prstGeom>
          <a:noFill/>
          <a:ln w="9525">
            <a:solidFill>
              <a:srgbClr val="D1D9E0"/>
            </a:solidFill>
            <a:prstDash val="solid"/>
          </a:ln>
        </p:spPr>
      </p:sp>
      <p:sp>
        <p:nvSpPr>
          <p:cNvPr id="16" name="Text 12"/>
          <p:cNvSpPr/>
          <p:nvPr/>
        </p:nvSpPr>
        <p:spPr>
          <a:xfrm>
            <a:off x="669875" y="2586335"/>
            <a:ext cx="2020824"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Context7 · MCP</a:t>
            </a:r>
            <a:endParaRPr lang="en-US" sz="1400" dirty="0"/>
          </a:p>
        </p:txBody>
      </p:sp>
      <p:sp>
        <p:nvSpPr>
          <p:cNvPr id="17" name="Text 13"/>
          <p:cNvSpPr/>
          <p:nvPr/>
        </p:nvSpPr>
        <p:spPr>
          <a:xfrm>
            <a:off x="2955875" y="2586335"/>
            <a:ext cx="266842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Tool call and a source link</a:t>
            </a:r>
            <a:endParaRPr lang="en-US" sz="1400" dirty="0"/>
          </a:p>
        </p:txBody>
      </p:sp>
      <p:sp>
        <p:nvSpPr>
          <p:cNvPr id="18" name="Text 14"/>
          <p:cNvSpPr/>
          <p:nvPr/>
        </p:nvSpPr>
        <p:spPr>
          <a:xfrm>
            <a:off x="5876776" y="2586335"/>
            <a:ext cx="266842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The inputs are already labeled</a:t>
            </a:r>
            <a:endParaRPr lang="en-US" sz="1400" dirty="0"/>
          </a:p>
        </p:txBody>
      </p:sp>
      <p:sp>
        <p:nvSpPr>
          <p:cNvPr id="19" name="Text 15"/>
          <p:cNvSpPr/>
          <p:nvPr/>
        </p:nvSpPr>
        <p:spPr>
          <a:xfrm>
            <a:off x="669875" y="3056781"/>
            <a:ext cx="2020824"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Modern Web · plugin</a:t>
            </a:r>
            <a:endParaRPr lang="en-US" sz="1400" dirty="0"/>
          </a:p>
        </p:txBody>
      </p:sp>
      <p:sp>
        <p:nvSpPr>
          <p:cNvPr id="20" name="Text 16"/>
          <p:cNvSpPr/>
          <p:nvPr/>
        </p:nvSpPr>
        <p:spPr>
          <a:xfrm>
            <a:off x="2955875" y="3056781"/>
            <a:ext cx="266842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Skill loaded, guide found</a:t>
            </a:r>
            <a:endParaRPr lang="en-US" sz="1400" dirty="0"/>
          </a:p>
        </p:txBody>
      </p:sp>
      <p:sp>
        <p:nvSpPr>
          <p:cNvPr id="21" name="Text 17"/>
          <p:cNvSpPr/>
          <p:nvPr/>
        </p:nvSpPr>
        <p:spPr>
          <a:xfrm>
            <a:off x="5876776" y="3056781"/>
            <a:ext cx="266842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One CSS idea, with a fallback</a:t>
            </a:r>
            <a:endParaRPr lang="en-US" sz="1400" dirty="0"/>
          </a:p>
        </p:txBody>
      </p:sp>
      <p:sp>
        <p:nvSpPr>
          <p:cNvPr id="22" name="Text 18"/>
          <p:cNvSpPr/>
          <p:nvPr/>
        </p:nvSpPr>
        <p:spPr>
          <a:xfrm>
            <a:off x="507950" y="3603427"/>
            <a:ext cx="8127950" cy="496491"/>
          </a:xfrm>
          <a:prstGeom prst="roundRect">
            <a:avLst>
              <a:gd name="adj" fmla="val 20464"/>
            </a:avLst>
          </a:prstGeom>
          <a:solidFill>
            <a:srgbClr val="FFF1E5"/>
          </a:solidFill>
          <a:ln w="9525">
            <a:solidFill>
              <a:srgbClr val="FFC49B"/>
            </a:solidFill>
          </a:ln>
        </p:spPr>
        <p:txBody>
          <a:bodyPr wrap="square" rtlCol="0" anchor="ctr"/>
          <a:lstStyle/>
          <a:p>
            <a:pPr indent="0" marL="0">
              <a:buNone/>
            </a:pPr>
            <a:endParaRPr lang="en-US" dirty="0"/>
          </a:p>
        </p:txBody>
      </p:sp>
      <p:pic>
        <p:nvPicPr>
          <p:cNvPr id="23"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5176" y="3750022"/>
            <a:ext cx="203150" cy="203150"/>
          </a:xfrm>
          <a:prstGeom prst="rect">
            <a:avLst/>
          </a:prstGeom>
        </p:spPr>
      </p:pic>
      <p:sp>
        <p:nvSpPr>
          <p:cNvPr id="24" name="Text 19"/>
          <p:cNvSpPr/>
          <p:nvPr/>
        </p:nvSpPr>
        <p:spPr>
          <a:xfrm>
            <a:off x="1025277" y="3739902"/>
            <a:ext cx="5330166" cy="22354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No invented links. Blocked exercises say so. </a:t>
            </a:r>
            <a:pPr algn="l" indent="0" marL="0">
              <a:lnSpc>
                <a:spcPts val="1760"/>
              </a:lnSpc>
              <a:buNone/>
            </a:pPr>
            <a:r>
              <a:rPr lang="en-US" sz="1450" b="1" dirty="0">
                <a:solidFill>
                  <a:srgbClr val="1F2328"/>
                </a:solidFill>
                <a:latin typeface="Arial" pitchFamily="34" charset="0"/>
                <a:ea typeface="Arial" pitchFamily="34" charset="-122"/>
                <a:cs typeface="Arial" pitchFamily="34" charset="-120"/>
              </a:rPr>
              <a:t>Changes</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is empty.</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05</a:t>
            </a:r>
            <a:endParaRPr lang="en-US" sz="1150" dirty="0"/>
          </a:p>
        </p:txBody>
      </p:sp>
      <p:pic>
        <p:nvPicPr>
          <p:cNvPr id="5" name="Image 1" descr="Open this chapter on GitHub">
            <a:hlinkClick r:id="rId3" tooltip="https://github.com/github/copilot-app-for-beginners/tree/main/05-mcp-plugin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An MCP server supplies tools that connect to a service.</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 plugin packages capabilities. Installing it does not run it.</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General questions do not need your repository code.</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Check the tool activity and sources, not only the claims.</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5-mcp-plugins" history="1" highlightClick="0" endSnd="0">
                  <a:extLst>
                    <a:ext uri="{A12FA001-AC4F-418D-AE19-62706E023703}">
                      <ahyp:hlinkClr xmlns:ahyp="http://schemas.microsoft.com/office/drawing/2018/hyperlinkcolor" val="tx"/>
                    </a:ext>
                  </a:extLst>
                </a:hlinkClick>
              </a:rPr>
              <a:t>Open Chapter 05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06</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6-canvases" history="1" highlightClick="0" endSnd="0">
                  <a:extLst>
                    <a:ext uri="{A12FA001-AC4F-418D-AE19-62706E023703}">
                      <ahyp:hlinkClr xmlns:ahyp="http://schemas.microsoft.com/office/drawing/2018/hyperlinkcolor" val="tx"/>
                    </a:ext>
                  </a:extLst>
                </a:hlinkClick>
              </a:rPr>
              <a:t>Canvases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05: MCP Servers and Plugins</dc:title>
  <dc:subject>PptxGenJS Presentation</dc:subject>
  <dc:creator>GitHub Copilot app for Beginners</dc:creator>
  <cp:lastModifiedBy>GitHub Copilot app for Beginners</cp:lastModifiedBy>
  <cp:revision>1</cp:revision>
  <dcterms:created xsi:type="dcterms:W3CDTF">2026-10-06T21:18:37Z</dcterms:created>
  <dcterms:modified xsi:type="dcterms:W3CDTF">2026-10-06T21:18:37Z</dcterms:modified>
</cp:coreProperties>
</file>