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 session is doing real work, a long chat thread gets hard to scan. A canvas is a shared board in the side panel. You create one with slash create-canvas and a description, and both you and the agent can read and update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has 3 parts: Why a shared board, Try and create a canvas, Build a Feature Workbench.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why canvases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a band planning a song. They could argue their options in a long group chat, where decisions get buried, or use a shared arrangement board that keeps everything visible. A canvas is the app's arrangement board for human-agent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Canvases are bidirectional. The agent writes to the board, you write to the board, and the agent continues from your change. A custom canvas can include visible state, controls, agent-callable actions such as updating a checklist item, and artifacts such as plans and dashboards. The built-in surfaces you already use, Plan, Terminal, Browser, and Changes, still come first. Use chat for quick answers and short tasks. Use a canvas when the task has recurring steps and needs visible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try one someone else built, then create a small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Before the exercises, prepare a worktree session from main and record the baseline test and build totals. On the Repository Issues Kanban page of the Awesome Copilot website, select Open in Copilot app. Allow the Install plugin dialog, confirm the name accessibility-kanban@awesome-copilot, and select Install. Confirm it is listed under Installed in Customize, Plugins. Ask the session to restart canvas extensions. Open it from Add tab &gt; Canvas. Moving one issue card to Plan starts a background planning run; move one card at a time. If your organization blocks plugins, read this exercise and continue to Exercise 2.</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7</ns1:t>
            </ns1:fld>
            <ns1:endParaRPr lang="en-US"/>
          </ns1:p>
        </ns0:txBody>
      </ns0:sp>
    </ns0:spTree>
    <ns0:extLst>
      <ns0:ext uri="{BB962C8B-B14F-4D97-AF65-F5344CB8AC3E}">
        <ns2:creationId val="1024086991"/>
      </ns0:ext>
    </ns0:extLst>
  </ns0:cSld>
  <ns0:clrMapOvr>
    <ns1:masterClrMapping/>
  </ns0:clrMapOvr>
</ns0: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small board works like a shared checklist. Create it with slash create-canvas and the full prompt from the chapter. Confirm it has the proposal, checklist, and notes with Next decision and Blocker fields. Enter a proposal, mark Plan complete, and add a next decision. Ask the agent to summarize the board and check that its answer matches your changes. The canvas is user scoped, so Changes should show no repository edits. This board does not run tests or edit the app. The next exercise adds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the Feature Workbench manages the local inner loop for a new Book App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The prompt is written for the app, not for you to memorize. It asks for five stages, a proposal field with one Generate plan button, eight checklist items, action buttons, and a read-only evidence area. Use your most capable model for the first generation. Results differ between runs. Screenshots are optional, and unsupported browser checks are recorded as notes, not failures. An action ends when its evidence is recorded and returns the session to Interactive mode. If a part is missing, use one focused repair prompt. After two failed repairs, use the Markdown fallback.</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10</ns1:t>
            </ns1:fld>
            <ns1:endParaRPr lang="en-US"/>
          </ns1:p>
        </ns0:txBody>
      </ns0:sp>
    </ns0:spTree>
    <ns0:extLst>
      <ns0:ext uri="{BB962C8B-B14F-4D97-AF65-F5344CB8AC3E}">
        <ns2:creationId val="1024086991"/>
      </ns0:ext>
    </ns0:extLst>
  </ns0:cSld>
  <ns0:clrMapOvr>
    <ns1:masterClrMapping/>
  </ns0:clrMapOvr>
</ns0:notes>
</file>

<file path=ppt/notesSlides/notesSlide11.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Paste the Clear filters proposal and select Generate plan. The session switches to Plan mode and the status pill shows Working. Review the plan in the Plan tab. In the Review plan box at the bottom of the chat, choose Exit plan mode and I will prompt myself. If the box stays open, select Continue. Confirm the session is back in Interactive mode, then select the Feature Workbench tab; the canvas shows Approved. Select Run baseline. The canvas records the test total and build result. Expand the tool calls in chat and confirm the evidence matches their output.</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11</ns1:t>
            </ns1:fld>
            <ns1:endParaRPr lang="en-US"/>
          </ns1:p>
        </ns0:txBody>
      </ns0:sp>
    </ns0:spTree>
    <ns0:extLst>
      <ns0:ext uri="{BB962C8B-B14F-4D97-AF65-F5344CB8AC3E}">
        <ns2:creationId val="1024086991"/>
      </ns0:ext>
    </ns0:extLst>
  </ns0:cSld>
  <ns0:clrMapOvr>
    <ns1:masterClrMapping/>
  </ns0:clrMapOvr>
</ns0:notes>
</file>

<file path=ppt/notesSlides/notesSlide12.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Select Implement. When it finishes, the canvas marks Implement complete, checks off the implementation items, and adds a Diff row to the evidence. Select Changes and confirm the edits match the approved feature. Then select Browser validation. The agent checks the app in the Browser tab and records evidence. Unsupported checks become notes, not failures. The action ends when evidence is recorded and the session returns to Interactive mode. Do not wait for the dev server to stop before checking the result. Confirm that Clear filters is hidden by default, appears when a filter is active, resets all filters, and hides again.</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12</ns1:t>
            </ns1:fld>
            <ns1:endParaRPr lang="en-US"/>
          </ns1:p>
        </ns0:txBody>
      </ns0:sp>
    </ns0:spTree>
    <ns0:extLst>
      <ns0:ext uri="{BB962C8B-B14F-4D97-AF65-F5344CB8AC3E}">
        <ns2:creationId val="1024086991"/>
      </ns0:ext>
    </ns0:extLst>
  </ns0:cSld>
  <ns0:clrMapOvr>
    <ns1:masterClrMapping/>
  </ns0:clrMapOvr>
</ns0:notes>
</file>

<file path=ppt/notesSlides/notesSlide13.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Select Run final checks and compare with the baseline. Test counts can go up when implementation adds focused tests, but the final total must never be lower than the baseline. The image shows 14 final tests as one example; your total can differ. Confirm the baseline matches the original output, the diff is limited to the feature, browser checks were recorded, and final tests and build pass. Uncheck anything that lacks evidence.</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13</ns1:t>
            </ns1:fld>
            <ns1:endParaRPr lang="en-US"/>
          </ns1:p>
        </ns0:txBody>
      </ns0:sp>
    </ns0:spTree>
    <ns0:extLst>
      <ns0:ext uri="{BB962C8B-B14F-4D97-AF65-F5344CB8AC3E}">
        <ns2:creationId val="1024086991"/>
      </ns0:ext>
    </ns0:extLst>
  </ns0:cSld>
  <ns0:clrMapOvr>
    <ns1:masterClrMapping/>
  </ns0:clrMapOvr>
</ns0: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Extend the workbench with an Assess stage after Propose. Type slash, select create-canvas, and send a focused change request: keep the current canvas, add an Assess stage between Propose and Plan that compares the proposal with current behavior and records the result as evidence, and do not redesign parts that work. Pick a small improvement you have not shipped yet and run it through every stage with evidence from this session. Success means you can see evidence-backed progress and name the next decision without rereading the chat. If you have permission, the optional challenge adds the Chapter 03 outer loop: an issue, a linked pull request, and a Copilot review if it is available to you. Do not merge the pull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Canvases made session work visible. Next, Chapter 07 makes repeatable work reusable with automations, starting with a manual review readiness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5" Type="http://schemas.openxmlformats.org/officeDocument/2006/relationships/hyperlink" Target="https://github.com/github/copilot-app-for-beginners/tree/main/06-canvases" TargetMode="External"/><Relationship Id="rId1" Type="http://schemas.openxmlformats.org/officeDocument/2006/relationships/image" Target="../media/image-1-1.jpg"/><Relationship Id="rId2" Type="http://schemas.openxmlformats.org/officeDocument/2006/relationships/image" Target="../media/image-1-2.png"/><Relationship Id="rId4" Type="http://schemas.openxmlformats.org/officeDocument/2006/relationships/image" Target="../media/image-1-3.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1" Type="http://schemas.openxmlformats.org/officeDocument/2006/relationships/image" Target="../media/image-2-1.png"/><Relationship Id="rId2"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image" Target="../media/image-4-3.jp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1" Type="http://schemas.openxmlformats.org/officeDocument/2006/relationships/image" Target="../media/image-5-1.png"/><Relationship Id="rId2" Type="http://schemas.openxmlformats.org/officeDocument/2006/relationships/image" Target="../media/image-5-2.png"/><Relationship Id="rId4" Type="http://schemas.openxmlformats.org/officeDocument/2006/relationships/image" Target="../media/image-5-3.jp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1" Type="http://schemas.openxmlformats.org/officeDocument/2006/relationships/image" Target="../media/image-6-1.png"/><Relationship Id="rId2" Type="http://schemas.openxmlformats.org/officeDocument/2006/relationships/image" Target="../media/image-6-2.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jp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1" Type="http://schemas.openxmlformats.org/officeDocument/2006/relationships/image" Target="../media/image-9-1.png"/><Relationship Id="rId2" Type="http://schemas.openxmlformats.org/officeDocument/2006/relationships/image" Target="../media/image-9-2.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1" Type="http://schemas.openxmlformats.org/officeDocument/2006/relationships/image" Target="../media/image-10-1.png"/><Relationship Id="rId2"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image" Target="../media/image-10-5.png"/><Relationship Id="rId7" Type="http://schemas.openxmlformats.org/officeDocument/2006/relationships/image" Target="../media/image-10-6.png"/><Relationship Id="rId8" Type="http://schemas.openxmlformats.org/officeDocument/2006/relationships/image" Target="../media/image-10-7.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1" Type="http://schemas.openxmlformats.org/officeDocument/2006/relationships/image" Target="../media/image-11-1.png"/><Relationship Id="rId2"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1" Type="http://schemas.openxmlformats.org/officeDocument/2006/relationships/image" Target="../media/image-12-1.png"/><Relationship Id="rId2"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1" Type="http://schemas.openxmlformats.org/officeDocument/2006/relationships/image" Target="../media/image-13-1.png"/><Relationship Id="rId2"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1" Type="http://schemas.openxmlformats.org/officeDocument/2006/relationships/image" Target="../media/image-14-1.png"/><Relationship Id="rId2"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image" Target="../media/image-14-4.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Relationships xmlns="http://schemas.openxmlformats.org/package/2006/relationships"><Relationship Id="rId3" Type="http://schemas.openxmlformats.org/officeDocument/2006/relationships/hyperlink" Target="https://github.com/github/copilot-app-for-beginners/tree/main/06-canvases" TargetMode="External"/><Relationship Id="rId5" Type="http://schemas.openxmlformats.org/officeDocument/2006/relationships/hyperlink" Target="https://github.com/github/copilot-app-for-beginners/tree/main/06-canvases" TargetMode="External"/><Relationship Id="rId6" Type="http://schemas.openxmlformats.org/officeDocument/2006/relationships/hyperlink" Target="https://github.com/github/copilot-app-for-beginners/tree/main/07-automations" TargetMode="External"/><Relationship Id="rId1" Type="http://schemas.openxmlformats.org/officeDocument/2006/relationships/image" Target="../media/image-15-1.png"/><Relationship Id="rId2" Type="http://schemas.openxmlformats.org/officeDocument/2006/relationships/image" Target="../media/image-15-2.png"/><Relationship Id="rId4" Type="http://schemas.openxmlformats.org/officeDocument/2006/relationships/image" Target="../media/image-15-3.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9144000" cy="5143500"/>
          </a:xfrm>
          <a:prstGeom prst="rect">
            <a:avLst/>
          </a:prstGeom>
        </p:spPr>
      </p:pic>
      <p:pic>
        <p:nvPicPr>
          <p:cNvPr id="3" name="Image 1" descr="Open this chapter on GitHub">
            <a:hlinkClick r:id="rId3" tooltip="https://github.com/github/copilot-app-for-beginners/tree/main/06-canvases"/>
          </p:cNvPr>
          <p:cNvPicPr>
            <a:picLocks noChangeAspect="1"/>
          </p:cNvPicPr>
          <p:nvPr/>
        </p:nvPicPr>
        <p:blipFill>
          <a:blip r:embed="rId2"/>
          <a:stretch>
            <a:fillRect/>
          </a:stretch>
        </p:blipFill>
        <p:spPr>
          <a:xfrm>
            <a:off x="8635901" y="203150"/>
            <a:ext cx="304800" cy="304800"/>
          </a:xfrm>
          <a:prstGeom prst="rect">
            <a:avLst/>
          </a:prstGeom>
        </p:spPr>
      </p:pic>
      <p:sp>
        <p:nvSpPr>
          <p:cNvPr id="4" name="Text 0"/>
          <p:cNvSpPr/>
          <p:nvPr/>
        </p:nvSpPr>
        <p:spPr>
          <a:xfrm>
            <a:off x="1015901" y="1293912"/>
            <a:ext cx="6088279" cy="209550"/>
          </a:xfrm>
          <a:prstGeom prst="rect">
            <a:avLst/>
          </a:prstGeom>
          <a:noFill/>
          <a:ln/>
        </p:spPr>
        <p:txBody>
          <a:bodyPr wrap="square" lIns="0" tIns="0" rIns="0" bIns="0" rtlCol="0" anchor="t"/>
          <a:lstStyle/>
          <a:p>
            <a:pPr algn="l" indent="0" marL="0">
              <a:buNone/>
            </a:pPr>
            <a:r>
              <a:rPr lang="en-US" sz="1450" b="1" dirty="0">
                <a:solidFill>
                  <a:srgbClr val="1A7F37"/>
                </a:solidFill>
                <a:latin typeface="Arial" pitchFamily="34" charset="0"/>
                <a:ea typeface="Arial" pitchFamily="34" charset="-122"/>
                <a:cs typeface="Arial" pitchFamily="34" charset="-120"/>
              </a:rPr>
              <a:t>CHAPTER 06</a:t>
            </a:r>
            <a:endParaRPr lang="en-US" sz="1450" dirty="0"/>
          </a:p>
        </p:txBody>
      </p:sp>
      <p:sp>
        <p:nvSpPr>
          <p:cNvPr id="5" name="Text 1"/>
          <p:cNvSpPr/>
          <p:nvPr/>
        </p:nvSpPr>
        <p:spPr>
          <a:xfrm>
            <a:off x="1015901" y="1604963"/>
            <a:ext cx="6088279" cy="609600"/>
          </a:xfrm>
          <a:prstGeom prst="rect">
            <a:avLst/>
          </a:prstGeom>
          <a:noFill/>
          <a:ln/>
        </p:spPr>
        <p:txBody>
          <a:bodyPr wrap="square" lIns="0" tIns="0" rIns="0" bIns="0" rtlCol="0" anchor="t"/>
          <a:lstStyle/>
          <a:p>
            <a:pPr algn="l" indent="0" marL="0">
              <a:lnSpc>
                <a:spcPts val="4800"/>
              </a:lnSpc>
              <a:spcBef>
                <a:spcPts val="800"/>
              </a:spcBef>
              <a:buNone/>
            </a:pPr>
            <a:r>
              <a:rPr lang="en-US" sz="4200" b="1" dirty="0">
                <a:solidFill>
                  <a:srgbClr val="1F2328"/>
                </a:solidFill>
                <a:latin typeface="Arial" pitchFamily="34" charset="0"/>
                <a:ea typeface="Arial" pitchFamily="34" charset="-122"/>
                <a:cs typeface="Arial" pitchFamily="34" charset="-120"/>
              </a:rPr>
              <a:t>Canvases</a:t>
            </a:r>
            <a:endParaRPr lang="en-US" sz="4200" dirty="0"/>
          </a:p>
        </p:txBody>
      </p:sp>
      <p:sp>
        <p:nvSpPr>
          <p:cNvPr id="6" name="Text 2"/>
          <p:cNvSpPr/>
          <p:nvPr/>
        </p:nvSpPr>
        <p:spPr>
          <a:xfrm>
            <a:off x="1015901" y="2443163"/>
            <a:ext cx="609600" cy="63401"/>
          </a:xfrm>
          <a:prstGeom prst="roundRect">
            <a:avLst>
              <a:gd name="adj" fmla="val 40063"/>
            </a:avLst>
          </a:prstGeom>
          <a:solidFill>
            <a:srgbClr val="1A7F37"/>
          </a:solidFill>
          <a:ln/>
        </p:spPr>
        <p:txBody>
          <a:bodyPr wrap="square" rtlCol="0" anchor="ctr"/>
          <a:lstStyle/>
          <a:p>
            <a:pPr indent="0" marL="0">
              <a:buNone/>
            </a:pPr>
            <a:endParaRPr lang="en-US" dirty="0"/>
          </a:p>
        </p:txBody>
      </p:sp>
      <p:sp>
        <p:nvSpPr>
          <p:cNvPr id="7" name="Text 3"/>
          <p:cNvSpPr/>
          <p:nvPr/>
        </p:nvSpPr>
        <p:spPr>
          <a:xfrm>
            <a:off x="1015901" y="2735163"/>
            <a:ext cx="6088279" cy="660499"/>
          </a:xfrm>
          <a:prstGeom prst="rect">
            <a:avLst/>
          </a:prstGeom>
          <a:noFill/>
          <a:ln/>
        </p:spPr>
        <p:txBody>
          <a:bodyPr wrap="square" lIns="0" tIns="0" rIns="0" bIns="0" rtlCol="0" anchor="t"/>
          <a:lstStyle/>
          <a:p>
            <a:pPr algn="l" indent="0" marL="0">
              <a:lnSpc>
                <a:spcPts val="2600"/>
              </a:lnSpc>
              <a:buNone/>
            </a:pPr>
            <a:r>
              <a:rPr lang="en-US" sz="2050" dirty="0">
                <a:solidFill>
                  <a:srgbClr val="59636E"/>
                </a:solidFill>
                <a:latin typeface="Arial" pitchFamily="34" charset="0"/>
                <a:ea typeface="Arial" pitchFamily="34" charset="-122"/>
                <a:cs typeface="Arial" pitchFamily="34" charset="-120"/>
              </a:rPr>
              <a:t>What if you and the agent shared a real-time progress board instead of a buried chat thread?</a:t>
            </a:r>
            <a:endParaRPr lang="en-US" sz="2050" dirty="0"/>
          </a:p>
        </p:txBody>
      </p:sp>
      <p:pic>
        <p:nvPicPr>
          <p:cNvPr id="8"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15901" y="3660725"/>
            <a:ext cx="177701" cy="177701"/>
          </a:xfrm>
          <a:prstGeom prst="rect">
            <a:avLst/>
          </a:prstGeom>
        </p:spPr>
      </p:pic>
      <p:sp>
        <p:nvSpPr>
          <p:cNvPr id="9" name="Text 4"/>
          <p:cNvSpPr/>
          <p:nvPr/>
        </p:nvSpPr>
        <p:spPr>
          <a:xfrm>
            <a:off x="1282452" y="3649563"/>
            <a:ext cx="3373252" cy="200025"/>
          </a:xfrm>
          <a:prstGeom prst="rect">
            <a:avLst/>
          </a:prstGeom>
          <a:noFill/>
          <a:ln/>
        </p:spPr>
        <p:txBody>
          <a:bodyPr wrap="square" lIns="0" tIns="0" rIns="0" bIns="0" rtlCol="0" anchor="t"/>
          <a:lstStyle/>
          <a:p>
            <a:pPr algn="l" indent="0" marL="0">
              <a:buNone/>
            </a:pPr>
            <a:r>
              <a:rPr lang="en-US" sz="1350"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6-canvases" history="1" highlightClick="0" endSnd="0">
                  <a:extLst>
                    <a:ext uri="{A12FA001-AC4F-418D-AE19-62706E023703}">
                      <ahyp:hlinkClr xmlns:ahyp="http://schemas.microsoft.com/office/drawing/2018/hyperlinkcolor" val="tx"/>
                    </a:ext>
                  </a:extLst>
                </a:hlinkClick>
              </a:rPr>
              <a:t>github.com/github/copilot-app-for-beginners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06</a:t>
            </a:r>
            <a:endParaRPr lang="en-US" sz="1150" dirty="0"/>
          </a:p>
        </p:txBody>
      </p:sp>
      <p:pic>
        <p:nvPicPr>
          <p:cNvPr id="5" name="Image 1" descr="Open this chapter on GitHub">
            <a:hlinkClick r:id="rId3" tooltip="https://github.com/github/copilot-app-for-beginners/tree/main/06-canvase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CHAPTER 06</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In this chapter</a:t>
            </a:r>
            <a:endParaRPr lang="en-US" sz="2800" dirty="0"/>
          </a:p>
        </p:txBody>
      </p:sp>
      <p:sp>
        <p:nvSpPr>
          <p:cNvPr id="8" name="Text 4"/>
          <p:cNvSpPr/>
          <p:nvPr/>
        </p:nvSpPr>
        <p:spPr>
          <a:xfrm>
            <a:off x="507950" y="1495425"/>
            <a:ext cx="8127950" cy="857250"/>
          </a:xfrm>
          <a:prstGeom prst="roundRect">
            <a:avLst>
              <a:gd name="adj" fmla="val 11852"/>
            </a:avLst>
          </a:prstGeom>
          <a:solidFill>
            <a:srgbClr val="F1F8FF"/>
          </a:solidFill>
          <a:ln/>
        </p:spPr>
        <p:txBody>
          <a:bodyPr wrap="square" rtlCol="0" anchor="ctr"/>
          <a:lstStyle/>
          <a:p>
            <a:pPr indent="0" marL="0">
              <a:buNone/>
            </a:pPr>
            <a:endParaRPr lang="en-US" dirty="0"/>
          </a:p>
        </p:txBody>
      </p:sp>
      <p:sp>
        <p:nvSpPr>
          <p:cNvPr id="9" name="Shape 5"/>
          <p:cNvSpPr/>
          <p:nvPr/>
        </p:nvSpPr>
        <p:spPr>
          <a:xfrm>
            <a:off x="507950" y="1500188"/>
            <a:ext cx="8127950" cy="0"/>
          </a:xfrm>
          <a:prstGeom prst="line">
            <a:avLst/>
          </a:prstGeom>
          <a:noFill/>
          <a:ln w="9525">
            <a:solidFill>
              <a:srgbClr val="9CD7FF"/>
            </a:solidFill>
            <a:prstDash val="solid"/>
          </a:ln>
        </p:spPr>
      </p:sp>
      <p:sp>
        <p:nvSpPr>
          <p:cNvPr id="10" name="Shape 6"/>
          <p:cNvSpPr/>
          <p:nvPr/>
        </p:nvSpPr>
        <p:spPr>
          <a:xfrm>
            <a:off x="8631138" y="1495425"/>
            <a:ext cx="0" cy="857250"/>
          </a:xfrm>
          <a:prstGeom prst="line">
            <a:avLst/>
          </a:prstGeom>
          <a:noFill/>
          <a:ln w="9525">
            <a:solidFill>
              <a:srgbClr val="9CD7FF"/>
            </a:solidFill>
            <a:prstDash val="solid"/>
          </a:ln>
        </p:spPr>
      </p:sp>
      <p:sp>
        <p:nvSpPr>
          <p:cNvPr id="11" name="Shape 7"/>
          <p:cNvSpPr/>
          <p:nvPr/>
        </p:nvSpPr>
        <p:spPr>
          <a:xfrm>
            <a:off x="507950" y="2347913"/>
            <a:ext cx="8127950" cy="0"/>
          </a:xfrm>
          <a:prstGeom prst="line">
            <a:avLst/>
          </a:prstGeom>
          <a:noFill/>
          <a:ln w="9525">
            <a:solidFill>
              <a:srgbClr val="9CD7FF"/>
            </a:solidFill>
            <a:prstDash val="solid"/>
          </a:ln>
        </p:spPr>
      </p:sp>
      <p:sp>
        <p:nvSpPr>
          <p:cNvPr id="12" name="Shape 8"/>
          <p:cNvSpPr/>
          <p:nvPr/>
        </p:nvSpPr>
        <p:spPr>
          <a:xfrm>
            <a:off x="546050" y="1495425"/>
            <a:ext cx="0" cy="857250"/>
          </a:xfrm>
          <a:prstGeom prst="line">
            <a:avLst/>
          </a:prstGeom>
          <a:noFill/>
          <a:ln w="76200">
            <a:solidFill>
              <a:srgbClr val="0969DA"/>
            </a:solidFill>
            <a:prstDash val="solid"/>
          </a:ln>
        </p:spPr>
      </p:sp>
      <p:sp>
        <p:nvSpPr>
          <p:cNvPr id="13" name="Text 9"/>
          <p:cNvSpPr/>
          <p:nvPr/>
        </p:nvSpPr>
        <p:spPr>
          <a:xfrm>
            <a:off x="812750" y="1709738"/>
            <a:ext cx="595833" cy="428625"/>
          </a:xfrm>
          <a:prstGeom prst="rect">
            <a:avLst/>
          </a:prstGeom>
          <a:noFill/>
          <a:ln/>
        </p:spPr>
        <p:txBody>
          <a:bodyPr wrap="square" lIns="0" tIns="0" rIns="0" bIns="0" rtlCol="0" anchor="t"/>
          <a:lstStyle/>
          <a:p>
            <a:pPr algn="l" indent="0" marL="0">
              <a:buNone/>
            </a:pPr>
            <a:r>
              <a:rPr lang="en-US" sz="3000" b="1" dirty="0">
                <a:solidFill>
                  <a:srgbClr val="0969DA"/>
                </a:solidFill>
                <a:latin typeface="Arial" pitchFamily="34" charset="0"/>
                <a:ea typeface="Arial" pitchFamily="34" charset="-122"/>
                <a:cs typeface="Arial" pitchFamily="34" charset="-120"/>
              </a:rPr>
              <a:t>01</a:t>
            </a:r>
            <a:endParaRPr lang="en-US" sz="3000" dirty="0"/>
          </a:p>
        </p:txBody>
      </p:sp>
      <p:sp>
        <p:nvSpPr>
          <p:cNvPr id="14" name="Text 10"/>
          <p:cNvSpPr/>
          <p:nvPr/>
        </p:nvSpPr>
        <p:spPr>
          <a:xfrm>
            <a:off x="1625501" y="1657350"/>
            <a:ext cx="5981712"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Why a shared board</a:t>
            </a:r>
            <a:endParaRPr lang="en-US" sz="1800" dirty="0"/>
          </a:p>
        </p:txBody>
      </p:sp>
      <p:sp>
        <p:nvSpPr>
          <p:cNvPr id="15" name="Text 11"/>
          <p:cNvSpPr/>
          <p:nvPr/>
        </p:nvSpPr>
        <p:spPr>
          <a:xfrm>
            <a:off x="1625501" y="1974800"/>
            <a:ext cx="5981712"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Chat is great for talking. Real work needs state you can see at a glance.</a:t>
            </a:r>
            <a:endParaRPr lang="en-US" sz="1450" dirty="0"/>
          </a:p>
        </p:txBody>
      </p:sp>
      <p:sp>
        <p:nvSpPr>
          <p:cNvPr id="16" name="Text 12"/>
          <p:cNvSpPr/>
          <p:nvPr/>
        </p:nvSpPr>
        <p:spPr>
          <a:xfrm>
            <a:off x="507950" y="2505075"/>
            <a:ext cx="8127950" cy="857250"/>
          </a:xfrm>
          <a:prstGeom prst="roundRect">
            <a:avLst>
              <a:gd name="adj" fmla="val 11852"/>
            </a:avLst>
          </a:prstGeom>
          <a:solidFill>
            <a:srgbClr val="F8F3FF"/>
          </a:solidFill>
          <a:ln/>
        </p:spPr>
        <p:txBody>
          <a:bodyPr wrap="square" rtlCol="0" anchor="ctr"/>
          <a:lstStyle/>
          <a:p>
            <a:pPr indent="0" marL="0">
              <a:buNone/>
            </a:pPr>
            <a:endParaRPr lang="en-US" dirty="0"/>
          </a:p>
        </p:txBody>
      </p:sp>
      <p:sp>
        <p:nvSpPr>
          <p:cNvPr id="17" name="Shape 13"/>
          <p:cNvSpPr/>
          <p:nvPr/>
        </p:nvSpPr>
        <p:spPr>
          <a:xfrm>
            <a:off x="507950" y="2509838"/>
            <a:ext cx="8127950" cy="0"/>
          </a:xfrm>
          <a:prstGeom prst="line">
            <a:avLst/>
          </a:prstGeom>
          <a:noFill/>
          <a:ln w="9525">
            <a:solidFill>
              <a:srgbClr val="E0C5FF"/>
            </a:solidFill>
            <a:prstDash val="solid"/>
          </a:ln>
        </p:spPr>
      </p:sp>
      <p:sp>
        <p:nvSpPr>
          <p:cNvPr id="18" name="Shape 14"/>
          <p:cNvSpPr/>
          <p:nvPr/>
        </p:nvSpPr>
        <p:spPr>
          <a:xfrm>
            <a:off x="8631138" y="2505075"/>
            <a:ext cx="0" cy="857250"/>
          </a:xfrm>
          <a:prstGeom prst="line">
            <a:avLst/>
          </a:prstGeom>
          <a:noFill/>
          <a:ln w="9525">
            <a:solidFill>
              <a:srgbClr val="E0C5FF"/>
            </a:solidFill>
            <a:prstDash val="solid"/>
          </a:ln>
        </p:spPr>
      </p:sp>
      <p:sp>
        <p:nvSpPr>
          <p:cNvPr id="19" name="Shape 15"/>
          <p:cNvSpPr/>
          <p:nvPr/>
        </p:nvSpPr>
        <p:spPr>
          <a:xfrm>
            <a:off x="507950" y="3357563"/>
            <a:ext cx="8127950" cy="0"/>
          </a:xfrm>
          <a:prstGeom prst="line">
            <a:avLst/>
          </a:prstGeom>
          <a:noFill/>
          <a:ln w="9525">
            <a:solidFill>
              <a:srgbClr val="E0C5FF"/>
            </a:solidFill>
            <a:prstDash val="solid"/>
          </a:ln>
        </p:spPr>
      </p:sp>
      <p:sp>
        <p:nvSpPr>
          <p:cNvPr id="20" name="Shape 16"/>
          <p:cNvSpPr/>
          <p:nvPr/>
        </p:nvSpPr>
        <p:spPr>
          <a:xfrm>
            <a:off x="546050" y="2505075"/>
            <a:ext cx="0" cy="857250"/>
          </a:xfrm>
          <a:prstGeom prst="line">
            <a:avLst/>
          </a:prstGeom>
          <a:noFill/>
          <a:ln w="76200">
            <a:solidFill>
              <a:srgbClr val="8250DF"/>
            </a:solidFill>
            <a:prstDash val="solid"/>
          </a:ln>
        </p:spPr>
      </p:sp>
      <p:sp>
        <p:nvSpPr>
          <p:cNvPr id="21" name="Text 17"/>
          <p:cNvSpPr/>
          <p:nvPr/>
        </p:nvSpPr>
        <p:spPr>
          <a:xfrm>
            <a:off x="812750" y="2719388"/>
            <a:ext cx="595833" cy="428625"/>
          </a:xfrm>
          <a:prstGeom prst="rect">
            <a:avLst/>
          </a:prstGeom>
          <a:noFill/>
          <a:ln/>
        </p:spPr>
        <p:txBody>
          <a:bodyPr wrap="square" lIns="0" tIns="0" rIns="0" bIns="0" rtlCol="0" anchor="t"/>
          <a:lstStyle/>
          <a:p>
            <a:pPr algn="l" indent="0" marL="0">
              <a:buNone/>
            </a:pPr>
            <a:r>
              <a:rPr lang="en-US" sz="3000" b="1" dirty="0">
                <a:solidFill>
                  <a:srgbClr val="8250DF"/>
                </a:solidFill>
                <a:latin typeface="Arial" pitchFamily="34" charset="0"/>
                <a:ea typeface="Arial" pitchFamily="34" charset="-122"/>
                <a:cs typeface="Arial" pitchFamily="34" charset="-120"/>
              </a:rPr>
              <a:t>02</a:t>
            </a:r>
            <a:endParaRPr lang="en-US" sz="3000" dirty="0"/>
          </a:p>
        </p:txBody>
      </p:sp>
      <p:sp>
        <p:nvSpPr>
          <p:cNvPr id="22" name="Text 18"/>
          <p:cNvSpPr/>
          <p:nvPr/>
        </p:nvSpPr>
        <p:spPr>
          <a:xfrm>
            <a:off x="1625501" y="2667000"/>
            <a:ext cx="5306181"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Try and create a canvas</a:t>
            </a:r>
            <a:endParaRPr lang="en-US" sz="1800" dirty="0"/>
          </a:p>
        </p:txBody>
      </p:sp>
      <p:sp>
        <p:nvSpPr>
          <p:cNvPr id="23" name="Text 19"/>
          <p:cNvSpPr/>
          <p:nvPr/>
        </p:nvSpPr>
        <p:spPr>
          <a:xfrm>
            <a:off x="1625501" y="2984450"/>
            <a:ext cx="5306181"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Try a community canvas, then build a simple board of your own.</a:t>
            </a:r>
            <a:endParaRPr lang="en-US" sz="1450" dirty="0"/>
          </a:p>
        </p:txBody>
      </p:sp>
      <p:sp>
        <p:nvSpPr>
          <p:cNvPr id="24" name="Text 20"/>
          <p:cNvSpPr/>
          <p:nvPr/>
        </p:nvSpPr>
        <p:spPr>
          <a:xfrm>
            <a:off x="507950" y="3514725"/>
            <a:ext cx="8127950" cy="857250"/>
          </a:xfrm>
          <a:prstGeom prst="roundRect">
            <a:avLst>
              <a:gd name="adj" fmla="val 11852"/>
            </a:avLst>
          </a:prstGeom>
          <a:solidFill>
            <a:srgbClr val="F0FBF3"/>
          </a:solidFill>
          <a:ln/>
        </p:spPr>
        <p:txBody>
          <a:bodyPr wrap="square" rtlCol="0" anchor="ctr"/>
          <a:lstStyle/>
          <a:p>
            <a:pPr indent="0" marL="0">
              <a:buNone/>
            </a:pPr>
            <a:endParaRPr lang="en-US" dirty="0"/>
          </a:p>
        </p:txBody>
      </p:sp>
      <p:sp>
        <p:nvSpPr>
          <p:cNvPr id="25" name="Shape 21"/>
          <p:cNvSpPr/>
          <p:nvPr/>
        </p:nvSpPr>
        <p:spPr>
          <a:xfrm>
            <a:off x="507950" y="3519488"/>
            <a:ext cx="8127950" cy="0"/>
          </a:xfrm>
          <a:prstGeom prst="line">
            <a:avLst/>
          </a:prstGeom>
          <a:noFill/>
          <a:ln w="9525">
            <a:solidFill>
              <a:srgbClr val="8CE7A5"/>
            </a:solidFill>
            <a:prstDash val="solid"/>
          </a:ln>
        </p:spPr>
      </p:sp>
      <p:sp>
        <p:nvSpPr>
          <p:cNvPr id="26" name="Shape 22"/>
          <p:cNvSpPr/>
          <p:nvPr/>
        </p:nvSpPr>
        <p:spPr>
          <a:xfrm>
            <a:off x="8631138" y="3514725"/>
            <a:ext cx="0" cy="857250"/>
          </a:xfrm>
          <a:prstGeom prst="line">
            <a:avLst/>
          </a:prstGeom>
          <a:noFill/>
          <a:ln w="9525">
            <a:solidFill>
              <a:srgbClr val="8CE7A5"/>
            </a:solidFill>
            <a:prstDash val="solid"/>
          </a:ln>
        </p:spPr>
      </p:sp>
      <p:sp>
        <p:nvSpPr>
          <p:cNvPr id="27" name="Shape 23"/>
          <p:cNvSpPr/>
          <p:nvPr/>
        </p:nvSpPr>
        <p:spPr>
          <a:xfrm>
            <a:off x="507950" y="4367213"/>
            <a:ext cx="8127950" cy="0"/>
          </a:xfrm>
          <a:prstGeom prst="line">
            <a:avLst/>
          </a:prstGeom>
          <a:noFill/>
          <a:ln w="9525">
            <a:solidFill>
              <a:srgbClr val="8CE7A5"/>
            </a:solidFill>
            <a:prstDash val="solid"/>
          </a:ln>
        </p:spPr>
      </p:sp>
      <p:sp>
        <p:nvSpPr>
          <p:cNvPr id="28" name="Shape 24"/>
          <p:cNvSpPr/>
          <p:nvPr/>
        </p:nvSpPr>
        <p:spPr>
          <a:xfrm>
            <a:off x="546050" y="3514725"/>
            <a:ext cx="0" cy="857250"/>
          </a:xfrm>
          <a:prstGeom prst="line">
            <a:avLst/>
          </a:prstGeom>
          <a:noFill/>
          <a:ln w="76200">
            <a:solidFill>
              <a:srgbClr val="1A7F37"/>
            </a:solidFill>
            <a:prstDash val="solid"/>
          </a:ln>
        </p:spPr>
      </p:sp>
      <p:sp>
        <p:nvSpPr>
          <p:cNvPr id="29" name="Text 25"/>
          <p:cNvSpPr/>
          <p:nvPr/>
        </p:nvSpPr>
        <p:spPr>
          <a:xfrm>
            <a:off x="812750" y="3729038"/>
            <a:ext cx="595833" cy="428625"/>
          </a:xfrm>
          <a:prstGeom prst="rect">
            <a:avLst/>
          </a:prstGeom>
          <a:noFill/>
          <a:ln/>
        </p:spPr>
        <p:txBody>
          <a:bodyPr wrap="square" lIns="0" tIns="0" rIns="0" bIns="0" rtlCol="0" anchor="t"/>
          <a:lstStyle/>
          <a:p>
            <a:pPr algn="l" indent="0" marL="0">
              <a:buNone/>
            </a:pPr>
            <a:r>
              <a:rPr lang="en-US" sz="3000" b="1" dirty="0">
                <a:solidFill>
                  <a:srgbClr val="1A7F37"/>
                </a:solidFill>
                <a:latin typeface="Arial" pitchFamily="34" charset="0"/>
                <a:ea typeface="Arial" pitchFamily="34" charset="-122"/>
                <a:cs typeface="Arial" pitchFamily="34" charset="-120"/>
              </a:rPr>
              <a:t>03</a:t>
            </a:r>
            <a:endParaRPr lang="en-US" sz="3000" dirty="0"/>
          </a:p>
        </p:txBody>
      </p:sp>
      <p:sp>
        <p:nvSpPr>
          <p:cNvPr id="30" name="Text 26"/>
          <p:cNvSpPr/>
          <p:nvPr/>
        </p:nvSpPr>
        <p:spPr>
          <a:xfrm>
            <a:off x="1625501" y="3676650"/>
            <a:ext cx="6483730"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Build a Feature Workbench</a:t>
            </a:r>
            <a:endParaRPr lang="en-US" sz="1800" dirty="0"/>
          </a:p>
        </p:txBody>
      </p:sp>
      <p:sp>
        <p:nvSpPr>
          <p:cNvPr id="31" name="Text 27"/>
          <p:cNvSpPr/>
          <p:nvPr/>
        </p:nvSpPr>
        <p:spPr>
          <a:xfrm>
            <a:off x="1625501" y="3994100"/>
            <a:ext cx="6483730"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Add buttons that run real work, and keep the plan and evidence on one board.</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1F8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0969DA"/>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9CD7FF"/>
                </a:solidFill>
                <a:latin typeface="Arial" pitchFamily="34" charset="0"/>
                <a:ea typeface="Arial" pitchFamily="34" charset="-122"/>
                <a:cs typeface="Arial" pitchFamily="34" charset="-120"/>
              </a:rPr>
              <a:t>01</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06</a:t>
            </a:r>
            <a:endParaRPr lang="en-US" sz="1150" dirty="0"/>
          </a:p>
        </p:txBody>
      </p:sp>
      <p:pic>
        <p:nvPicPr>
          <p:cNvPr id="8" name="Image 1" descr="Open this chapter on GitHub">
            <a:hlinkClick r:id="rId3" tooltip="https://github.com/github/copilot-app-for-beginners/tree/main/06-canvases"/>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937534"/>
            <a:ext cx="5570169" cy="209550"/>
          </a:xfrm>
          <a:prstGeom prst="rect">
            <a:avLst/>
          </a:prstGeom>
          <a:noFill/>
          <a:ln/>
        </p:spPr>
        <p:txBody>
          <a:bodyPr wrap="square" lIns="0" tIns="0" rIns="0" bIns="0" rtlCol="0" anchor="t"/>
          <a:lstStyle/>
          <a:p>
            <a:pPr algn="l" indent="0" marL="0">
              <a:buNone/>
            </a:pPr>
            <a:r>
              <a:rPr lang="en-US" sz="1450" b="1" dirty="0">
                <a:solidFill>
                  <a:srgbClr val="0969DA"/>
                </a:solidFill>
                <a:latin typeface="Arial" pitchFamily="34" charset="0"/>
                <a:ea typeface="Arial" pitchFamily="34" charset="-122"/>
                <a:cs typeface="Arial" pitchFamily="34" charset="-120"/>
              </a:rPr>
              <a:t>SECTION 1 OF 3</a:t>
            </a:r>
            <a:endParaRPr lang="en-US" sz="1450" dirty="0"/>
          </a:p>
        </p:txBody>
      </p:sp>
      <p:sp>
        <p:nvSpPr>
          <p:cNvPr id="10" name="Text 6"/>
          <p:cNvSpPr/>
          <p:nvPr/>
        </p:nvSpPr>
        <p:spPr>
          <a:xfrm>
            <a:off x="711101" y="2248585"/>
            <a:ext cx="5570169" cy="584150"/>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Why a shared board</a:t>
            </a:r>
            <a:endParaRPr lang="en-US" sz="4000" dirty="0"/>
          </a:p>
        </p:txBody>
      </p:sp>
      <p:sp>
        <p:nvSpPr>
          <p:cNvPr id="11" name="Text 7"/>
          <p:cNvSpPr/>
          <p:nvPr/>
        </p:nvSpPr>
        <p:spPr>
          <a:xfrm>
            <a:off x="711101" y="3035885"/>
            <a:ext cx="609600" cy="63401"/>
          </a:xfrm>
          <a:prstGeom prst="roundRect">
            <a:avLst>
              <a:gd name="adj" fmla="val 40063"/>
            </a:avLst>
          </a:prstGeom>
          <a:solidFill>
            <a:srgbClr val="0969DA"/>
          </a:solidFill>
          <a:ln/>
        </p:spPr>
        <p:txBody>
          <a:bodyPr wrap="square" rtlCol="0" anchor="ctr"/>
          <a:lstStyle/>
          <a:p>
            <a:pPr indent="0" marL="0">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06</a:t>
            </a:r>
            <a:endParaRPr lang="en-US" sz="1150" dirty="0"/>
          </a:p>
        </p:txBody>
      </p:sp>
      <p:pic>
        <p:nvPicPr>
          <p:cNvPr id="5" name="Image 1" descr="Open this chapter on GitHub">
            <a:hlinkClick r:id="rId3" tooltip="https://github.com/github/copilot-app-for-beginners/tree/main/06-canvase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9A6700"/>
                </a:solidFill>
                <a:latin typeface="Arial" pitchFamily="34" charset="0"/>
                <a:ea typeface="Arial" pitchFamily="34" charset="-122"/>
                <a:cs typeface="Arial" pitchFamily="34" charset="-120"/>
              </a:rPr>
              <a:t>FROM THE STUDIO</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The band's arrangement board</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Decisions get buried in a group chat. A board keeps them visible.</a:t>
            </a:r>
            <a:endParaRPr lang="en-US" sz="1650" dirty="0"/>
          </a:p>
        </p:txBody>
      </p:sp>
      <p:sp>
        <p:nvSpPr>
          <p:cNvPr id="9" name="Text 5"/>
          <p:cNvSpPr/>
          <p:nvPr/>
        </p:nvSpPr>
        <p:spPr>
          <a:xfrm>
            <a:off x="511076" y="1700361"/>
            <a:ext cx="4184600" cy="2821930"/>
          </a:xfrm>
          <a:prstGeom prst="roundRect">
            <a:avLst>
              <a:gd name="adj" fmla="val 2700"/>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Arrangement board analogy for canvases"/>
          <p:cNvPicPr>
            <a:picLocks noChangeAspect="1"/>
          </p:cNvPicPr>
          <p:nvPr/>
        </p:nvPicPr>
        <p:blipFill>
          <a:blip r:embed="rId4"/>
          <a:stretch>
            <a:fillRect/>
          </a:stretch>
        </p:blipFill>
        <p:spPr>
          <a:xfrm>
            <a:off x="558701" y="1747986"/>
            <a:ext cx="4089350" cy="2726680"/>
          </a:xfrm>
          <a:prstGeom prst="rect">
            <a:avLst/>
          </a:prstGeom>
        </p:spPr>
      </p:pic>
      <p:sp>
        <p:nvSpPr>
          <p:cNvPr id="11" name="Text 6"/>
          <p:cNvSpPr/>
          <p:nvPr/>
        </p:nvSpPr>
        <p:spPr>
          <a:xfrm>
            <a:off x="5003750" y="1882378"/>
            <a:ext cx="3555950" cy="2458045"/>
          </a:xfrm>
          <a:prstGeom prst="roundRect">
            <a:avLst>
              <a:gd name="adj" fmla="val 4133"/>
            </a:avLst>
          </a:prstGeom>
          <a:solidFill>
            <a:srgbClr val="FFFFFF"/>
          </a:solidFill>
          <a:ln w="9525">
            <a:solidFill>
              <a:srgbClr val="D1D9E0"/>
            </a:solidFill>
          </a:ln>
        </p:spPr>
        <p:txBody>
          <a:bodyPr wrap="square" rtlCol="0" anchor="ctr"/>
          <a:lstStyle/>
          <a:p>
            <a:pPr indent="0" marL="0">
              <a:buNone/>
            </a:pPr>
            <a:endParaRPr lang="en-US" dirty="0"/>
          </a:p>
        </p:txBody>
      </p:sp>
      <p:sp>
        <p:nvSpPr>
          <p:cNvPr id="12" name="Text 7"/>
          <p:cNvSpPr/>
          <p:nvPr/>
        </p:nvSpPr>
        <p:spPr>
          <a:xfrm>
            <a:off x="5013275" y="1891903"/>
            <a:ext cx="3536900" cy="492026"/>
          </a:xfrm>
          <a:prstGeom prst="rect">
            <a:avLst/>
          </a:prstGeom>
          <a:solidFill>
            <a:srgbClr val="DDF4FF"/>
          </a:solidFill>
          <a:ln/>
        </p:spPr>
        <p:txBody>
          <a:bodyPr wrap="square" rtlCol="0" anchor="ctr"/>
          <a:lstStyle/>
          <a:p>
            <a:pPr indent="0" marL="0">
              <a:buNone/>
            </a:pPr>
            <a:endParaRPr lang="en-US" dirty="0"/>
          </a:p>
        </p:txBody>
      </p:sp>
      <p:sp>
        <p:nvSpPr>
          <p:cNvPr id="13" name="Shape 8"/>
          <p:cNvSpPr/>
          <p:nvPr/>
        </p:nvSpPr>
        <p:spPr>
          <a:xfrm>
            <a:off x="5013275" y="2379166"/>
            <a:ext cx="3536900" cy="0"/>
          </a:xfrm>
          <a:prstGeom prst="line">
            <a:avLst/>
          </a:prstGeom>
          <a:noFill/>
          <a:ln w="9525">
            <a:solidFill>
              <a:srgbClr val="9CD7FF"/>
            </a:solidFill>
            <a:prstDash val="solid"/>
          </a:ln>
        </p:spPr>
      </p:sp>
      <p:sp>
        <p:nvSpPr>
          <p:cNvPr id="14" name="Text 9"/>
          <p:cNvSpPr/>
          <p:nvPr/>
        </p:nvSpPr>
        <p:spPr>
          <a:xfrm>
            <a:off x="5165675" y="1968103"/>
            <a:ext cx="1373073"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GROUP CHAT</a:t>
            </a:r>
            <a:endParaRPr lang="en-US" sz="1150" dirty="0"/>
          </a:p>
        </p:txBody>
      </p:sp>
      <p:sp>
        <p:nvSpPr>
          <p:cNvPr id="15" name="Text 10"/>
          <p:cNvSpPr/>
          <p:nvPr/>
        </p:nvSpPr>
        <p:spPr>
          <a:xfrm>
            <a:off x="6816626" y="1968103"/>
            <a:ext cx="1632204" cy="330101"/>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ARRANGEMENT BOARD</a:t>
            </a:r>
            <a:endParaRPr lang="en-US" sz="1150" dirty="0"/>
          </a:p>
        </p:txBody>
      </p:sp>
      <p:sp>
        <p:nvSpPr>
          <p:cNvPr id="16" name="Shape 11"/>
          <p:cNvSpPr/>
          <p:nvPr/>
        </p:nvSpPr>
        <p:spPr>
          <a:xfrm>
            <a:off x="5013275" y="3031331"/>
            <a:ext cx="3536900" cy="0"/>
          </a:xfrm>
          <a:prstGeom prst="line">
            <a:avLst/>
          </a:prstGeom>
          <a:noFill/>
          <a:ln w="9525">
            <a:solidFill>
              <a:srgbClr val="D1D9E0"/>
            </a:solidFill>
            <a:prstDash val="solid"/>
          </a:ln>
        </p:spPr>
      </p:sp>
      <p:sp>
        <p:nvSpPr>
          <p:cNvPr id="17" name="Text 12"/>
          <p:cNvSpPr/>
          <p:nvPr/>
        </p:nvSpPr>
        <p:spPr>
          <a:xfrm>
            <a:off x="5165675" y="2498229"/>
            <a:ext cx="1373073" cy="41404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Good for discussion</a:t>
            </a:r>
            <a:endParaRPr lang="en-US" sz="1400" dirty="0"/>
          </a:p>
        </p:txBody>
      </p:sp>
      <p:sp>
        <p:nvSpPr>
          <p:cNvPr id="18" name="Text 13"/>
          <p:cNvSpPr/>
          <p:nvPr/>
        </p:nvSpPr>
        <p:spPr>
          <a:xfrm>
            <a:off x="6816626" y="2498229"/>
            <a:ext cx="1632204" cy="414040"/>
          </a:xfrm>
          <a:prstGeom prst="rect">
            <a:avLst/>
          </a:prstGeom>
          <a:noFill/>
          <a:ln/>
        </p:spPr>
        <p:txBody>
          <a:bodyPr wrap="square" lIns="0" tIns="0" rIns="0" bIns="0" rtlCol="0" anchor="t"/>
          <a:lstStyle/>
          <a:p>
            <a:pPr algn="l" indent="0" marL="0">
              <a:lnSpc>
                <a:spcPts val="1630"/>
              </a:lnSpc>
              <a:buNone/>
            </a:pPr>
            <a:r>
              <a:rPr lang="en-US" sz="1400" dirty="0">
                <a:solidFill>
                  <a:srgbClr val="1F2328"/>
                </a:solidFill>
                <a:latin typeface="Arial" pitchFamily="34" charset="0"/>
                <a:ea typeface="Arial" pitchFamily="34" charset="-122"/>
                <a:cs typeface="Arial" pitchFamily="34" charset="-120"/>
              </a:rPr>
              <a:t>Shared, current state</a:t>
            </a:r>
            <a:endParaRPr lang="en-US" sz="1400" dirty="0"/>
          </a:p>
        </p:txBody>
      </p:sp>
      <p:sp>
        <p:nvSpPr>
          <p:cNvPr id="19" name="Shape 14"/>
          <p:cNvSpPr/>
          <p:nvPr/>
        </p:nvSpPr>
        <p:spPr>
          <a:xfrm>
            <a:off x="5013275" y="3683496"/>
            <a:ext cx="3536900" cy="0"/>
          </a:xfrm>
          <a:prstGeom prst="line">
            <a:avLst/>
          </a:prstGeom>
          <a:noFill/>
          <a:ln w="9525">
            <a:solidFill>
              <a:srgbClr val="D1D9E0"/>
            </a:solidFill>
            <a:prstDash val="solid"/>
          </a:ln>
        </p:spPr>
      </p:sp>
      <p:sp>
        <p:nvSpPr>
          <p:cNvPr id="20" name="Text 15"/>
          <p:cNvSpPr/>
          <p:nvPr/>
        </p:nvSpPr>
        <p:spPr>
          <a:xfrm>
            <a:off x="5165675" y="3150394"/>
            <a:ext cx="1373073" cy="41404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Hard to scan later</a:t>
            </a:r>
            <a:endParaRPr lang="en-US" sz="1400" dirty="0"/>
          </a:p>
        </p:txBody>
      </p:sp>
      <p:sp>
        <p:nvSpPr>
          <p:cNvPr id="21" name="Text 16"/>
          <p:cNvSpPr/>
          <p:nvPr/>
        </p:nvSpPr>
        <p:spPr>
          <a:xfrm>
            <a:off x="6816626" y="3253829"/>
            <a:ext cx="1632204" cy="207020"/>
          </a:xfrm>
          <a:prstGeom prst="rect">
            <a:avLst/>
          </a:prstGeom>
          <a:noFill/>
          <a:ln/>
        </p:spPr>
        <p:txBody>
          <a:bodyPr wrap="square" lIns="0" tIns="0" rIns="0" bIns="0" rtlCol="0" anchor="t"/>
          <a:lstStyle/>
          <a:p>
            <a:pPr algn="l" indent="0" marL="0">
              <a:lnSpc>
                <a:spcPts val="1630"/>
              </a:lnSpc>
              <a:buNone/>
            </a:pPr>
            <a:r>
              <a:rPr lang="en-US" sz="1400" dirty="0">
                <a:solidFill>
                  <a:srgbClr val="1F2328"/>
                </a:solidFill>
                <a:latin typeface="Arial" pitchFamily="34" charset="0"/>
                <a:ea typeface="Arial" pitchFamily="34" charset="-122"/>
                <a:cs typeface="Arial" pitchFamily="34" charset="-120"/>
              </a:rPr>
              <a:t>Easy to inspect</a:t>
            </a:r>
            <a:endParaRPr lang="en-US" sz="1400" dirty="0"/>
          </a:p>
        </p:txBody>
      </p:sp>
      <p:sp>
        <p:nvSpPr>
          <p:cNvPr id="22" name="Text 17"/>
          <p:cNvSpPr/>
          <p:nvPr/>
        </p:nvSpPr>
        <p:spPr>
          <a:xfrm>
            <a:off x="5165675" y="3802559"/>
            <a:ext cx="1373073" cy="41404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Updates get buried</a:t>
            </a:r>
            <a:endParaRPr lang="en-US" sz="1400" dirty="0"/>
          </a:p>
        </p:txBody>
      </p:sp>
      <p:sp>
        <p:nvSpPr>
          <p:cNvPr id="23" name="Text 18"/>
          <p:cNvSpPr/>
          <p:nvPr/>
        </p:nvSpPr>
        <p:spPr>
          <a:xfrm>
            <a:off x="6816626" y="3905994"/>
            <a:ext cx="1632204" cy="207020"/>
          </a:xfrm>
          <a:prstGeom prst="rect">
            <a:avLst/>
          </a:prstGeom>
          <a:noFill/>
          <a:ln/>
        </p:spPr>
        <p:txBody>
          <a:bodyPr wrap="square" lIns="0" tIns="0" rIns="0" bIns="0" rtlCol="0" anchor="t"/>
          <a:lstStyle/>
          <a:p>
            <a:pPr algn="l" indent="0" marL="0">
              <a:lnSpc>
                <a:spcPts val="1630"/>
              </a:lnSpc>
              <a:buNone/>
            </a:pPr>
            <a:r>
              <a:rPr lang="en-US" sz="1400" dirty="0">
                <a:solidFill>
                  <a:srgbClr val="1F2328"/>
                </a:solidFill>
                <a:latin typeface="Arial" pitchFamily="34" charset="0"/>
                <a:ea typeface="Arial" pitchFamily="34" charset="-122"/>
                <a:cs typeface="Arial" pitchFamily="34" charset="-120"/>
              </a:rPr>
              <a:t>Updates stay visible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06</a:t>
            </a:r>
            <a:endParaRPr lang="en-US" sz="1150" dirty="0"/>
          </a:p>
        </p:txBody>
      </p:sp>
      <p:pic>
        <p:nvPicPr>
          <p:cNvPr id="5" name="Image 1" descr="Open this chapter on GitHub">
            <a:hlinkClick r:id="rId3" tooltip="https://github.com/github/copilot-app-for-beginners/tree/main/06-canvase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CORE CONCEPT</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A canvas is a shared control panel</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You and the agent change the same board.</a:t>
            </a:r>
            <a:endParaRPr lang="en-US" sz="1650" dirty="0"/>
          </a:p>
        </p:txBody>
      </p:sp>
      <p:sp>
        <p:nvSpPr>
          <p:cNvPr id="9" name="Text 5"/>
          <p:cNvSpPr/>
          <p:nvPr/>
        </p:nvSpPr>
        <p:spPr>
          <a:xfrm>
            <a:off x="511076" y="1874490"/>
            <a:ext cx="3549551" cy="2397621"/>
          </a:xfrm>
          <a:prstGeom prst="roundRect">
            <a:avLst>
              <a:gd name="adj" fmla="val 3178"/>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You and the agent share one canvas. You use UI controls, the agent uses actions such as get, add, and move, and both sides can change the same board."/>
          <p:cNvPicPr>
            <a:picLocks noChangeAspect="1"/>
          </p:cNvPicPr>
          <p:nvPr/>
        </p:nvPicPr>
        <p:blipFill>
          <a:blip r:embed="rId4"/>
          <a:stretch>
            <a:fillRect/>
          </a:stretch>
        </p:blipFill>
        <p:spPr>
          <a:xfrm>
            <a:off x="558701" y="1922115"/>
            <a:ext cx="3454301" cy="2302371"/>
          </a:xfrm>
          <a:prstGeom prst="rect">
            <a:avLst/>
          </a:prstGeom>
        </p:spPr>
      </p:pic>
      <p:sp>
        <p:nvSpPr>
          <p:cNvPr id="11" name="Text 6"/>
          <p:cNvSpPr/>
          <p:nvPr/>
        </p:nvSpPr>
        <p:spPr>
          <a:xfrm>
            <a:off x="4368701" y="2133749"/>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2" name="Text 7"/>
          <p:cNvSpPr/>
          <p:nvPr/>
        </p:nvSpPr>
        <p:spPr>
          <a:xfrm>
            <a:off x="4463366" y="2178100"/>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3" name="Text 8"/>
          <p:cNvSpPr/>
          <p:nvPr/>
        </p:nvSpPr>
        <p:spPr>
          <a:xfrm>
            <a:off x="4775002" y="2133749"/>
            <a:ext cx="2264015"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Copilot adds plan steps</a:t>
            </a:r>
            <a:endParaRPr lang="en-US" sz="1550" dirty="0"/>
          </a:p>
        </p:txBody>
      </p:sp>
      <p:sp>
        <p:nvSpPr>
          <p:cNvPr id="14" name="Text 9"/>
          <p:cNvSpPr/>
          <p:nvPr/>
        </p:nvSpPr>
        <p:spPr>
          <a:xfrm>
            <a:off x="4775002" y="2387650"/>
            <a:ext cx="2264015" cy="203150"/>
          </a:xfrm>
          <a:prstGeom prst="rect">
            <a:avLst/>
          </a:prstGeom>
          <a:noFill/>
          <a:ln/>
        </p:spPr>
        <p:txBody>
          <a:bodyPr wrap="square" lIns="0" tIns="0" rIns="0" bIns="0" rtlCol="0" anchor="t"/>
          <a:lstStyle/>
          <a:p>
            <a:pPr algn="l" indent="0" marL="0">
              <a:lnSpc>
                <a:spcPts val="1600"/>
              </a:lnSpc>
              <a:buNone/>
            </a:pPr>
            <a:r>
              <a:rPr lang="en-US" sz="1350" dirty="0">
                <a:solidFill>
                  <a:srgbClr val="59636E"/>
                </a:solidFill>
                <a:latin typeface="Arial" pitchFamily="34" charset="0"/>
                <a:ea typeface="Arial" pitchFamily="34" charset="-122"/>
                <a:cs typeface="Arial" pitchFamily="34" charset="-120"/>
              </a:rPr>
              <a:t>They appear on the board.</a:t>
            </a:r>
            <a:endParaRPr lang="en-US" sz="1350" dirty="0"/>
          </a:p>
        </p:txBody>
      </p:sp>
      <p:sp>
        <p:nvSpPr>
          <p:cNvPr id="15" name="Text 10"/>
          <p:cNvSpPr/>
          <p:nvPr/>
        </p:nvSpPr>
        <p:spPr>
          <a:xfrm>
            <a:off x="4368701" y="284470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6" name="Text 11"/>
          <p:cNvSpPr/>
          <p:nvPr/>
        </p:nvSpPr>
        <p:spPr>
          <a:xfrm>
            <a:off x="4463366" y="288905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7" name="Text 12"/>
          <p:cNvSpPr/>
          <p:nvPr/>
        </p:nvSpPr>
        <p:spPr>
          <a:xfrm>
            <a:off x="4775002" y="2844701"/>
            <a:ext cx="2333238"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You change the board</a:t>
            </a:r>
            <a:endParaRPr lang="en-US" sz="1550" dirty="0"/>
          </a:p>
        </p:txBody>
      </p:sp>
      <p:sp>
        <p:nvSpPr>
          <p:cNvPr id="18" name="Text 13"/>
          <p:cNvSpPr/>
          <p:nvPr/>
        </p:nvSpPr>
        <p:spPr>
          <a:xfrm>
            <a:off x="4775002" y="3098602"/>
            <a:ext cx="2333238" cy="203150"/>
          </a:xfrm>
          <a:prstGeom prst="rect">
            <a:avLst/>
          </a:prstGeom>
          <a:noFill/>
          <a:ln/>
        </p:spPr>
        <p:txBody>
          <a:bodyPr wrap="square" lIns="0" tIns="0" rIns="0" bIns="0" rtlCol="0" anchor="t"/>
          <a:lstStyle/>
          <a:p>
            <a:pPr algn="l" indent="0" marL="0">
              <a:lnSpc>
                <a:spcPts val="1600"/>
              </a:lnSpc>
              <a:buNone/>
            </a:pPr>
            <a:r>
              <a:rPr lang="en-US" sz="1350" dirty="0">
                <a:solidFill>
                  <a:srgbClr val="59636E"/>
                </a:solidFill>
                <a:latin typeface="Arial" pitchFamily="34" charset="0"/>
                <a:ea typeface="Arial" pitchFamily="34" charset="-122"/>
                <a:cs typeface="Arial" pitchFamily="34" charset="-120"/>
              </a:rPr>
              <a:t>Uncheck a step or add a note.</a:t>
            </a:r>
            <a:endParaRPr lang="en-US" sz="1350" dirty="0"/>
          </a:p>
        </p:txBody>
      </p:sp>
      <p:sp>
        <p:nvSpPr>
          <p:cNvPr id="19" name="Text 14"/>
          <p:cNvSpPr/>
          <p:nvPr/>
        </p:nvSpPr>
        <p:spPr>
          <a:xfrm>
            <a:off x="4368701" y="3555653"/>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20" name="Text 15"/>
          <p:cNvSpPr/>
          <p:nvPr/>
        </p:nvSpPr>
        <p:spPr>
          <a:xfrm>
            <a:off x="4463366" y="3600004"/>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21" name="Text 16"/>
          <p:cNvSpPr/>
          <p:nvPr/>
        </p:nvSpPr>
        <p:spPr>
          <a:xfrm>
            <a:off x="4775002" y="3555653"/>
            <a:ext cx="3401184"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Copilot continues from your update</a:t>
            </a:r>
            <a:endParaRPr lang="en-US" sz="1550" dirty="0"/>
          </a:p>
        </p:txBody>
      </p:sp>
      <p:sp>
        <p:nvSpPr>
          <p:cNvPr id="22" name="Text 17"/>
          <p:cNvSpPr/>
          <p:nvPr/>
        </p:nvSpPr>
        <p:spPr>
          <a:xfrm>
            <a:off x="4775002" y="3809554"/>
            <a:ext cx="3401184" cy="203150"/>
          </a:xfrm>
          <a:prstGeom prst="rect">
            <a:avLst/>
          </a:prstGeom>
          <a:noFill/>
          <a:ln/>
        </p:spPr>
        <p:txBody>
          <a:bodyPr wrap="square" lIns="0" tIns="0" rIns="0" bIns="0" rtlCol="0" anchor="t"/>
          <a:lstStyle/>
          <a:p>
            <a:pPr algn="l" indent="0" marL="0">
              <a:lnSpc>
                <a:spcPts val="1600"/>
              </a:lnSpc>
              <a:buNone/>
            </a:pPr>
            <a:r>
              <a:rPr lang="en-US" sz="1350" dirty="0">
                <a:solidFill>
                  <a:srgbClr val="59636E"/>
                </a:solidFill>
                <a:latin typeface="Arial" pitchFamily="34" charset="0"/>
                <a:ea typeface="Arial" pitchFamily="34" charset="-122"/>
                <a:cs typeface="Arial" pitchFamily="34" charset="-120"/>
              </a:rPr>
              <a:t>Not from a buried chat line.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8F3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8250DF"/>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E0C5FF"/>
                </a:solidFill>
                <a:latin typeface="Arial" pitchFamily="34" charset="0"/>
                <a:ea typeface="Arial" pitchFamily="34" charset="-122"/>
                <a:cs typeface="Arial" pitchFamily="34" charset="-120"/>
              </a:rPr>
              <a:t>02</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06</a:t>
            </a:r>
            <a:endParaRPr lang="en-US" sz="1150" dirty="0"/>
          </a:p>
        </p:txBody>
      </p:sp>
      <p:pic>
        <p:nvPicPr>
          <p:cNvPr id="8" name="Image 1" descr="Open this chapter on GitHub">
            <a:hlinkClick r:id="rId3" tooltip="https://github.com/github/copilot-app-for-beginners/tree/main/06-canvases"/>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645533"/>
            <a:ext cx="5570169" cy="209550"/>
          </a:xfrm>
          <a:prstGeom prst="rect">
            <a:avLst/>
          </a:prstGeom>
          <a:noFill/>
          <a:ln/>
        </p:spPr>
        <p:txBody>
          <a:bodyPr wrap="square" lIns="0" tIns="0" rIns="0" bIns="0" rtlCol="0" anchor="t"/>
          <a:lstStyle/>
          <a:p>
            <a:pPr algn="l" indent="0" marL="0">
              <a:buNone/>
            </a:pPr>
            <a:r>
              <a:rPr lang="en-US" sz="1450" b="1" dirty="0">
                <a:solidFill>
                  <a:srgbClr val="8250DF"/>
                </a:solidFill>
                <a:latin typeface="Arial" pitchFamily="34" charset="0"/>
                <a:ea typeface="Arial" pitchFamily="34" charset="-122"/>
                <a:cs typeface="Arial" pitchFamily="34" charset="-120"/>
              </a:rPr>
              <a:t>SECTION 2 OF 3</a:t>
            </a:r>
            <a:endParaRPr lang="en-US" sz="1450" dirty="0"/>
          </a:p>
        </p:txBody>
      </p:sp>
      <p:sp>
        <p:nvSpPr>
          <p:cNvPr id="10" name="Text 6"/>
          <p:cNvSpPr/>
          <p:nvPr/>
        </p:nvSpPr>
        <p:spPr>
          <a:xfrm>
            <a:off x="711101" y="1956584"/>
            <a:ext cx="5570169" cy="1168301"/>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Try and create a canvas</a:t>
            </a:r>
            <a:endParaRPr lang="en-US" sz="4000" dirty="0"/>
          </a:p>
        </p:txBody>
      </p:sp>
      <p:sp>
        <p:nvSpPr>
          <p:cNvPr id="11" name="Text 7"/>
          <p:cNvSpPr/>
          <p:nvPr/>
        </p:nvSpPr>
        <p:spPr>
          <a:xfrm>
            <a:off x="711101" y="3328035"/>
            <a:ext cx="609600" cy="63401"/>
          </a:xfrm>
          <a:prstGeom prst="roundRect">
            <a:avLst>
              <a:gd name="adj" fmla="val 40063"/>
            </a:avLst>
          </a:prstGeom>
          <a:solidFill>
            <a:srgbClr val="8250DF"/>
          </a:solidFill>
          <a:ln/>
        </p:spPr>
        <p:txBody>
          <a:bodyPr wrap="square" rtlCol="0" anchor="ctr"/>
          <a:lstStyle/>
          <a:p>
            <a:pPr indent="0" marL="0">
              <a:buNone/>
            </a:pPr>
            <a:endParaRPr lang="en-US" dirty="0"/>
          </a:p>
        </p:txBody>
      </p:sp>
    </p:spTree>
  </p:cSld>
  <p:clrMapOvr>
    <a:masterClrMapping/>
  </p:clrMapOvr>
</p:sld>
</file>

<file path=ppt/slides/slide7.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7">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06</ns1:t>
            </ns1:r>
            <ns1:endParaRPr lang="en-US" sz="1150" dirty="0"/>
          </ns1:p>
        </ns0:txBody>
      </ns0:sp>
      <ns0:pic>
        <ns0:nvPicPr>
          <ns0:cNvPr id="5" name="Image 1" descr="Open this chapter on GitHub">
            <ns1:hlinkClick ns3:id="rId3" tooltip="https://github.com/github/copilot-app-for-beginners/tree/main/06-canvase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8250DF"/>
                </ns1:solidFill>
                <ns1:latin typeface="Arial" pitchFamily="34" charset="0"/>
                <ns1:ea typeface="Arial" pitchFamily="34" charset="-122"/>
                <ns1:cs typeface="Arial" pitchFamily="34" charset="-120"/>
              </ns1:rPr>
              <ns1:t>EXERCISE 1</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Try a community canvas</ns1:t>
            </ns1:r>
            <ns1:endParaRPr lang="en-US" sz="2800" dirty="0"/>
          </ns1:p>
        </ns0:txBody>
      </ns0:sp>
      <ns0:sp>
        <ns0:nvSpPr>
          <ns0:cNvPr id="8" name="Text 4"/>
          <ns0:cNvSpPr/>
          <ns0:nvPr/>
        </ns0:nvSpPr>
        <ns0:spPr>
          <ns1:xfrm>
            <ns1:off x="507950" y="1104751"/>
            <ns1:ext cx="8161020" cy="25405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Repository Issues Kanban turns issues into a board.</ns1:t>
            </ns1:r>
            <ns1:endParaRPr lang="en-US" sz="1650" dirty="0"/>
          </ns1:p>
        </ns0:txBody>
      </ns0:sp>
      <ns0:sp>
        <ns0:nvSpPr>
          <ns0:cNvPr id="9" name="Text 5"/>
          <ns0:cNvSpPr/>
          <ns0:nvPr/>
        </ns0:nvSpPr>
        <ns0:spPr>
          <ns1:xfrm>
            <ns1:off x="511076" y="1923901"/>
            <ns1:ext cx="4311551" cy="2298650"/>
          </ns1:xfrm>
          <ns1:prstGeom prst="roundRect">
            <ns1:avLst>
              <ns1:gd name="adj" fmla="val 3315"/>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10" name="Image 2" descr="Repository Issues Kanban preview"/>
          <ns0:cNvPicPr>
            <ns1:picLocks noChangeAspect="1"/>
          </ns0:cNvPicPr>
          <ns0:nvPr/>
        </ns0:nvPicPr>
        <ns0:blipFill>
          <ns1:blip ns3:embed="rId4"/>
          <ns1:stretch>
            <ns1:fillRect/>
          </ns1:stretch>
        </ns0:blipFill>
        <ns0:spPr>
          <ns1:xfrm>
            <ns1:off x="558701" y="1971526"/>
            <ns1:ext cx="4216301" cy="2203400"/>
          </ns1:xfrm>
          <ns1:prstGeom prst="rect">
            <ns1:avLst/>
          </ns1:prstGeom>
        </ns0:spPr>
      </ns0:pic>
      <ns0:sp>
        <ns0:nvSpPr>
          <ns0:cNvPr id="11" name="Text 6"/>
          <ns0:cNvSpPr/>
          <ns0:nvPr/>
        </ns0:nvSpPr>
        <ns0:spPr>
          <ns1:xfrm>
            <ns1:off x="5079802" y="2120801"/>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12" name="Text 7"/>
          <ns0:cNvSpPr/>
          <ns0:nvPr/>
        </ns0:nvSpPr>
        <ns0:spPr>
          <ns1:xfrm>
            <ns1:off x="5174467" y="2165152"/>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1</ns1:t>
            </ns1:r>
            <ns1:endParaRPr lang="en-US" sz="1250" dirty="0"/>
          </ns1:p>
        </ns0:txBody>
      </ns0:sp>
      <ns0:sp>
        <ns0:nvSpPr>
          <ns0:cNvPr id="13" name="Text 8"/>
          <ns0:cNvSpPr/>
          <ns0:nvPr/>
        </ns0:nvSpPr>
        <ns0:spPr>
          <ns1:xfrm>
            <ns1:off x="5511552" y="2120801"/>
            <ns1:ext cx="2701516" cy="222200"/>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Install it</ns1:t>
            </ns1:r>
            <ns1:endParaRPr lang="en-US" sz="1550" dirty="0"/>
          </ns1:p>
        </ns0:txBody>
      </ns0:sp>
      <ns0:sp>
        <ns0:nvSpPr>
          <ns0:cNvPr id="14" name="Text 9"/>
          <ns0:cNvSpPr/>
          <ns0:nvPr/>
        </ns0:nvSpPr>
        <ns0:spPr>
          <ns1:xfrm>
            <ns1:off x="5511552" y="2368302"/>
            <ns1:ext cx="2701516"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b="1" dirty="0">
                <ns1:solidFill>
                  <ns1:srgbClr val="59636E"/>
                </ns1:solidFill>
                <ns1:latin typeface="Arial" pitchFamily="34" charset="0"/>
                <ns1:ea typeface="Arial" pitchFamily="34" charset="-122"/>
                <ns1:cs typeface="Arial" pitchFamily="34" charset="-120"/>
              </ns1:rPr>
              <ns1:t>Open in Copilot app, then Install.</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
            </ns1:r>
            <ns1:pPr algn="l" indent="0" marL="0">
              <ns1:lnSpc>
                <ns1:spcPts val="1560"/>
              </ns1:lnSpc>
              <ns1:buNone/>
            </ns1:pPr>
            <ns1:r>
              <ns1:rPr lang="en-US" sz="1350" b="1" dirty="0">
                <ns1:solidFill>
                  <ns1:srgbClr val="59636E"/>
                </ns1:solidFill>
                <ns1:latin typeface="Arial" pitchFamily="34" charset="0"/>
                <ns1:ea typeface="Arial" pitchFamily="34" charset="-122"/>
                <ns1:cs typeface="Arial" pitchFamily="34" charset="-120"/>
              </ns1:rPr>
              <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
            </ns1:r>
            <ns1:endParaRPr lang="en-US" sz="1350" dirty="0"/>
          </ns1:p>
        </ns0:txBody>
      </ns0:sp>
      <ns0:sp>
        <ns0:nvSpPr>
          <ns0:cNvPr id="15" name="Text 10"/>
          <ns0:cNvSpPr/>
          <ns0:nvPr/>
        </ns0:nvSpPr>
        <ns0:spPr>
          <ns1:xfrm>
            <ns1:off x="5079802" y="2845743"/>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16" name="Text 11"/>
          <ns0:cNvSpPr/>
          <ns0:nvPr/>
        </ns0:nvSpPr>
        <ns0:spPr>
          <ns1:xfrm>
            <ns1:off x="5174467" y="2890093"/>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2</ns1:t>
            </ns1:r>
            <ns1:endParaRPr lang="en-US" sz="1250" dirty="0"/>
          </ns1:p>
        </ns0:txBody>
      </ns0:sp>
      <ns0:sp>
        <ns0:nvSpPr>
          <ns0:cNvPr id="17" name="Text 12"/>
          <ns0:cNvSpPr/>
          <ns0:nvPr/>
        </ns0:nvSpPr>
        <ns0:spPr>
          <ns1:xfrm>
            <ns1:off x="5511552" y="2845743"/>
            <ns1:ext cx="3129454" cy="222200"/>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Reload extensions</ns1:t>
            </ns1:r>
            <ns1:endParaRPr lang="en-US" sz="1550" dirty="0"/>
          </ns1:p>
        </ns0:txBody>
      </ns0:sp>
      <ns0:sp>
        <ns0:nvSpPr>
          <ns0:cNvPr id="18" name="Text 13"/>
          <ns0:cNvSpPr/>
          <ns0:nvPr/>
        </ns0:nvSpPr>
        <ns0:spPr>
          <ns1:xfrm>
            <ns1:off x="5511552" y="3093244"/>
            <ns1:ext cx="3129454" cy="207615"/>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Ask the session to restart canvas extensions.</ns1:t>
            </ns1:r>
            <ns1:pPr algn="l" indent="0" marL="0">
              <ns1:lnSpc>
                <ns1:spcPts val="1560"/>
              </ns1:lnSpc>
              <ns1:buNone/>
            </ns1:pPr>
            <ns1:r>
              <ns1:rPr lang="en-US" sz="1350" b="1" dirty="0">
                <ns1:solidFill>
                  <ns1:srgbClr val="0550AE"/>
                </ns1:solidFill>
                <ns1:latin typeface="Courier New" pitchFamily="34" charset="0"/>
                <ns1:ea typeface="Courier New" pitchFamily="34" charset="-122"/>
                <ns1:cs typeface="Courier New" pitchFamily="34" charset="-120"/>
              </ns1:rPr>
              <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
            </ns1:r>
            <ns1:endParaRPr lang="en-US" sz="1350" dirty="0"/>
          </ns1:p>
        </ns0:txBody>
      </ns0:sp>
      <ns0:sp>
        <ns0:nvSpPr>
          <ns0:cNvPr id="19" name="Text 14"/>
          <ns0:cNvSpPr/>
          <ns0:nvPr/>
        </ns0:nvSpPr>
        <ns0:spPr>
          <ns1:xfrm>
            <ns1:off x="5079802" y="3580209"/>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20" name="Text 15"/>
          <ns0:cNvSpPr/>
          <ns0:nvPr/>
        </ns0:nvSpPr>
        <ns0:spPr>
          <ns1:xfrm>
            <ns1:off x="5174467" y="3624560"/>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3</ns1:t>
            </ns1:r>
            <ns1:endParaRPr lang="en-US" sz="1250" dirty="0"/>
          </ns1:p>
        </ns0:txBody>
      </ns0:sp>
      <ns0:sp>
        <ns0:nvSpPr>
          <ns0:cNvPr id="21" name="Text 16"/>
          <ns0:cNvSpPr/>
          <ns0:nvPr/>
        </ns0:nvSpPr>
        <ns0:spPr>
          <ns1:xfrm>
            <ns1:off x="5511552" y="3580209"/>
            <ns1:ext cx="2453771" cy="222200"/>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Open it and drag an issue</ns1:t>
            </ns1:r>
            <ns1:endParaRPr lang="en-US" sz="1550" dirty="0"/>
          </ns1:p>
        </ns0:txBody>
      </ns0:sp>
      <ns0:sp>
        <ns0:nvSpPr>
          <ns0:cNvPr id="22" name="Text 17"/>
          <ns0:cNvSpPr/>
          <ns0:nvPr/>
        </ns0:nvSpPr>
        <ns0:spPr>
          <ns1:xfrm>
            <ns1:off x="5511552" y="3827711"/>
            <ns1:ext cx="2453771"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Open it from Add tab &gt; Canvas.</ns1:t>
            </ns1:r>
            <ns1:pPr algn="l" indent="0" marL="0">
              <ns1:lnSpc>
                <ns1:spcPts val="1560"/>
              </ns1:lnSpc>
              <ns1:buNone/>
            </ns1:pPr>
            <ns1:r>
              <ns1:rPr lang="en-US" sz="1350" b="1" dirty="0">
                <ns1:solidFill>
                  <ns1:srgbClr val="59636E"/>
                </ns1:solidFill>
                <ns1:latin typeface="Arial" pitchFamily="34" charset="0"/>
                <ns1:ea typeface="Arial" pitchFamily="34" charset="-122"/>
                <ns1:cs typeface="Arial" pitchFamily="34" charset="-120"/>
              </ns1:rPr>
              <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
            </ns1:r>
            <ns1:pPr algn="l" indent="0" marL="0">
              <ns1:lnSpc>
                <ns1:spcPts val="1560"/>
              </ns1:lnSpc>
              <ns1:buNone/>
            </ns1:pPr>
            <ns1:r>
              <ns1:rPr lang="en-US" sz="1350" b="1" dirty="0">
                <ns1:solidFill>
                  <ns1:srgbClr val="59636E"/>
                </ns1:solidFill>
                <ns1:latin typeface="Arial" pitchFamily="34" charset="0"/>
                <ns1:ea typeface="Arial" pitchFamily="34" charset="-122"/>
                <ns1:cs typeface="Arial" pitchFamily="34" charset="-120"/>
              </ns1:rPr>
              <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
            </ns1:r>
            <ns1:endParaRPr lang="en-US" sz="1350" dirty="0"/>
          </ns1:p>
        </ns0:txBody>
      </ns0:sp>
    </ns0:spTree>
  </ns0:cSld>
  <ns0:clrMapOvr>
    <ns1:masterClrMapping/>
  </ns0:clrMapOvr>
</ns0: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06</a:t>
            </a:r>
            <a:endParaRPr lang="en-US" sz="1150" dirty="0"/>
          </a:p>
        </p:txBody>
      </p:sp>
      <p:pic>
        <p:nvPicPr>
          <p:cNvPr id="5" name="Image 1" descr="Open this chapter on GitHub">
            <a:hlinkClick r:id="rId3" tooltip="https://github.com/github/copilot-app-for-beginners/tree/main/06-canvase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8250DF"/>
                </a:solidFill>
                <a:latin typeface="Arial" pitchFamily="34" charset="0"/>
                <a:ea typeface="Arial" pitchFamily="34" charset="-122"/>
                <a:cs typeface="Arial" pitchFamily="34" charset="-120"/>
              </a:rPr>
              <a:t>EXERCISE 2</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Create a session board</a:t>
            </a:r>
            <a:endParaRPr lang="en-US" sz="2800" dirty="0"/>
          </a:p>
        </p:txBody>
      </p:sp>
      <p:sp>
        <p:nvSpPr>
          <p:cNvPr id="8" name="Text 4"/>
          <p:cNvSpPr/>
          <p:nvPr/>
        </p:nvSpPr>
        <p:spPr>
          <a:xfrm>
            <a:off x="507950" y="1104751"/>
            <a:ext cx="8161020" cy="27310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Type </a:t>
            </a:r>
            <a:pPr algn="l" indent="0" marL="0">
              <a:lnSpc>
                <a:spcPts val="2000"/>
              </a:lnSpc>
              <a:spcBef>
                <a:spcPts val="500"/>
              </a:spcBef>
              <a:buNone/>
            </a:pPr>
            <a:r>
              <a:rPr lang="en-US" sz="1650" b="1" dirty="0">
                <a:solidFill>
                  <a:srgbClr val="0550AE"/>
                </a:solidFill>
                <a:latin typeface="Courier New" pitchFamily="34" charset="0"/>
                <a:ea typeface="Courier New" pitchFamily="34" charset="-122"/>
                <a:cs typeface="Courier New" pitchFamily="34" charset="-120"/>
              </a:rPr>
              <a:t>/create-canvas</a:t>
            </a:r>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 then describe the board.</a:t>
            </a:r>
            <a:endParaRPr lang="en-US" sz="1650" dirty="0"/>
          </a:p>
        </p:txBody>
      </p:sp>
      <p:sp>
        <p:nvSpPr>
          <p:cNvPr id="9" name="Text 5"/>
          <p:cNvSpPr/>
          <p:nvPr/>
        </p:nvSpPr>
        <p:spPr>
          <a:xfrm>
            <a:off x="507950" y="1821359"/>
            <a:ext cx="4191000" cy="1606153"/>
          </a:xfrm>
          <a:prstGeom prst="roundRect">
            <a:avLst>
              <a:gd name="adj" fmla="val 4744"/>
            </a:avLst>
          </a:prstGeom>
          <a:solidFill>
            <a:srgbClr val="FFFFFF"/>
          </a:solidFill>
          <a:ln/>
        </p:spPr>
        <p:txBody>
          <a:bodyPr wrap="square" rtlCol="0" anchor="ctr"/>
          <a:lstStyle/>
          <a:p>
            <a:pPr indent="0" marL="0">
              <a:buNone/>
            </a:pPr>
            <a:endParaRPr lang="en-US" dirty="0"/>
          </a:p>
        </p:txBody>
      </p:sp>
      <p:sp>
        <p:nvSpPr>
          <p:cNvPr id="10" name="Shape 6"/>
          <p:cNvSpPr/>
          <p:nvPr/>
        </p:nvSpPr>
        <p:spPr>
          <a:xfrm>
            <a:off x="507950" y="1826121"/>
            <a:ext cx="4191000" cy="0"/>
          </a:xfrm>
          <a:prstGeom prst="line">
            <a:avLst/>
          </a:prstGeom>
          <a:noFill/>
          <a:ln w="9525">
            <a:solidFill>
              <a:srgbClr val="E0C5FF"/>
            </a:solidFill>
            <a:prstDash val="solid"/>
          </a:ln>
        </p:spPr>
      </p:sp>
      <p:sp>
        <p:nvSpPr>
          <p:cNvPr id="11" name="Shape 7"/>
          <p:cNvSpPr/>
          <p:nvPr/>
        </p:nvSpPr>
        <p:spPr>
          <a:xfrm>
            <a:off x="4694188" y="1821359"/>
            <a:ext cx="0" cy="1606153"/>
          </a:xfrm>
          <a:prstGeom prst="line">
            <a:avLst/>
          </a:prstGeom>
          <a:noFill/>
          <a:ln w="9525">
            <a:solidFill>
              <a:srgbClr val="E0C5FF"/>
            </a:solidFill>
            <a:prstDash val="solid"/>
          </a:ln>
        </p:spPr>
      </p:sp>
      <p:sp>
        <p:nvSpPr>
          <p:cNvPr id="12" name="Shape 8"/>
          <p:cNvSpPr/>
          <p:nvPr/>
        </p:nvSpPr>
        <p:spPr>
          <a:xfrm>
            <a:off x="507950" y="3422749"/>
            <a:ext cx="4191000" cy="0"/>
          </a:xfrm>
          <a:prstGeom prst="line">
            <a:avLst/>
          </a:prstGeom>
          <a:noFill/>
          <a:ln w="9525">
            <a:solidFill>
              <a:srgbClr val="E0C5FF"/>
            </a:solidFill>
            <a:prstDash val="solid"/>
          </a:ln>
        </p:spPr>
      </p:sp>
      <p:sp>
        <p:nvSpPr>
          <p:cNvPr id="13" name="Shape 9"/>
          <p:cNvSpPr/>
          <p:nvPr/>
        </p:nvSpPr>
        <p:spPr>
          <a:xfrm>
            <a:off x="531763" y="1821359"/>
            <a:ext cx="0" cy="1606153"/>
          </a:xfrm>
          <a:prstGeom prst="line">
            <a:avLst/>
          </a:prstGeom>
          <a:noFill/>
          <a:ln w="47625">
            <a:solidFill>
              <a:srgbClr val="8250DF"/>
            </a:solidFill>
            <a:prstDash val="solid"/>
          </a:ln>
        </p:spPr>
      </p:sp>
      <p:pic>
        <p:nvPicPr>
          <p:cNvPr id="14"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33276" y="1960959"/>
            <a:ext cx="165050" cy="165050"/>
          </a:xfrm>
          <a:prstGeom prst="rect">
            <a:avLst/>
          </a:prstGeom>
        </p:spPr>
      </p:pic>
      <p:sp>
        <p:nvSpPr>
          <p:cNvPr id="15" name="Text 10"/>
          <p:cNvSpPr/>
          <p:nvPr/>
        </p:nvSpPr>
        <p:spPr>
          <a:xfrm>
            <a:off x="974527" y="1957834"/>
            <a:ext cx="637276" cy="171450"/>
          </a:xfrm>
          <a:prstGeom prst="rect">
            <a:avLst/>
          </a:prstGeom>
          <a:noFill/>
          <a:ln/>
        </p:spPr>
        <p:txBody>
          <a:bodyPr wrap="square" lIns="0" tIns="0" rIns="0" bIns="0" rtlCol="0" anchor="t"/>
          <a:lstStyle/>
          <a:p>
            <a:pPr algn="l" indent="0" marL="0">
              <a:buNone/>
            </a:pPr>
            <a:r>
              <a:rPr lang="en-US" sz="1150" b="1" dirty="0">
                <a:solidFill>
                  <a:srgbClr val="8250DF"/>
                </a:solidFill>
                <a:latin typeface="Arial" pitchFamily="34" charset="0"/>
                <a:ea typeface="Arial" pitchFamily="34" charset="-122"/>
                <a:cs typeface="Arial" pitchFamily="34" charset="-120"/>
              </a:rPr>
              <a:t>PROMPT</a:t>
            </a:r>
            <a:endParaRPr lang="en-US" sz="1150" dirty="0"/>
          </a:p>
        </p:txBody>
      </p:sp>
      <p:sp>
        <p:nvSpPr>
          <p:cNvPr id="16" name="Text 11"/>
          <p:cNvSpPr/>
          <p:nvPr/>
        </p:nvSpPr>
        <p:spPr>
          <a:xfrm>
            <a:off x="733276" y="2180034"/>
            <a:ext cx="3854017" cy="1111002"/>
          </a:xfrm>
          <a:prstGeom prst="rect">
            <a:avLst/>
          </a:prstGeom>
          <a:noFill/>
          <a:ln/>
        </p:spPr>
        <p:txBody>
          <a:bodyPr wrap="square" lIns="0" tIns="0" rIns="0" bIns="0" rtlCol="0" anchor="t"/>
          <a:lstStyle/>
          <a:p>
            <a:pPr algn="l" indent="0" marL="0">
              <a:lnSpc>
                <a:spcPts val="1750"/>
              </a:lnSpc>
              <a:buNone/>
            </a:pPr>
            <a:r>
              <a:rPr lang="en-US" sz="1400" dirty="0">
                <a:solidFill>
                  <a:srgbClr val="1F2328"/>
                </a:solidFill>
                <a:latin typeface="Arial" pitchFamily="34" charset="0"/>
                <a:ea typeface="Arial" pitchFamily="34" charset="-122"/>
                <a:cs typeface="Arial" pitchFamily="34" charset="-120"/>
              </a:rPr>
              <a:t>Create a simple, user-scoped Session Board canvas with a Feature proposal field, a Plan / Implement / Validate checklist, and Notes. Let the user and the agent both update it. Do not edit repository files.</a:t>
            </a:r>
            <a:endParaRPr lang="en-US" sz="1400" dirty="0"/>
          </a:p>
        </p:txBody>
      </p:sp>
      <p:sp>
        <p:nvSpPr>
          <p:cNvPr id="17" name="Text 12"/>
          <p:cNvSpPr/>
          <p:nvPr/>
        </p:nvSpPr>
        <p:spPr>
          <a:xfrm>
            <a:off x="507950" y="3605213"/>
            <a:ext cx="4191000" cy="720030"/>
          </a:xfrm>
          <a:prstGeom prst="roundRect">
            <a:avLst>
              <a:gd name="adj" fmla="val 14111"/>
            </a:avLst>
          </a:prstGeom>
          <a:solidFill>
            <a:srgbClr val="DAFBE1"/>
          </a:solidFill>
          <a:ln w="9525">
            <a:solidFill>
              <a:srgbClr val="8CE7A5"/>
            </a:solidFill>
          </a:ln>
        </p:spPr>
        <p:txBody>
          <a:bodyPr wrap="square" rtlCol="0" anchor="ctr"/>
          <a:lstStyle/>
          <a:p>
            <a:pPr indent="0" marL="0">
              <a:buNone/>
            </a:pPr>
            <a:endParaRPr lang="en-US" dirty="0"/>
          </a:p>
        </p:txBody>
      </p:sp>
      <p:pic>
        <p:nvPicPr>
          <p:cNvPr id="18"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95176" y="3863578"/>
            <a:ext cx="203150" cy="203150"/>
          </a:xfrm>
          <a:prstGeom prst="rect">
            <a:avLst/>
          </a:prstGeom>
        </p:spPr>
      </p:pic>
      <p:sp>
        <p:nvSpPr>
          <p:cNvPr id="19" name="Text 13"/>
          <p:cNvSpPr/>
          <p:nvPr/>
        </p:nvSpPr>
        <p:spPr>
          <a:xfrm>
            <a:off x="1025277" y="3741688"/>
            <a:ext cx="3556177" cy="447080"/>
          </a:xfrm>
          <a:prstGeom prst="rect">
            <a:avLst/>
          </a:prstGeom>
          <a:noFill/>
          <a:ln/>
        </p:spPr>
        <p:txBody>
          <a:bodyPr wrap="square" lIns="0" tIns="0" rIns="0" bIns="0" rtlCol="0" anchor="t"/>
          <a:lstStyle/>
          <a:p>
            <a:pPr algn="l" indent="0" marL="0">
              <a:lnSpc>
                <a:spcPts val="1760"/>
              </a:lnSpc>
              <a:buNone/>
            </a:pPr>
            <a:r>
              <a:rPr lang="en-US" sz="1450" dirty="0">
                <a:solidFill>
                  <a:srgbClr val="1F2328"/>
                </a:solidFill>
                <a:latin typeface="Arial" pitchFamily="34" charset="0"/>
                <a:ea typeface="Arial" pitchFamily="34" charset="-122"/>
                <a:cs typeface="Arial" pitchFamily="34" charset="-120"/>
              </a:rPr>
              <a:t>Update the board, then ask the agent to summarize it. They should match.</a:t>
            </a:r>
            <a:endParaRPr lang="en-US" sz="1450" dirty="0"/>
          </a:p>
        </p:txBody>
      </p:sp>
      <p:sp>
        <p:nvSpPr>
          <p:cNvPr id="20" name="Text 14"/>
          <p:cNvSpPr/>
          <p:nvPr/>
        </p:nvSpPr>
        <p:spPr>
          <a:xfrm>
            <a:off x="4955977" y="1831925"/>
            <a:ext cx="3676650" cy="2482751"/>
          </a:xfrm>
          <a:prstGeom prst="roundRect">
            <a:avLst>
              <a:gd name="adj" fmla="val 3069"/>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21" name="Image 4" descr="You and the agent update the same Session Board"/>
          <p:cNvPicPr>
            <a:picLocks noChangeAspect="1"/>
          </p:cNvPicPr>
          <p:nvPr/>
        </p:nvPicPr>
        <p:blipFill>
          <a:blip r:embed="rId6"/>
          <a:stretch>
            <a:fillRect/>
          </a:stretch>
        </p:blipFill>
        <p:spPr>
          <a:xfrm>
            <a:off x="5003602" y="1879550"/>
            <a:ext cx="3581400" cy="238750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0FBF3"/>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1A7F37"/>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8CE7A5"/>
                </a:solidFill>
                <a:latin typeface="Arial" pitchFamily="34" charset="0"/>
                <a:ea typeface="Arial" pitchFamily="34" charset="-122"/>
                <a:cs typeface="Arial" pitchFamily="34" charset="-120"/>
              </a:rPr>
              <a:t>03</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06</a:t>
            </a:r>
            <a:endParaRPr lang="en-US" sz="1150" dirty="0"/>
          </a:p>
        </p:txBody>
      </p:sp>
      <p:pic>
        <p:nvPicPr>
          <p:cNvPr id="8" name="Image 1" descr="Open this chapter on GitHub">
            <a:hlinkClick r:id="rId3" tooltip="https://github.com/github/copilot-app-for-beginners/tree/main/06-canvases"/>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645533"/>
            <a:ext cx="5570169" cy="209550"/>
          </a:xfrm>
          <a:prstGeom prst="rect">
            <a:avLst/>
          </a:prstGeom>
          <a:noFill/>
          <a:ln/>
        </p:spPr>
        <p:txBody>
          <a:bodyPr wrap="square" lIns="0" tIns="0" rIns="0" bIns="0" rtlCol="0" anchor="t"/>
          <a:lstStyle/>
          <a:p>
            <a:pPr algn="l" indent="0" marL="0">
              <a:buNone/>
            </a:pPr>
            <a:r>
              <a:rPr lang="en-US" sz="1450" b="1" dirty="0">
                <a:solidFill>
                  <a:srgbClr val="1A7F37"/>
                </a:solidFill>
                <a:latin typeface="Arial" pitchFamily="34" charset="0"/>
                <a:ea typeface="Arial" pitchFamily="34" charset="-122"/>
                <a:cs typeface="Arial" pitchFamily="34" charset="-120"/>
              </a:rPr>
              <a:t>SECTION 3 OF 3</a:t>
            </a:r>
            <a:endParaRPr lang="en-US" sz="1450" dirty="0"/>
          </a:p>
        </p:txBody>
      </p:sp>
      <p:sp>
        <p:nvSpPr>
          <p:cNvPr id="10" name="Text 6"/>
          <p:cNvSpPr/>
          <p:nvPr/>
        </p:nvSpPr>
        <p:spPr>
          <a:xfrm>
            <a:off x="711101" y="1956584"/>
            <a:ext cx="5570169" cy="1168301"/>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Build a Feature Workbench</a:t>
            </a:r>
            <a:endParaRPr lang="en-US" sz="4000" dirty="0"/>
          </a:p>
        </p:txBody>
      </p:sp>
      <p:sp>
        <p:nvSpPr>
          <p:cNvPr id="11" name="Text 7"/>
          <p:cNvSpPr/>
          <p:nvPr/>
        </p:nvSpPr>
        <p:spPr>
          <a:xfrm>
            <a:off x="711101" y="3328035"/>
            <a:ext cx="609600" cy="63401"/>
          </a:xfrm>
          <a:prstGeom prst="roundRect">
            <a:avLst>
              <a:gd name="adj" fmla="val 40063"/>
            </a:avLst>
          </a:prstGeom>
          <a:solidFill>
            <a:srgbClr val="1A7F37"/>
          </a:solidFill>
          <a:ln/>
        </p:spPr>
        <p:txBody>
          <a:bodyPr wrap="square" rtlCol="0" anchor="ctr"/>
          <a:lstStyle/>
          <a:p>
            <a:pPr indent="0" marL="0">
              <a:buNone/>
            </a:pPr>
            <a:endParaRPr lang="en-US" dirty="0"/>
          </a:p>
        </p:txBody>
      </p:sp>
    </p:spTree>
  </p:cSld>
  <p:clrMapOvr>
    <a:masterClrMapping/>
  </p:clrMapOvr>
</p:sld>
</file>

<file path=ppt/slides/slide10.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10">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06</ns1:t>
            </ns1:r>
            <ns1:endParaRPr lang="en-US" sz="1150" dirty="0"/>
          </ns1:p>
        </ns0:txBody>
      </ns0:sp>
      <ns0:pic>
        <ns0:nvPicPr>
          <ns0:cNvPr id="5" name="Image 1" descr="Open this chapter on GitHub">
            <ns1:hlinkClick ns3:id="rId3" tooltip="https://github.com/github/copilot-app-for-beginners/tree/main/06-canvase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1A7F37"/>
                </ns1:solidFill>
                <ns1:latin typeface="Arial" pitchFamily="34" charset="0"/>
                <ns1:ea typeface="Arial" pitchFamily="34" charset="-122"/>
                <ns1:cs typeface="Arial" pitchFamily="34" charset="-120"/>
              </ns1:rPr>
              <ns1:t>EXERCISE 3</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The Feature Workbench</ns1:t>
            </ns1:r>
            <ns1:endParaRPr lang="en-US" sz="2800" dirty="0"/>
          </ns1:p>
        </ns0:txBody>
      </ns0:sp>
      <ns0:sp>
        <ns0:nvSpPr>
          <ns0:cNvPr id="8" name="Text 4"/>
          <ns0:cNvSpPr/>
          <ns0:nvPr/>
        </ns0:nvSpPr>
        <ns0:spPr>
          <ns1:xfrm>
            <ns1:off x="507950" y="1104751"/>
            <ns1:ext cx="8161020" cy="27310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One </ns1:t>
            </ns1:r>
            <ns1:pPr algn="l" indent="0" marL="0">
              <ns1:lnSpc>
                <ns1:spcPts val="2000"/>
              </ns1:lnSpc>
              <ns1:spcBef>
                <ns1:spcPts val="500"/>
              </ns1:spcBef>
              <ns1:buNone/>
            </ns1:pPr>
            <ns1:r>
              <ns1:rPr lang="en-US" sz="1650" b="1" dirty="0">
                <ns1:solidFill>
                  <ns1:srgbClr val="0550AE"/>
                </ns1:solidFill>
                <ns1:latin typeface="Courier New" pitchFamily="34" charset="0"/>
                <ns1:ea typeface="Courier New" pitchFamily="34" charset="-122"/>
                <ns1:cs typeface="Courier New" pitchFamily="34" charset="-120"/>
              </ns1:rPr>
              <ns1:t>/create-canvas</ns1:t>
            </ns1:r>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 prompt builds it.</ns1:t>
            </ns1:r>
            <ns1:endParaRPr lang="en-US" sz="1650" dirty="0"/>
          </ns1:p>
        </ns0:txBody>
      </ns0:sp>
      <ns0:sp>
        <ns0:nvSpPr>
          <ns0:cNvPr id="9" name="Text 5"/>
          <ns0:cNvSpPr/>
          <ns0:nvPr/>
        </ns0:nvSpPr>
        <ns0:spPr>
          <ns1:xfrm>
            <ns1:off x="507950" y="1765548"/>
            <ns1:ext cx="381000" cy="381000"/>
          </ns1:xfrm>
          <ns1:prstGeom prst="roundRect">
            <ns1:avLst>
              <ns1:gd name="adj" fmla="val 23333"/>
            </ns1:avLst>
          </ns1:prstGeom>
          <ns1:solidFill>
            <ns1:srgbClr val="DAFBE1"/>
          </ns1:solidFill>
          <ns1:ln/>
        </ns0:spPr>
        <ns0:txBody>
          <ns1:bodyPr wrap="square" rtlCol="0" anchor="ctr"/>
          <ns1:lstStyle/>
          <ns1:p>
            <ns1:pPr indent="0" marL="0">
              <ns1:buNone/>
            </ns1:pPr>
            <ns1:endParaRPr lang="en-US" dirty="0"/>
          </ns1:p>
        </ns0:txBody>
      </ns0:sp>
      <ns0:pic>
        <ns0:nvPicPr>
          <ns0:cNvPr id="10" name="Image 2" descr="">
            <ns1:extLst>
              <ns1:ext uri="{C183D7F6-B498-43B3-948B-1728B52AA6E4}">
                <ns2:decorative val="1"/>
              </ns1:ext>
            </ns1:extLst>
          </ns0:cNvPr>
          <ns0:cNvPicPr>
            <ns1:picLocks noChangeAspect="1"/>
          </ns0:cNvPicPr>
          <ns0:nvPr/>
        </ns0:nvPicPr>
        <ns0:blipFill>
          <ns1:blip ns3:embed="rId4"/>
          <ns1:stretch>
            <ns1:fillRect/>
          </ns1:stretch>
        </ns0:blipFill>
        <ns0:spPr>
          <ns1:xfrm>
            <ns1:off x="590550" y="1848148"/>
            <ns1:ext cx="215801" cy="215801"/>
          </ns1:xfrm>
          <ns1:prstGeom prst="rect">
            <ns1:avLst/>
          </ns1:prstGeom>
        </ns0:spPr>
      </ns0:pic>
      <ns0:sp>
        <ns0:nvSpPr>
          <ns0:cNvPr id="11" name="Text 6"/>
          <ns0:cNvSpPr/>
          <ns0:nvPr/>
        </ns0:nvSpPr>
        <ns0:spPr>
          <ns1:xfrm>
            <ns1:off x="1041350" y="1730127"/>
            <ns1:ext cx="1562070" cy="228600"/>
          </ns1:xfrm>
          <ns1:prstGeom prst="rect">
            <ns1:avLst/>
          </ns1:prstGeom>
          <ns1:noFill/>
          <ns1:ln/>
        </ns0:spPr>
        <ns0:txBody>
          <ns1:bodyPr wrap="square" lIns="0" tIns="0" rIns="0" bIns="0" rtlCol="0" anchor="t"/>
          <ns1:lstStyle/>
          <ns1:p>
            <ns1:pPr algn="l" indent="0" marL="0">
              <ns1:buNone/>
            </ns1:pPr>
            <ns1:r>
              <ns1:rPr lang="en-US" sz="1550" b="1" dirty="0">
                <ns1:solidFill>
                  <ns1:srgbClr val="1F2328"/>
                </ns1:solidFill>
                <ns1:latin typeface="Arial" pitchFamily="34" charset="0"/>
                <ns1:ea typeface="Arial" pitchFamily="34" charset="-122"/>
                <ns1:cs typeface="Arial" pitchFamily="34" charset="-120"/>
              </ns1:rPr>
              <ns1:t>Five stages</ns1:t>
            </ns1:r>
            <ns1:endParaRPr lang="en-US" sz="1550" dirty="0"/>
          </ns1:p>
        </ns0:txBody>
      </ns0:sp>
      <ns0:sp>
        <ns0:nvSpPr>
          <ns0:cNvPr id="12" name="Text 7"/>
          <ns0:cNvSpPr/>
          <ns0:nvPr/>
        </ns0:nvSpPr>
        <ns0:spPr>
          <ns1:xfrm>
            <ns1:off x="1041350" y="1984028"/>
            <ns1:ext cx="1562070"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Propose to Validate.</ns1:t>
            </ns1:r>
            <ns1:endParaRPr lang="en-US" sz="1350" dirty="0"/>
          </ns1:p>
        </ns0:txBody>
      </ns0:sp>
      <ns0:sp>
        <ns0:nvSpPr>
          <ns0:cNvPr id="13" name="Text 8"/>
          <ns0:cNvSpPr/>
          <ns0:nvPr/>
        </ns0:nvSpPr>
        <ns0:spPr>
          <ns1:xfrm>
            <ns1:off x="507950" y="2494359"/>
            <ns1:ext cx="381000" cy="381000"/>
          </ns1:xfrm>
          <ns1:prstGeom prst="roundRect">
            <ns1:avLst>
              <ns1:gd name="adj" fmla="val 23333"/>
            </ns1:avLst>
          </ns1:prstGeom>
          <ns1:solidFill>
            <ns1:srgbClr val="DAFBE1"/>
          </ns1:solidFill>
          <ns1:ln/>
        </ns0:spPr>
        <ns0:txBody>
          <ns1:bodyPr wrap="square" rtlCol="0" anchor="ctr"/>
          <ns1:lstStyle/>
          <ns1:p>
            <ns1:pPr indent="0" marL="0">
              <ns1:buNone/>
            </ns1:pPr>
            <ns1:endParaRPr lang="en-US" dirty="0"/>
          </ns1:p>
        </ns0:txBody>
      </ns0:sp>
      <ns0:pic>
        <ns0:nvPicPr>
          <ns0:cNvPr id="14" name="Image 3" descr="">
            <ns1:extLst>
              <ns1:ext uri="{C183D7F6-B498-43B3-948B-1728B52AA6E4}">
                <ns2:decorative val="1"/>
              </ns1:ext>
            </ns1:extLst>
          </ns0:cNvPr>
          <ns0:cNvPicPr>
            <ns1:picLocks noChangeAspect="1"/>
          </ns0:cNvPicPr>
          <ns0:nvPr/>
        </ns0:nvPicPr>
        <ns0:blipFill>
          <ns1:blip ns3:embed="rId5"/>
          <ns1:stretch>
            <ns1:fillRect/>
          </ns1:stretch>
        </ns0:blipFill>
        <ns0:spPr>
          <ns1:xfrm>
            <ns1:off x="590550" y="2576959"/>
            <ns1:ext cx="215801" cy="215801"/>
          </ns1:xfrm>
          <ns1:prstGeom prst="rect">
            <ns1:avLst/>
          </ns1:prstGeom>
        </ns0:spPr>
      </ns0:pic>
      <ns0:sp>
        <ns0:nvSpPr>
          <ns0:cNvPr id="15" name="Text 9"/>
          <ns0:cNvSpPr/>
          <ns0:nvPr/>
        </ns0:nvSpPr>
        <ns0:spPr>
          <ns1:xfrm>
            <ns1:off x="1041350" y="2359819"/>
            <ns1:ext cx="2564892" cy="228600"/>
          </ns1:xfrm>
          <ns1:prstGeom prst="rect">
            <ns1:avLst/>
          </ns1:prstGeom>
          <ns1:noFill/>
          <ns1:ln/>
        </ns0:spPr>
        <ns0:txBody>
          <ns1:bodyPr wrap="square" lIns="0" tIns="0" rIns="0" bIns="0" rtlCol="0" anchor="t"/>
          <ns1:lstStyle/>
          <ns1:p>
            <ns1:pPr algn="l" indent="0" marL="0">
              <ns1:buNone/>
            </ns1:pPr>
            <ns1:r>
              <ns1:rPr lang="en-US" sz="1550" b="1" dirty="0">
                <ns1:solidFill>
                  <ns1:srgbClr val="1F2328"/>
                </ns1:solidFill>
                <ns1:latin typeface="Arial" pitchFamily="34" charset="0"/>
                <ns1:ea typeface="Arial" pitchFamily="34" charset="-122"/>
                <ns1:cs typeface="Arial" pitchFamily="34" charset="-120"/>
              </ns1:rPr>
              <ns1:t>Proposal</ns1:t>
            </ns1:r>
            <ns1:endParaRPr lang="en-US" sz="1550" dirty="0"/>
          </ns1:p>
        </ns0:txBody>
      </ns0:sp>
      <ns0:sp>
        <ns0:nvSpPr>
          <ns0:cNvPr id="16" name="Text 10"/>
          <ns0:cNvSpPr/>
          <ns0:nvPr/>
        </ns0:nvSpPr>
        <ns0:spPr>
          <ns1:xfrm>
            <ns1:off x="1041350" y="2613720"/>
            <ns1:ext cx="2564892" cy="39618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One field, one </ns1:t>
            </ns1:r>
            <ns1:pPr algn="l" indent="0" marL="0">
              <ns1:lnSpc>
                <ns1:spcPts val="1560"/>
              </ns1:lnSpc>
              <ns1:buNone/>
            </ns1:pPr>
            <ns1:r>
              <ns1:rPr lang="en-US" sz="1350" b="1" dirty="0">
                <ns1:solidFill>
                  <ns1:srgbClr val="59636E"/>
                </ns1:solidFill>
                <ns1:latin typeface="Arial" pitchFamily="34" charset="0"/>
                <ns1:ea typeface="Arial" pitchFamily="34" charset="-122"/>
                <ns1:cs typeface="Arial" pitchFamily="34" charset="-120"/>
              </ns1:rPr>
              <ns1:t>Generate plan</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 button.</ns1:t>
            </ns1:r>
            <ns1:endParaRPr lang="en-US" sz="1350" dirty="0"/>
          </ns1:p>
        </ns0:txBody>
      </ns0:sp>
      <ns0:sp>
        <ns0:nvSpPr>
          <ns0:cNvPr id="17" name="Text 11"/>
          <ns0:cNvSpPr/>
          <ns0:nvPr/>
        </ns0:nvSpPr>
        <ns0:spPr>
          <ns1:xfrm>
            <ns1:off x="507950" y="3322141"/>
            <ns1:ext cx="381000" cy="381000"/>
          </ns1:xfrm>
          <ns1:prstGeom prst="roundRect">
            <ns1:avLst>
              <ns1:gd name="adj" fmla="val 23333"/>
            </ns1:avLst>
          </ns1:prstGeom>
          <ns1:solidFill>
            <ns1:srgbClr val="DAFBE1"/>
          </ns1:solidFill>
          <ns1:ln/>
        </ns0:spPr>
        <ns0:txBody>
          <ns1:bodyPr wrap="square" rtlCol="0" anchor="ctr"/>
          <ns1:lstStyle/>
          <ns1:p>
            <ns1:pPr indent="0" marL="0">
              <ns1:buNone/>
            </ns1:pPr>
            <ns1:endParaRPr lang="en-US" dirty="0"/>
          </ns1:p>
        </ns0:txBody>
      </ns0:sp>
      <ns0:pic>
        <ns0:nvPicPr>
          <ns0:cNvPr id="18" name="Image 4" descr="">
            <ns1:extLst>
              <ns1:ext uri="{C183D7F6-B498-43B3-948B-1728B52AA6E4}">
                <ns2:decorative val="1"/>
              </ns1:ext>
            </ns1:extLst>
          </ns0:cNvPr>
          <ns0:cNvPicPr>
            <ns1:picLocks noChangeAspect="1"/>
          </ns0:cNvPicPr>
          <ns0:nvPr/>
        </ns0:nvPicPr>
        <ns0:blipFill>
          <ns1:blip ns3:embed="rId6"/>
          <ns1:stretch>
            <ns1:fillRect/>
          </ns1:stretch>
        </ns0:blipFill>
        <ns0:spPr>
          <ns1:xfrm>
            <ns1:off x="590550" y="3404741"/>
            <ns1:ext cx="215801" cy="215801"/>
          </ns1:xfrm>
          <ns1:prstGeom prst="rect">
            <ns1:avLst/>
          </ns1:prstGeom>
        </ns0:spPr>
      </ns0:pic>
      <ns0:sp>
        <ns0:nvSpPr>
          <ns0:cNvPr id="19" name="Text 12"/>
          <ns0:cNvSpPr/>
          <ns0:nvPr/>
        </ns0:nvSpPr>
        <ns0:spPr>
          <ns1:xfrm>
            <ns1:off x="1041350" y="3187601"/>
            <ns1:ext cx="2564892" cy="228600"/>
          </ns1:xfrm>
          <ns1:prstGeom prst="rect">
            <ns1:avLst/>
          </ns1:prstGeom>
          <ns1:noFill/>
          <ns1:ln/>
        </ns0:spPr>
        <ns0:txBody>
          <ns1:bodyPr wrap="square" lIns="0" tIns="0" rIns="0" bIns="0" rtlCol="0" anchor="t"/>
          <ns1:lstStyle/>
          <ns1:p>
            <ns1:pPr algn="l" indent="0" marL="0">
              <ns1:buNone/>
            </ns1:pPr>
            <ns1:r>
              <ns1:rPr lang="en-US" sz="1550" b="1" dirty="0">
                <ns1:solidFill>
                  <ns1:srgbClr val="1F2328"/>
                </ns1:solidFill>
                <ns1:latin typeface="Arial" pitchFamily="34" charset="0"/>
                <ns1:ea typeface="Arial" pitchFamily="34" charset="-122"/>
                <ns1:cs typeface="Arial" pitchFamily="34" charset="-120"/>
              </ns1:rPr>
              <ns1:t>Actions</ns1:t>
            </ns1:r>
            <ns1:endParaRPr lang="en-US" sz="1550" dirty="0"/>
          </ns1:p>
        </ns0:txBody>
      </ns0:sp>
      <ns0:sp>
        <ns0:nvSpPr>
          <ns0:cNvPr id="20" name="Text 13"/>
          <ns0:cNvSpPr/>
          <ns0:nvPr/>
        </ns0:nvSpPr>
        <ns0:spPr>
          <ns1:xfrm>
            <ns1:off x="1041350" y="3441502"/>
            <ns1:ext cx="2564892" cy="39618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Each action runs until its evidence is recorded.</ns1:t>
            </ns1:r>
            <ns1:endParaRPr lang="en-US" sz="1350" dirty="0"/>
          </ns1:p>
        </ns0:txBody>
      </ns0:sp>
      <ns0:sp>
        <ns0:nvSpPr>
          <ns0:cNvPr id="21" name="Text 14"/>
          <ns0:cNvSpPr/>
          <ns0:nvPr/>
        </ns0:nvSpPr>
        <ns0:spPr>
          <ns1:xfrm>
            <ns1:off x="507950" y="4050804"/>
            <ns1:ext cx="381000" cy="381000"/>
          </ns1:xfrm>
          <ns1:prstGeom prst="roundRect">
            <ns1:avLst>
              <ns1:gd name="adj" fmla="val 23333"/>
            </ns1:avLst>
          </ns1:prstGeom>
          <ns1:solidFill>
            <ns1:srgbClr val="DAFBE1"/>
          </ns1:solidFill>
          <ns1:ln/>
        </ns0:spPr>
        <ns0:txBody>
          <ns1:bodyPr wrap="square" rtlCol="0" anchor="ctr"/>
          <ns1:lstStyle/>
          <ns1:p>
            <ns1:pPr indent="0" marL="0">
              <ns1:buNone/>
            </ns1:pPr>
            <ns1:endParaRPr lang="en-US" dirty="0"/>
          </ns1:p>
        </ns0:txBody>
      </ns0:sp>
      <ns0:pic>
        <ns0:nvPicPr>
          <ns0:cNvPr id="22" name="Image 5" descr="">
            <ns1:extLst>
              <ns1:ext uri="{C183D7F6-B498-43B3-948B-1728B52AA6E4}">
                <ns2:decorative val="1"/>
              </ns1:ext>
            </ns1:extLst>
          </ns0:cNvPr>
          <ns0:cNvPicPr>
            <ns1:picLocks noChangeAspect="1"/>
          </ns0:cNvPicPr>
          <ns0:nvPr/>
        </ns0:nvPicPr>
        <ns0:blipFill>
          <ns1:blip ns3:embed="rId7"/>
          <ns1:stretch>
            <ns1:fillRect/>
          </ns1:stretch>
        </ns0:blipFill>
        <ns0:spPr>
          <ns1:xfrm>
            <ns1:off x="590550" y="4133404"/>
            <ns1:ext cx="215801" cy="215801"/>
          </ns1:xfrm>
          <ns1:prstGeom prst="rect">
            <ns1:avLst/>
          </ns1:prstGeom>
        </ns0:spPr>
      </ns0:pic>
      <ns0:sp>
        <ns0:nvSpPr>
          <ns0:cNvPr id="23" name="Text 15"/>
          <ns0:cNvSpPr/>
          <ns0:nvPr/>
        </ns0:nvSpPr>
        <ns0:spPr>
          <ns1:xfrm>
            <ns1:off x="1041350" y="4015383"/>
            <ns1:ext cx="2274490" cy="228600"/>
          </ns1:xfrm>
          <ns1:prstGeom prst="rect">
            <ns1:avLst/>
          </ns1:prstGeom>
          <ns1:noFill/>
          <ns1:ln/>
        </ns0:spPr>
        <ns0:txBody>
          <ns1:bodyPr wrap="square" lIns="0" tIns="0" rIns="0" bIns="0" rtlCol="0" anchor="t"/>
          <ns1:lstStyle/>
          <ns1:p>
            <ns1:pPr algn="l" indent="0" marL="0">
              <ns1:buNone/>
            </ns1:pPr>
            <ns1:r>
              <ns1:rPr lang="en-US" sz="1550" b="1" dirty="0">
                <ns1:solidFill>
                  <ns1:srgbClr val="1F2328"/>
                </ns1:solidFill>
                <ns1:latin typeface="Arial" pitchFamily="34" charset="0"/>
                <ns1:ea typeface="Arial" pitchFamily="34" charset="-122"/>
                <ns1:cs typeface="Arial" pitchFamily="34" charset="-120"/>
              </ns1:rPr>
              <ns1:t>Checklist and evidence</ns1:t>
            </ns1:r>
            <ns1:endParaRPr lang="en-US" sz="1550" dirty="0"/>
          </ns1:p>
        </ns0:txBody>
      </ns0:sp>
      <ns0:sp>
        <ns0:nvSpPr>
          <ns0:cNvPr id="24" name="Text 16"/>
          <ns0:cNvSpPr/>
          <ns0:nvPr/>
        </ns0:nvSpPr>
        <ns0:spPr>
          <ns1:xfrm>
            <ns1:off x="1041350" y="4269284"/>
            <ns1:ext cx="2274490"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Marked only from real output.</ns1:t>
            </ns1:r>
            <ns1:endParaRPr lang="en-US" sz="1350" dirty="0"/>
          </ns1:p>
        </ns0:txBody>
      </ns0:sp>
      <ns0:sp>
        <ns0:nvSpPr>
          <ns0:cNvPr id="25" name="Text 17"/>
          <ns0:cNvSpPr/>
          <ns0:nvPr/>
        </ns0:nvSpPr>
        <ns0:spPr>
          <ns1:xfrm>
            <ns1:off x="3762226" y="1973461"/>
            <ns1:ext cx="4870400" cy="2250430"/>
          </ns1:xfrm>
          <ns1:prstGeom prst="roundRect">
            <ns1:avLst>
              <ns1:gd name="adj" fmla="val 3386"/>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26" name="Image 6" descr="Feature Workbench canvas in the side panel with five stages, a feature proposal field, actions, a checklist, and an empty evidence area"/>
          <ns0:cNvPicPr>
            <ns1:picLocks noChangeAspect="1"/>
          </ns0:cNvPicPr>
          <ns0:nvPr/>
        </ns0:nvPicPr>
        <ns0:blipFill>
          <ns1:blip ns3:embed="rId8"/>
          <ns1:stretch>
            <ns1:fillRect/>
          </ns1:stretch>
        </ns0:blipFill>
        <ns0:spPr>
          <ns1:xfrm>
            <ns1:off x="3809851" y="2021086"/>
            <ns1:ext cx="4775150" cy="2155180"/>
          </ns1:xfrm>
          <ns1:prstGeom prst="rect">
            <ns1:avLst/>
          </ns1:prstGeom>
        </ns0:spPr>
      </ns0:pic>
    </ns0:spTree>
  </ns0:cSld>
  <ns0:clrMapOvr>
    <ns1:masterClrMapping/>
  </ns0:clrMapOvr>
</ns0:sld>
</file>

<file path=ppt/slides/slide11.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11">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06</ns1:t>
            </ns1:r>
            <ns1:endParaRPr lang="en-US" sz="1150" dirty="0"/>
          </ns1:p>
        </ns0:txBody>
      </ns0:sp>
      <ns0:pic>
        <ns0:nvPicPr>
          <ns0:cNvPr id="5" name="Image 1" descr="Open this chapter on GitHub">
            <ns1:hlinkClick ns3:id="rId3" tooltip="https://github.com/github/copilot-app-for-beginners/tree/main/06-canvase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1A7F37"/>
                </ns1:solidFill>
                <ns1:latin typeface="Arial" pitchFamily="34" charset="0"/>
                <ns1:ea typeface="Arial" pitchFamily="34" charset="-122"/>
                <ns1:cs typeface="Arial" pitchFamily="34" charset="-120"/>
              </ns1:rPr>
              <ns1:t>PROPOSE, PLAN, AND BASELINE</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Plan on the board. Approve in the Plan tab.</ns1:t>
            </ns1:r>
            <ns1:endParaRPr lang="en-US" sz="2800" dirty="0"/>
          </ns1:p>
        </ns0:txBody>
      </ns0:sp>
      <ns0:sp>
        <ns0:nvSpPr>
          <ns0:cNvPr id="8" name="Text 4"/>
          <ns0:cNvSpPr/>
          <ns0:nvPr/>
        </ns0:nvSpPr>
        <ns0:spPr>
          <ns1:xfrm>
            <ns1:off x="507950" y="1104751"/>
            <ns1:ext cx="8161020" cy="25405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Proposal: a </ns1:t>
            </ns1:r>
            <ns1:pPr algn="l" indent="0" marL="0">
              <ns1:lnSpc>
                <ns1:spcPts val="2000"/>
              </ns1:lnSpc>
              <ns1:spcBef>
                <ns1:spcPts val="500"/>
              </ns1:spcBef>
              <ns1:buNone/>
            </ns1:pPr>
            <ns1:r>
              <ns1:rPr lang="en-US" sz="1650" b="1" dirty="0">
                <ns1:solidFill>
                  <ns1:srgbClr val="59636E"/>
                </ns1:solidFill>
                <ns1:latin typeface="Arial" pitchFamily="34" charset="0"/>
                <ns1:ea typeface="Arial" pitchFamily="34" charset="-122"/>
                <ns1:cs typeface="Arial" pitchFamily="34" charset="-120"/>
              </ns1:rPr>
              <ns1:t>Clear filters</ns1:t>
            </ns1:r>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 control, shown only when a filter is active.</ns1:t>
            </ns1:r>
            <ns1:endParaRPr lang="en-US" sz="1650" dirty="0"/>
          </ns1:p>
        </ns0:txBody>
      </ns0:sp>
      <ns0:sp>
        <ns0:nvSpPr>
          <ns0:cNvPr id="9" name="Text 5"/>
          <ns0:cNvSpPr/>
          <ns0:nvPr/>
        </ns0:nvSpPr>
        <ns0:spPr>
          <ns1:xfrm>
            <ns1:off x="507950" y="2313980"/>
            <ns1:ext cx="330101" cy="330101"/>
          </ns1:xfrm>
          <ns1:prstGeom prst="roundRect">
            <ns1:avLst>
              <ns1:gd name="adj" fmla="val 277006"/>
            </ns1:avLst>
          </ns1:prstGeom>
          <ns1:solidFill>
            <ns1:srgbClr val="1A7F37"/>
          </ns1:solidFill>
          <ns1:ln/>
        </ns0:spPr>
        <ns0:txBody>
          <ns1:bodyPr wrap="square" rtlCol="0" anchor="ctr"/>
          <ns1:lstStyle/>
          <ns1:p>
            <ns1:pPr indent="0" marL="0">
              <ns1:buNone/>
            </ns1:pPr>
            <ns1:endParaRPr lang="en-US" dirty="0"/>
          </ns1:p>
        </ns0:txBody>
      </ns0:sp>
      <ns0:sp>
        <ns0:nvSpPr>
          <ns0:cNvPr id="10" name="Text 6"/>
          <ns0:cNvSpPr/>
          <ns0:nvPr/>
        </ns0:nvSpPr>
        <ns0:spPr>
          <ns1:xfrm>
            <ns1:off x="620630" y="2374255"/>
            <ns1:ext cx="104593" cy="209550"/>
          </ns1:xfrm>
          <ns1:prstGeom prst="rect">
            <ns1:avLst/>
          </ns1:prstGeom>
          <ns1:noFill/>
          <ns1:ln/>
        </ns0:spPr>
        <ns0:txBody>
          <ns1:bodyPr wrap="square" lIns="0" tIns="0" rIns="0" bIns="0" rtlCol="0" anchor="t"/>
          <ns1:lstStyle/>
          <ns1:p>
            <ns1:pPr algn="ctr" indent="0" marL="0">
              <ns1:buNone/>
            </ns1:pPr>
            <ns1:r>
              <ns1:rPr lang="en-US" sz="1450" b="1" dirty="0">
                <ns1:solidFill>
                  <ns1:srgbClr val="FFFFFF"/>
                </ns1:solidFill>
                <ns1:latin typeface="Arial" pitchFamily="34" charset="0"/>
                <ns1:ea typeface="Arial" pitchFamily="34" charset="-122"/>
                <ns1:cs typeface="Arial" pitchFamily="34" charset="-120"/>
              </ns1:rPr>
              <ns1:t>1</ns1:t>
            </ns1:r>
            <ns1:endParaRPr lang="en-US" sz="1450" dirty="0"/>
          </ns1:p>
        </ns0:txBody>
      </ns0:sp>
      <ns0:sp>
        <ns0:nvSpPr>
          <ns0:cNvPr id="11" name="Text 7"/>
          <ns0:cNvSpPr/>
          <ns0:nvPr/>
        </ns0:nvSpPr>
        <ns0:spPr>
          <ns1:xfrm>
            <ns1:off x="1015752" y="1872555"/>
            <ns1:ext cx="6475661" cy="1212800"/>
          </ns1:xfrm>
          <ns1:prstGeom prst="roundRect">
            <ns1:avLst>
              <ns1:gd name="adj" fmla="val 6283"/>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12" name="Image 2" descr="Feature Workbench with the Propose and Plan stages complete and the status Approved"/>
          <ns0:cNvPicPr>
            <ns1:picLocks noChangeAspect="1"/>
          </ns0:cNvPicPr>
          <ns0:nvPr/>
        </ns0:nvPicPr>
        <ns0:blipFill>
          <ns1:blip ns3:embed="rId4"/>
          <ns1:stretch>
            <ns1:fillRect/>
          </ns1:stretch>
        </ns0:blipFill>
        <ns0:spPr>
          <ns1:xfrm>
            <ns1:off x="1063377" y="1920180"/>
            <ns1:ext cx="6380411" cy="1117550"/>
          </ns1:xfrm>
          <ns1:prstGeom prst="rect">
            <ns1:avLst/>
          </ns1:prstGeom>
        </ns0:spPr>
      </ns0:pic>
      <ns0:sp>
        <ns0:nvSpPr>
          <ns0:cNvPr id="13" name="Text 8"/>
          <ns0:cNvSpPr/>
          <ns0:nvPr/>
        </ns0:nvSpPr>
        <ns0:spPr>
          <ns1:xfrm>
            <ns1:off x="507950" y="3444180"/>
            <ns1:ext cx="330101" cy="330101"/>
          </ns1:xfrm>
          <ns1:prstGeom prst="roundRect">
            <ns1:avLst>
              <ns1:gd name="adj" fmla="val 277006"/>
            </ns1:avLst>
          </ns1:prstGeom>
          <ns1:solidFill>
            <ns1:srgbClr val="1A7F37"/>
          </ns1:solidFill>
          <ns1:ln/>
        </ns0:spPr>
        <ns0:txBody>
          <ns1:bodyPr wrap="square" rtlCol="0" anchor="ctr"/>
          <ns1:lstStyle/>
          <ns1:p>
            <ns1:pPr indent="0" marL="0">
              <ns1:buNone/>
            </ns1:pPr>
            <ns1:endParaRPr lang="en-US" dirty="0"/>
          </ns1:p>
        </ns0:txBody>
      </ns0:sp>
      <ns0:sp>
        <ns0:nvSpPr>
          <ns0:cNvPr id="14" name="Text 9"/>
          <ns0:cNvSpPr/>
          <ns0:nvPr/>
        </ns0:nvSpPr>
        <ns0:spPr>
          <ns1:xfrm>
            <ns1:off x="620630" y="3504456"/>
            <ns1:ext cx="104593" cy="209550"/>
          </ns1:xfrm>
          <ns1:prstGeom prst="rect">
            <ns1:avLst/>
          </ns1:prstGeom>
          <ns1:noFill/>
          <ns1:ln/>
        </ns0:spPr>
        <ns0:txBody>
          <ns1:bodyPr wrap="square" lIns="0" tIns="0" rIns="0" bIns="0" rtlCol="0" anchor="t"/>
          <ns1:lstStyle/>
          <ns1:p>
            <ns1:pPr algn="ctr" indent="0" marL="0">
              <ns1:buNone/>
            </ns1:pPr>
            <ns1:r>
              <ns1:rPr lang="en-US" sz="1450" b="1" dirty="0">
                <ns1:solidFill>
                  <ns1:srgbClr val="FFFFFF"/>
                </ns1:solidFill>
                <ns1:latin typeface="Arial" pitchFamily="34" charset="0"/>
                <ns1:ea typeface="Arial" pitchFamily="34" charset="-122"/>
                <ns1:cs typeface="Arial" pitchFamily="34" charset="-120"/>
              </ns1:rPr>
              <ns1:t>2</ns1:t>
            </ns1:r>
            <ns1:endParaRPr lang="en-US" sz="1450" dirty="0"/>
          </ns1:p>
        </ns0:txBody>
      </ns0:sp>
      <ns0:sp>
        <ns0:nvSpPr>
          <ns0:cNvPr id="15" name="Text 10"/>
          <ns0:cNvSpPr/>
          <ns0:nvPr/>
        </ns0:nvSpPr>
        <ns0:spPr>
          <ns1:xfrm>
            <ns1:off x="1015752" y="3316486"/>
            <ns1:ext cx="7613600" cy="585341"/>
          </ns1:xfrm>
          <ns1:prstGeom prst="roundRect">
            <ns1:avLst>
              <ns1:gd name="adj" fmla="val 13018"/>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16" name="Image 3" descr="Feature Workbench baseline evidence with 4 of 4 tests passed and a passing build"/>
          <ns0:cNvPicPr>
            <ns1:picLocks noChangeAspect="1"/>
          </ns0:cNvPicPr>
          <ns0:nvPr/>
        </ns0:nvPicPr>
        <ns0:blipFill>
          <ns1:blip ns3:embed="rId5"/>
          <ns1:stretch>
            <ns1:fillRect/>
          </ns1:stretch>
        </ns0:blipFill>
        <ns0:spPr>
          <ns1:xfrm>
            <ns1:off x="1063377" y="3364111"/>
            <ns1:ext cx="7518350" cy="490091"/>
          </ns1:xfrm>
          <ns1:prstGeom prst="rect">
            <ns1:avLst/>
          </ns1:prstGeom>
        </ns0:spPr>
      </ns0:pic>
      <ns0:sp>
        <ns0:nvSpPr>
          <ns0:cNvPr id="17" name="Text 11"/>
          <ns0:cNvSpPr/>
          <ns0:nvPr/>
        </ns0:nvSpPr>
        <ns0:spPr>
          <ns1:xfrm>
            <ns1:off x="507950" y="4129832"/>
            <ns1:ext cx="8290509" cy="223540"/>
          </ns1:xfrm>
          <ns1:prstGeom prst="rect">
            <ns1:avLst/>
          </ns1:prstGeom>
          <ns1:noFill/>
          <ns1:ln/>
        </ns0:spPr>
        <ns0:txBody>
          <ns1:bodyPr wrap="square" lIns="0" tIns="0" rIns="0" bIns="0" rtlCol="0" anchor="t"/>
          <ns1:lstStyle/>
          <ns1:p>
            <ns1:pPr algn="l" indent="0" marL="0">
              <ns1:lnSpc>
                <ns1:spcPts val="1760"/>
              </ns1:lnSpc>
              <ns1:buNone/>
            </ns1:pPr>
            <ns1:r>
              <ns1:rPr lang="en-US" sz="1450" b="1" dirty="0">
                <ns1:solidFill>
                  <ns1:srgbClr val="1F2328"/>
                </ns1:solidFill>
                <ns1:latin typeface="Arial" pitchFamily="34" charset="0"/>
                <ns1:ea typeface="Arial" pitchFamily="34" charset="-122"/>
                <ns1:cs typeface="Arial" pitchFamily="34" charset="-120"/>
              </ns1:rPr>
              <ns1:t>Generate the plan, exit Plan mode, then record baseline checks.</ns1:t>
            </ns1:r>
            <ns1:pPr algn="l" indent="0" marL="0">
              <ns1:lnSpc>
                <ns1:spcPts val="1760"/>
              </ns1:lnSpc>
              <ns1:buNone/>
            </ns1:pPr>
            <ns1:r>
              <ns1:rPr lang="en-US" sz="1450" dirty="0">
                <ns1:solidFill>
                  <ns1:srgbClr val="1F2328"/>
                </ns1:solidFill>
                <ns1:latin typeface="Arial" pitchFamily="34" charset="0"/>
                <ns1:ea typeface="Arial" pitchFamily="34" charset="-122"/>
                <ns1:cs typeface="Arial" pitchFamily="34" charset="-120"/>
              </ns1:rPr>
              <ns1:t/>
            </ns1:r>
            <ns1:pPr algn="l" indent="0" marL="0">
              <ns1:lnSpc>
                <ns1:spcPts val="1760"/>
              </ns1:lnSpc>
              <ns1:buNone/>
            </ns1:pPr>
            <ns1:r>
              <ns1:rPr lang="en-US" sz="1450" b="1" dirty="0">
                <ns1:solidFill>
                  <ns1:srgbClr val="1F2328"/>
                </ns1:solidFill>
                <ns1:latin typeface="Arial" pitchFamily="34" charset="0"/>
                <ns1:ea typeface="Arial" pitchFamily="34" charset="-122"/>
                <ns1:cs typeface="Arial" pitchFamily="34" charset="-120"/>
              </ns1:rPr>
              <ns1:t/>
            </ns1:r>
            <ns1:pPr algn="l" indent="0" marL="0">
              <ns1:lnSpc>
                <ns1:spcPts val="1760"/>
              </ns1:lnSpc>
              <ns1:buNone/>
            </ns1:pPr>
            <ns1:r>
              <ns1:rPr lang="en-US" sz="1450" dirty="0">
                <ns1:solidFill>
                  <ns1:srgbClr val="1F2328"/>
                </ns1:solidFill>
                <ns1:latin typeface="Arial" pitchFamily="34" charset="0"/>
                <ns1:ea typeface="Arial" pitchFamily="34" charset="-122"/>
                <ns1:cs typeface="Arial" pitchFamily="34" charset="-120"/>
              </ns1:rPr>
              <ns1:t/>
            </ns1:r>
            <ns1:pPr algn="l" indent="0" marL="0">
              <ns1:lnSpc>
                <ns1:spcPts val="1760"/>
              </ns1:lnSpc>
              <ns1:buNone/>
            </ns1:pPr>
            <ns1:r>
              <ns1:rPr lang="en-US" sz="1450" b="1" dirty="0">
                <ns1:solidFill>
                  <ns1:srgbClr val="1F2328"/>
                </ns1:solidFill>
                <ns1:latin typeface="Arial" pitchFamily="34" charset="0"/>
                <ns1:ea typeface="Arial" pitchFamily="34" charset="-122"/>
                <ns1:cs typeface="Arial" pitchFamily="34" charset="-120"/>
              </ns1:rPr>
              <ns1:t/>
            </ns1:r>
            <ns1:pPr algn="l" indent="0" marL="0">
              <ns1:lnSpc>
                <ns1:spcPts val="1760"/>
              </ns1:lnSpc>
              <ns1:buNone/>
            </ns1:pPr>
            <ns1:r>
              <ns1:rPr lang="en-US" sz="1450" dirty="0">
                <ns1:solidFill>
                  <ns1:srgbClr val="1F2328"/>
                </ns1:solidFill>
                <ns1:latin typeface="Arial" pitchFamily="34" charset="0"/>
                <ns1:ea typeface="Arial" pitchFamily="34" charset="-122"/>
                <ns1:cs typeface="Arial" pitchFamily="34" charset="-120"/>
              </ns1:rPr>
              <ns1:t/>
            </ns1:r>
            <ns1:endParaRPr lang="en-US" sz="1450" dirty="0"/>
          </ns1:p>
        </ns0:txBody>
      </ns0:sp>
    </ns0:spTree>
  </ns0:cSld>
  <ns0:clrMapOvr>
    <ns1:masterClrMapping/>
  </ns0:clrMapOvr>
</ns0:sld>
</file>

<file path=ppt/slides/slide12.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12">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06</ns1:t>
            </ns1:r>
            <ns1:endParaRPr lang="en-US" sz="1150" dirty="0"/>
          </ns1:p>
        </ns0:txBody>
      </ns0:sp>
      <ns0:pic>
        <ns0:nvPicPr>
          <ns0:cNvPr id="5" name="Image 1" descr="Open this chapter on GitHub">
            <ns1:hlinkClick ns3:id="rId3" tooltip="https://github.com/github/copilot-app-for-beginners/tree/main/06-canvase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1A7F37"/>
                </ns1:solidFill>
                <ns1:latin typeface="Arial" pitchFamily="34" charset="0"/>
                <ns1:ea typeface="Arial" pitchFamily="34" charset="-122"/>
                <ns1:cs typeface="Arial" pitchFamily="34" charset="-120"/>
              </ns1:rPr>
              <ns1:t>IMPLEMENT AND VALIDATE</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Implement, then check each state</ns1:t>
            </ns1:r>
            <ns1:endParaRPr lang="en-US" sz="2800" dirty="0"/>
          </ns1:p>
        </ns0:txBody>
      </ns0:sp>
      <ns0:sp>
        <ns0:nvSpPr>
          <ns0:cNvPr id="8" name="Text 4"/>
          <ns0:cNvSpPr/>
          <ns0:nvPr/>
        </ns0:nvSpPr>
        <ns0:spPr>
          <ns1:xfrm>
            <ns1:off x="507950" y="1104751"/>
            <ns1:ext cx="8161020" cy="25405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Unsupported browser checks become notes, not failures.</ns1:t>
            </ns1:r>
            <ns1:pPr algn="l" indent="0" marL="0">
              <ns1:lnSpc>
                <ns1:spcPts val="2000"/>
              </ns1:lnSpc>
              <ns1:spcBef>
                <ns1:spcPts val="500"/>
              </ns1:spcBef>
              <ns1:buNone/>
            </ns1:pPr>
            <ns1:pPr algn="l" indent="0" marL="0">
              <ns1:lnSpc>
                <ns1:spcPts val="2000"/>
              </ns1:lnSpc>
              <ns1:spcBef>
                <ns1:spcPts val="500"/>
              </ns1:spcBef>
              <ns1:buNone/>
            </ns1:pPr>
            <ns1:pPr algn="l" indent="0" marL="0">
              <ns1:lnSpc>
                <ns1:spcPts val="2000"/>
              </ns1:lnSpc>
              <ns1:spcBef>
                <ns1:spcPts val="500"/>
              </ns1:spcBef>
              <ns1:buNone/>
            </ns1:pPr>
            <ns1:pPr algn="l" indent="0" marL="0">
              <ns1:lnSpc>
                <ns1:spcPts val="2000"/>
              </ns1:lnSpc>
              <ns1:spcBef>
                <ns1:spcPts val="500"/>
              </ns1:spcBef>
              <ns1:buNone/>
            </ns1:pPr>
            <ns1:endParaRPr lang="en-US" sz="1650" dirty="0"/>
          </ns1:p>
        </ns0:txBody>
      </ns0:sp>
      <ns0:sp>
        <ns0:nvSpPr>
          <ns0:cNvPr id="9" name="Text 5"/>
          <ns0:cNvSpPr/>
          <ns0:nvPr/>
        </ns0:nvSpPr>
        <ns0:spPr>
          <ns1:xfrm>
            <ns1:off x="754261" y="1580108"/>
            <ns1:ext cx="7635180" cy="1415951"/>
          </ns1:xfrm>
          <ns1:prstGeom prst="roundRect">
            <ns1:avLst>
              <ns1:gd name="adj" fmla="val 5382"/>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10" name="Image 2" descr="Feature Workbench with the Implement stage complete and a Diff row in the evidence, next to the Changes pill above the prompt box"/>
          <ns0:cNvPicPr>
            <ns1:picLocks noChangeAspect="1"/>
          </ns0:cNvPicPr>
          <ns0:nvPr/>
        </ns0:nvPicPr>
        <ns0:blipFill>
          <ns1:blip ns3:embed="rId4"/>
          <ns1:stretch>
            <ns1:fillRect/>
          </ns1:stretch>
        </ns0:blipFill>
        <ns0:spPr>
          <ns1:xfrm>
            <ns1:off x="801886" y="1627733"/>
            <ns1:ext cx="7539930" cy="1320701"/>
          </ns1:xfrm>
          <ns1:prstGeom prst="rect">
            <ns1:avLst/>
          </ns1:prstGeom>
        </ns0:spPr>
      </ns0:pic>
      <ns0:sp>
        <ns0:nvSpPr>
          <ns0:cNvPr id="11" name="Text 6"/>
          <ns0:cNvSpPr/>
          <ns0:nvPr/>
        </ns0:nvSpPr>
        <ns0:spPr>
          <ns1:xfrm>
            <ns1:off x="507950" y="3202484"/>
            <ns1:ext cx="4825901" cy="1443335"/>
          </ns1:xfrm>
          <ns1:prstGeom prst="roundRect">
            <ns1:avLst>
              <ns1:gd name="adj" fmla="val 7039"/>
            </ns1:avLst>
          </ns1:prstGeom>
          <ns1:solidFill>
            <ns1:srgbClr val="FFFFFF"/>
          </ns1:solidFill>
          <ns1:ln w="9525">
            <ns1:solidFill>
              <ns1:srgbClr val="D1D9E0"/>
            </ns1:solidFill>
          </ns1:ln>
        </ns0:spPr>
        <ns0:txBody>
          <ns1:bodyPr wrap="square" rtlCol="0" anchor="ctr"/>
          <ns1:lstStyle/>
          <ns1:p>
            <ns1:pPr indent="0" marL="0">
              <ns1:buNone/>
            </ns1:pPr>
            <ns1:endParaRPr lang="en-US" dirty="0"/>
          </ns1:p>
        </ns0:txBody>
      </ns0:sp>
      <ns0:sp>
        <ns0:nvSpPr>
          <ns0:cNvPr id="12" name="Text 7"/>
          <ns0:cNvSpPr/>
          <ns0:nvPr/>
        </ns0:nvSpPr>
        <ns0:spPr>
          <ns1:xfrm>
            <ns1:off x="517475" y="3212009"/>
            <ns1:ext cx="4806851" cy="326975"/>
          </ns1:xfrm>
          <ns1:prstGeom prst="rect">
            <ns1:avLst/>
          </ns1:prstGeom>
          <ns1:solidFill>
            <ns1:srgbClr val="DDF4FF"/>
          </ns1:solidFill>
          <ns1:ln/>
        </ns0:spPr>
        <ns0:txBody>
          <ns1:bodyPr wrap="square" rtlCol="0" anchor="ctr"/>
          <ns1:lstStyle/>
          <ns1:p>
            <ns1:pPr indent="0" marL="0">
              <ns1:buNone/>
            </ns1:pPr>
            <ns1:endParaRPr lang="en-US" dirty="0"/>
          </ns1:p>
        </ns0:txBody>
      </ns0:sp>
      <ns0:sp>
        <ns0:nvSpPr>
          <ns0:cNvPr id="13" name="Shape 8"/>
          <ns0:cNvSpPr/>
          <ns0:nvPr/>
        </ns0:nvSpPr>
        <ns0:spPr>
          <ns1:xfrm>
            <ns1:off x="517475" y="3534221"/>
            <ns1:ext cx="4806851" cy="0"/>
          </ns1:xfrm>
          <ns1:prstGeom prst="line">
            <ns1:avLst/>
          </ns1:prstGeom>
          <ns1:noFill/>
          <ns1:ln w="9525">
            <ns1:solidFill>
              <ns1:srgbClr val="9CD7FF"/>
            </ns1:solidFill>
            <ns1:prstDash val="solid"/>
          </ns1:ln>
        </ns0:spPr>
      </ns0:sp>
      <ns0:sp>
        <ns0:nvSpPr>
          <ns0:cNvPr id="14" name="Text 9"/>
          <ns0:cNvSpPr/>
          <ns0:nvPr/>
        </ns0:nvSpPr>
        <ns0:spPr>
          <ns1:xfrm>
            <ns1:off x="669875" y="3288209"/>
            <ns1:ext cx="2409444" cy="165050"/>
          </ns1:xfrm>
          <ns1:prstGeom prst="rect">
            <ns1:avLst/>
          </ns1:prstGeom>
          <ns1:noFill/>
          <ns1:ln/>
        </ns0:spPr>
        <ns0:txBody>
          <ns1:bodyPr wrap="square" lIns="0" tIns="0" rIns="0" bIns="0" rtlCol="0" anchor="t"/>
          <ns1:lstStyle/>
          <ns1:p>
            <ns1:pPr algn="l" indent="0" marL="0">
              <ns1:lnSpc>
                <ns1:spcPts val="1300"/>
              </ns1:lnSpc>
              <ns1:buNone/>
            </ns1:pPr>
            <ns1:r>
              <ns1:rPr lang="en-US" sz="1150" b="1" dirty="0">
                <ns1:solidFill>
                  <ns1:srgbClr val="0969DA"/>
                </ns1:solidFill>
                <ns1:latin typeface="Arial" pitchFamily="34" charset="0"/>
                <ns1:ea typeface="Arial" pitchFamily="34" charset="-122"/>
                <ns1:cs typeface="Arial" pitchFamily="34" charset="-120"/>
              </ns1:rPr>
              <ns1:t>STATE</ns1:t>
            </ns1:r>
            <ns1:endParaRPr lang="en-US" sz="1150" dirty="0"/>
          </ns1:p>
        </ns0:txBody>
      </ns0:sp>
      <ns0:sp>
        <ns0:nvSpPr>
          <ns0:cNvPr id="15" name="Text 10"/>
          <ns0:cNvSpPr/>
          <ns0:nvPr/>
        </ns0:nvSpPr>
        <ns0:spPr>
          <ns1:xfrm>
            <ns1:off x="3336875" y="3288209"/>
            <ns1:ext cx="1891183" cy="165050"/>
          </ns1:xfrm>
          <ns1:prstGeom prst="rect">
            <ns1:avLst/>
          </ns1:prstGeom>
          <ns1:noFill/>
          <ns1:ln/>
        </ns0:spPr>
        <ns0:txBody>
          <ns1:bodyPr wrap="square" lIns="0" tIns="0" rIns="0" bIns="0" rtlCol="0" anchor="t"/>
          <ns1:lstStyle/>
          <ns1:p>
            <ns1:pPr algn="l" indent="0" marL="0">
              <ns1:lnSpc>
                <ns1:spcPts val="1300"/>
              </ns1:lnSpc>
              <ns1:buNone/>
            </ns1:pPr>
            <ns1:r>
              <ns1:rPr lang="en-US" sz="1150" b="1" dirty="0">
                <ns1:solidFill>
                  <ns1:srgbClr val="0969DA"/>
                </ns1:solidFill>
                <ns1:latin typeface="Arial" pitchFamily="34" charset="0"/>
                <ns1:ea typeface="Arial" pitchFamily="34" charset="-122"/>
                <ns1:cs typeface="Arial" pitchFamily="34" charset="-120"/>
              </ns1:rPr>
              <ns1:t>CLEAR FILTERS</ns1:t>
            </ns1:r>
            <ns1:endParaRPr lang="en-US" sz="1150" dirty="0"/>
          </ns1:p>
        </ns0:txBody>
      </ns0:sp>
      <ns0:sp>
        <ns0:nvSpPr>
          <ns0:cNvPr id="16" name="Shape 11"/>
          <ns0:cNvSpPr/>
          <ns0:nvPr/>
        </ns0:nvSpPr>
        <ns0:spPr>
          <ns1:xfrm>
            <ns1:off x="517475" y="3903166"/>
            <ns1:ext cx="4806851" cy="0"/>
          </ns1:xfrm>
          <ns1:prstGeom prst="line">
            <ns1:avLst/>
          </ns1:prstGeom>
          <ns1:noFill/>
          <ns1:ln w="9525">
            <ns1:solidFill>
              <ns1:srgbClr val="D1D9E0"/>
            </ns1:solidFill>
            <ns1:prstDash val="solid"/>
          </ns1:ln>
        </ns0:spPr>
      </ns0:sp>
      <ns0:sp>
        <ns0:nvSpPr>
          <ns0:cNvPr id="17" name="Text 12"/>
          <ns0:cNvSpPr/>
          <ns0:nvPr/>
        </ns0:nvSpPr>
        <ns0:spPr>
          <ns1:xfrm>
            <ns1:off x="669875" y="3615184"/>
            <ns1:ext cx="2409444"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b="1" dirty="0">
                <ns1:solidFill>
                  <ns1:srgbClr val="1F2328"/>
                </ns1:solidFill>
                <ns1:latin typeface="Arial" pitchFamily="34" charset="0"/>
                <ns1:ea typeface="Arial" pitchFamily="34" charset="-122"/>
                <ns1:cs typeface="Arial" pitchFamily="34" charset="-120"/>
              </ns1:rPr>
              <ns1:t>No filters active</ns1:t>
            </ns1:r>
            <ns1:endParaRPr lang="en-US" sz="1400" dirty="0"/>
          </ns1:p>
        </ns0:txBody>
      </ns0:sp>
      <ns0:sp>
        <ns0:nvSpPr>
          <ns0:cNvPr id="18" name="Text 13"/>
          <ns0:cNvSpPr/>
          <ns0:nvPr/>
        </ns0:nvSpPr>
        <ns0:spPr>
          <ns1:xfrm>
            <ns1:off x="3336875" y="3615184"/>
            <ns1:ext cx="1891183"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Hidden</ns1:t>
            </ns1:r>
            <ns1:endParaRPr lang="en-US" sz="1400" dirty="0"/>
          </ns1:p>
        </ns0:txBody>
      </ns0:sp>
      <ns0:sp>
        <ns0:nvSpPr>
          <ns0:cNvPr id="19" name="Shape 14"/>
          <ns0:cNvSpPr/>
          <ns0:nvPr/>
        </ns0:nvSpPr>
        <ns0:spPr>
          <ns1:xfrm>
            <ns1:off x="517475" y="4272111"/>
            <ns1:ext cx="4806851" cy="0"/>
          </ns1:xfrm>
          <ns1:prstGeom prst="line">
            <ns1:avLst/>
          </ns1:prstGeom>
          <ns1:noFill/>
          <ns1:ln w="9525">
            <ns1:solidFill>
              <ns1:srgbClr val="D1D9E0"/>
            </ns1:solidFill>
            <ns1:prstDash val="solid"/>
          </ns1:ln>
        </ns0:spPr>
      </ns0:sp>
      <ns0:sp>
        <ns0:nvSpPr>
          <ns0:cNvPr id="20" name="Text 15"/>
          <ns0:cNvSpPr/>
          <ns0:nvPr/>
        </ns0:nvSpPr>
        <ns0:spPr>
          <ns1:xfrm>
            <ns1:off x="669875" y="3984129"/>
            <ns1:ext cx="2409444"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b="1" dirty="0">
                <ns1:solidFill>
                  <ns1:srgbClr val="1F2328"/>
                </ns1:solidFill>
                <ns1:latin typeface="Arial" pitchFamily="34" charset="0"/>
                <ns1:ea typeface="Arial" pitchFamily="34" charset="-122"/>
                <ns1:cs typeface="Arial" pitchFamily="34" charset="-120"/>
              </ns1:rPr>
              <ns1:t>Any filter set</ns1:t>
            </ns1:r>
            <ns1:endParaRPr lang="en-US" sz="1400" dirty="0"/>
          </ns1:p>
        </ns0:txBody>
      </ns0:sp>
      <ns0:sp>
        <ns0:nvSpPr>
          <ns0:cNvPr id="21" name="Text 16"/>
          <ns0:cNvSpPr/>
          <ns0:nvPr/>
        </ns0:nvSpPr>
        <ns0:spPr>
          <ns1:xfrm>
            <ns1:off x="3336875" y="3984129"/>
            <ns1:ext cx="1891183"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Visible</ns1:t>
            </ns1:r>
            <ns1:endParaRPr lang="en-US" sz="1400" dirty="0"/>
          </ns1:p>
        </ns0:txBody>
      </ns0:sp>
      <ns0:sp>
        <ns0:nvSpPr>
          <ns0:cNvPr id="22" name="Text 17"/>
          <ns0:cNvSpPr/>
          <ns0:nvPr/>
        </ns0:nvSpPr>
        <ns0:spPr>
          <ns1:xfrm>
            <ns1:off x="669875" y="4353074"/>
            <ns1:ext cx="2409444"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b="1" dirty="0">
                <ns1:solidFill>
                  <ns1:srgbClr val="1F2328"/>
                </ns1:solidFill>
                <ns1:latin typeface="Arial" pitchFamily="34" charset="0"/>
                <ns1:ea typeface="Arial" pitchFamily="34" charset="-122"/>
                <ns1:cs typeface="Arial" pitchFamily="34" charset="-120"/>
              </ns1:rPr>
              <ns1:t>After selecting it</ns1:t>
            </ns1:r>
            <ns1:endParaRPr lang="en-US" sz="1400" dirty="0"/>
          </ns1:p>
        </ns0:txBody>
      </ns0:sp>
      <ns0:sp>
        <ns0:nvSpPr>
          <ns0:cNvPr id="23" name="Text 18"/>
          <ns0:cNvSpPr/>
          <ns0:nvPr/>
        </ns0:nvSpPr>
        <ns0:spPr>
          <ns1:xfrm>
            <ns1:off x="3336875" y="4353074"/>
            <ns1:ext cx="1891183"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All filters reset</ns1:t>
            </ns1:r>
            <ns1:endParaRPr lang="en-US" sz="1400" dirty="0"/>
          </ns1:p>
        </ns0:txBody>
      </ns0:sp>
      <ns0:sp>
        <ns0:nvSpPr>
          <ns0:cNvPr id="24" name="Text 19"/>
          <ns0:cNvSpPr/>
          <ns0:nvPr/>
        </ns0:nvSpPr>
        <ns0:spPr>
          <ns1:xfrm>
            <ns1:off x="5537002" y="3564136"/>
            <ns1:ext cx="3098899" cy="720030"/>
          </ns1:xfrm>
          <ns1:prstGeom prst="roundRect">
            <ns1:avLst>
              <ns1:gd name="adj" fmla="val 14111"/>
            </ns1:avLst>
          </ns1:prstGeom>
          <ns1:solidFill>
            <ns1:srgbClr val="FBEFFF"/>
          </ns1:solidFill>
          <ns1:ln w="9525">
            <ns1:solidFill>
              <ns1:srgbClr val="E0C5FF"/>
            </ns1:solidFill>
          </ns1:ln>
        </ns0:spPr>
        <ns0:txBody>
          <ns1:bodyPr wrap="square" rtlCol="0" anchor="ctr"/>
          <ns1:lstStyle/>
          <ns1:p>
            <ns1:pPr indent="0" marL="0">
              <ns1:buNone/>
            </ns1:pPr>
            <ns1:endParaRPr lang="en-US" dirty="0"/>
          </ns1:p>
        </ns0:txBody>
      </ns0:sp>
      <ns0:pic>
        <ns0:nvPicPr>
          <ns0:cNvPr id="25" name="Image 3" descr="">
            <ns1:extLst>
              <ns1:ext uri="{C183D7F6-B498-43B3-948B-1728B52AA6E4}">
                <ns2:decorative val="1"/>
              </ns1:ext>
            </ns1:extLst>
          </ns0:cNvPr>
          <ns0:cNvPicPr>
            <ns1:picLocks noChangeAspect="1"/>
          </ns0:cNvPicPr>
          <ns0:nvPr/>
        </ns0:nvPicPr>
        <ns0:blipFill>
          <ns1:blip ns3:embed="rId5"/>
          <ns1:stretch>
            <ns1:fillRect/>
          </ns1:stretch>
        </ns0:blipFill>
        <ns0:spPr>
          <ns1:xfrm>
            <ns1:off x="5724227" y="3822502"/>
            <ns1:ext cx="203150" cy="203150"/>
          </ns1:xfrm>
          <ns1:prstGeom prst="rect">
            <ns1:avLst/>
          </ns1:prstGeom>
        </ns0:spPr>
      </ns0:pic>
      <ns0:sp>
        <ns0:nvSpPr>
          <ns0:cNvPr id="26" name="Text 20"/>
          <ns0:cNvSpPr/>
          <ns0:nvPr/>
        </ns0:nvSpPr>
        <ns0:spPr>
          <ns1:xfrm>
            <ns1:off x="6054328" y="3700611"/>
            <ns1:ext cx="2442234" cy="447080"/>
          </ns1:xfrm>
          <ns1:prstGeom prst="rect">
            <ns1:avLst/>
          </ns1:prstGeom>
          <ns1:noFill/>
          <ns1:ln/>
        </ns0:spPr>
        <ns0:txBody>
          <ns1:bodyPr wrap="square" lIns="0" tIns="0" rIns="0" bIns="0" rtlCol="0" anchor="t"/>
          <ns1:lstStyle/>
          <ns1:p>
            <ns1:pPr algn="l" indent="0" marL="0">
              <ns1:lnSpc>
                <ns1:spcPts val="1760"/>
              </ns1:lnSpc>
              <ns1:buNone/>
            </ns1:pPr>
            <ns1:r>
              <ns1:rPr lang="en-US" sz="1450" dirty="0">
                <ns1:solidFill>
                  <ns1:srgbClr val="1F2328"/>
                </ns1:solidFill>
                <ns1:latin typeface="Arial" pitchFamily="34" charset="0"/>
                <ns1:ea typeface="Arial" pitchFamily="34" charset="-122"/>
                <ns1:cs typeface="Arial" pitchFamily="34" charset="-120"/>
              </ns1:rPr>
              <ns1:t>Check the </ns1:t>
            </ns1:r>
            <ns1:pPr algn="l" indent="0" marL="0">
              <ns1:lnSpc>
                <ns1:spcPts val="1760"/>
              </ns1:lnSpc>
              <ns1:buNone/>
            </ns1:pPr>
            <ns1:r>
              <ns1:rPr lang="en-US" sz="1450" b="1" dirty="0">
                <ns1:solidFill>
                  <ns1:srgbClr val="1F2328"/>
                </ns1:solidFill>
                <ns1:latin typeface="Arial" pitchFamily="34" charset="0"/>
                <ns1:ea typeface="Arial" pitchFamily="34" charset="-122"/>
                <ns1:cs typeface="Arial" pitchFamily="34" charset="-120"/>
              </ns1:rPr>
              <ns1:t>Changes</ns1:t>
            </ns1:r>
            <ns1:pPr algn="l" indent="0" marL="0">
              <ns1:lnSpc>
                <ns1:spcPts val="1760"/>
              </ns1:lnSpc>
              <ns1:buNone/>
            </ns1:pPr>
            <ns1:r>
              <ns1:rPr lang="en-US" sz="1450" dirty="0">
                <ns1:solidFill>
                  <ns1:srgbClr val="1F2328"/>
                </ns1:solidFill>
                <ns1:latin typeface="Arial" pitchFamily="34" charset="0"/>
                <ns1:ea typeface="Arial" pitchFamily="34" charset="-122"/>
                <ns1:cs typeface="Arial" pitchFamily="34" charset="-120"/>
              </ns1:rPr>
              <ns1:t> tab: only the approved feature.</ns1:t>
            </ns1:r>
            <ns1:endParaRPr lang="en-US" sz="1450" dirty="0"/>
          </ns1:p>
        </ns0:txBody>
      </ns0:sp>
    </ns0:spTree>
  </ns0:cSld>
  <ns0:clrMapOvr>
    <ns1:masterClrMapping/>
  </ns0:clrMapOvr>
</ns0:sld>
</file>

<file path=ppt/slides/slide13.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13">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06</ns1:t>
            </ns1:r>
            <ns1:endParaRPr lang="en-US" sz="1150" dirty="0"/>
          </ns1:p>
        </ns0:txBody>
      </ns0:sp>
      <ns0:pic>
        <ns0:nvPicPr>
          <ns0:cNvPr id="5" name="Image 1" descr="Open this chapter on GitHub">
            <ns1:hlinkClick ns3:id="rId3" tooltip="https://github.com/github/copilot-app-for-beginners/tree/main/06-canvase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1A7F37"/>
                </ns1:solidFill>
                <ns1:latin typeface="Arial" pitchFamily="34" charset="0"/>
                <ns1:ea typeface="Arial" pitchFamily="34" charset="-122"/>
                <ns1:cs typeface="Arial" pitchFamily="34" charset="-120"/>
              </ns1:rPr>
              <ns1:t>EVIDENCE</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The board reflects what happened</ns1:t>
            </ns1:r>
            <ns1:endParaRPr lang="en-US" sz="2800" dirty="0"/>
          </ns1:p>
        </ns0:txBody>
      </ns0:sp>
      <ns0:sp>
        <ns0:nvSpPr>
          <ns0:cNvPr id="8" name="Text 4"/>
          <ns0:cNvSpPr/>
          <ns0:nvPr/>
        </ns0:nvSpPr>
        <ns0:spPr>
          <ns1:xfrm>
            <ns1:off x="507950" y="1104751"/>
            <ns1:ext cx="8161020" cy="25405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Select </ns1:t>
            </ns1:r>
            <ns1:pPr algn="l" indent="0" marL="0">
              <ns1:lnSpc>
                <ns1:spcPts val="2000"/>
              </ns1:lnSpc>
              <ns1:spcBef>
                <ns1:spcPts val="500"/>
              </ns1:spcBef>
              <ns1:buNone/>
            </ns1:pPr>
            <ns1:r>
              <ns1:rPr lang="en-US" sz="1650" b="1" dirty="0">
                <ns1:solidFill>
                  <ns1:srgbClr val="59636E"/>
                </ns1:solidFill>
                <ns1:latin typeface="Arial" pitchFamily="34" charset="0"/>
                <ns1:ea typeface="Arial" pitchFamily="34" charset="-122"/>
                <ns1:cs typeface="Arial" pitchFamily="34" charset="-120"/>
              </ns1:rPr>
              <ns1:t>Run final checks</ns1:t>
            </ns1:r>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 You decide if the evidence is enough.</ns1:t>
            </ns1:r>
            <ns1:endParaRPr lang="en-US" sz="1650" dirty="0"/>
          </ns1:p>
        </ns0:txBody>
      </ns0:sp>
      <ns0:sp>
        <ns0:nvSpPr>
          <ns0:cNvPr id="9" name="Text 5"/>
          <ns0:cNvSpPr/>
          <ns0:nvPr/>
        </ns0:nvSpPr>
        <ns0:spPr>
          <ns1:xfrm>
            <ns1:off x="511076" y="2204591"/>
            <ns1:ext cx="8121551" cy="841921"/>
          </ns1:xfrm>
          <ns1:prstGeom prst="roundRect">
            <ns1:avLst>
              <ns1:gd name="adj" fmla="val 9051"/>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10" name="Image 2" descr="Feature Workbench with all five stages complete, and evidence that shows 4 baseline tests and 14 final tests"/>
          <ns0:cNvPicPr>
            <ns1:picLocks noChangeAspect="1"/>
          </ns0:cNvPicPr>
          <ns0:nvPr/>
        </ns0:nvPicPr>
        <ns0:blipFill>
          <ns1:blip ns3:embed="rId4"/>
          <ns1:stretch>
            <ns1:fillRect/>
          </ns1:stretch>
        </ns0:blipFill>
        <ns0:spPr>
          <ns1:xfrm>
            <ns1:off x="558701" y="2252216"/>
            <ns1:ext cx="8026301" cy="746671"/>
          </ns1:xfrm>
          <ns1:prstGeom prst="rect">
            <ns1:avLst/>
          </ns1:prstGeom>
        </ns0:spPr>
      </ns0:pic>
      <ns0:sp>
        <ns0:nvSpPr>
          <ns0:cNvPr id="11" name="Text 6"/>
          <ns0:cNvSpPr/>
          <ns0:nvPr/>
        </ns0:nvSpPr>
        <ns0:spPr>
          <ns1:xfrm>
            <ns1:off x="507950" y="3400276"/>
            <ns1:ext cx="2413248" cy="768251"/>
          </ns1:xfrm>
          <ns1:prstGeom prst="roundRect">
            <ns1:avLst>
              <ns1:gd name="adj" fmla="val 16531"/>
            </ns1:avLst>
          </ns1:prstGeom>
          <ns1:noFill/>
          <ns1:ln w="9525">
            <ns1:solidFill>
              <ns1:srgbClr val="D1D9E0"/>
            </ns1:solidFill>
          </ns1:ln>
        </ns0:spPr>
        <ns0:txBody>
          <ns1:bodyPr wrap="square" rtlCol="0" anchor="ctr"/>
          <ns1:lstStyle/>
          <ns1:p>
            <ns1:pPr indent="0" marL="0">
              <ns1:buNone/>
            </ns1:pPr>
            <ns1:endParaRPr lang="en-US" dirty="0"/>
          </ns1:p>
        </ns0:txBody>
      </ns0:sp>
      <ns0:sp>
        <ns0:nvSpPr>
          <ns0:cNvPr id="12" name="Text 7"/>
          <ns0:cNvSpPr/>
          <ns0:nvPr/>
        </ns0:nvSpPr>
        <ns0:spPr>
          <ns1:xfrm>
            <ns1:off x="891778" y="3698677"/>
            <ns1:ext cx="753103" cy="171450"/>
          </ns1:xfrm>
          <ns1:prstGeom prst="rect">
            <ns1:avLst/>
          </ns1:prstGeom>
          <ns1:noFill/>
          <ns1:ln/>
        </ns0:spPr>
        <ns0:txBody>
          <ns1:bodyPr wrap="square" lIns="0" tIns="0" rIns="0" bIns="0" rtlCol="0" anchor="t"/>
          <ns1:lstStyle/>
          <ns1:p>
            <ns1:pPr algn="l" indent="0" marL="0">
              <ns1:buNone/>
            </ns1:pPr>
            <ns1:r>
              <ns1:rPr lang="en-US" sz="1150" b="1" dirty="0">
                <ns1:solidFill>
                  <ns1:srgbClr val="59636E"/>
                </ns1:solidFill>
                <ns1:latin typeface="Arial" pitchFamily="34" charset="0"/>
                <ns1:ea typeface="Arial" pitchFamily="34" charset="-122"/>
                <ns1:cs typeface="Arial" pitchFamily="34" charset="-120"/>
              </ns1:rPr>
              <ns1:t>BASELINE</ns1:t>
            </ns1:r>
            <ns1:endParaRPr lang="en-US" sz="1150" dirty="0"/>
          </ns1:p>
        </ns0:txBody>
      </ns0:sp>
      <ns0:sp>
        <ns0:nvSpPr>
          <ns0:cNvPr id="13" name="Text 8"/>
          <ns0:cNvSpPr/>
          <ns0:nvPr/>
        </ns0:nvSpPr>
        <ns0:spPr>
          <ns1:xfrm>
            <ns1:off x="1782514" y="3536752"/>
            <ns1:ext cx="245013" cy="495300"/>
          </ns1:xfrm>
          <ns1:prstGeom prst="rect">
            <ns1:avLst/>
          </ns1:prstGeom>
          <ns1:noFill/>
          <ns1:ln/>
        </ns0:spPr>
        <ns0:txBody>
          <ns1:bodyPr wrap="square" lIns="0" tIns="0" rIns="0" bIns="0" rtlCol="0" anchor="t"/>
          <ns1:lstStyle/>
          <ns1:p>
            <ns1:pPr algn="l" indent="0" marL="0">
              <ns1:buNone/>
            </ns1:pPr>
            <ns1:r>
              <ns1:rPr lang="en-US" sz="3400" b="1" dirty="0">
                <ns1:solidFill>
                  <ns1:srgbClr val="1F2328"/>
                </ns1:solidFill>
                <ns1:latin typeface="Arial" pitchFamily="34" charset="0"/>
                <ns1:ea typeface="Arial" pitchFamily="34" charset="-122"/>
                <ns1:cs typeface="Arial" pitchFamily="34" charset="-120"/>
              </ns1:rPr>
              <ns1:t>4</ns1:t>
            </ns1:r>
            <ns1:endParaRPr lang="en-US" sz="3400" dirty="0"/>
          </ns1:p>
        </ns0:txBody>
      </ns0:sp>
      <ns0:sp>
        <ns0:nvSpPr>
          <ns0:cNvPr id="14" name="Text 9"/>
          <ns0:cNvSpPr/>
          <ns0:nvPr/>
        </ns0:nvSpPr>
        <ns0:spPr>
          <ns1:xfrm>
            <ns1:off x="2175123" y="3684389"/>
            <ns1:ext cx="369341" cy="200025"/>
          </ns1:xfrm>
          <ns1:prstGeom prst="rect">
            <ns1:avLst/>
          </ns1:prstGeom>
          <ns1:noFill/>
          <ns1:ln/>
        </ns0:spPr>
        <ns0:txBody>
          <ns1:bodyPr wrap="square" lIns="0" tIns="0" rIns="0" bIns="0" rtlCol="0" anchor="t"/>
          <ns1:lstStyle/>
          <ns1:p>
            <ns1:pPr algn="l" indent="0" marL="0">
              <ns1:buNone/>
            </ns1:pPr>
            <ns1:r>
              <ns1:rPr lang="en-US" sz="1350" dirty="0">
                <ns1:solidFill>
                  <ns1:srgbClr val="59636E"/>
                </ns1:solidFill>
                <ns1:latin typeface="Arial" pitchFamily="34" charset="0"/>
                <ns1:ea typeface="Arial" pitchFamily="34" charset="-122"/>
                <ns1:cs typeface="Arial" pitchFamily="34" charset="-120"/>
              </ns1:rPr>
              <ns1:t>tests</ns1:t>
            </ns1:r>
            <ns1:endParaRPr lang="en-US" sz="1350" dirty="0"/>
          </ns1:p>
        </ns0:txBody>
      </ns0:sp>
      <ns0:sp>
        <ns0:nvSpPr>
          <ns0:cNvPr id="15" name="Text 10"/>
          <ns0:cNvSpPr/>
          <ns0:nvPr/>
        </ns0:nvSpPr>
        <ns0:spPr>
          <ns1:xfrm>
            <ns1:off x="3073598" y="3400276"/>
            <ns1:ext cx="2413397" cy="768251"/>
          </ns1:xfrm>
          <ns1:prstGeom prst="roundRect">
            <ns1:avLst>
              <ns1:gd name="adj" fmla="val 16531"/>
            </ns1:avLst>
          </ns1:prstGeom>
          <ns1:solidFill>
            <ns1:srgbClr val="DAFBE1"/>
          </ns1:solidFill>
          <ns1:ln w="9525">
            <ns1:solidFill>
              <ns1:srgbClr val="8CE7A5"/>
            </ns1:solidFill>
          </ns1:ln>
        </ns0:spPr>
        <ns0:txBody>
          <ns1:bodyPr wrap="square" rtlCol="0" anchor="ctr"/>
          <ns1:lstStyle/>
          <ns1:p>
            <ns1:pPr indent="0" marL="0">
              <ns1:buNone/>
            </ns1:pPr>
            <ns1:endParaRPr lang="en-US" dirty="0"/>
          </ns1:p>
        </ns0:txBody>
      </ns0:sp>
      <ns0:sp>
        <ns0:nvSpPr>
          <ns0:cNvPr id="16" name="Text 11"/>
          <ns0:cNvSpPr/>
          <ns0:nvPr/>
        </ns0:nvSpPr>
        <ns0:spPr>
          <ns1:xfrm>
            <ns1:off x="3611761" y="3698677"/>
            <ns1:ext cx="438564" cy="171450"/>
          </ns1:xfrm>
          <ns1:prstGeom prst="rect">
            <ns1:avLst/>
          </ns1:prstGeom>
          <ns1:noFill/>
          <ns1:ln/>
        </ns0:spPr>
        <ns0:txBody>
          <ns1:bodyPr wrap="square" lIns="0" tIns="0" rIns="0" bIns="0" rtlCol="0" anchor="t"/>
          <ns1:lstStyle/>
          <ns1:p>
            <ns1:pPr algn="l" indent="0" marL="0">
              <ns1:buNone/>
            </ns1:pPr>
            <ns1:r>
              <ns1:rPr lang="en-US" sz="1150" b="1" dirty="0">
                <ns1:solidFill>
                  <ns1:srgbClr val="1A7F37"/>
                </ns1:solidFill>
                <ns1:latin typeface="Arial" pitchFamily="34" charset="0"/>
                <ns1:ea typeface="Arial" pitchFamily="34" charset="-122"/>
                <ns1:cs typeface="Arial" pitchFamily="34" charset="-120"/>
              </ns1:rPr>
              <ns1:t>FINAL</ns1:t>
            </ns1:r>
            <ns1:endParaRPr lang="en-US" sz="1150" dirty="0"/>
          </ns1:p>
        </ns0:txBody>
      </ns0:sp>
      <ns0:sp>
        <ns0:nvSpPr>
          <ns0:cNvPr id="17" name="Text 12"/>
          <ns0:cNvSpPr/>
          <ns0:nvPr/>
        </ns0:nvSpPr>
        <ns0:spPr>
          <ns1:xfrm>
            <ns1:off x="4096631" y="3536752"/>
            <ns1:ext cx="600000" cy="495300"/>
          </ns1:xfrm>
          <ns1:prstGeom prst="rect">
            <ns1:avLst/>
          </ns1:prstGeom>
          <ns1:noFill/>
          <ns1:ln/>
        </ns0:spPr>
        <ns0:txBody>
          <ns1:bodyPr wrap="square" lIns="0" tIns="0" rIns="0" bIns="0" rtlCol="0" anchor="t"/>
          <ns1:lstStyle/>
          <ns1:p>
            <ns1:pPr algn="l" indent="0" marL="0">
              <ns1:buNone/>
            </ns1:pPr>
            <ns1:r>
              <ns1:rPr lang="en-US" sz="3000" b="1" dirty="0">
                <ns1:solidFill>
                  <ns1:srgbClr val="1A7F37"/>
                </ns1:solidFill>
                <ns1:latin typeface="Arial" pitchFamily="34" charset="0"/>
                <ns1:ea typeface="Arial" pitchFamily="34" charset="-122"/>
                <ns1:cs typeface="Arial" pitchFamily="34" charset="-120"/>
              </ns1:rPr>
              <ns1:t>14</ns1:t>
            </ns1:r>
            <ns1:endParaRPr lang="en-US" sz="3000" dirty="0"/>
          </ns1:p>
        </ns0:txBody>
      </ns0:sp>
      <ns0:sp>
        <ns0:nvSpPr>
          <ns0:cNvPr id="18" name="Text 13"/>
          <ns0:cNvSpPr/>
          <ns0:nvPr/>
        </ns0:nvSpPr>
        <ns0:spPr>
          <ns1:xfrm>
            <ns1:off x="4586734" y="3684389"/>
            <ns1:ext cx="369341" cy="200025"/>
          </ns1:xfrm>
          <ns1:prstGeom prst="rect">
            <ns1:avLst/>
          </ns1:prstGeom>
          <ns1:noFill/>
          <ns1:ln/>
        </ns0:spPr>
        <ns0:txBody>
          <ns1:bodyPr wrap="square" lIns="0" tIns="0" rIns="0" bIns="0" rtlCol="0" anchor="t"/>
          <ns1:lstStyle/>
          <ns1:p>
            <ns1:pPr algn="l" indent="0" marL="0">
              <ns1:buNone/>
            </ns1:pPr>
            <ns1:r>
              <ns1:rPr lang="en-US" sz="1350" dirty="0">
                <ns1:solidFill>
                  <ns1:srgbClr val="59636E"/>
                </ns1:solidFill>
                <ns1:latin typeface="Arial" pitchFamily="34" charset="0"/>
                <ns1:ea typeface="Arial" pitchFamily="34" charset="-122"/>
                <ns1:cs typeface="Arial" pitchFamily="34" charset="-120"/>
              </ns1:rPr>
              <ns1:t>tests</ns1:t>
            </ns1:r>
            <ns1:endParaRPr lang="en-US" sz="1350" dirty="0"/>
          </ns1:p>
        </ns0:txBody>
      </ns0:sp>
      <ns0:sp>
        <ns0:nvSpPr>
          <ns0:cNvPr id="19" name="Text 14"/>
          <ns0:cNvSpPr/>
          <ns0:nvPr/>
        </ns0:nvSpPr>
        <ns0:spPr>
          <ns1:xfrm>
            <ns1:off x="5639395" y="3560862"/>
            <ns1:ext cx="3056436" cy="447080"/>
          </ns1:xfrm>
          <ns1:prstGeom prst="rect">
            <ns1:avLst/>
          </ns1:prstGeom>
          <ns1:noFill/>
          <ns1:ln/>
        </ns0:spPr>
        <ns0:txBody>
          <ns1:bodyPr wrap="square" lIns="0" tIns="0" rIns="0" bIns="0" rtlCol="0" anchor="t"/>
          <ns1:lstStyle/>
          <ns1:p>
            <ns1:pPr algn="l" indent="0" marL="0">
              <ns1:lnSpc>
                <ns1:spcPts val="1760"/>
              </ns1:lnSpc>
              <ns1:buNone/>
            </ns1:pPr>
            <ns1:r>
              <ns1:rPr lang="en-US" sz="1450" dirty="0">
                <ns1:solidFill>
                  <ns1:srgbClr val="59636E"/>
                </ns1:solidFill>
                <ns1:latin typeface="Arial" pitchFamily="34" charset="0"/>
                <ns1:ea typeface="Arial" pitchFamily="34" charset="-122"/>
                <ns1:cs typeface="Arial" pitchFamily="34" charset="-120"/>
              </ns1:rPr>
              <ns1:t>The final total must never be lower than the baseline.</ns1:t>
            </ns1:r>
            <ns1:endParaRPr lang="en-US" sz="1450" dirty="0"/>
          </ns1:p>
        </ns0:txBody>
      </ns0:sp>
    </ns0:spTree>
  </ns0:cSld>
  <ns0:clrMapOvr>
    <ns1:masterClrMapping/>
  </ns0:clrMapOvr>
</ns0: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06</a:t>
            </a:r>
            <a:endParaRPr lang="en-US" sz="1150" dirty="0"/>
          </a:p>
        </p:txBody>
      </p:sp>
      <p:pic>
        <p:nvPicPr>
          <p:cNvPr id="5" name="Image 1" descr="Open this chapter on GitHub">
            <a:hlinkClick r:id="rId3" tooltip="https://github.com/github/copilot-app-for-beginners/tree/main/06-canvase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BC4C00"/>
                </a:solidFill>
                <a:latin typeface="Arial" pitchFamily="34" charset="0"/>
                <a:ea typeface="Arial" pitchFamily="34" charset="-122"/>
                <a:cs typeface="Arial" pitchFamily="34" charset="-120"/>
              </a:rPr>
              <a:t>YOUR TURN</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Add an Assess stage</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Compare a proposal with current behavior before planning.</a:t>
            </a:r>
            <a:endParaRPr lang="en-US" sz="1650" dirty="0"/>
          </a:p>
        </p:txBody>
      </p:sp>
      <p:sp>
        <p:nvSpPr>
          <p:cNvPr id="9" name="Text 5"/>
          <p:cNvSpPr/>
          <p:nvPr/>
        </p:nvSpPr>
        <p:spPr>
          <a:xfrm>
            <a:off x="507950" y="2056209"/>
            <a:ext cx="1074093" cy="396776"/>
          </a:xfrm>
          <a:prstGeom prst="roundRect">
            <a:avLst>
              <a:gd name="adj" fmla="val 19205"/>
            </a:avLst>
          </a:prstGeom>
          <a:solidFill>
            <a:srgbClr val="F6F8FA"/>
          </a:solidFill>
          <a:ln w="9525">
            <a:solidFill>
              <a:srgbClr val="D1D9E0"/>
            </a:solidFill>
          </a:ln>
        </p:spPr>
        <p:txBody>
          <a:bodyPr wrap="square" rtlCol="0" anchor="ctr"/>
          <a:lstStyle/>
          <a:p>
            <a:pPr indent="0" marL="0">
              <a:buNone/>
            </a:pPr>
            <a:endParaRPr lang="en-US" dirty="0"/>
          </a:p>
        </p:txBody>
      </p:sp>
      <p:sp>
        <p:nvSpPr>
          <p:cNvPr id="10" name="Text 6"/>
          <p:cNvSpPr/>
          <p:nvPr/>
        </p:nvSpPr>
        <p:spPr>
          <a:xfrm>
            <a:off x="532732" y="2154585"/>
            <a:ext cx="1024530" cy="200025"/>
          </a:xfrm>
          <a:prstGeom prst="rect">
            <a:avLst/>
          </a:prstGeom>
          <a:noFill/>
          <a:ln/>
        </p:spPr>
        <p:txBody>
          <a:bodyPr wrap="square" lIns="0" tIns="0" rIns="0" bIns="0" rtlCol="0" anchor="t"/>
          <a:lstStyle/>
          <a:p>
            <a:pPr algn="ctr" indent="0" marL="0">
              <a:buNone/>
            </a:pPr>
            <a:r>
              <a:rPr lang="en-US" sz="1300" b="1" dirty="0">
                <a:solidFill>
                  <a:srgbClr val="1F2328"/>
                </a:solidFill>
                <a:latin typeface="Arial" pitchFamily="34" charset="0"/>
                <a:ea typeface="Arial" pitchFamily="34" charset="-122"/>
                <a:cs typeface="Arial" pitchFamily="34" charset="-120"/>
              </a:rPr>
              <a:t>Propose</a:t>
            </a:r>
            <a:endParaRPr lang="en-US" sz="1300" dirty="0"/>
          </a:p>
        </p:txBody>
      </p:sp>
      <p:sp>
        <p:nvSpPr>
          <p:cNvPr id="11" name="Text 7"/>
          <p:cNvSpPr/>
          <p:nvPr/>
        </p:nvSpPr>
        <p:spPr>
          <a:xfrm>
            <a:off x="1658243" y="2149822"/>
            <a:ext cx="187934" cy="209550"/>
          </a:xfrm>
          <a:prstGeom prst="rect">
            <a:avLst/>
          </a:prstGeom>
          <a:noFill/>
          <a:ln/>
        </p:spPr>
        <p:txBody>
          <a:bodyPr wrap="square" lIns="0" tIns="0" rIns="0" bIns="0" rtlCol="0" anchor="t"/>
          <a:lstStyle/>
          <a:p>
            <a:pPr algn="l" indent="0" marL="0">
              <a:buNone/>
            </a:pPr>
            <a:r>
              <a:rPr lang="en-US" sz="1450" dirty="0">
                <a:solidFill>
                  <a:srgbClr val="818B98"/>
                </a:solidFill>
                <a:latin typeface="Arial" pitchFamily="34" charset="0"/>
                <a:ea typeface="Arial" pitchFamily="34" charset="-122"/>
                <a:cs typeface="Arial" pitchFamily="34" charset="-120"/>
              </a:rPr>
              <a:t>→</a:t>
            </a:r>
            <a:endParaRPr lang="en-US" sz="1450" dirty="0"/>
          </a:p>
        </p:txBody>
      </p:sp>
      <p:sp>
        <p:nvSpPr>
          <p:cNvPr id="12" name="Text 8"/>
          <p:cNvSpPr/>
          <p:nvPr/>
        </p:nvSpPr>
        <p:spPr>
          <a:xfrm>
            <a:off x="1918692" y="2056209"/>
            <a:ext cx="1074241" cy="396776"/>
          </a:xfrm>
          <a:prstGeom prst="roundRect">
            <a:avLst>
              <a:gd name="adj" fmla="val 19205"/>
            </a:avLst>
          </a:prstGeom>
          <a:solidFill>
            <a:srgbClr val="FFF1E5"/>
          </a:solidFill>
          <a:ln w="9525">
            <a:solidFill>
              <a:srgbClr val="BC4C00"/>
            </a:solidFill>
          </a:ln>
        </p:spPr>
        <p:txBody>
          <a:bodyPr wrap="square" rtlCol="0" anchor="ctr"/>
          <a:lstStyle/>
          <a:p>
            <a:pPr indent="0" marL="0">
              <a:buNone/>
            </a:pPr>
            <a:endParaRPr lang="en-US" dirty="0"/>
          </a:p>
        </p:txBody>
      </p:sp>
      <p:sp>
        <p:nvSpPr>
          <p:cNvPr id="13" name="Text 9"/>
          <p:cNvSpPr/>
          <p:nvPr/>
        </p:nvSpPr>
        <p:spPr>
          <a:xfrm>
            <a:off x="1943472" y="2154585"/>
            <a:ext cx="1024682" cy="200025"/>
          </a:xfrm>
          <a:prstGeom prst="rect">
            <a:avLst/>
          </a:prstGeom>
          <a:noFill/>
          <a:ln/>
        </p:spPr>
        <p:txBody>
          <a:bodyPr wrap="square" lIns="0" tIns="0" rIns="0" bIns="0" rtlCol="0" anchor="t"/>
          <a:lstStyle/>
          <a:p>
            <a:pPr algn="ctr" indent="0" marL="0">
              <a:buNone/>
            </a:pPr>
            <a:r>
              <a:rPr lang="en-US" sz="1300" b="1" dirty="0">
                <a:solidFill>
                  <a:srgbClr val="BC4C00"/>
                </a:solidFill>
                <a:latin typeface="Arial" pitchFamily="34" charset="0"/>
                <a:ea typeface="Arial" pitchFamily="34" charset="-122"/>
                <a:cs typeface="Arial" pitchFamily="34" charset="-120"/>
              </a:rPr>
              <a:t>Assess</a:t>
            </a:r>
            <a:endParaRPr lang="en-US" sz="1300" dirty="0"/>
          </a:p>
        </p:txBody>
      </p:sp>
      <p:sp>
        <p:nvSpPr>
          <p:cNvPr id="14" name="Text 10"/>
          <p:cNvSpPr/>
          <p:nvPr/>
        </p:nvSpPr>
        <p:spPr>
          <a:xfrm>
            <a:off x="3069134" y="2149822"/>
            <a:ext cx="187934" cy="209550"/>
          </a:xfrm>
          <a:prstGeom prst="rect">
            <a:avLst/>
          </a:prstGeom>
          <a:noFill/>
          <a:ln/>
        </p:spPr>
        <p:txBody>
          <a:bodyPr wrap="square" lIns="0" tIns="0" rIns="0" bIns="0" rtlCol="0" anchor="t"/>
          <a:lstStyle/>
          <a:p>
            <a:pPr algn="l" indent="0" marL="0">
              <a:buNone/>
            </a:pPr>
            <a:r>
              <a:rPr lang="en-US" sz="1450" dirty="0">
                <a:solidFill>
                  <a:srgbClr val="818B98"/>
                </a:solidFill>
                <a:latin typeface="Arial" pitchFamily="34" charset="0"/>
                <a:ea typeface="Arial" pitchFamily="34" charset="-122"/>
                <a:cs typeface="Arial" pitchFamily="34" charset="-120"/>
              </a:rPr>
              <a:t>→</a:t>
            </a:r>
            <a:endParaRPr lang="en-US" sz="1450" dirty="0"/>
          </a:p>
        </p:txBody>
      </p:sp>
      <p:sp>
        <p:nvSpPr>
          <p:cNvPr id="15" name="Text 11"/>
          <p:cNvSpPr/>
          <p:nvPr/>
        </p:nvSpPr>
        <p:spPr>
          <a:xfrm>
            <a:off x="3329583" y="2056209"/>
            <a:ext cx="1074093" cy="396776"/>
          </a:xfrm>
          <a:prstGeom prst="roundRect">
            <a:avLst>
              <a:gd name="adj" fmla="val 19205"/>
            </a:avLst>
          </a:prstGeom>
          <a:solidFill>
            <a:srgbClr val="F6F8FA"/>
          </a:solidFill>
          <a:ln w="9525">
            <a:solidFill>
              <a:srgbClr val="D1D9E0"/>
            </a:solidFill>
          </a:ln>
        </p:spPr>
        <p:txBody>
          <a:bodyPr wrap="square" rtlCol="0" anchor="ctr"/>
          <a:lstStyle/>
          <a:p>
            <a:pPr indent="0" marL="0">
              <a:buNone/>
            </a:pPr>
            <a:endParaRPr lang="en-US" dirty="0"/>
          </a:p>
        </p:txBody>
      </p:sp>
      <p:sp>
        <p:nvSpPr>
          <p:cNvPr id="16" name="Text 12"/>
          <p:cNvSpPr/>
          <p:nvPr/>
        </p:nvSpPr>
        <p:spPr>
          <a:xfrm>
            <a:off x="3354364" y="2154585"/>
            <a:ext cx="1024530" cy="200025"/>
          </a:xfrm>
          <a:prstGeom prst="rect">
            <a:avLst/>
          </a:prstGeom>
          <a:noFill/>
          <a:ln/>
        </p:spPr>
        <p:txBody>
          <a:bodyPr wrap="square" lIns="0" tIns="0" rIns="0" bIns="0" rtlCol="0" anchor="t"/>
          <a:lstStyle/>
          <a:p>
            <a:pPr algn="ctr" indent="0" marL="0">
              <a:buNone/>
            </a:pPr>
            <a:r>
              <a:rPr lang="en-US" sz="1300" b="1" dirty="0">
                <a:solidFill>
                  <a:srgbClr val="1F2328"/>
                </a:solidFill>
                <a:latin typeface="Arial" pitchFamily="34" charset="0"/>
                <a:ea typeface="Arial" pitchFamily="34" charset="-122"/>
                <a:cs typeface="Arial" pitchFamily="34" charset="-120"/>
              </a:rPr>
              <a:t>Plan</a:t>
            </a:r>
            <a:endParaRPr lang="en-US" sz="1300" dirty="0"/>
          </a:p>
        </p:txBody>
      </p:sp>
      <p:sp>
        <p:nvSpPr>
          <p:cNvPr id="17" name="Text 13"/>
          <p:cNvSpPr/>
          <p:nvPr/>
        </p:nvSpPr>
        <p:spPr>
          <a:xfrm>
            <a:off x="4479875" y="2149822"/>
            <a:ext cx="187934" cy="209550"/>
          </a:xfrm>
          <a:prstGeom prst="rect">
            <a:avLst/>
          </a:prstGeom>
          <a:noFill/>
          <a:ln/>
        </p:spPr>
        <p:txBody>
          <a:bodyPr wrap="square" lIns="0" tIns="0" rIns="0" bIns="0" rtlCol="0" anchor="t"/>
          <a:lstStyle/>
          <a:p>
            <a:pPr algn="l" indent="0" marL="0">
              <a:buNone/>
            </a:pPr>
            <a:r>
              <a:rPr lang="en-US" sz="1450" dirty="0">
                <a:solidFill>
                  <a:srgbClr val="818B98"/>
                </a:solidFill>
                <a:latin typeface="Arial" pitchFamily="34" charset="0"/>
                <a:ea typeface="Arial" pitchFamily="34" charset="-122"/>
                <a:cs typeface="Arial" pitchFamily="34" charset="-120"/>
              </a:rPr>
              <a:t>→</a:t>
            </a:r>
            <a:endParaRPr lang="en-US" sz="1450" dirty="0"/>
          </a:p>
        </p:txBody>
      </p:sp>
      <p:sp>
        <p:nvSpPr>
          <p:cNvPr id="18" name="Text 14"/>
          <p:cNvSpPr/>
          <p:nvPr/>
        </p:nvSpPr>
        <p:spPr>
          <a:xfrm>
            <a:off x="4740325" y="2056209"/>
            <a:ext cx="1074093" cy="396776"/>
          </a:xfrm>
          <a:prstGeom prst="roundRect">
            <a:avLst>
              <a:gd name="adj" fmla="val 19205"/>
            </a:avLst>
          </a:prstGeom>
          <a:solidFill>
            <a:srgbClr val="F6F8FA"/>
          </a:solidFill>
          <a:ln w="9525">
            <a:solidFill>
              <a:srgbClr val="D1D9E0"/>
            </a:solidFill>
          </a:ln>
        </p:spPr>
        <p:txBody>
          <a:bodyPr wrap="square" rtlCol="0" anchor="ctr"/>
          <a:lstStyle/>
          <a:p>
            <a:pPr indent="0" marL="0">
              <a:buNone/>
            </a:pPr>
            <a:endParaRPr lang="en-US" dirty="0"/>
          </a:p>
        </p:txBody>
      </p:sp>
      <p:sp>
        <p:nvSpPr>
          <p:cNvPr id="19" name="Text 15"/>
          <p:cNvSpPr/>
          <p:nvPr/>
        </p:nvSpPr>
        <p:spPr>
          <a:xfrm>
            <a:off x="4765106" y="2154585"/>
            <a:ext cx="1024530" cy="200025"/>
          </a:xfrm>
          <a:prstGeom prst="rect">
            <a:avLst/>
          </a:prstGeom>
          <a:noFill/>
          <a:ln/>
        </p:spPr>
        <p:txBody>
          <a:bodyPr wrap="square" lIns="0" tIns="0" rIns="0" bIns="0" rtlCol="0" anchor="t"/>
          <a:lstStyle/>
          <a:p>
            <a:pPr algn="ctr" indent="0" marL="0">
              <a:buNone/>
            </a:pPr>
            <a:r>
              <a:rPr lang="en-US" sz="1300" b="1" dirty="0">
                <a:solidFill>
                  <a:srgbClr val="1F2328"/>
                </a:solidFill>
                <a:latin typeface="Arial" pitchFamily="34" charset="0"/>
                <a:ea typeface="Arial" pitchFamily="34" charset="-122"/>
                <a:cs typeface="Arial" pitchFamily="34" charset="-120"/>
              </a:rPr>
              <a:t>Baseline</a:t>
            </a:r>
            <a:endParaRPr lang="en-US" sz="1300" dirty="0"/>
          </a:p>
        </p:txBody>
      </p:sp>
      <p:sp>
        <p:nvSpPr>
          <p:cNvPr id="20" name="Text 16"/>
          <p:cNvSpPr/>
          <p:nvPr/>
        </p:nvSpPr>
        <p:spPr>
          <a:xfrm>
            <a:off x="5890617" y="2149822"/>
            <a:ext cx="187934" cy="209550"/>
          </a:xfrm>
          <a:prstGeom prst="rect">
            <a:avLst/>
          </a:prstGeom>
          <a:noFill/>
          <a:ln/>
        </p:spPr>
        <p:txBody>
          <a:bodyPr wrap="square" lIns="0" tIns="0" rIns="0" bIns="0" rtlCol="0" anchor="t"/>
          <a:lstStyle/>
          <a:p>
            <a:pPr algn="l" indent="0" marL="0">
              <a:buNone/>
            </a:pPr>
            <a:r>
              <a:rPr lang="en-US" sz="1450" dirty="0">
                <a:solidFill>
                  <a:srgbClr val="818B98"/>
                </a:solidFill>
                <a:latin typeface="Arial" pitchFamily="34" charset="0"/>
                <a:ea typeface="Arial" pitchFamily="34" charset="-122"/>
                <a:cs typeface="Arial" pitchFamily="34" charset="-120"/>
              </a:rPr>
              <a:t>→</a:t>
            </a:r>
            <a:endParaRPr lang="en-US" sz="1450" dirty="0"/>
          </a:p>
        </p:txBody>
      </p:sp>
      <p:sp>
        <p:nvSpPr>
          <p:cNvPr id="21" name="Text 17"/>
          <p:cNvSpPr/>
          <p:nvPr/>
        </p:nvSpPr>
        <p:spPr>
          <a:xfrm>
            <a:off x="6151066" y="2056209"/>
            <a:ext cx="1074093" cy="396776"/>
          </a:xfrm>
          <a:prstGeom prst="roundRect">
            <a:avLst>
              <a:gd name="adj" fmla="val 19205"/>
            </a:avLst>
          </a:prstGeom>
          <a:solidFill>
            <a:srgbClr val="F6F8FA"/>
          </a:solidFill>
          <a:ln w="9525">
            <a:solidFill>
              <a:srgbClr val="D1D9E0"/>
            </a:solidFill>
          </a:ln>
        </p:spPr>
        <p:txBody>
          <a:bodyPr wrap="square" rtlCol="0" anchor="ctr"/>
          <a:lstStyle/>
          <a:p>
            <a:pPr indent="0" marL="0">
              <a:buNone/>
            </a:pPr>
            <a:endParaRPr lang="en-US" dirty="0"/>
          </a:p>
        </p:txBody>
      </p:sp>
      <p:sp>
        <p:nvSpPr>
          <p:cNvPr id="22" name="Text 18"/>
          <p:cNvSpPr/>
          <p:nvPr/>
        </p:nvSpPr>
        <p:spPr>
          <a:xfrm>
            <a:off x="6175848" y="2154585"/>
            <a:ext cx="1024530" cy="200025"/>
          </a:xfrm>
          <a:prstGeom prst="rect">
            <a:avLst/>
          </a:prstGeom>
          <a:noFill/>
          <a:ln/>
        </p:spPr>
        <p:txBody>
          <a:bodyPr wrap="square" lIns="0" tIns="0" rIns="0" bIns="0" rtlCol="0" anchor="t"/>
          <a:lstStyle/>
          <a:p>
            <a:pPr algn="ctr" indent="0" marL="0">
              <a:buNone/>
            </a:pPr>
            <a:r>
              <a:rPr lang="en-US" sz="1300" b="1" dirty="0">
                <a:solidFill>
                  <a:srgbClr val="1F2328"/>
                </a:solidFill>
                <a:latin typeface="Arial" pitchFamily="34" charset="0"/>
                <a:ea typeface="Arial" pitchFamily="34" charset="-122"/>
                <a:cs typeface="Arial" pitchFamily="34" charset="-120"/>
              </a:rPr>
              <a:t>Implement</a:t>
            </a:r>
            <a:endParaRPr lang="en-US" sz="1300" dirty="0"/>
          </a:p>
        </p:txBody>
      </p:sp>
      <p:sp>
        <p:nvSpPr>
          <p:cNvPr id="23" name="Text 19"/>
          <p:cNvSpPr/>
          <p:nvPr/>
        </p:nvSpPr>
        <p:spPr>
          <a:xfrm>
            <a:off x="7301359" y="2149822"/>
            <a:ext cx="187934" cy="209550"/>
          </a:xfrm>
          <a:prstGeom prst="rect">
            <a:avLst/>
          </a:prstGeom>
          <a:noFill/>
          <a:ln/>
        </p:spPr>
        <p:txBody>
          <a:bodyPr wrap="square" lIns="0" tIns="0" rIns="0" bIns="0" rtlCol="0" anchor="t"/>
          <a:lstStyle/>
          <a:p>
            <a:pPr algn="l" indent="0" marL="0">
              <a:buNone/>
            </a:pPr>
            <a:r>
              <a:rPr lang="en-US" sz="1450" dirty="0">
                <a:solidFill>
                  <a:srgbClr val="818B98"/>
                </a:solidFill>
                <a:latin typeface="Arial" pitchFamily="34" charset="0"/>
                <a:ea typeface="Arial" pitchFamily="34" charset="-122"/>
                <a:cs typeface="Arial" pitchFamily="34" charset="-120"/>
              </a:rPr>
              <a:t>→</a:t>
            </a:r>
            <a:endParaRPr lang="en-US" sz="1450" dirty="0"/>
          </a:p>
        </p:txBody>
      </p:sp>
      <p:sp>
        <p:nvSpPr>
          <p:cNvPr id="24" name="Text 20"/>
          <p:cNvSpPr/>
          <p:nvPr/>
        </p:nvSpPr>
        <p:spPr>
          <a:xfrm>
            <a:off x="7561808" y="2056209"/>
            <a:ext cx="1074093" cy="396776"/>
          </a:xfrm>
          <a:prstGeom prst="roundRect">
            <a:avLst>
              <a:gd name="adj" fmla="val 19205"/>
            </a:avLst>
          </a:prstGeom>
          <a:solidFill>
            <a:srgbClr val="F6F8FA"/>
          </a:solidFill>
          <a:ln w="9525">
            <a:solidFill>
              <a:srgbClr val="D1D9E0"/>
            </a:solidFill>
          </a:ln>
        </p:spPr>
        <p:txBody>
          <a:bodyPr wrap="square" rtlCol="0" anchor="ctr"/>
          <a:lstStyle/>
          <a:p>
            <a:pPr indent="0" marL="0">
              <a:buNone/>
            </a:pPr>
            <a:endParaRPr lang="en-US" dirty="0"/>
          </a:p>
        </p:txBody>
      </p:sp>
      <p:sp>
        <p:nvSpPr>
          <p:cNvPr id="25" name="Text 21"/>
          <p:cNvSpPr/>
          <p:nvPr/>
        </p:nvSpPr>
        <p:spPr>
          <a:xfrm>
            <a:off x="7586590" y="2154585"/>
            <a:ext cx="1024530" cy="200025"/>
          </a:xfrm>
          <a:prstGeom prst="rect">
            <a:avLst/>
          </a:prstGeom>
          <a:noFill/>
          <a:ln/>
        </p:spPr>
        <p:txBody>
          <a:bodyPr wrap="square" lIns="0" tIns="0" rIns="0" bIns="0" rtlCol="0" anchor="t"/>
          <a:lstStyle/>
          <a:p>
            <a:pPr algn="ctr" indent="0" marL="0">
              <a:buNone/>
            </a:pPr>
            <a:r>
              <a:rPr lang="en-US" sz="1300" b="1" dirty="0">
                <a:solidFill>
                  <a:srgbClr val="1F2328"/>
                </a:solidFill>
                <a:latin typeface="Arial" pitchFamily="34" charset="0"/>
                <a:ea typeface="Arial" pitchFamily="34" charset="-122"/>
                <a:cs typeface="Arial" pitchFamily="34" charset="-120"/>
              </a:rPr>
              <a:t>Validate</a:t>
            </a:r>
            <a:endParaRPr lang="en-US" sz="1300" dirty="0"/>
          </a:p>
        </p:txBody>
      </p:sp>
      <p:sp>
        <p:nvSpPr>
          <p:cNvPr id="26" name="Text 22"/>
          <p:cNvSpPr/>
          <p:nvPr/>
        </p:nvSpPr>
        <p:spPr>
          <a:xfrm>
            <a:off x="507950" y="2681585"/>
            <a:ext cx="3962400" cy="1485007"/>
          </a:xfrm>
          <a:prstGeom prst="roundRect">
            <a:avLst>
              <a:gd name="adj" fmla="val 8552"/>
            </a:avLst>
          </a:prstGeom>
          <a:solidFill>
            <a:srgbClr val="FFFFFF"/>
          </a:solidFill>
          <a:ln w="9525">
            <a:solidFill>
              <a:srgbClr val="FFC49B"/>
            </a:solidFill>
          </a:ln>
        </p:spPr>
        <p:txBody>
          <a:bodyPr wrap="square" rtlCol="0" anchor="ctr"/>
          <a:lstStyle/>
          <a:p>
            <a:pPr indent="0" marL="0">
              <a:buNone/>
            </a:pPr>
            <a:endParaRPr lang="en-US" dirty="0"/>
          </a:p>
        </p:txBody>
      </p:sp>
      <p:sp>
        <p:nvSpPr>
          <p:cNvPr id="27" name="Text 23"/>
          <p:cNvSpPr/>
          <p:nvPr/>
        </p:nvSpPr>
        <p:spPr>
          <a:xfrm>
            <a:off x="695176" y="2868811"/>
            <a:ext cx="381000" cy="381000"/>
          </a:xfrm>
          <a:prstGeom prst="roundRect">
            <a:avLst>
              <a:gd name="adj" fmla="val 23333"/>
            </a:avLst>
          </a:prstGeom>
          <a:solidFill>
            <a:srgbClr val="FFF1E5"/>
          </a:solidFill>
          <a:ln/>
        </p:spPr>
        <p:txBody>
          <a:bodyPr wrap="square" rtlCol="0" anchor="ctr"/>
          <a:lstStyle/>
          <a:p>
            <a:pPr indent="0" marL="0">
              <a:buNone/>
            </a:pPr>
            <a:endParaRPr lang="en-US" dirty="0"/>
          </a:p>
        </p:txBody>
      </p:sp>
      <p:pic>
        <p:nvPicPr>
          <p:cNvPr id="28"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77776" y="2951411"/>
            <a:ext cx="215801" cy="215801"/>
          </a:xfrm>
          <a:prstGeom prst="rect">
            <a:avLst/>
          </a:prstGeom>
        </p:spPr>
      </p:pic>
      <p:sp>
        <p:nvSpPr>
          <p:cNvPr id="29" name="Text 24"/>
          <p:cNvSpPr/>
          <p:nvPr/>
        </p:nvSpPr>
        <p:spPr>
          <a:xfrm>
            <a:off x="1190476" y="2945011"/>
            <a:ext cx="486989"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Core</a:t>
            </a:r>
            <a:endParaRPr lang="en-US" sz="1650" dirty="0"/>
          </a:p>
        </p:txBody>
      </p:sp>
      <p:sp>
        <p:nvSpPr>
          <p:cNvPr id="30" name="Text 25"/>
          <p:cNvSpPr/>
          <p:nvPr/>
        </p:nvSpPr>
        <p:spPr>
          <a:xfrm>
            <a:off x="695176" y="3326011"/>
            <a:ext cx="3659707" cy="653355"/>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Use </a:t>
            </a:r>
            <a:pPr algn="l" indent="0" marL="0">
              <a:lnSpc>
                <a:spcPts val="1690"/>
              </a:lnSpc>
              <a:buNone/>
            </a:pPr>
            <a:r>
              <a:rPr lang="en-US" sz="1400" b="1" dirty="0">
                <a:solidFill>
                  <a:srgbClr val="0550AE"/>
                </a:solidFill>
                <a:latin typeface="Courier New" pitchFamily="34" charset="0"/>
                <a:ea typeface="Courier New" pitchFamily="34" charset="-122"/>
                <a:cs typeface="Courier New" pitchFamily="34" charset="-120"/>
              </a:rPr>
              <a:t>/create-canvas</a:t>
            </a:r>
            <a:pPr algn="l" indent="0" marL="0">
              <a:lnSpc>
                <a:spcPts val="1690"/>
              </a:lnSpc>
              <a:buNone/>
            </a:pPr>
            <a:r>
              <a:rPr lang="en-US" sz="1400" dirty="0">
                <a:solidFill>
                  <a:srgbClr val="59636E"/>
                </a:solidFill>
                <a:latin typeface="Arial" pitchFamily="34" charset="0"/>
                <a:ea typeface="Arial" pitchFamily="34" charset="-122"/>
                <a:cs typeface="Arial" pitchFamily="34" charset="-120"/>
              </a:rPr>
              <a:t> to add the stage. Then run a new, small improvement through it.</a:t>
            </a:r>
            <a:endParaRPr lang="en-US" sz="1400" dirty="0"/>
          </a:p>
        </p:txBody>
      </p:sp>
      <p:sp>
        <p:nvSpPr>
          <p:cNvPr id="31" name="Text 26"/>
          <p:cNvSpPr/>
          <p:nvPr/>
        </p:nvSpPr>
        <p:spPr>
          <a:xfrm>
            <a:off x="4673501" y="2681585"/>
            <a:ext cx="3962400" cy="1485007"/>
          </a:xfrm>
          <a:prstGeom prst="roundRect">
            <a:avLst>
              <a:gd name="adj" fmla="val 8552"/>
            </a:avLst>
          </a:prstGeom>
          <a:solidFill>
            <a:srgbClr val="FFFFFF"/>
          </a:solidFill>
          <a:ln w="9525">
            <a:solidFill>
              <a:srgbClr val="D1D9E0"/>
            </a:solidFill>
          </a:ln>
        </p:spPr>
        <p:txBody>
          <a:bodyPr wrap="square" rtlCol="0" anchor="ctr"/>
          <a:lstStyle/>
          <a:p>
            <a:pPr indent="0" marL="0">
              <a:buNone/>
            </a:pPr>
            <a:endParaRPr lang="en-US" dirty="0"/>
          </a:p>
        </p:txBody>
      </p:sp>
      <p:sp>
        <p:nvSpPr>
          <p:cNvPr id="32" name="Text 27"/>
          <p:cNvSpPr/>
          <p:nvPr/>
        </p:nvSpPr>
        <p:spPr>
          <a:xfrm>
            <a:off x="4860727" y="2868811"/>
            <a:ext cx="381000" cy="381000"/>
          </a:xfrm>
          <a:prstGeom prst="roundRect">
            <a:avLst>
              <a:gd name="adj" fmla="val 23333"/>
            </a:avLst>
          </a:prstGeom>
          <a:solidFill>
            <a:srgbClr val="F6F8FA"/>
          </a:solidFill>
          <a:ln/>
        </p:spPr>
        <p:txBody>
          <a:bodyPr wrap="square" rtlCol="0" anchor="ctr"/>
          <a:lstStyle/>
          <a:p>
            <a:pPr indent="0" marL="0">
              <a:buNone/>
            </a:pPr>
            <a:endParaRPr lang="en-US" dirty="0"/>
          </a:p>
        </p:txBody>
      </p:sp>
      <p:pic>
        <p:nvPicPr>
          <p:cNvPr id="33"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943326" y="2951411"/>
            <a:ext cx="215801" cy="215801"/>
          </a:xfrm>
          <a:prstGeom prst="rect">
            <a:avLst/>
          </a:prstGeom>
        </p:spPr>
      </p:pic>
      <p:sp>
        <p:nvSpPr>
          <p:cNvPr id="34" name="Text 28"/>
          <p:cNvSpPr/>
          <p:nvPr/>
        </p:nvSpPr>
        <p:spPr>
          <a:xfrm>
            <a:off x="5356027" y="2945011"/>
            <a:ext cx="866805"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Optional</a:t>
            </a:r>
            <a:endParaRPr lang="en-US" sz="1650" dirty="0"/>
          </a:p>
        </p:txBody>
      </p:sp>
      <p:sp>
        <p:nvSpPr>
          <p:cNvPr id="35" name="Text 29"/>
          <p:cNvSpPr/>
          <p:nvPr/>
        </p:nvSpPr>
        <p:spPr>
          <a:xfrm>
            <a:off x="4860727" y="3326011"/>
            <a:ext cx="3659707" cy="42922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Add actions that open an issue and a linked PR.</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06</a:t>
            </a:r>
            <a:endParaRPr lang="en-US" sz="1150" dirty="0"/>
          </a:p>
        </p:txBody>
      </p:sp>
      <p:pic>
        <p:nvPicPr>
          <p:cNvPr id="5" name="Image 1" descr="Open this chapter on GitHub">
            <a:hlinkClick r:id="rId3" tooltip="https://github.com/github/copilot-app-for-beginners/tree/main/06-canvase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KEY TAKEAWAYS</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What to remember</a:t>
            </a:r>
            <a:endParaRPr lang="en-US" sz="2800" dirty="0"/>
          </a:p>
        </p:txBody>
      </p:sp>
      <p:sp>
        <p:nvSpPr>
          <p:cNvPr id="8" name="Text 4"/>
          <p:cNvSpPr/>
          <p:nvPr/>
        </p:nvSpPr>
        <p:spPr>
          <a:xfrm>
            <a:off x="507950" y="1524000"/>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9" name="Text 5"/>
          <p:cNvSpPr/>
          <p:nvPr/>
        </p:nvSpPr>
        <p:spPr>
          <a:xfrm>
            <a:off x="695176" y="1790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0" name="Text 6"/>
          <p:cNvSpPr/>
          <p:nvPr/>
        </p:nvSpPr>
        <p:spPr>
          <a:xfrm>
            <a:off x="789841" y="1835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1" name="Text 7"/>
          <p:cNvSpPr/>
          <p:nvPr/>
        </p:nvSpPr>
        <p:spPr>
          <a:xfrm>
            <a:off x="1126927" y="1714351"/>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A canvas is a visible, shared board in the side panel.</a:t>
            </a:r>
            <a:endParaRPr lang="en-US" sz="1450" dirty="0"/>
          </a:p>
        </p:txBody>
      </p:sp>
      <p:sp>
        <p:nvSpPr>
          <p:cNvPr id="12" name="Text 8"/>
          <p:cNvSpPr/>
          <p:nvPr/>
        </p:nvSpPr>
        <p:spPr>
          <a:xfrm>
            <a:off x="4673501" y="1524000"/>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13" name="Text 9"/>
          <p:cNvSpPr/>
          <p:nvPr/>
        </p:nvSpPr>
        <p:spPr>
          <a:xfrm>
            <a:off x="4860727" y="1790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4" name="Text 10"/>
          <p:cNvSpPr/>
          <p:nvPr/>
        </p:nvSpPr>
        <p:spPr>
          <a:xfrm>
            <a:off x="4955392" y="1835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5" name="Text 11"/>
          <p:cNvSpPr/>
          <p:nvPr/>
        </p:nvSpPr>
        <p:spPr>
          <a:xfrm>
            <a:off x="5292477" y="1709589"/>
            <a:ext cx="3219322" cy="441424"/>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Create one with </a:t>
            </a:r>
            <a:pPr algn="l" indent="0" marL="0">
              <a:lnSpc>
                <a:spcPts val="1700"/>
              </a:lnSpc>
              <a:buNone/>
            </a:pPr>
            <a:r>
              <a:rPr lang="en-US" sz="1450" b="1" dirty="0">
                <a:solidFill>
                  <a:srgbClr val="0550AE"/>
                </a:solidFill>
                <a:latin typeface="Courier New" pitchFamily="34" charset="0"/>
                <a:ea typeface="Courier New" pitchFamily="34" charset="-122"/>
                <a:cs typeface="Courier New" pitchFamily="34" charset="-120"/>
              </a:rPr>
              <a:t>/create-canvas</a:t>
            </a:r>
            <a:pPr algn="l" indent="0" marL="0">
              <a:lnSpc>
                <a:spcPts val="1700"/>
              </a:lnSpc>
              <a:buNone/>
            </a:pPr>
            <a:r>
              <a:rPr lang="en-US" sz="1450" dirty="0">
                <a:solidFill>
                  <a:srgbClr val="1F2328"/>
                </a:solidFill>
                <a:latin typeface="Arial" pitchFamily="34" charset="0"/>
                <a:ea typeface="Arial" pitchFamily="34" charset="-122"/>
                <a:cs typeface="Arial" pitchFamily="34" charset="-120"/>
              </a:rPr>
              <a:t> and a short description.</a:t>
            </a:r>
            <a:endParaRPr lang="en-US" sz="1450" dirty="0"/>
          </a:p>
        </p:txBody>
      </p:sp>
      <p:sp>
        <p:nvSpPr>
          <p:cNvPr id="16" name="Text 12"/>
          <p:cNvSpPr/>
          <p:nvPr/>
        </p:nvSpPr>
        <p:spPr>
          <a:xfrm>
            <a:off x="507950" y="2514451"/>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17" name="Text 13"/>
          <p:cNvSpPr/>
          <p:nvPr/>
        </p:nvSpPr>
        <p:spPr>
          <a:xfrm>
            <a:off x="695176" y="278115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8" name="Text 14"/>
          <p:cNvSpPr/>
          <p:nvPr/>
        </p:nvSpPr>
        <p:spPr>
          <a:xfrm>
            <a:off x="789841" y="282550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19" name="Text 15"/>
          <p:cNvSpPr/>
          <p:nvPr/>
        </p:nvSpPr>
        <p:spPr>
          <a:xfrm>
            <a:off x="1126927" y="2704802"/>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Try community canvases before you build your own.</a:t>
            </a:r>
            <a:endParaRPr lang="en-US" sz="1450" dirty="0"/>
          </a:p>
        </p:txBody>
      </p:sp>
      <p:sp>
        <p:nvSpPr>
          <p:cNvPr id="20" name="Text 16"/>
          <p:cNvSpPr/>
          <p:nvPr/>
        </p:nvSpPr>
        <p:spPr>
          <a:xfrm>
            <a:off x="4673501" y="2514451"/>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21" name="Text 17"/>
          <p:cNvSpPr/>
          <p:nvPr/>
        </p:nvSpPr>
        <p:spPr>
          <a:xfrm>
            <a:off x="4860727" y="278115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22" name="Text 18"/>
          <p:cNvSpPr/>
          <p:nvPr/>
        </p:nvSpPr>
        <p:spPr>
          <a:xfrm>
            <a:off x="4955392" y="282550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23" name="Text 19"/>
          <p:cNvSpPr/>
          <p:nvPr/>
        </p:nvSpPr>
        <p:spPr>
          <a:xfrm>
            <a:off x="5292477" y="2704802"/>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Board evidence must come from real output, not chat.</a:t>
            </a:r>
            <a:endParaRPr lang="en-US" sz="1450" dirty="0"/>
          </a:p>
        </p:txBody>
      </p:sp>
      <p:sp>
        <p:nvSpPr>
          <p:cNvPr id="24" name="Text 20"/>
          <p:cNvSpPr/>
          <p:nvPr/>
        </p:nvSpPr>
        <p:spPr>
          <a:xfrm>
            <a:off x="507950" y="3784550"/>
            <a:ext cx="8127950" cy="812750"/>
          </a:xfrm>
          <a:prstGeom prst="roundRect">
            <a:avLst>
              <a:gd name="adj" fmla="val 15626"/>
            </a:avLst>
          </a:prstGeom>
          <a:solidFill>
            <a:srgbClr val="DDF4FF"/>
          </a:solidFill>
          <a:ln w="9525">
            <a:solidFill>
              <a:srgbClr val="9CD7FF"/>
            </a:solidFill>
          </a:ln>
        </p:spPr>
        <p:txBody>
          <a:bodyPr wrap="square" rtlCol="0" anchor="ctr"/>
          <a:lstStyle/>
          <a:p>
            <a:pPr indent="0" marL="0">
              <a:buNone/>
            </a:pPr>
            <a:endParaRPr lang="en-US" dirty="0"/>
          </a:p>
        </p:txBody>
      </p:sp>
      <p:sp>
        <p:nvSpPr>
          <p:cNvPr id="25" name="Text 21"/>
          <p:cNvSpPr/>
          <p:nvPr/>
        </p:nvSpPr>
        <p:spPr>
          <a:xfrm>
            <a:off x="746075" y="3987701"/>
            <a:ext cx="406301" cy="406301"/>
          </a:xfrm>
          <a:prstGeom prst="roundRect">
            <a:avLst>
              <a:gd name="adj" fmla="val 21880"/>
            </a:avLst>
          </a:prstGeom>
          <a:solidFill>
            <a:srgbClr val="DDF4FF"/>
          </a:solidFill>
          <a:ln/>
        </p:spPr>
        <p:txBody>
          <a:bodyPr wrap="square" rtlCol="0" anchor="ctr"/>
          <a:lstStyle/>
          <a:p>
            <a:pPr indent="0" marL="0">
              <a:buNone/>
            </a:pPr>
            <a:endParaRPr lang="en-US" dirty="0"/>
          </a:p>
        </p:txBody>
      </p:sp>
      <p:pic>
        <p:nvPicPr>
          <p:cNvPr id="26"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34926" y="4076551"/>
            <a:ext cx="228600" cy="228600"/>
          </a:xfrm>
          <a:prstGeom prst="rect">
            <a:avLst/>
          </a:prstGeom>
        </p:spPr>
      </p:pic>
      <p:sp>
        <p:nvSpPr>
          <p:cNvPr id="27" name="Text 22"/>
          <p:cNvSpPr/>
          <p:nvPr/>
        </p:nvSpPr>
        <p:spPr>
          <a:xfrm>
            <a:off x="1304776" y="3971776"/>
            <a:ext cx="2631838"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REVISIT THIS CHAPTER</a:t>
            </a:r>
            <a:endParaRPr lang="en-US" sz="1150" dirty="0"/>
          </a:p>
        </p:txBody>
      </p:sp>
      <p:sp>
        <p:nvSpPr>
          <p:cNvPr id="28" name="Text 23"/>
          <p:cNvSpPr/>
          <p:nvPr/>
        </p:nvSpPr>
        <p:spPr>
          <a:xfrm>
            <a:off x="1304776" y="4181326"/>
            <a:ext cx="2631838" cy="228600"/>
          </a:xfrm>
          <a:prstGeom prst="rect">
            <a:avLst/>
          </a:prstGeom>
          <a:noFill/>
          <a:ln/>
        </p:spPr>
        <p:txBody>
          <a:bodyPr wrap="square" lIns="0" tIns="0" rIns="0" bIns="0" rtlCol="0" anchor="t"/>
          <a:lstStyle/>
          <a:p>
            <a:pPr algn="l" indent="0" marL="0">
              <a:buNone/>
            </a:pPr>
            <a:r>
              <a:rPr lang="en-US" sz="1550" b="1"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6-canvases" history="1" highlightClick="0" endSnd="0">
                  <a:extLst>
                    <a:ext uri="{A12FA001-AC4F-418D-AE19-62706E023703}">
                      <ahyp:hlinkClr xmlns:ahyp="http://schemas.microsoft.com/office/drawing/2018/hyperlinkcolor" val="tx"/>
                    </a:ext>
                  </a:extLst>
                </a:hlinkClick>
              </a:rPr>
              <a:t>Open Chapter 06 on GitHub</a:t>
            </a:r>
            <a:endParaRPr lang="en-US" sz="1550" dirty="0"/>
          </a:p>
        </p:txBody>
      </p:sp>
      <p:sp>
        <p:nvSpPr>
          <p:cNvPr id="29" name="Text 24"/>
          <p:cNvSpPr/>
          <p:nvPr/>
        </p:nvSpPr>
        <p:spPr>
          <a:xfrm>
            <a:off x="4714875" y="3971776"/>
            <a:ext cx="3756559"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NEXT · CHAPTER 07</a:t>
            </a:r>
            <a:endParaRPr lang="en-US" sz="1150" dirty="0"/>
          </a:p>
        </p:txBody>
      </p:sp>
      <p:sp>
        <p:nvSpPr>
          <p:cNvPr id="30" name="Text 25"/>
          <p:cNvSpPr/>
          <p:nvPr/>
        </p:nvSpPr>
        <p:spPr>
          <a:xfrm>
            <a:off x="4714875" y="4181326"/>
            <a:ext cx="3756559" cy="228600"/>
          </a:xfrm>
          <a:prstGeom prst="rect">
            <a:avLst/>
          </a:prstGeom>
          <a:noFill/>
          <a:ln/>
        </p:spPr>
        <p:txBody>
          <a:bodyPr wrap="square" lIns="0" tIns="0" rIns="0" bIns="0" rtlCol="0" anchor="t"/>
          <a:lstStyle/>
          <a:p>
            <a:pPr algn="l" indent="0" marL="0">
              <a:buNone/>
            </a:pPr>
            <a:r>
              <a:rPr lang="en-US" sz="1550" b="1" u="sng" dirty="0">
                <a:solidFill>
                  <a:srgbClr val="1F2328"/>
                </a:solidFill>
                <a:latin typeface="Arial" pitchFamily="34" charset="0"/>
                <a:ea typeface="Arial" pitchFamily="34" charset="-122"/>
                <a:cs typeface="Arial" pitchFamily="34" charset="-120"/>
                <a:hlinkClick r:id="rId6" invalidUrl="" action="" tgtFrame="" tooltip="https://github.com/github/copilot-app-for-beginners/tree/main/07-automations" history="1" highlightClick="0" endSnd="0">
                  <a:extLst>
                    <a:ext uri="{A12FA001-AC4F-418D-AE19-62706E023703}">
                      <ahyp:hlinkClr xmlns:ahyp="http://schemas.microsoft.com/office/drawing/2018/hyperlinkcolor" val="tx"/>
                    </a:ext>
                  </a:extLst>
                </a:hlinkClick>
              </a:rPr>
              <a:t>Automations →</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06: Canvases</dc:title>
  <dc:subject>PptxGenJS Presentation</dc:subject>
  <dc:creator>GitHub Copilot app for Beginners</dc:creator>
  <cp:lastModifiedBy>GitHub Copilot app for Beginners</cp:lastModifiedBy>
  <cp:revision>1</cp:revision>
  <dcterms:created xsi:type="dcterms:W3CDTF">2026-10-06T21:18:58Z</dcterms:created>
  <dcterms:modified xsi:type="dcterms:W3CDTF">2026-10-06T21:18:58Z</dcterms:modified>
</cp:coreProperties>
</file>