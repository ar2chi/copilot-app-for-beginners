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Before you start, select Pull requests and your fork. On Authored by me, you should see practice PRs. Open Automations, select New automation, name it PR review readiness report, change Trigger from Daily to Manual, make sure Run in the cloud is off so it runs locally, and paste the full prompt from the chapter. Use Select repository to pick your copilot-app-for-beginners fork, then set Workspace to Current checkout because the report only reads data. Use the arrow next to Create and choose Create and run. It appears under Your automations with a Manual label, and the run appears under Recent runs.</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8</ns1:t>
            </ns1:fld>
            <ns1:endParaRPr lang="en-US"/>
          </ns1:p>
        </ns0:txBody>
      </ns0:sp>
    </ns0:spTree>
    <ns0:extLst>
      <ns0:ext uri="{BB962C8B-B14F-4D97-AF65-F5344CB8AC3E}">
        <ns2:creationId val="1024086991"/>
      </ns0:ext>
    </ns0:extLst>
  </ns0:cSld>
  <ns0:clrMapOvr>
    <ns1:masterClrMapping/>
  </ns0:clrMapOvr>
</ns0: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A manual automation answers what is the status right now. A scheduled one answers what changed since yesterday. This automation is local, so it runs only when your computer is awake and the app is running. Open it, select Edit, change the trigger to Daily, and choose 08:00 in Hours. Hours can have more than one time selected. Clear any other selected hours, including the default 09:00, so only 08:00 remains. Keep Minute at 00, confirm the repository, and save. Check the Daily label, schedule, and Next run time. The app also supports Hourly, Weekly, and CRON.</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10</ns1:t>
            </ns1:fld>
            <ns1:endParaRPr lang="en-US"/>
          </ns1:p>
        </ns0:txBody>
      </ns0:sp>
    </ns0:spTree>
    <ns0:extLst>
      <ns0:ext uri="{BB962C8B-B14F-4D97-AF65-F5344CB8AC3E}">
        <ns2:creationId val="1024086991"/>
      </ns0:ext>
    </ns0:extLst>
  </ns0:cSld>
  <ns0:clrMapOvr>
    <ns1:masterClrMapping/>
  </ns0:clrMapOvr>
</ns0: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current Trigger menu includes Issue, Automation failed, Automation completed, Code scanning alert, Dependabot alert, Discussion comment, Discussion opened, Discussion updated, Pull request, Secret scanning alert, Sub issue added, and Workflow. Schedule choices include Hourly, Daily, Weekly, and CRON. The menu is longer than its window, so scroll to see every choice. Event triggers react to external input. Keep them read-only, scope them to one repository, and filter by label or query. Avoid write tools until the summary is reliable, and review the run history regularly.</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12</ns1:t>
            </ns1:fld>
            <ns1:endParaRPr lang="en-US"/>
          </ns1:p>
        </ns0:txBody>
      </ns0:sp>
    </ns0:spTree>
    <ns0:extLst>
      <ns0:ext uri="{BB962C8B-B14F-4D97-AF65-F5344CB8AC3E}">
        <ns2:creationId val="1024086991"/>
      </ns0:ext>
    </ns0:extLst>
  </ns0:cSld>
  <ns0:clrMapOvr>
    <ns1:masterClrMapping/>
  </ns0:clrMapOvr>
</ns0:notes>
</file>

<file path=ppt/notesSlides/notesSlide13.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Every automation so far is local: it runs from your machine while the app is open. A cloud automation runs on GitHub-hosted infrastructure. It needs Copilot cloud agent enabled and an organization that allows automations. The repository must be private or internal; this public course fork cannot use cloud automations. Each cloud run uses Actions minutes and AI credits. Personal charges AI credits to you and uses your GitHub identity for actions. Shared is visible to people with repository access, charges credits to the repository owner, and uses Copilot's identity for actions. Personal does not make cloud sessions or logs private; people with repository access can see them. The current Tools picker shows Select tools before you choose. Select only what the task needs.</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13</ns1:t>
            </ns1:fld>
            <ns1:endParaRPr lang="en-US"/>
          </ns1:p>
        </ns0:txBody>
      </ns0:sp>
    </ns0:spTree>
    <ns0:extLst>
      <ns0:ext uri="{BB962C8B-B14F-4D97-AF65-F5344CB8AC3E}">
        <ns2:creationId val="1024086991"/>
      </ns0:ext>
    </ns0:extLst>
  </ns0:cSld>
  <ns0:clrMapOvr>
    <ns1:masterClrMapping/>
  </ns0:clrMapOvr>
</ns0: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Automations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1"/>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19"/>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7"/>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1" name="Text 7"/>
          <p:cNvSpPr/>
          <p:nvPr/>
        </p:nvSpPr>
        <p:spPr>
          <a:xfrm>
            <a:off x="711101" y="332803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equencer analogy for automations"/>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32286"/>
            <a:ext cx="3536900" cy="0"/>
          </a:xfrm>
          <a:prstGeom prst="line">
            <a:avLst/>
          </a:prstGeom>
          <a:noFill/>
          <a:ln w="9525">
            <a:solidFill>
              <a:srgbClr val="9CD7FF"/>
            </a:solidFill>
            <a:prstDash val="solid"/>
          </a:ln>
        </p:spPr>
      </p:sp>
      <p:sp>
        <p:nvSpPr>
          <p:cNvPr id="14" name="Text 9"/>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0"/>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1"/>
          <p:cNvSpPr/>
          <p:nvPr/>
        </p:nvSpPr>
        <p:spPr>
          <a:xfrm>
            <a:off x="5013275" y="2958852"/>
            <a:ext cx="3536900" cy="0"/>
          </a:xfrm>
          <a:prstGeom prst="line">
            <a:avLst/>
          </a:prstGeom>
          <a:noFill/>
          <a:ln w="9525">
            <a:solidFill>
              <a:srgbClr val="D1D9E0"/>
            </a:solidFill>
            <a:prstDash val="solid"/>
          </a:ln>
        </p:spPr>
      </p:sp>
      <p:sp>
        <p:nvSpPr>
          <p:cNvPr id="17" name="Text 12"/>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3"/>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4"/>
          <p:cNvSpPr/>
          <p:nvPr/>
        </p:nvSpPr>
        <p:spPr>
          <a:xfrm>
            <a:off x="5013275" y="3378398"/>
            <a:ext cx="3536900" cy="0"/>
          </a:xfrm>
          <a:prstGeom prst="line">
            <a:avLst/>
          </a:prstGeom>
          <a:noFill/>
          <a:ln w="9525">
            <a:solidFill>
              <a:srgbClr val="D1D9E0"/>
            </a:solidFill>
            <a:prstDash val="solid"/>
          </a:ln>
        </p:spPr>
      </p:sp>
      <p:sp>
        <p:nvSpPr>
          <p:cNvPr id="20" name="Text 15"/>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6"/>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7"/>
          <p:cNvSpPr/>
          <p:nvPr/>
        </p:nvSpPr>
        <p:spPr>
          <a:xfrm>
            <a:off x="5013275" y="3797945"/>
            <a:ext cx="3536900" cy="0"/>
          </a:xfrm>
          <a:prstGeom prst="line">
            <a:avLst/>
          </a:prstGeom>
          <a:noFill/>
          <a:ln w="9525">
            <a:solidFill>
              <a:srgbClr val="D1D9E0"/>
            </a:solidFill>
            <a:prstDash val="solid"/>
          </a:ln>
        </p:spPr>
      </p:sp>
      <p:sp>
        <p:nvSpPr>
          <p:cNvPr id="23" name="Text 18"/>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19"/>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0"/>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1"/>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4"/>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Automation trigger to agent run"/>
          <p:cNvPicPr>
            <a:picLocks noChangeAspect="1"/>
          </p:cNvPicPr>
          <p:nvPr/>
        </p:nvPicPr>
        <p:blipFill>
          <a:blip r:embed="rId4"/>
          <a:stretch>
            <a:fillRect/>
          </a:stretch>
        </p:blipFill>
        <p:spPr>
          <a:xfrm>
            <a:off x="558701" y="1680716"/>
            <a:ext cx="3454301" cy="2302371"/>
          </a:xfrm>
          <a:prstGeom prst="rect">
            <a:avLst/>
          </a:prstGeom>
        </p:spPr>
      </p:pic>
      <p:sp>
        <p:nvSpPr>
          <p:cNvPr id="10" name="Text 5"/>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502051" y="1817489"/>
            <a:ext cx="215801" cy="215801"/>
          </a:xfrm>
          <a:prstGeom prst="rect">
            <a:avLst/>
          </a:prstGeom>
        </p:spPr>
      </p:pic>
      <p:sp>
        <p:nvSpPr>
          <p:cNvPr id="12" name="Text 6"/>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7"/>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8"/>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02051" y="2472630"/>
            <a:ext cx="215801" cy="215801"/>
          </a:xfrm>
          <a:prstGeom prst="rect">
            <a:avLst/>
          </a:prstGeom>
        </p:spPr>
      </p:pic>
      <p:sp>
        <p:nvSpPr>
          <p:cNvPr id="16" name="Text 9"/>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0"/>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1"/>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502051" y="3127772"/>
            <a:ext cx="215801" cy="215801"/>
          </a:xfrm>
          <a:prstGeom prst="rect">
            <a:avLst/>
          </a:prstGeom>
        </p:spPr>
      </p:pic>
      <p:sp>
        <p:nvSpPr>
          <p:cNvPr id="20" name="Text 12"/>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3"/>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4"/>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02051" y="3782913"/>
            <a:ext cx="215801" cy="215801"/>
          </a:xfrm>
          <a:prstGeom prst="rect">
            <a:avLst/>
          </a:prstGeom>
        </p:spPr>
      </p:pic>
      <p:sp>
        <p:nvSpPr>
          <p:cNvPr id="24" name="Text 15"/>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6"/>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tart manual, then expand automations"/>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562326" y="1819275"/>
            <a:ext cx="215801" cy="215801"/>
          </a:xfrm>
          <a:prstGeom prst="rect">
            <a:avLst/>
          </a:prstGeom>
        </p:spPr>
      </p:pic>
      <p:sp>
        <p:nvSpPr>
          <p:cNvPr id="14" name="Text 8"/>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9"/>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0"/>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1"/>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62326" y="3406676"/>
            <a:ext cx="215801" cy="215801"/>
          </a:xfrm>
          <a:prstGeom prst="rect">
            <a:avLst/>
          </a:prstGeom>
        </p:spPr>
      </p:pic>
      <p:sp>
        <p:nvSpPr>
          <p:cNvPr id="19" name="Text 12"/>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3"/>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1" name="Text 7"/>
          <p:cNvSpPr/>
          <p:nvPr/>
        </p:nvSpPr>
        <p:spPr>
          <a:xfrm>
            <a:off x="711101" y="332803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Tree>
  </p:cSld>
  <p:clrMapOvr>
    <a:masterClrMapping/>
  </p:clrMapOvr>
</p:sld>
</file>

<file path=ppt/slides/slide8.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8">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07</ns1:t>
            </ns1:r>
            <ns1:endParaRPr lang="en-US" sz="1150" dirty="0"/>
          </ns1:p>
        </ns0:txBody>
      </ns0:sp>
      <ns0:pic>
        <ns0:nvPicPr>
          <ns0:cNvPr id="5" name="Image 1" descr="Open this chapter on GitHub">
            <ns1:hlinkClick ns3:id="rId3" tooltip="https://github.com/github/copilot-app-for-beginners/tree/main/07-automation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EXERCISE</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Create a manual readiness report</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Automations &gt;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New automation</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Set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Trigger</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to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Manual</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ns1:t>
            </ns1:r>
            <ns1:endParaRPr lang="en-US" sz="1650" dirty="0"/>
          </ns1:p>
        </ns0:txBody>
      </ns0:sp>
      <ns0:sp>
        <ns0:nvSpPr>
          <ns0:cNvPr id="9" name="Text 5"/>
          <ns0:cNvSpPr/>
          <ns0:nvPr/>
        </ns0:nvSpPr>
        <ns0:spPr>
          <ns1:xfrm>
            <ns1:off x="551706" y="1577876"/>
            <ns1:ext cx="4230291" cy="2990850"/>
          </ns1:xfrm>
          <ns1:prstGeom prst="roundRect">
            <ns1:avLst>
              <ns1:gd name="adj" fmla="val 2548"/>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0" name="Image 2" descr="New automation form with Manual trigger, cloud off, selected repository, Current checkout, and Create and run"/>
          <ns0:cNvPicPr>
            <ns1:picLocks noChangeAspect="1"/>
          </ns0:cNvPicPr>
          <ns0:nvPr/>
        </ns0:nvPicPr>
        <ns0:blipFill>
          <ns1:blip ns3:embed="rId4"/>
          <ns1:stretch>
            <ns1:fillRect/>
          </ns1:stretch>
        </ns0:blipFill>
        <ns0:spPr>
          <ns1:xfrm>
            <ns1:off x="599331" y="1625501"/>
            <ns1:ext cx="4135041" cy="2895600"/>
          </ns1:xfrm>
          <ns1:prstGeom prst="rect">
            <ns1:avLst/>
          </ns1:prstGeom>
        </ns0:spPr>
      </ns0:pic>
      <ns0:sp>
        <ns0:nvSpPr>
          <ns0:cNvPr id="11" name="Text 6"/>
          <ns0:cNvSpPr/>
          <ns0:nvPr/>
        </ns0:nvSpPr>
        <ns0:spPr>
          <ns1:xfrm>
            <ns1:off x="5079802" y="1811685"/>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2" name="Text 7"/>
          <ns0:cNvSpPr/>
          <ns0:nvPr/>
        </ns0:nvSpPr>
        <ns0:spPr>
          <ns1:xfrm>
            <ns1:off x="5174467" y="1856036"/>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3" name="Text 8"/>
          <ns0:cNvSpPr/>
          <ns0:nvPr/>
        </ns0:nvSpPr>
        <ns0:spPr>
          <ns1:xfrm>
            <ns1:off x="5511552" y="1811685"/>
            <ns1:ext cx="2728689"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Name it</ns1:t>
            </ns1:r>
            <ns1:endParaRPr lang="en-US" sz="1550" dirty="0"/>
          </ns1:p>
        </ns0:txBody>
      </ns0:sp>
      <ns0:sp>
        <ns0:nvSpPr>
          <ns0:cNvPr id="14" name="Text 9"/>
          <ns0:cNvSpPr/>
          <ns0:nvPr/>
        </ns0:nvSpPr>
        <ns0:spPr>
          <ns1:xfrm>
            <ns1:off x="5511552" y="2059186"/>
            <ns1:ext cx="2728689" cy="207615"/>
          </ns1:xfrm>
          <ns1:prstGeom prst="rect">
            <ns1:avLst/>
          </ns1:prstGeom>
          <ns1:noFill/>
          <ns1:ln/>
        </ns0:spPr>
        <ns0:txBody>
          <ns1:bodyPr wrap="square" lIns="0" tIns="0" rIns="0" bIns="0" rtlCol="0" anchor="t"/>
          <ns1:lstStyle/>
          <ns1:p>
            <ns1:pPr algn="l" indent="0" marL="0">
              <ns1:lnSpc>
                <ns1:spcPts val="1560"/>
              </ns1:lnSpc>
              <ns1:buNone/>
            </ns1:pPr>
            <ns1:r>
              <ns1:rPr lang="en-US" sz="1350" b="1" dirty="0">
                <ns1:solidFill>
                  <ns1:srgbClr val="0550AE"/>
                </ns1:solidFill>
                <ns1:latin typeface="Courier New" pitchFamily="34" charset="0"/>
                <ns1:ea typeface="Courier New" pitchFamily="34" charset="-122"/>
                <ns1:cs typeface="Courier New" pitchFamily="34" charset="-120"/>
              </ns1:rPr>
              <ns1:t>PR review readiness report</ns1:t>
            </ns1:r>
            <ns1:endParaRPr lang="en-US" sz="1350" dirty="0"/>
          </ns1:p>
        </ns0:txBody>
      </ns0:sp>
      <ns0:sp>
        <ns0:nvSpPr>
          <ns0:cNvPr id="15" name="Text 10"/>
          <ns0:cNvSpPr/>
          <ns0:nvPr/>
        </ns0:nvSpPr>
        <ns0:spPr>
          <ns1:xfrm>
            <ns1:off x="5079802" y="2444502"/>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6" name="Text 11"/>
          <ns0:cNvSpPr/>
          <ns0:nvPr/>
        </ns0:nvSpPr>
        <ns0:spPr>
          <ns1:xfrm>
            <ns1:off x="5174467" y="2488853"/>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7" name="Text 12"/>
          <ns0:cNvSpPr/>
          <ns0:nvPr/>
        </ns0:nvSpPr>
        <ns0:spPr>
          <ns1:xfrm>
            <ns1:off x="5511552" y="2444502"/>
            <ns1:ext cx="3186836"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Paste the read-only prompt</ns1:t>
            </ns1:r>
            <ns1:endParaRPr lang="en-US" sz="1550" dirty="0"/>
          </ns1:p>
        </ns0:txBody>
      </ns0:sp>
      <ns0:sp>
        <ns0:nvSpPr>
          <ns0:cNvPr id="18" name="Text 13"/>
          <ns0:cNvSpPr/>
          <ns0:nvPr/>
        </ns0:nvSpPr>
        <ns0:spPr>
          <ns1:xfrm>
            <ns1:off x="5511552" y="2692003"/>
            <ns1:ext cx="3186836"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CI, comments, and the next action per PR.</ns1:t>
            </ns1:r>
            <ns1:endParaRPr lang="en-US" sz="1350" dirty="0"/>
          </ns1:p>
        </ns0:txBody>
      </ns0:sp>
      <ns0:sp>
        <ns0:nvSpPr>
          <ns0:cNvPr id="19" name="Text 14"/>
          <ns0:cNvSpPr/>
          <ns0:nvPr/>
        </ns0:nvSpPr>
        <ns0:spPr>
          <ns1:xfrm>
            <ns1:off x="5079802" y="3265884"/>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20" name="Text 15"/>
          <ns0:cNvSpPr/>
          <ns0:nvPr/>
        </ns0:nvSpPr>
        <ns0:spPr>
          <ns1:xfrm>
            <ns1:off x="5174467" y="3310235"/>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21" name="Text 16"/>
          <ns0:cNvSpPr/>
          <ns0:nvPr/>
        </ns0:nvSpPr>
        <ns0:spPr>
          <ns1:xfrm>
            <ns1:off x="5511552" y="3265884"/>
            <ns1:ext cx="2654001"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Cloud off, Current checkout</ns1:t>
            </ns1:r>
            <ns1:endParaRPr lang="en-US" sz="1550" dirty="0"/>
          </ns1:p>
        </ns0:txBody>
      </ns0:sp>
      <ns0:sp>
        <ns0:nvSpPr>
          <ns0:cNvPr id="22" name="Text 17"/>
          <ns0:cNvSpPr/>
          <ns0:nvPr/>
        </ns0:nvSpPr>
        <ns0:spPr>
          <ns1:xfrm>
            <ns1:off x="5511552" y="3513386"/>
            <ns1:ext cx="2654001"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Runs locally. It only reads data.</ns1:t>
            </ns1:r>
            <ns1:endParaRPr lang="en-US" sz="1350" dirty="0"/>
          </ns1:p>
        </ns0:txBody>
      </ns0:sp>
      <ns0:sp>
        <ns0:nvSpPr>
          <ns0:cNvPr id="23" name="Text 18"/>
          <ns0:cNvSpPr/>
          <ns0:nvPr/>
        </ns0:nvSpPr>
        <ns0:spPr>
          <ns1:xfrm>
            <ns1:off x="5079802" y="3889177"/>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24" name="Text 19"/>
          <ns0:cNvSpPr/>
          <ns0:nvPr/>
        </ns0:nvSpPr>
        <ns0:spPr>
          <ns1:xfrm>
            <ns1:off x="5174467" y="3933527"/>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4</ns1:t>
            </ns1:r>
            <ns1:endParaRPr lang="en-US" sz="1250" dirty="0"/>
          </ns1:p>
        </ns0:txBody>
      </ns0:sp>
      <ns0:sp>
        <ns0:nvSpPr>
          <ns0:cNvPr id="25" name="Text 20"/>
          <ns0:cNvSpPr/>
          <ns0:nvPr/>
        </ns0:nvSpPr>
        <ns0:spPr>
          <ns1:xfrm>
            <ns1:off x="5511552" y="3889177"/>
            <ns1:ext cx="2400943"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Create and run</ns1:t>
            </ns1:r>
            <ns1:endParaRPr lang="en-US" sz="1550" dirty="0"/>
          </ns1:p>
        </ns0:txBody>
      </ns0:sp>
      <ns0:sp>
        <ns0:nvSpPr>
          <ns0:cNvPr id="26" name="Text 21"/>
          <ns0:cNvSpPr/>
          <ns0:nvPr/>
        </ns0:nvSpPr>
        <ns0:spPr>
          <ns1:xfrm>
            <ns1:off x="5511552" y="4136678"/>
            <ns1:ext cx="2400943"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From the arrow next to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Create</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ns1:t>
            </ns1:r>
            <ns1:endParaRPr lang="en-US" sz="1350" dirty="0"/>
          </ns1:p>
        </ns0:txBody>
      </ns0:sp>
    </ns0:spTree>
  </ns0:cSld>
  <ns0:clrMapOvr>
    <ns1:masterClrMapping/>
  </ns0:clrMapOvr>
</ns0: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5"/>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81411"/>
            <a:ext cx="8108900" cy="0"/>
          </a:xfrm>
          <a:prstGeom prst="line">
            <a:avLst/>
          </a:prstGeom>
          <a:noFill/>
          <a:ln w="9525">
            <a:solidFill>
              <a:srgbClr val="9CD7FF"/>
            </a:solidFill>
            <a:prstDash val="solid"/>
          </a:ln>
        </p:spPr>
      </p:sp>
      <p:sp>
        <p:nvSpPr>
          <p:cNvPr id="12" name="Text 8"/>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9"/>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0"/>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1"/>
          <p:cNvSpPr/>
          <p:nvPr/>
        </p:nvSpPr>
        <p:spPr>
          <a:xfrm>
            <a:off x="517475" y="3010346"/>
            <a:ext cx="8108900" cy="0"/>
          </a:xfrm>
          <a:prstGeom prst="line">
            <a:avLst/>
          </a:prstGeom>
          <a:noFill/>
          <a:ln w="9525">
            <a:solidFill>
              <a:srgbClr val="D1D9E0"/>
            </a:solidFill>
            <a:prstDash val="solid"/>
          </a:ln>
        </p:spPr>
      </p:sp>
      <p:sp>
        <p:nvSpPr>
          <p:cNvPr id="16" name="Text 12"/>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3"/>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4"/>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5"/>
          <p:cNvSpPr/>
          <p:nvPr/>
        </p:nvSpPr>
        <p:spPr>
          <a:xfrm>
            <a:off x="517475" y="3539282"/>
            <a:ext cx="8108900" cy="0"/>
          </a:xfrm>
          <a:prstGeom prst="line">
            <a:avLst/>
          </a:prstGeom>
          <a:noFill/>
          <a:ln w="9525">
            <a:solidFill>
              <a:srgbClr val="D1D9E0"/>
            </a:solidFill>
            <a:prstDash val="solid"/>
          </a:ln>
        </p:spPr>
      </p:sp>
      <p:sp>
        <p:nvSpPr>
          <p:cNvPr id="20" name="Text 16"/>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7"/>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8"/>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19"/>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0"/>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1"/>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0">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07</ns1:t>
            </ns1:r>
            <ns1:endParaRPr lang="en-US" sz="1150" dirty="0"/>
          </ns1:p>
        </ns0:txBody>
      </ns0:sp>
      <ns0:pic>
        <ns0:nvPicPr>
          <ns0:cNvPr id="5" name="Image 1" descr="Open this chapter on GitHub">
            <ns1:hlinkClick ns3:id="rId3" tooltip="https://github.com/github/copilot-app-for-beginners/tree/main/07-automation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EXERCISE</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Schedule it for every morning</ns1:t>
            </ns1:r>
            <ns1:endParaRPr lang="en-US" sz="2800" dirty="0"/>
          </ns1:p>
        </ns0:txBody>
      </ns0:sp>
      <ns0:sp>
        <ns0:nvSpPr>
          <ns0:cNvPr id="8" name="Text 4"/>
          <ns0:cNvSpPr/>
          <ns0:nvPr/>
        </ns0:nvSpPr>
        <ns0:spPr>
          <ns1:xfrm>
            <ns1:off x="1302395" y="1450777"/>
            <ns1:ext cx="2221111" cy="2990850"/>
          </ns1:xfrm>
          <ns1:prstGeom prst="roundRect">
            <ns1:avLst>
              <ns1:gd name="adj" fmla="val 3431"/>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9" name="Image 2" descr="Automation trigger options in the new-automation form"/>
          <ns0:cNvPicPr>
            <ns1:picLocks noChangeAspect="1"/>
          </ns0:cNvPicPr>
          <ns0:nvPr/>
        </ns0:nvPicPr>
        <ns0:blipFill>
          <ns1:blip ns3:embed="rId4"/>
          <ns1:stretch>
            <ns1:fillRect/>
          </ns1:stretch>
        </ns0:blipFill>
        <ns0:spPr>
          <ns1:xfrm>
            <ns1:off x="1350020" y="1498402"/>
            <ns1:ext cx="2125861" cy="2895600"/>
          </ns1:xfrm>
          <ns1:prstGeom prst="rect">
            <ns1:avLst/>
          </ns1:prstGeom>
        </ns0:spPr>
      </ns0:pic>
      <ns0:sp>
        <ns0:nvSpPr>
          <ns0:cNvPr id="10" name="Text 5"/>
          <ns0:cNvSpPr/>
          <ns0:nvPr/>
        </ns0:nvSpPr>
        <ns0:spPr>
          <ns1:xfrm>
            <ns1:off x="4571851" y="1522214"/>
            <ns1:ext cx="1968550" cy="901601"/>
          </ns1:xfrm>
          <ns1:prstGeom prst="roundRect">
            <ns1:avLst>
              <ns1:gd name="adj" fmla="val 14086"/>
            </ns1:avLst>
          </ns1:prstGeom>
          <ns1:solidFill>
            <ns1:srgbClr val="DDF4FF"/>
          </ns1:solidFill>
          <ns1:ln w="9525">
            <ns1:solidFill>
              <ns1:srgbClr val="9CD7FF"/>
            </ns1:solidFill>
          </ns1:ln>
        </ns0:spPr>
        <ns0:txBody>
          <ns1:bodyPr wrap="square" rtlCol="0" anchor="ctr"/>
          <ns1:lstStyle/>
          <ns1:p>
            <ns1:pPr indent="0" marL="0">
              <ns1:buNone/>
            </ns1:pPr>
            <ns1:endParaRPr lang="en-US" dirty="0"/>
          </ns1:p>
        </ns0:txBody>
      </ns0:sp>
      <ns0:sp>
        <ns0:nvSpPr>
          <ns0:cNvPr id="11" name="Text 6"/>
          <ns0:cNvSpPr/>
          <ns0:nvPr/>
        </ns0:nvSpPr>
        <ns0:spPr>
          <ns1:xfrm>
            <ns1:off x="4733776" y="1658689"/>
            <ns1:ext cx="1677594" cy="419100"/>
          </ns1:xfrm>
          <ns1:prstGeom prst="rect">
            <ns1:avLst/>
          </ns1:prstGeom>
          <ns1:noFill/>
          <ns1:ln/>
        </ns0:spPr>
        <ns0:txBody>
          <ns1:bodyPr wrap="square" lIns="0" tIns="0" rIns="0" bIns="0" rtlCol="0" anchor="t"/>
          <ns1:lstStyle/>
          <ns1:p>
            <ns1:pPr algn="l" indent="0" marL="0">
              <ns1:buNone/>
            </ns1:pPr>
            <ns1:r>
              <ns1:rPr lang="en-US" sz="1450" b="1" dirty="0">
                <ns1:solidFill>
                  <ns1:srgbClr val="1F2328"/>
                </ns1:solidFill>
                <ns1:latin typeface="Arial" pitchFamily="34" charset="0"/>
                <ns1:ea typeface="Arial" pitchFamily="34" charset="-122"/>
                <ns1:cs typeface="Arial" pitchFamily="34" charset="-120"/>
              </ns1:rPr>
              <ns1:t>Manual: "What is the status now?"</ns1:t>
            </ns1:r>
            <ns1:endParaRPr lang="en-US" sz="1450" dirty="0"/>
          </ns1:p>
        </ns0:txBody>
      </ns0:sp>
      <ns0:sp>
        <ns0:nvSpPr>
          <ns0:cNvPr id="12" name="Text 7"/>
          <ns0:cNvSpPr/>
          <ns0:nvPr/>
        </ns0:nvSpPr>
        <ns0:spPr>
          <ns1:xfrm>
            <ns1:off x="6667351" y="1522214"/>
            <ns1:ext cx="1968550" cy="901601"/>
          </ns1:xfrm>
          <ns1:prstGeom prst="roundRect">
            <ns1:avLst>
              <ns1:gd name="adj" fmla="val 14086"/>
            </ns1:avLst>
          </ns1:prstGeom>
          <ns1:solidFill>
            <ns1:srgbClr val="DAFBE1"/>
          </ns1:solidFill>
          <ns1:ln w="9525">
            <ns1:solidFill>
              <ns1:srgbClr val="8CE7A5"/>
            </ns1:solidFill>
          </ns1:ln>
        </ns0:spPr>
        <ns0:txBody>
          <ns1:bodyPr wrap="square" rtlCol="0" anchor="ctr"/>
          <ns1:lstStyle/>
          <ns1:p>
            <ns1:pPr indent="0" marL="0">
              <ns1:buNone/>
            </ns1:pPr>
            <ns1:endParaRPr lang="en-US" dirty="0"/>
          </ns1:p>
        </ns0:txBody>
      </ns0:sp>
      <ns0:sp>
        <ns0:nvSpPr>
          <ns0:cNvPr id="13" name="Text 8"/>
          <ns0:cNvSpPr/>
          <ns0:nvPr/>
        </ns0:nvSpPr>
        <ns0:spPr>
          <ns1:xfrm>
            <ns1:off x="6829276" y="1658689"/>
            <ns1:ext cx="1677594" cy="628650"/>
          </ns1:xfrm>
          <ns1:prstGeom prst="rect">
            <ns1:avLst/>
          </ns1:prstGeom>
          <ns1:noFill/>
          <ns1:ln/>
        </ns0:spPr>
        <ns0:txBody>
          <ns1:bodyPr wrap="square" lIns="0" tIns="0" rIns="0" bIns="0" rtlCol="0" anchor="t"/>
          <ns1:lstStyle/>
          <ns1:p>
            <ns1:pPr algn="l" indent="0" marL="0">
              <ns1:buNone/>
            </ns1:pPr>
            <ns1:r>
              <ns1:rPr lang="en-US" sz="1450" b="1" dirty="0">
                <ns1:solidFill>
                  <ns1:srgbClr val="1F2328"/>
                </ns1:solidFill>
                <ns1:latin typeface="Arial" pitchFamily="34" charset="0"/>
                <ns1:ea typeface="Arial" pitchFamily="34" charset="-122"/>
                <ns1:cs typeface="Arial" pitchFamily="34" charset="-120"/>
              </ns1:rPr>
              <ns1:t>Daily: "What changed since yesterday?"</ns1:t>
            </ns1:r>
            <ns1:endParaRPr lang="en-US" sz="1450" dirty="0"/>
          </ns1:p>
        </ns0:txBody>
      </ns0:sp>
      <ns0:sp>
        <ns0:nvSpPr>
          <ns0:cNvPr id="14" name="Text 9"/>
          <ns0:cNvSpPr/>
          <ns0:nvPr/>
        </ns0:nvSpPr>
        <ns0:spPr>
          <ns1:xfrm>
            <ns1:off x="4571851" y="2626965"/>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5" name="Text 10"/>
          <ns0:cNvSpPr/>
          <ns0:nvPr/>
        </ns0:nvSpPr>
        <ns0:spPr>
          <ns1:xfrm>
            <ns1:off x="4666516" y="2671316"/>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6" name="Text 11"/>
          <ns0:cNvSpPr/>
          <ns0:nvPr/>
        </ns0:nvSpPr>
        <ns0:spPr>
          <ns1:xfrm>
            <ns1:off x="5003602" y="2626965"/>
            <ns1:ext cx="2051337"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Edit the trigger</ns1:t>
            </ns1:r>
            <ns1:endParaRPr lang="en-US" sz="1550" dirty="0"/>
          </ns1:p>
        </ns0:txBody>
      </ns0:sp>
      <ns0:sp>
        <ns0:nvSpPr>
          <ns0:cNvPr id="17" name="Text 12"/>
          <ns0:cNvSpPr/>
          <ns0:nvPr/>
        </ns0:nvSpPr>
        <ns0:spPr>
          <ns1:xfrm>
            <ns1:off x="5003602" y="2874466"/>
            <ns1:ext cx="2051337"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Manual</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to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Daily</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at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08:00</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ns1:t>
            </ns1:r>
            <ns1:endParaRPr lang="en-US" sz="1350" dirty="0"/>
          </ns1:p>
        </ns0:txBody>
      </ns0:sp>
      <ns0:sp>
        <ns0:nvSpPr>
          <ns0:cNvPr id="18" name="Text 13"/>
          <ns0:cNvSpPr/>
          <ns0:nvPr/>
        </ns0:nvSpPr>
        <ns0:spPr>
          <ns1:xfrm>
            <ns1:off x="4571851" y="3275707"/>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9" name="Text 14"/>
          <ns0:cNvSpPr/>
          <ns0:nvPr/>
        </ns0:nvSpPr>
        <ns0:spPr>
          <ns1:xfrm>
            <ns1:off x="4666516" y="3320058"/>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20" name="Text 15"/>
          <ns0:cNvSpPr/>
          <ns0:nvPr/>
        </ns0:nvSpPr>
        <ns0:spPr>
          <ns1:xfrm>
            <ns1:off x="5003602" y="3275707"/>
            <ns1:ext cx="3257273"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Keep the app running</ns1:t>
            </ns1:r>
            <ns1:endParaRPr lang="en-US" sz="1550" dirty="0"/>
          </ns1:p>
        </ns0:txBody>
      </ns0:sp>
      <ns0:sp>
        <ns0:nvSpPr>
          <ns0:cNvPr id="21" name="Text 16"/>
          <ns0:cNvSpPr/>
          <ns0:nvPr/>
        </ns0:nvSpPr>
        <ns0:spPr>
          <ns1:xfrm>
            <ns1:off x="5003602" y="3523208"/>
            <ns1:ext cx="3257273"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Local runs need the app open and awake.</ns1:t>
            </ns1:r>
            <ns1:endParaRPr lang="en-US" sz="1350" dirty="0"/>
          </ns1:p>
        </ns0:txBody>
      </ns0:sp>
      <ns0:sp>
        <ns0:nvSpPr>
          <ns0:cNvPr id="22" name="Text 17"/>
          <ns0:cNvSpPr/>
          <ns0:nvPr/>
        </ns0:nvSpPr>
        <ns0:spPr>
          <ns1:xfrm>
            <ns1:off x="4571851" y="3924449"/>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23" name="Text 18"/>
          <ns0:cNvSpPr/>
          <ns0:nvPr/>
        </ns0:nvSpPr>
        <ns0:spPr>
          <ns1:xfrm>
            <ns1:off x="4666516" y="3968800"/>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24" name="Text 19"/>
          <ns0:cNvSpPr/>
          <ns0:nvPr/>
        </ns0:nvSpPr>
        <ns0:spPr>
          <ns1:xfrm>
            <ns1:off x="5003602" y="3924449"/>
            <ns1:ext cx="3207937"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Check Recent runs</ns1:t>
            </ns1:r>
            <ns1:endParaRPr lang="en-US" sz="1550" dirty="0"/>
          </ns1:p>
        </ns0:txBody>
      </ns0:sp>
      <ns0:sp>
        <ns0:nvSpPr>
          <ns0:cNvPr id="25" name="Text 20"/>
          <ns0:cNvSpPr/>
          <ns0:nvPr/>
        </ns0:nvSpPr>
        <ns0:spPr>
          <ns1:xfrm>
            <ns1:off x="5003602" y="4171950"/>
            <ns1:ext cx="3207937"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A new run appears without pressing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Run</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ns1:t>
            </ns1:r>
            <ns1:endParaRPr lang="en-US" sz="1350" dirty="0"/>
          </ns1:p>
        </ns0:txBody>
      </ns0:sp>
    </ns0:spTree>
  </ns0:cSld>
  <ns0:clrMapOvr>
    <ns1:masterClrMapping/>
  </ns0:clrMapOvr>
</ns0: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93753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224858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1" name="Text 7"/>
          <p:cNvSpPr/>
          <p:nvPr/>
        </p:nvSpPr>
        <p:spPr>
          <a:xfrm>
            <a:off x="711101" y="303588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Tree>
  </p:cSld>
  <p:clrMapOvr>
    <a:masterClrMapping/>
  </p:clrMapOvr>
</p:sld>
</file>

<file path=ppt/slides/slide12.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2">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07</ns1:t>
            </ns1:r>
            <ns1:endParaRPr lang="en-US" sz="1150" dirty="0"/>
          </ns1:p>
        </ns0:txBody>
      </ns0:sp>
      <ns0:pic>
        <ns0:nvPicPr>
          <ns0:cNvPr id="5" name="Image 1" descr="Open this chapter on GitHub">
            <ns1:hlinkClick ns3:id="rId3" tooltip="https://github.com/github/copilot-app-for-beginners/tree/main/07-automation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EVENT TRIGGERS</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React to repository activity, safely</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Issue, PR, discussion, alert, workflow, or automation events can start a run.</ns1:t>
            </ns1:r>
            <ns1:endParaRPr lang="en-US" sz="1650" dirty="0"/>
          </ns1:p>
        </ns0:txBody>
      </ns0:sp>
      <ns0:sp>
        <ns0:nvSpPr>
          <ns0:cNvPr id="9" name="Text 5"/>
          <ns0:cNvSpPr/>
          <ns0:nvPr/>
        </ns0:nvSpPr>
        <ns0:spPr>
          <ns1:xfrm>
            <ns1:off x="507950" y="2004268"/>
            <ns1:ext cx="5079950" cy="2214116"/>
          </ns1:xfrm>
          <ns1:prstGeom prst="roundRect">
            <ns1:avLst>
              <ns1:gd name="adj" fmla="val 5736"/>
            </ns1:avLst>
          </ns1:prstGeom>
          <ns1:solidFill>
            <ns1:srgbClr val="FFFFFF"/>
          </ns1:solidFill>
          <ns1:ln w="9525">
            <ns1:solidFill>
              <ns1:srgbClr val="8CE7A5"/>
            </ns1:solidFill>
          </ns1:ln>
        </ns0:spPr>
        <ns0:txBody>
          <ns1:bodyPr wrap="square" rtlCol="0" anchor="ctr"/>
          <ns1:lstStyle/>
          <ns1:p>
            <ns1:pPr indent="0" marL="0">
              <ns1:buNone/>
            </ns1:pPr>
            <ns1:endParaRPr lang="en-US" dirty="0"/>
          </ns1:p>
        </ns0:txBody>
      </ns0:sp>
      <ns0:sp>
        <ns0:nvSpPr>
          <ns0:cNvPr id="10" name="Shape 6"/>
          <ns0:cNvSpPr/>
          <ns0:nvPr/>
        </ns0:nvSpPr>
        <ns0:spPr>
          <ns1:xfrm>
            <ns1:off x="517475" y="2526506"/>
            <ns1:ext cx="5060900" cy="0"/>
          </ns1:xfrm>
          <ns1:prstGeom prst="line">
            <ns1:avLst/>
          </ns1:prstGeom>
          <ns1:noFill/>
          <ns1:ln w="9525">
            <ns1:solidFill>
              <ns1:srgbClr val="D1D9E0"/>
            </ns1:solidFill>
            <ns1:prstDash val="solid"/>
          </ns1:ln>
        </ns0:spPr>
      </ns0:sp>
      <ns0:sp>
        <ns0:nvSpPr>
          <ns0:cNvPr id="11" name="Text 7"/>
          <ns0:cNvSpPr/>
          <ns0:nvPr/>
        </ns0:nvSpPr>
        <ns0:spPr>
          <ns1:xfrm>
            <ns1:off x="695176" y="2128093"/>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12" name="Text 8"/>
          <ns0:cNvSpPr/>
          <ns0:nvPr/>
        </ns0:nvSpPr>
        <ns0:spPr>
          <ns1:xfrm>
            <ns1:off x="789841" y="2172444"/>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3" name="Text 9"/>
          <ns0:cNvSpPr/>
          <ns0:nvPr/>
        </ns0:nvSpPr>
        <ns0:spPr>
          <ns1:xfrm>
            <ns1:off x="1152227" y="2160389"/>
            <ns1:ext cx="1813459"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Start read-only</ns1:t>
            </ns1:r>
            <ns1:endParaRPr lang="en-US" sz="1500" dirty="0"/>
          </ns1:p>
        </ns0:txBody>
      </ns0:sp>
      <ns0:sp>
        <ns0:nvSpPr>
          <ns0:cNvPr id="14" name="Text 10"/>
          <ns0:cNvSpPr/>
          <ns0:nvPr/>
        </ns0:nvSpPr>
        <ns0:spPr>
          <ns1:xfrm>
            <ns1:off x="3107829" y="2164259"/>
            <ns1:ext cx="233870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Summaries, not edits.</ns1:t>
            </ns1:r>
            <ns1:endParaRPr lang="en-US" sz="1400" dirty="0"/>
          </ns1:p>
        </ns0:txBody>
      </ns0:sp>
      <ns0:sp>
        <ns0:nvSpPr>
          <ns0:cNvPr id="15" name="Shape 11"/>
          <ns0:cNvSpPr/>
          <ns0:nvPr/>
        </ns0:nvSpPr>
        <ns0:spPr>
          <ns1:xfrm>
            <ns1:off x="517475" y="3178671"/>
            <ns1:ext cx="5060900" cy="0"/>
          </ns1:xfrm>
          <ns1:prstGeom prst="line">
            <ns1:avLst/>
          </ns1:prstGeom>
          <ns1:noFill/>
          <ns1:ln w="9525">
            <ns1:solidFill>
              <ns1:srgbClr val="D1D9E0"/>
            </ns1:solidFill>
            <ns1:prstDash val="solid"/>
          </ns1:ln>
        </ns0:spPr>
      </ns0:sp>
      <ns0:sp>
        <ns0:nvSpPr>
          <ns0:cNvPr id="16" name="Text 12"/>
          <ns0:cNvSpPr/>
          <ns0:nvPr/>
        </ns0:nvSpPr>
        <ns0:spPr>
          <ns1:xfrm>
            <ns1:off x="695176" y="2712839"/>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17" name="Text 13"/>
          <ns0:cNvSpPr/>
          <ns0:nvPr/>
        </ns0:nvSpPr>
        <ns0:spPr>
          <ns1:xfrm>
            <ns1:off x="789841" y="2757190"/>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8" name="Text 14"/>
          <ns0:cNvSpPr/>
          <ns0:nvPr/>
        </ns0:nvSpPr>
        <ns0:spPr>
          <ns1:xfrm>
            <ns1:off x="1152227" y="2745284"/>
            <ns1:ext cx="1813459"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One repository</ns1:t>
            </ns1:r>
            <ns1:endParaRPr lang="en-US" sz="1500" dirty="0"/>
          </ns1:p>
        </ns0:txBody>
      </ns0:sp>
      <ns0:sp>
        <ns0:nvSpPr>
          <ns0:cNvPr id="19" name="Text 15"/>
          <ns0:cNvSpPr/>
          <ns0:nvPr/>
        </ns0:nvSpPr>
        <ns0:spPr>
          <ns1:xfrm>
            <ns1:off x="3107829" y="2645569"/>
            <ns1:ext cx="2338703" cy="41404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Never every repo you can access.</ns1:t>
            </ns1:r>
            <ns1:endParaRPr lang="en-US" sz="1400" dirty="0"/>
          </ns1:p>
        </ns0:txBody>
      </ns0:sp>
      <ns0:sp>
        <ns0:nvSpPr>
          <ns0:cNvPr id="20" name="Shape 16"/>
          <ns0:cNvSpPr/>
          <ns0:nvPr/>
        </ns0:nvSpPr>
        <ns0:spPr>
          <ns1:xfrm>
            <ns1:off x="517475" y="3696146"/>
            <ns1:ext cx="5060900" cy="0"/>
          </ns1:xfrm>
          <ns1:prstGeom prst="line">
            <ns1:avLst/>
          </ns1:prstGeom>
          <ns1:noFill/>
          <ns1:ln w="9525">
            <ns1:solidFill>
              <ns1:srgbClr val="D1D9E0"/>
            </ns1:solidFill>
            <ns1:prstDash val="solid"/>
          </ns1:ln>
        </ns0:spPr>
      </ns0:sp>
      <ns0:sp>
        <ns0:nvSpPr>
          <ns0:cNvPr id="21" name="Text 17"/>
          <ns0:cNvSpPr/>
          <ns0:nvPr/>
        </ns0:nvSpPr>
        <ns0:spPr>
          <ns1:xfrm>
            <ns1:off x="695176" y="3297734"/>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22" name="Text 18"/>
          <ns0:cNvSpPr/>
          <ns0:nvPr/>
        </ns0:nvSpPr>
        <ns0:spPr>
          <ns1:xfrm>
            <ns1:off x="789841" y="3342084"/>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23" name="Text 19"/>
          <ns0:cNvSpPr/>
          <ns0:nvPr/>
        </ns0:nvSpPr>
        <ns0:spPr>
          <ns1:xfrm>
            <ns1:off x="1152227" y="3330029"/>
            <ns1:ext cx="1813459"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Filter narrowly</ns1:t>
            </ns1:r>
            <ns1:endParaRPr lang="en-US" sz="1500" dirty="0"/>
          </ns1:p>
        </ns0:txBody>
      </ns0:sp>
      <ns0:sp>
        <ns0:nvSpPr>
          <ns0:cNvPr id="24" name="Text 20"/>
          <ns0:cNvSpPr/>
          <ns0:nvPr/>
        </ns0:nvSpPr>
        <ns0:spPr>
          <ns1:xfrm>
            <ns1:off x="3107829" y="3333899"/>
            <ns1:ext cx="233870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By label or search query.</ns1:t>
            </ns1:r>
            <ns1:endParaRPr lang="en-US" sz="1400" dirty="0"/>
          </ns1:p>
        </ns0:txBody>
      </ns0:sp>
      <ns0:sp>
        <ns0:nvSpPr>
          <ns0:cNvPr id="25" name="Text 21"/>
          <ns0:cNvSpPr/>
          <ns0:nvPr/>
        </ns0:nvSpPr>
        <ns0:spPr>
          <ns1:xfrm>
            <ns1:off x="695176" y="3815209"/>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26" name="Text 22"/>
          <ns0:cNvSpPr/>
          <ns0:nvPr/>
        </ns0:nvSpPr>
        <ns0:spPr>
          <ns1:xfrm>
            <ns1:off x="789841" y="3859560"/>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4</ns1:t>
            </ns1:r>
            <ns1:endParaRPr lang="en-US" sz="1250" dirty="0"/>
          </ns1:p>
        </ns0:txBody>
      </ns0:sp>
      <ns0:sp>
        <ns0:nvSpPr>
          <ns0:cNvPr id="27" name="Text 23"/>
          <ns0:cNvSpPr/>
          <ns0:nvPr/>
        </ns0:nvSpPr>
        <ns0:spPr>
          <ns1:xfrm>
            <ns1:off x="1152227" y="3847505"/>
            <ns1:ext cx="1813459"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Hold write tools</ns1:t>
            </ns1:r>
            <ns1:endParaRPr lang="en-US" sz="1500" dirty="0"/>
          </ns1:p>
        </ns0:txBody>
      </ns0:sp>
      <ns0:sp>
        <ns0:nvSpPr>
          <ns0:cNvPr id="28" name="Text 24"/>
          <ns0:cNvSpPr/>
          <ns0:nvPr/>
        </ns0:nvSpPr>
        <ns0:spPr>
          <ns1:xfrm>
            <ns1:off x="3107829" y="3851374"/>
            <ns1:ext cx="233870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Until several runs look right.</ns1:t>
            </ns1:r>
            <ns1:endParaRPr lang="en-US" sz="1400" dirty="0"/>
          </ns1:p>
        </ns0:txBody>
      </ns0:sp>
      <ns0:sp>
        <ns0:nvSpPr>
          <ns0:cNvPr id="29" name="Text 25"/>
          <ns0:cNvSpPr/>
          <ns0:nvPr/>
        </ns0:nvSpPr>
        <ns0:spPr>
          <ns1:xfrm>
            <ns1:off x="5791051" y="2639467"/>
            <ns1:ext cx="2844701" cy="943570"/>
          </ns1:xfrm>
          <ns1:prstGeom prst="roundRect">
            <ns1:avLst>
              <ns1:gd name="adj" fmla="val 10768"/>
            </ns1:avLst>
          </ns1:prstGeom>
          <ns1:solidFill>
            <ns1:srgbClr val="FFEBE9"/>
          </ns1:solidFill>
          <ns1:ln w="9525">
            <ns1:solidFill>
              <ns1:srgbClr val="FFCECB"/>
            </ns1:solidFill>
          </ns1:ln>
        </ns0:spPr>
        <ns0:txBody>
          <ns1:bodyPr wrap="square" rtlCol="0" anchor="ctr"/>
          <ns1:lstStyle/>
          <ns1:p>
            <ns1:pPr indent="0" marL="0">
              <ns1:buNone/>
            </ns1:pPr>
            <ns1:endParaRPr lang="en-US" dirty="0"/>
          </ns1:p>
        </ns0:txBody>
      </ns0:sp>
      <ns0:pic>
        <ns0:nvPicPr>
          <ns0:cNvPr id="30"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5978277" y="3009602"/>
            <ns1:ext cx="203150" cy="203150"/>
          </ns1:xfrm>
          <ns1:prstGeom prst="rect">
            <ns1:avLst/>
          </ns1:prstGeom>
        </ns0:spPr>
      </ns0:pic>
      <ns0:sp>
        <ns0:nvSpPr>
          <ns0:cNvPr id="31" name="Text 26"/>
          <ns0:cNvSpPr/>
          <ns0:nvPr/>
        </ns0:nvSpPr>
        <ns0:spPr>
          <ns1:xfrm>
            <ns1:off x="6308378" y="2775942"/>
            <ns1:ext cx="2182951" cy="670620"/>
          </ns1:xfrm>
          <ns1:prstGeom prst="rect">
            <ns1:avLst/>
          </ns1:prstGeom>
          <ns1:noFill/>
          <ns1:ln/>
        </ns0:spPr>
        <ns0:txBody>
          <ns1:bodyPr wrap="square" lIns="0" tIns="0" rIns="0" bIns="0" rtlCol="0" anchor="t"/>
          <ns1:lstStyle/>
          <ns1:p>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Hostile issue text plus write tools raises </ns1:t>
            </ns1:r>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prompt-injection</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risk.</ns1:t>
            </ns1:r>
            <ns1:endParaRPr lang="en-US" sz="1450" dirty="0"/>
          </ns1:p>
        </ns0:txBody>
      </ns0:sp>
    </ns0:spTree>
  </ns0:cSld>
  <ns0:clrMapOvr>
    <ns1:masterClrMapping/>
  </ns0:clrMapOvr>
</ns0:sld>
</file>

<file path=ppt/slides/slide13.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3">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07</ns1:t>
            </ns1:r>
            <ns1:endParaRPr lang="en-US" sz="1150" dirty="0"/>
          </ns1:p>
        </ns0:txBody>
      </ns0:sp>
      <ns0:pic>
        <ns0:nvPicPr>
          <ns0:cNvPr id="5" name="Image 1" descr="Open this chapter on GitHub">
            <ns1:hlinkClick ns3:id="rId3" tooltip="https://github.com/github/copilot-app-for-beginners/tree/main/07-automation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LOCAL OR CLOUD</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Move to the cloud only when it is proven</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Cloud runs on GitHub even when your laptop is closed.</ns1:t>
            </ns1:r>
            <ns1:endParaRPr lang="en-US" sz="1650" dirty="0"/>
          </ns1:p>
        </ns0:txBody>
      </ns0:sp>
      <ns0:sp>
        <ns0:nvSpPr>
          <ns0:cNvPr id="9" name="Text 5"/>
          <ns0:cNvSpPr/>
          <ns0:nvPr/>
        </ns0:nvSpPr>
        <ns0:spPr>
          <ns1:xfrm>
            <ns1:off x="512064" y="1600200"/>
            <ns1:ext cx="3593592" cy="2432304"/>
          </ns1:xfrm>
          <ns1:prstGeom prst="roundRect">
            <ns1:avLst>
              <ns1:gd name="adj" fmla="val 4428"/>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0" name="Image 2" descr="Local versus cloud automations"/>
          <ns0:cNvPicPr>
            <ns1:picLocks noChangeAspect="1"/>
          </ns0:cNvPicPr>
          <ns0:nvPr/>
        </ns0:nvPicPr>
        <ns0:blipFill>
          <ns1:blip ns3:embed="rId4"/>
          <ns1:stretch>
            <ns1:fillRect/>
          </ns1:stretch>
        </ns0:blipFill>
        <ns0:spPr>
          <ns1:xfrm>
            <ns1:off x="557784" y="1645920"/>
            <ns1:ext cx="3502152" cy="2331720"/>
          </ns1:xfrm>
          <ns1:prstGeom prst="rect">
            <ns1:avLst/>
          </ns1:prstGeom>
        </ns0:spPr>
      </ns0:pic>
      <ns0:sp>
        <ns0:nvSpPr>
          <ns0:cNvPr id="11" name="Text 6"/>
          <ns0:cNvSpPr/>
          <ns0:nvPr/>
        </ns0:nvSpPr>
        <ns0:spPr>
          <ns1:xfrm>
            <ns1:off x="4329994" y="1602182"/>
            <ns1:ext cx="4343400" cy="1572768"/>
          </ns1:xfrm>
          <ns1:prstGeom prst="roundRect">
            <ns1:avLst>
              <ns1:gd name="adj" fmla="val 5928"/>
            </ns1:avLst>
          </ns1:prstGeom>
          <ns1:solidFill>
            <ns1:srgbClr val="FFFFFF"/>
          </ns1:solidFill>
          <ns1:ln w="9525">
            <ns1:solidFill>
              <ns1:srgbClr val="FFC49B"/>
            </ns1:solidFill>
          </ns1:ln>
        </ns0:spPr>
        <ns0:txBody>
          <ns1:bodyPr wrap="square" rtlCol="0" anchor="ctr"/>
          <ns1:lstStyle/>
          <ns1:p>
            <ns1:pPr indent="0" marL="0">
              <ns1:buNone/>
            </ns1:pPr>
            <ns1:endParaRPr lang="en-US" dirty="0"/>
          </ns1:p>
        </ns0:txBody>
      </ns0:sp>
      <ns0:sp>
        <ns0:nvSpPr>
          <ns0:cNvPr id="12" name="Text 7"/>
          <ns0:cNvSpPr/>
          <ns0:nvPr/>
        </ns0:nvSpPr>
        <ns0:spPr>
          <ns1:xfrm>
            <ns1:off x="4491919" y="1764107"/>
            <ns1:ext cx="381000" cy="381000"/>
          </ns1:xfrm>
          <ns1:prstGeom prst="roundRect">
            <ns1:avLst>
              <ns1:gd name="adj" fmla="val 23333"/>
            </ns1:avLst>
          </ns1:prstGeom>
          <ns1:solidFill>
            <ns1:srgbClr val="FFF1E5"/>
          </ns1:solidFill>
          <ns1:ln/>
        </ns0:spPr>
        <ns0:txBody>
          <ns1:bodyPr wrap="square" rtlCol="0" anchor="ctr"/>
          <ns1:lstStyle/>
          <ns1:p>
            <ns1:pPr indent="0" marL="0">
              <ns1:buNone/>
            </ns1:pPr>
            <ns1:endParaRPr lang="en-US" dirty="0"/>
          </ns1:p>
        </ns0:txBody>
      </ns0:sp>
      <ns0:pic>
        <ns0:nvPicPr>
          <ns0:cNvPr id="13"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4574518" y="1846707"/>
            <ns1:ext cx="215801" cy="215801"/>
          </ns1:xfrm>
          <ns1:prstGeom prst="rect">
            <ns1:avLst/>
          </ns1:prstGeom>
        </ns0:spPr>
      </ns0:pic>
      <ns0:sp>
        <ns0:nvSpPr>
          <ns0:cNvPr id="14" name="Text 8"/>
          <ns0:cNvSpPr/>
          <ns0:nvPr/>
        </ns0:nvSpPr>
        <ns0:spPr>
          <ns1:xfrm>
            <ns1:off x="4987219" y="1840307"/>
            <ns1:ext cx="1282598" cy="228600"/>
          </ns1:xfrm>
          <ns1:prstGeom prst="rect">
            <ns1:avLst/>
          </ns1:prstGeom>
          <ns1:noFill/>
          <ns1:ln/>
        </ns0:spPr>
        <ns0:txBody>
          <ns1:bodyPr wrap="square" lIns="0" tIns="0" rIns="0" bIns="0" rtlCol="0" anchor="t"/>
          <ns1:lstStyle/>
          <ns1:p>
            <ns1:pPr algn="l" indent="0" marL="0">
              <ns1:lnSpc>
                <ns1:spcPts val="1800"/>
              </ns1:lnSpc>
              <ns1:buNone/>
            </ns1:pPr>
            <ns1:r>
              <ns1:rPr lang="en-US" sz="1650" b="1" dirty="0">
                <ns1:solidFill>
                  <ns1:srgbClr val="1F2328"/>
                </ns1:solidFill>
                <ns1:latin typeface="Arial" pitchFamily="34" charset="0"/>
                <ns1:ea typeface="Arial" pitchFamily="34" charset="-122"/>
                <ns1:cs typeface="Arial" pitchFamily="34" charset="-120"/>
              </ns1:rPr>
              <ns1:t>Cloud needs</ns1:t>
            </ns1:r>
            <ns1:endParaRPr lang="en-US" sz="1650" dirty="0"/>
          </ns1:p>
        </ns0:txBody>
      </ns0:sp>
      <ns0:sp>
        <ns0:nvSpPr>
          <ns0:cNvPr id="15" name="Text 9"/>
          <ns0:cNvSpPr/>
          <ns0:nvPr/>
        </ns0:nvSpPr>
        <ns0:spPr>
          <ns1:xfrm>
            <ns1:off x="4491919" y="2301228"/>
            <ns1:ext cx="57150" cy="57150"/>
          </ns1:xfrm>
          <ns1:prstGeom prst="roundRect">
            <ns1:avLst>
              <ns1:gd name="adj" fmla="val 1600000"/>
            </ns1:avLst>
          </ns1:prstGeom>
          <ns1:solidFill>
            <ns1:srgbClr val="818B98"/>
          </ns1:solidFill>
          <ns1:ln/>
        </ns0:spPr>
        <ns0:txBody>
          <ns1:bodyPr wrap="square" rtlCol="0" anchor="ctr"/>
          <ns1:lstStyle/>
          <ns1:p>
            <ns1:pPr indent="0" marL="0">
              <ns1:buNone/>
            </ns1:pPr>
            <ns1:endParaRPr lang="en-US" dirty="0"/>
          </ns1:p>
        </ns0:txBody>
      </ns0:sp>
      <ns0:sp>
        <ns0:nvSpPr>
          <ns0:cNvPr id="16" name="Text 10"/>
          <ns0:cNvSpPr/>
          <ns0:nvPr/>
        </ns0:nvSpPr>
        <ns0:spPr>
          <ns1:xfrm>
            <ns1:off x="4650569" y="2221307"/>
            <ns1:ext cx="167334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Cloud agent enabled</ns1:t>
            </ns1:r>
            <ns1:endParaRPr lang="en-US" sz="1400" dirty="0"/>
          </ns1:p>
        </ns0:txBody>
      </ns0:sp>
      <ns0:sp>
        <ns0:nvSpPr>
          <ns0:cNvPr id="17" name="Text 11"/>
          <ns0:cNvSpPr/>
          <ns0:nvPr/>
        </ns0:nvSpPr>
        <ns0:spPr>
          <ns1:xfrm>
            <ns1:off x="4491919" y="2571649"/>
            <ns1:ext cx="57150" cy="57150"/>
          </ns1:xfrm>
          <ns1:prstGeom prst="roundRect">
            <ns1:avLst>
              <ns1:gd name="adj" fmla="val 1600000"/>
            </ns1:avLst>
          </ns1:prstGeom>
          <ns1:solidFill>
            <ns1:srgbClr val="818B98"/>
          </ns1:solidFill>
          <ns1:ln/>
        </ns0:spPr>
        <ns0:txBody>
          <ns1:bodyPr wrap="square" rtlCol="0" anchor="ctr"/>
          <ns1:lstStyle/>
          <ns1:p>
            <ns1:pPr indent="0" marL="0">
              <ns1:buNone/>
            </ns1:pPr>
            <ns1:endParaRPr lang="en-US" dirty="0"/>
          </ns1:p>
        </ns0:txBody>
      </ns0:sp>
      <ns0:sp>
        <ns0:nvSpPr>
          <ns0:cNvPr id="18" name="Text 12"/>
          <ns0:cNvSpPr/>
          <ns0:nvPr/>
        </ns0:nvSpPr>
        <ns0:spPr>
          <ns1:xfrm>
            <ns1:off x="4650569" y="2491728"/>
            <ns1:ext cx="197528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A private or internal repo</ns1:t>
            </ns1:r>
            <ns1:endParaRPr lang="en-US" sz="1400" dirty="0"/>
          </ns1:p>
        </ns0:txBody>
      </ns0:sp>
      <ns0:sp>
        <ns0:nvSpPr>
          <ns0:cNvPr id="19" name="Text 13"/>
          <ns0:cNvSpPr/>
          <ns0:nvPr/>
        </ns0:nvSpPr>
        <ns0:spPr>
          <ns1:xfrm>
            <ns1:off x="4491919" y="2842070"/>
            <ns1:ext cx="57150" cy="57150"/>
          </ns1:xfrm>
          <ns1:prstGeom prst="roundRect">
            <ns1:avLst>
              <ns1:gd name="adj" fmla="val 1600000"/>
            </ns1:avLst>
          </ns1:prstGeom>
          <ns1:solidFill>
            <ns1:srgbClr val="818B98"/>
          </ns1:solidFill>
          <ns1:ln/>
        </ns0:spPr>
        <ns0:txBody>
          <ns1:bodyPr wrap="square" rtlCol="0" anchor="ctr"/>
          <ns1:lstStyle/>
          <ns1:p>
            <ns1:pPr indent="0" marL="0">
              <ns1:buNone/>
            </ns1:pPr>
            <ns1:endParaRPr lang="en-US" dirty="0"/>
          </ns1:p>
        </ns0:txBody>
      </ns0:sp>
      <ns0:sp>
        <ns0:nvSpPr>
          <ns0:cNvPr id="20" name="Text 14"/>
          <ns0:cNvSpPr/>
          <ns0:nvPr/>
        </ns0:nvSpPr>
        <ns0:spPr>
          <ns1:xfrm>
            <ns1:off x="4650569" y="2762149"/>
            <ns1:ext cx="3657600" cy="210312"/>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Actions minutes and AI credits</ns1:t>
            </ns1:r>
            <ns1:endParaRPr lang="en-US" sz="1400" dirty="0"/>
          </ns1:p>
        </ns0:txBody>
      </ns0:sp>
      <ns0:sp>
        <ns0:nvSpPr>
          <ns0:cNvPr id="21" name="Text 15"/>
          <ns0:cNvSpPr/>
          <ns0:nvPr/>
        </ns0:nvSpPr>
        <ns0:spPr>
          <ns1:xfrm>
            <ns1:off x="4329994" y="3330184"/>
            <ns1:ext cx="4343400" cy="702171"/>
          </ns1:xfrm>
          <ns1:prstGeom prst="roundRect">
            <ns1:avLst>
              <ns1:gd name="adj" fmla="val 14469"/>
            </ns1:avLst>
          </ns1:prstGeom>
          <ns1:solidFill>
            <ns1:srgbClr val="DAFBE1"/>
          </ns1:solidFill>
          <ns1:ln w="9525">
            <ns1:solidFill>
              <ns1:srgbClr val="8CE7A5"/>
            </ns1:solidFill>
          </ns1:ln>
        </ns0:spPr>
        <ns0:txBody>
          <ns1:bodyPr wrap="square" rtlCol="0" anchor="ctr"/>
          <ns1:lstStyle/>
          <ns1:p>
            <ns1:pPr indent="0" marL="0">
              <ns1:buNone/>
            </ns1:pPr>
            <ns1:endParaRPr lang="en-US" dirty="0"/>
          </ns1:p>
        </ns0:txBody>
      </ns0:sp>
      <ns0:pic>
        <ns0:nvPicPr>
          <ns0:cNvPr id="22"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4517219" y="3579620"/>
            <ns1:ext cx="203150" cy="203150"/>
          </ns1:xfrm>
          <ns1:prstGeom prst="rect">
            <ns1:avLst/>
          </ns1:prstGeom>
        </ns0:spPr>
      </ns0:pic>
      <ns0:sp>
        <ns0:nvSpPr>
          <ns0:cNvPr id="23" name="Text 16"/>
          <ns0:cNvSpPr/>
          <ns0:nvPr/>
        </ns0:nvSpPr>
        <ns0:spPr>
          <ns1:xfrm>
            <ns1:off x="4847320" y="3466659"/>
            <ns1:ext cx="3657600" cy="429220"/>
          </ns1:xfrm>
          <ns1:prstGeom prst="rect">
            <ns1:avLst/>
          </ns1:prstGeom>
          <ns1:noFill/>
          <ns1:ln/>
        </ns0:spPr>
        <ns0:txBody>
          <ns1:bodyPr wrap="square" lIns="0" tIns="0" rIns="0" bIns="0" rtlCol="0" anchor="ctr"/>
          <ns1:lstStyle/>
          <ns1:p>
            <ns1:pPr algn="l" indent="0" marL="0">
              <ns1:lnSpc>
                <ns1:spcPts val="1690"/>
              </ns1:lnSpc>
              <ns1:buNone/>
            </ns1:pPr>
            <ns1:r>
              <ns1:rPr lang="en-US" sz="1400" dirty="0">
                <ns1:solidFill>
                  <ns1:srgbClr val="1F2328"/>
                </ns1:solidFill>
                <ns1:latin typeface="Arial" pitchFamily="34" charset="0"/>
                <ns1:ea typeface="Arial" pitchFamily="34" charset="-122"/>
                <ns1:cs typeface="Arial" pitchFamily="34" charset="-120"/>
              </ns1:rPr>
              <ns1:t>Select only the tools the task needs.</ns1:t>
            </ns1:r>
            <ns1:endParaRPr lang="en-US" sz="1400" dirty="0"/>
          </ns1:p>
        </ns0:txBody>
      </ns0:sp>
    </ns0:spTree>
  </ns0:cSld>
  <ns0:clrMapOvr>
    <ns1:masterClrMapping/>
  </ns0:clrMapOvr>
</ns0: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4"/>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5"/>
          <p:cNvSpPr/>
          <p:nvPr/>
        </p:nvSpPr>
        <p:spPr>
          <a:xfrm>
            <a:off x="517475" y="2361456"/>
            <a:ext cx="5060900" cy="0"/>
          </a:xfrm>
          <a:prstGeom prst="line">
            <a:avLst/>
          </a:prstGeom>
          <a:noFill/>
          <a:ln w="9525">
            <a:solidFill>
              <a:srgbClr val="D1D9E0"/>
            </a:solidFill>
            <a:prstDash val="solid"/>
          </a:ln>
        </p:spPr>
      </p:sp>
      <p:sp>
        <p:nvSpPr>
          <p:cNvPr id="10" name="Text 6"/>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7"/>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8"/>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9"/>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0"/>
          <p:cNvSpPr/>
          <p:nvPr/>
        </p:nvSpPr>
        <p:spPr>
          <a:xfrm>
            <a:off x="517475" y="3013621"/>
            <a:ext cx="5060900" cy="0"/>
          </a:xfrm>
          <a:prstGeom prst="line">
            <a:avLst/>
          </a:prstGeom>
          <a:noFill/>
          <a:ln w="9525">
            <a:solidFill>
              <a:srgbClr val="D1D9E0"/>
            </a:solidFill>
            <a:prstDash val="solid"/>
          </a:ln>
        </p:spPr>
      </p:sp>
      <p:sp>
        <p:nvSpPr>
          <p:cNvPr id="15" name="Text 11"/>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2"/>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4"/>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5"/>
          <p:cNvSpPr/>
          <p:nvPr/>
        </p:nvSpPr>
        <p:spPr>
          <a:xfrm>
            <a:off x="517475" y="3531096"/>
            <a:ext cx="5060900" cy="0"/>
          </a:xfrm>
          <a:prstGeom prst="line">
            <a:avLst/>
          </a:prstGeom>
          <a:noFill/>
          <a:ln w="9525">
            <a:solidFill>
              <a:srgbClr val="D1D9E0"/>
            </a:solidFill>
            <a:prstDash val="solid"/>
          </a:ln>
        </p:spPr>
      </p:sp>
      <p:sp>
        <p:nvSpPr>
          <p:cNvPr id="20" name="Text 16"/>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7"/>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19"/>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0"/>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1"/>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2"/>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3"/>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4"/>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5"/>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060877" y="2109043"/>
            <a:ext cx="215801" cy="215801"/>
          </a:xfrm>
          <a:prstGeom prst="rect">
            <a:avLst/>
          </a:prstGeom>
        </p:spPr>
      </p:pic>
      <p:sp>
        <p:nvSpPr>
          <p:cNvPr id="31" name="Text 26"/>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7"/>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5"/>
          <p:cNvSpPr/>
          <p:nvPr/>
        </p:nvSpPr>
        <p:spPr>
          <a:xfrm>
            <a:off x="507950" y="206121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6"/>
          <p:cNvSpPr/>
          <p:nvPr/>
        </p:nvSpPr>
        <p:spPr>
          <a:xfrm>
            <a:off x="695176" y="239572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478024"/>
            <a:ext cx="215801" cy="215801"/>
          </a:xfrm>
          <a:prstGeom prst="rect">
            <a:avLst/>
          </a:prstGeom>
        </p:spPr>
      </p:pic>
      <p:sp>
        <p:nvSpPr>
          <p:cNvPr id="12" name="Text 7"/>
          <p:cNvSpPr/>
          <p:nvPr/>
        </p:nvSpPr>
        <p:spPr>
          <a:xfrm>
            <a:off x="1190476" y="2167128"/>
            <a:ext cx="1755469" cy="841248"/>
          </a:xfrm>
          <a:prstGeom prst="rect">
            <a:avLst/>
          </a:prstGeom>
          <a:noFill/>
          <a:ln/>
        </p:spPr>
        <p:txBody>
          <a:bodyPr wrap="square" lIns="0" tIns="0" rIns="0" bIns="0" rtlCol="0" anchor="ctr"/>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a:t>
            </a:r>
            <a:endParaRPr lang="en-US" sz="1650" dirty="0"/>
          </a:p>
        </p:txBody>
      </p:sp>
      <p:sp>
        <p:nvSpPr>
          <p:cNvPr id="13" name="Text 8"/>
          <p:cNvSpPr/>
          <p:nvPr/>
        </p:nvSpPr>
        <p:spPr>
          <a:xfrm>
            <a:off x="3276451" y="206121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9"/>
          <p:cNvSpPr/>
          <p:nvPr/>
        </p:nvSpPr>
        <p:spPr>
          <a:xfrm>
            <a:off x="3463677" y="239572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546277" y="2478024"/>
            <a:ext cx="215801" cy="215801"/>
          </a:xfrm>
          <a:prstGeom prst="rect">
            <a:avLst/>
          </a:prstGeom>
        </p:spPr>
      </p:pic>
      <p:sp>
        <p:nvSpPr>
          <p:cNvPr id="16" name="Text 10"/>
          <p:cNvSpPr/>
          <p:nvPr/>
        </p:nvSpPr>
        <p:spPr>
          <a:xfrm>
            <a:off x="3958977" y="2167128"/>
            <a:ext cx="1755621" cy="841248"/>
          </a:xfrm>
          <a:prstGeom prst="rect">
            <a:avLst/>
          </a:prstGeom>
          <a:noFill/>
          <a:ln/>
        </p:spPr>
        <p:txBody>
          <a:bodyPr wrap="square" lIns="0" tIns="0" rIns="0" bIns="0" rtlCol="0" anchor="ctr"/>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1"/>
          <p:cNvSpPr/>
          <p:nvPr/>
        </p:nvSpPr>
        <p:spPr>
          <a:xfrm>
            <a:off x="6045101" y="206121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2"/>
          <p:cNvSpPr/>
          <p:nvPr/>
        </p:nvSpPr>
        <p:spPr>
          <a:xfrm>
            <a:off x="6232327" y="239572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14926" y="2478024"/>
            <a:ext cx="215801" cy="215801"/>
          </a:xfrm>
          <a:prstGeom prst="rect">
            <a:avLst/>
          </a:prstGeom>
        </p:spPr>
      </p:pic>
      <p:sp>
        <p:nvSpPr>
          <p:cNvPr id="20" name="Text 13"/>
          <p:cNvSpPr/>
          <p:nvPr/>
        </p:nvSpPr>
        <p:spPr>
          <a:xfrm>
            <a:off x="6727627" y="2167128"/>
            <a:ext cx="1755469" cy="841248"/>
          </a:xfrm>
          <a:prstGeom prst="rect">
            <a:avLst/>
          </a:prstGeom>
          <a:noFill/>
          <a:ln/>
        </p:spPr>
        <p:txBody>
          <a:bodyPr wrap="square" lIns="0" tIns="0" rIns="0" bIns="0" rtlCol="0" anchor="ctr"/>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merge automation</a:t>
            </a:r>
            <a:endParaRPr lang="en-US" sz="1650" dirty="0"/>
          </a:p>
        </p:txBody>
      </p:sp>
      <p:sp>
        <p:nvSpPr>
          <p:cNvPr id="21" name="Text 14"/>
          <p:cNvSpPr/>
          <p:nvPr/>
        </p:nvSpPr>
        <p:spPr>
          <a:xfrm>
            <a:off x="507950" y="3473964"/>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2026-10-06T21:19:19Z</dcterms:created>
  <dcterms:modified xsi:type="dcterms:W3CDTF">2026-10-06T21:19:19Z</dcterms:modified>
</cp:coreProperties>
</file>