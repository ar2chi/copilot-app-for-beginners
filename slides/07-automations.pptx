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06 made session work visible. This chapter makes repeatable work reusable. You start with a manual review readiness report, schedule it for every morning, and then look at event triggers and cloud automations.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chapter has 3 parts: Anatomy of an automation, Build a review readiness report, Events and cloud.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1: what an automation is made of.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producer does not replay the same drum pattern by hand every night. They program it into a sequencer once and let it run. Chosen instruments map to selected tools. And the producer still checks the mix: a human reviews the result.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automation has four parts: a trigger that starts it, a prompt that says what to do, tools that grant the least access needed, and a review path where you inspect the result. Automations are saved in the app, not committed to the repository. Treat the prompt like production instructions: keep secrets out and give it only the tools it needs.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Manual automations run only when you choose. That lets you test the prompt, inspect output, adjust scope, avoid surprise runs, and confirm tools are minimal. Good starters: which pull requests are blocked and what do they need next, or what should I validate before opening a PR. Avoid first automations that write code, post comments, change labels, approve reviews, or merge. Issue text is untrusted input, and a read-only summary reduces prompt-injection risk, where hostile text tries to steer the agent.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2: The Pull requests view lists open pull requests. It does not explain merge readiness across them. This automation adds that analysis.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ns0:notes xmlns:ns0="http://schemas.openxmlformats.org/presentationml/2006/main" xmlns:ns1="http://schemas.openxmlformats.org/drawingml/2006/main" xmlns:ns2="http://schemas.microsoft.com/office/powerpoint/2010/main">
  <ns0:cSld>
    <ns0:spTree>
      <ns0:nvGrpSpPr>
        <ns0:cNvPr id="1" name=""/>
        <ns0:cNvGrpSpPr/>
        <ns0:nvPr/>
      </ns0:nvGrpSpPr>
      <ns0:grpSpPr>
        <ns1:xfrm>
          <ns1:off x="0" y="0"/>
          <ns1:ext cx="0" cy="0"/>
          <ns1:chOff x="0" y="0"/>
          <ns1:chExt cx="0" cy="0"/>
        </ns1:xfrm>
      </ns0:grpSpPr>
      <ns0:sp>
        <ns0:nvSpPr>
          <ns0:cNvPr id="2" name="Slide Image Placeholder 1"/>
          <ns0:cNvSpPr>
            <ns1:spLocks noGrp="1" noRot="1" noChangeAspect="1"/>
          </ns0:cNvSpPr>
          <ns0:nvPr>
            <ns0:ph type="sldImg"/>
          </ns0:nvPr>
        </ns0:nvSpPr>
        <ns0:spPr/>
      </ns0:sp>
      <ns0:sp>
        <ns0:nvSpPr>
          <ns0:cNvPr id="3" name="Notes Placeholder 2"/>
          <ns0:cNvSpPr>
            <ns1:spLocks noGrp="1"/>
          </ns0:cNvSpPr>
          <ns0:nvPr>
            <ns0:ph type="body" idx="1"/>
          </ns0:nvPr>
        </ns0:nvSpPr>
        <ns0:spPr/>
        <ns0:txBody>
          <ns1:bodyPr/>
          <ns1:lstStyle/>
          <ns1:p>
            <ns1:r>
              <ns1:rPr lang="en-US" dirty="0"/>
              <ns1:t>Before you start, select Pull requests and your fork. On Authored by me, you should see practice PRs. Open Automations, select New automation, name it PR review readiness report, change Trigger from Daily to Manual, make sure Run in the cloud is off so it runs locally, and paste the full prompt from the chapter. Use Select repository to pick your copilot-app-for-beginners fork, then set Workspace to Current checkout because the report only reads data. Use the arrow next to Create and choose Create and run. It appears under Your automations with a Manual label, and the run appears under Recent runs.</ns1:t>
            </ns1:r>
            <ns1:endParaRPr lang="en-US" dirty="0"/>
          </ns1:p>
        </ns0:txBody>
      </ns0:sp>
      <ns0:sp>
        <ns0:nvSpPr>
          <ns0:cNvPr id="4" name="Slide Number Placeholder 3"/>
          <ns0:cNvSpPr>
            <ns1:spLocks noGrp="1"/>
          </ns0:cNvSpPr>
          <ns0:nvPr>
            <ns0:ph type="sldNum" sz="quarter" idx="10"/>
          </ns0:nvPr>
        </ns0:nvSpPr>
        <ns0:spPr/>
        <ns0:txBody>
          <ns1:bodyPr/>
          <ns1:lstStyle/>
          <ns1:p>
            <ns1:fld id="{F7021451-1387-4CA6-816F-3879F97B5CBC}" type="slidenum">
              <ns1:rPr lang="en-US"/>
              <ns1:t>8</ns1:t>
            </ns1:fld>
            <ns1:endParaRPr lang="en-US"/>
          </ns1:p>
        </ns0:txBody>
      </ns0:sp>
    </ns0:spTree>
    <ns0:extLst>
      <ns0:ext uri="{BB962C8B-B14F-4D97-AF65-F5344CB8AC3E}">
        <ns2:creationId val="1024086991"/>
      </ns0:ext>
    </ns0:extLst>
  </ns0:cSld>
  <ns0:clrMapOvr>
    <ns1:masterClrMapping/>
  </ns0:clrMapOvr>
</ns0: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Wait for the run to succeed, then open the run detail. Confirm the prompt matches what you pasted, there is no error text, and the result is a table of open pull requests. This is a representative result from the seeded PRs. The value is the analysis: unlike the Pull requests view, which lists open items, this report explains why each PR is blocked and the single next human action. Because the prompt is read-only, the risk stays 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ns0:notes xmlns:ns0="http://schemas.openxmlformats.org/presentationml/2006/main" xmlns:ns1="http://schemas.openxmlformats.org/drawingml/2006/main" xmlns:ns2="http://schemas.microsoft.com/office/powerpoint/2010/main">
  <ns0:cSld>
    <ns0:spTree>
      <ns0:nvGrpSpPr>
        <ns0:cNvPr id="1" name=""/>
        <ns0:cNvGrpSpPr/>
        <ns0:nvPr/>
      </ns0:nvGrpSpPr>
      <ns0:grpSpPr>
        <ns1:xfrm>
          <ns1:off x="0" y="0"/>
          <ns1:ext cx="0" cy="0"/>
          <ns1:chOff x="0" y="0"/>
          <ns1:chExt cx="0" cy="0"/>
        </ns1:xfrm>
      </ns0:grpSpPr>
      <ns0:sp>
        <ns0:nvSpPr>
          <ns0:cNvPr id="2" name="Slide Image Placeholder 1"/>
          <ns0:cNvSpPr>
            <ns1:spLocks noGrp="1" noRot="1" noChangeAspect="1"/>
          </ns0:cNvSpPr>
          <ns0:nvPr>
            <ns0:ph type="sldImg"/>
          </ns0:nvPr>
        </ns0:nvSpPr>
        <ns0:spPr/>
      </ns0:sp>
      <ns0:sp>
        <ns0:nvSpPr>
          <ns0:cNvPr id="3" name="Notes Placeholder 2"/>
          <ns0:cNvSpPr>
            <ns1:spLocks noGrp="1"/>
          </ns0:cNvSpPr>
          <ns0:nvPr>
            <ns0:ph type="body" idx="1"/>
          </ns0:nvPr>
        </ns0:nvSpPr>
        <ns0:spPr/>
        <ns0:txBody>
          <ns1:bodyPr/>
          <ns1:lstStyle/>
          <ns1:p>
            <ns1:r>
              <ns1:rPr lang="en-US" dirty="0"/>
              <ns1:t>A manual automation answers what is the status right now. A scheduled one answers what changed since yesterday. This automation is local, so it runs only when your computer is awake and the app is running. Open it, select Edit, change the trigger to Daily, and choose 08:00 in Hours. Hours can have more than one time selected. Clear any other selected hours, including the default 09:00, so only 08:00 remains. Keep Minute at 00, confirm the repository, and save. Check the Daily label, schedule, and Next run time. The app also supports Hourly, Weekly, and CRON.</ns1:t>
            </ns1:r>
            <ns1:endParaRPr lang="en-US" dirty="0"/>
          </ns1:p>
        </ns0:txBody>
      </ns0:sp>
      <ns0:sp>
        <ns0:nvSpPr>
          <ns0:cNvPr id="4" name="Slide Number Placeholder 3"/>
          <ns0:cNvSpPr>
            <ns1:spLocks noGrp="1"/>
          </ns0:cNvSpPr>
          <ns0:nvPr>
            <ns0:ph type="sldNum" sz="quarter" idx="10"/>
          </ns0:nvPr>
        </ns0:nvSpPr>
        <ns0:spPr/>
        <ns0:txBody>
          <ns1:bodyPr/>
          <ns1:lstStyle/>
          <ns1:p>
            <ns1:fld id="{F7021451-1387-4CA6-816F-3879F97B5CBC}" type="slidenum">
              <ns1:rPr lang="en-US"/>
              <ns1:t>10</ns1:t>
            </ns1:fld>
            <ns1:endParaRPr lang="en-US"/>
          </ns1:p>
        </ns0:txBody>
      </ns0:sp>
    </ns0:spTree>
    <ns0:extLst>
      <ns0:ext uri="{BB962C8B-B14F-4D97-AF65-F5344CB8AC3E}">
        <ns2:creationId val="1024086991"/>
      </ns0:ext>
    </ns0:extLst>
  </ns0:cSld>
  <ns0:clrMapOvr>
    <ns1:masterClrMapping/>
  </ns0:clrMapOvr>
</ns0: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3 is optional and covers more advanced options. Both need extra care.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ns0:notes xmlns:ns0="http://schemas.openxmlformats.org/presentationml/2006/main" xmlns:ns1="http://schemas.openxmlformats.org/drawingml/2006/main" xmlns:ns2="http://schemas.microsoft.com/office/powerpoint/2010/main">
  <ns0:cSld>
    <ns0:spTree>
      <ns0:nvGrpSpPr>
        <ns0:cNvPr id="1" name=""/>
        <ns0:cNvGrpSpPr/>
        <ns0:nvPr/>
      </ns0:nvGrpSpPr>
      <ns0:grpSpPr>
        <ns1:xfrm>
          <ns1:off x="0" y="0"/>
          <ns1:ext cx="0" cy="0"/>
          <ns1:chOff x="0" y="0"/>
          <ns1:chExt cx="0" cy="0"/>
        </ns1:xfrm>
      </ns0:grpSpPr>
      <ns0:sp>
        <ns0:nvSpPr>
          <ns0:cNvPr id="2" name="Slide Image Placeholder 1"/>
          <ns0:cNvSpPr>
            <ns1:spLocks noGrp="1" noRot="1" noChangeAspect="1"/>
          </ns0:cNvSpPr>
          <ns0:nvPr>
            <ns0:ph type="sldImg"/>
          </ns0:nvPr>
        </ns0:nvSpPr>
        <ns0:spPr/>
      </ns0:sp>
      <ns0:sp>
        <ns0:nvSpPr>
          <ns0:cNvPr id="3" name="Notes Placeholder 2"/>
          <ns0:cNvSpPr>
            <ns1:spLocks noGrp="1"/>
          </ns0:cNvSpPr>
          <ns0:nvPr>
            <ns0:ph type="body" idx="1"/>
          </ns0:nvPr>
        </ns0:nvSpPr>
        <ns0:spPr/>
        <ns0:txBody>
          <ns1:bodyPr/>
          <ns1:lstStyle/>
          <ns1:p>
            <ns1:r>
              <ns1:rPr lang="en-US" dirty="0"/>
              <ns1:t>The current Trigger menu includes Issue, Automation failed, Automation completed, Code scanning alert, Dependabot alert, Discussion comment, Discussion opened, Discussion updated, Pull request, Secret scanning alert, Sub issue added, and Workflow. Schedule choices include Hourly, Daily, Weekly, and CRON. The menu is longer than its window, so scroll to see every choice. Event triggers react to external input. Keep them read-only, scope them to one repository, and filter by label or query. Avoid write tools until the summary is reliable, and review the run history regularly.</ns1:t>
            </ns1:r>
            <ns1:endParaRPr lang="en-US" dirty="0"/>
          </ns1:p>
        </ns0:txBody>
      </ns0:sp>
      <ns0:sp>
        <ns0:nvSpPr>
          <ns0:cNvPr id="4" name="Slide Number Placeholder 3"/>
          <ns0:cNvSpPr>
            <ns1:spLocks noGrp="1"/>
          </ns0:cNvSpPr>
          <ns0:nvPr>
            <ns0:ph type="sldNum" sz="quarter" idx="10"/>
          </ns0:nvPr>
        </ns0:nvSpPr>
        <ns0:spPr/>
        <ns0:txBody>
          <ns1:bodyPr/>
          <ns1:lstStyle/>
          <ns1:p>
            <ns1:fld id="{F7021451-1387-4CA6-816F-3879F97B5CBC}" type="slidenum">
              <ns1:rPr lang="en-US"/>
              <ns1:t>12</ns1:t>
            </ns1:fld>
            <ns1:endParaRPr lang="en-US"/>
          </ns1:p>
        </ns0:txBody>
      </ns0:sp>
    </ns0:spTree>
    <ns0:extLst>
      <ns0:ext uri="{BB962C8B-B14F-4D97-AF65-F5344CB8AC3E}">
        <ns2:creationId val="1024086991"/>
      </ns0:ext>
    </ns0:extLst>
  </ns0:cSld>
  <ns0:clrMapOvr>
    <ns1:masterClrMapping/>
  </ns0:clrMapOvr>
</ns0:notes>
</file>

<file path=ppt/notesSlides/notesSlide13.xml><?xml version="1.0" encoding="utf-8"?>
<ns0:notes xmlns:ns0="http://schemas.openxmlformats.org/presentationml/2006/main" xmlns:ns1="http://schemas.openxmlformats.org/drawingml/2006/main" xmlns:ns2="http://schemas.microsoft.com/office/powerpoint/2010/main">
  <ns0:cSld>
    <ns0:spTree>
      <ns0:nvGrpSpPr>
        <ns0:cNvPr id="1" name=""/>
        <ns0:cNvGrpSpPr/>
        <ns0:nvPr/>
      </ns0:nvGrpSpPr>
      <ns0:grpSpPr>
        <ns1:xfrm>
          <ns1:off x="0" y="0"/>
          <ns1:ext cx="0" cy="0"/>
          <ns1:chOff x="0" y="0"/>
          <ns1:chExt cx="0" cy="0"/>
        </ns1:xfrm>
      </ns0:grpSpPr>
      <ns0:sp>
        <ns0:nvSpPr>
          <ns0:cNvPr id="2" name="Slide Image Placeholder 1"/>
          <ns0:cNvSpPr>
            <ns1:spLocks noGrp="1" noRot="1" noChangeAspect="1"/>
          </ns0:cNvSpPr>
          <ns0:nvPr>
            <ns0:ph type="sldImg"/>
          </ns0:nvPr>
        </ns0:nvSpPr>
        <ns0:spPr/>
      </ns0:sp>
      <ns0:sp>
        <ns0:nvSpPr>
          <ns0:cNvPr id="3" name="Notes Placeholder 2"/>
          <ns0:cNvSpPr>
            <ns1:spLocks noGrp="1"/>
          </ns0:cNvSpPr>
          <ns0:nvPr>
            <ns0:ph type="body" idx="1"/>
          </ns0:nvPr>
        </ns0:nvSpPr>
        <ns0:spPr/>
        <ns0:txBody>
          <ns1:bodyPr/>
          <ns1:lstStyle/>
          <ns1:p>
            <ns1:r>
              <ns1:rPr lang="en-US" dirty="0"/>
              <ns1:t>Every automation so far is local: it runs from your machine while the app is open. A cloud automation runs on GitHub-hosted infrastructure. It needs Copilot cloud agent enabled and an organization that allows automations. The repository must be private or internal; this public course fork cannot use cloud automations. Each cloud run uses Actions minutes and AI credits. Personal charges AI credits to you and uses your GitHub identity for actions. Shared is visible to people with repository access, charges credits to the repository owner, and uses Copilot's identity for actions. Personal does not make cloud sessions or logs private; people with repository access can see them. The current Tools picker shows Select tools before you choose. Select only what the task needs.</ns1:t>
            </ns1:r>
            <ns1:endParaRPr lang="en-US" dirty="0"/>
          </ns1:p>
        </ns0:txBody>
      </ns0:sp>
      <ns0:sp>
        <ns0:nvSpPr>
          <ns0:cNvPr id="4" name="Slide Number Placeholder 3"/>
          <ns0:cNvSpPr>
            <ns1:spLocks noGrp="1"/>
          </ns0:cNvSpPr>
          <ns0:nvPr>
            <ns0:ph type="sldNum" sz="quarter" idx="10"/>
          </ns0:nvPr>
        </ns0:nvSpPr>
        <ns0:spPr/>
        <ns0:txBody>
          <ns1:bodyPr/>
          <ns1:lstStyle/>
          <ns1:p>
            <ns1:fld id="{F7021451-1387-4CA6-816F-3879F97B5CBC}" type="slidenum">
              <ns1:rPr lang="en-US"/>
              <ns1:t>13</ns1:t>
            </ns1:fld>
            <ns1:endParaRPr lang="en-US"/>
          </ns1:p>
        </ns0:txBody>
      </ns0:sp>
    </ns0:spTree>
    <ns0:extLst>
      <ns0:ext uri="{BB962C8B-B14F-4D97-AF65-F5344CB8AC3E}">
        <ns2:creationId val="1024086991"/>
      </ns0:ext>
    </ns0:extLst>
  </ns0:cSld>
  <ns0:clrMapOvr>
    <ns1:masterClrMapping/>
  </ns0:clrMapOvr>
</ns0: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Create one manual automation for your own work. Name it clearly, use a manual trigger, and write one bounded task. Keep it read-only: local automations have no tool list, so the prompt must say not to edit files, post comments, or change GitHub items. Run it once and revise the prompt from the history. If you can explain why it is safe to run again, you are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went from setup through sessions and worktrees, context, the development and GitHub loops, skills and custom agents, MCP servers and plugins, canvases, and automations. The constant was keeping a human in control: before implementation starts, before a pull request opens, and before any merge automation is enabled. The link returns to the course home.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the automation principles, especially least privilege: keep write actions out of early automations that read issue content. The links go back to this chapter and to the course home.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3" Type="http://schemas.openxmlformats.org/officeDocument/2006/relationships/hyperlink" Target="https://github.com/github/copilot-app-for-beginners/tree/main/07-automations" TargetMode="External"/><Relationship Id="rId5" Type="http://schemas.openxmlformats.org/officeDocument/2006/relationships/hyperlink" Target="https://github.com/github/copilot-app-for-beginners/tree/main/07-automations" TargetMode="External"/><Relationship Id="rId1" Type="http://schemas.openxmlformats.org/officeDocument/2006/relationships/image" Target="../media/image-1-1.jpg"/><Relationship Id="rId2" Type="http://schemas.openxmlformats.org/officeDocument/2006/relationships/image" Target="../media/image-1-2.png"/><Relationship Id="rId4" Type="http://schemas.openxmlformats.org/officeDocument/2006/relationships/image" Target="../media/image-1-3.png"/><Relationship Id="rId6" Type="http://schemas.openxmlformats.org/officeDocument/2006/relationships/slideLayout" Target="../slideLayouts/slideLayout1.xml"/><Relationship Id="rId7" Type="http://schemas.openxmlformats.org/officeDocument/2006/relationships/notesSlide" Target="../notesSlides/notesSlide1.xml"/></Relationships>
</file>

<file path=ppt/slides/_rels/slide2.xml.rels><?xml version="1.0" encoding="UTF-8"?><Relationships xmlns="http://schemas.openxmlformats.org/package/2006/relationships"><Relationship Id="rId3" Type="http://schemas.openxmlformats.org/officeDocument/2006/relationships/hyperlink" Target="https://github.com/github/copilot-app-for-beginners/tree/main/07-automations" TargetMode="External"/><Relationship Id="rId1" Type="http://schemas.openxmlformats.org/officeDocument/2006/relationships/image" Target="../media/image-2-1.png"/><Relationship Id="rId2" Type="http://schemas.openxmlformats.org/officeDocument/2006/relationships/image" Target="../media/image-2-2.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Relationships xmlns="http://schemas.openxmlformats.org/package/2006/relationships"><Relationship Id="rId3" Type="http://schemas.openxmlformats.org/officeDocument/2006/relationships/hyperlink" Target="https://github.com/github/copilot-app-for-beginners/tree/main/07-automations" TargetMode="External"/><Relationship Id="rId1" Type="http://schemas.openxmlformats.org/officeDocument/2006/relationships/image" Target="../media/image-3-1.png"/><Relationship Id="rId2" Type="http://schemas.openxmlformats.org/officeDocument/2006/relationships/image" Target="../media/image-3-2.pn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Relationships xmlns="http://schemas.openxmlformats.org/package/2006/relationships"><Relationship Id="rId3" Type="http://schemas.openxmlformats.org/officeDocument/2006/relationships/hyperlink" Target="https://github.com/github/copilot-app-for-beginners/tree/main/07-automations" TargetMode="External"/><Relationship Id="rId1" Type="http://schemas.openxmlformats.org/officeDocument/2006/relationships/image" Target="../media/image-4-1.png"/><Relationship Id="rId2" Type="http://schemas.openxmlformats.org/officeDocument/2006/relationships/image" Target="../media/image-4-2.png"/><Relationship Id="rId4" Type="http://schemas.openxmlformats.org/officeDocument/2006/relationships/image" Target="../media/image-4-3.jpg"/><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Relationships xmlns="http://schemas.openxmlformats.org/package/2006/relationships"><Relationship Id="rId3" Type="http://schemas.openxmlformats.org/officeDocument/2006/relationships/hyperlink" Target="https://github.com/github/copilot-app-for-beginners/tree/main/07-automations" TargetMode="External"/><Relationship Id="rId1" Type="http://schemas.openxmlformats.org/officeDocument/2006/relationships/image" Target="../media/image-5-1.png"/><Relationship Id="rId2" Type="http://schemas.openxmlformats.org/officeDocument/2006/relationships/image" Target="../media/image-5-2.png"/><Relationship Id="rId4" Type="http://schemas.openxmlformats.org/officeDocument/2006/relationships/image" Target="../media/image-5-3.jpg"/><Relationship Id="rId5" Type="http://schemas.openxmlformats.org/officeDocument/2006/relationships/image" Target="../media/image-5-4.png"/><Relationship Id="rId6" Type="http://schemas.openxmlformats.org/officeDocument/2006/relationships/image" Target="../media/image-5-5.png"/><Relationship Id="rId7" Type="http://schemas.openxmlformats.org/officeDocument/2006/relationships/image" Target="../media/image-5-6.png"/><Relationship Id="rId8" Type="http://schemas.openxmlformats.org/officeDocument/2006/relationships/image" Target="../media/image-5-7.png"/><Relationship Id="rId9" Type="http://schemas.openxmlformats.org/officeDocument/2006/relationships/slideLayout" Target="../slideLayouts/slideLayout1.xml"/><Relationship Id="rId10" Type="http://schemas.openxmlformats.org/officeDocument/2006/relationships/notesSlide" Target="../notesSlides/notesSlide5.xml"/></Relationships>
</file>

<file path=ppt/slides/_rels/slide6.xml.rels><?xml version="1.0" encoding="UTF-8"?><Relationships xmlns="http://schemas.openxmlformats.org/package/2006/relationships"><Relationship Id="rId3" Type="http://schemas.openxmlformats.org/officeDocument/2006/relationships/hyperlink" Target="https://github.com/github/copilot-app-for-beginners/tree/main/07-automations" TargetMode="External"/><Relationship Id="rId1" Type="http://schemas.openxmlformats.org/officeDocument/2006/relationships/image" Target="../media/image-6-1.png"/><Relationship Id="rId2" Type="http://schemas.openxmlformats.org/officeDocument/2006/relationships/image" Target="../media/image-6-2.png"/><Relationship Id="rId4" Type="http://schemas.openxmlformats.org/officeDocument/2006/relationships/image" Target="../media/image-6-3.jpg"/><Relationship Id="rId5" Type="http://schemas.openxmlformats.org/officeDocument/2006/relationships/image" Target="../media/image-6-4.png"/><Relationship Id="rId6" Type="http://schemas.openxmlformats.org/officeDocument/2006/relationships/image" Target="../media/image-6-5.png"/><Relationship Id="rId7" Type="http://schemas.openxmlformats.org/officeDocument/2006/relationships/slideLayout" Target="../slideLayouts/slideLayout1.xml"/><Relationship Id="rId8" Type="http://schemas.openxmlformats.org/officeDocument/2006/relationships/notesSlide" Target="../notesSlides/notesSlide6.xml"/></Relationships>
</file>

<file path=ppt/slides/_rels/slide7.xml.rels><?xml version="1.0" encoding="UTF-8"?><Relationships xmlns="http://schemas.openxmlformats.org/package/2006/relationships"><Relationship Id="rId3" Type="http://schemas.openxmlformats.org/officeDocument/2006/relationships/hyperlink" Target="https://github.com/github/copilot-app-for-beginners/tree/main/07-automations" TargetMode="External"/><Relationship Id="rId1" Type="http://schemas.openxmlformats.org/officeDocument/2006/relationships/image" Target="../media/image-7-1.png"/><Relationship Id="rId2" Type="http://schemas.openxmlformats.org/officeDocument/2006/relationships/image" Target="../media/image-7-2.pn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Relationships xmlns="http://schemas.openxmlformats.org/package/2006/relationships"><Relationship Id="rId3" Type="http://schemas.openxmlformats.org/officeDocument/2006/relationships/hyperlink" Target="https://github.com/github/copilot-app-for-beginners/tree/main/07-automations" TargetMode="External"/><Relationship Id="rId1" Type="http://schemas.openxmlformats.org/officeDocument/2006/relationships/image" Target="../media/image-8-1.png"/><Relationship Id="rId2" Type="http://schemas.openxmlformats.org/officeDocument/2006/relationships/image" Target="../media/image-8-2.png"/><Relationship Id="rId4" Type="http://schemas.openxmlformats.org/officeDocument/2006/relationships/image" Target="../media/image-8-3.png"/><Relationship Id="rId5" Type="http://schemas.openxmlformats.org/officeDocument/2006/relationships/slideLayout" Target="../slideLayouts/slideLayout1.xml"/><Relationship Id="rId6" Type="http://schemas.openxmlformats.org/officeDocument/2006/relationships/notesSlide" Target="../notesSlides/notesSlide8.xml"/></Relationships>
</file>

<file path=ppt/slides/_rels/slide9.xml.rels><?xml version="1.0" encoding="UTF-8"?><Relationships xmlns="http://schemas.openxmlformats.org/package/2006/relationships"><Relationship Id="rId3" Type="http://schemas.openxmlformats.org/officeDocument/2006/relationships/hyperlink" Target="https://github.com/github/copilot-app-for-beginners/tree/main/07-automations" TargetMode="External"/><Relationship Id="rId1" Type="http://schemas.openxmlformats.org/officeDocument/2006/relationships/image" Target="../media/image-9-1.png"/><Relationship Id="rId2" Type="http://schemas.openxmlformats.org/officeDocument/2006/relationships/image" Target="../media/image-9-2.png"/><Relationship Id="rId4" Type="http://schemas.openxmlformats.org/officeDocument/2006/relationships/slideLayout" Target="../slideLayouts/slideLayout1.xml"/><Relationship Id="rId5" Type="http://schemas.openxmlformats.org/officeDocument/2006/relationships/notesSlide" Target="../notesSlides/notesSlide9.xml"/></Relationships>
</file>

<file path=ppt/slides/_rels/slide10.xml.rels><?xml version="1.0" encoding="UTF-8"?><Relationships xmlns="http://schemas.openxmlformats.org/package/2006/relationships"><Relationship Id="rId3" Type="http://schemas.openxmlformats.org/officeDocument/2006/relationships/hyperlink" Target="https://github.com/github/copilot-app-for-beginners/tree/main/07-automations" TargetMode="External"/><Relationship Id="rId1" Type="http://schemas.openxmlformats.org/officeDocument/2006/relationships/image" Target="../media/image-10-1.png"/><Relationship Id="rId2" Type="http://schemas.openxmlformats.org/officeDocument/2006/relationships/image" Target="../media/image-10-2.png"/><Relationship Id="rId4" Type="http://schemas.openxmlformats.org/officeDocument/2006/relationships/image" Target="../media/image-10-3.png"/><Relationship Id="rId5" Type="http://schemas.openxmlformats.org/officeDocument/2006/relationships/slideLayout" Target="../slideLayouts/slideLayout1.xml"/><Relationship Id="rId6" Type="http://schemas.openxmlformats.org/officeDocument/2006/relationships/notesSlide" Target="../notesSlides/notesSlide10.xml"/></Relationships>
</file>

<file path=ppt/slides/_rels/slide11.xml.rels><?xml version="1.0" encoding="UTF-8"?><Relationships xmlns="http://schemas.openxmlformats.org/package/2006/relationships"><Relationship Id="rId3" Type="http://schemas.openxmlformats.org/officeDocument/2006/relationships/hyperlink" Target="https://github.com/github/copilot-app-for-beginners/tree/main/07-automations" TargetMode="External"/><Relationship Id="rId1" Type="http://schemas.openxmlformats.org/officeDocument/2006/relationships/image" Target="../media/image-11-1.png"/><Relationship Id="rId2" Type="http://schemas.openxmlformats.org/officeDocument/2006/relationships/image" Target="../media/image-11-2.png"/><Relationship Id="rId4" Type="http://schemas.openxmlformats.org/officeDocument/2006/relationships/slideLayout" Target="../slideLayouts/slideLayout1.xml"/><Relationship Id="rId5" Type="http://schemas.openxmlformats.org/officeDocument/2006/relationships/notesSlide" Target="../notesSlides/notesSlide11.xml"/></Relationships>
</file>

<file path=ppt/slides/_rels/slide12.xml.rels><?xml version="1.0" encoding="UTF-8"?><Relationships xmlns="http://schemas.openxmlformats.org/package/2006/relationships"><Relationship Id="rId3" Type="http://schemas.openxmlformats.org/officeDocument/2006/relationships/hyperlink" Target="https://github.com/github/copilot-app-for-beginners/tree/main/07-automations" TargetMode="External"/><Relationship Id="rId1" Type="http://schemas.openxmlformats.org/officeDocument/2006/relationships/image" Target="../media/image-12-1.png"/><Relationship Id="rId2" Type="http://schemas.openxmlformats.org/officeDocument/2006/relationships/image" Target="../media/image-12-2.png"/><Relationship Id="rId4" Type="http://schemas.openxmlformats.org/officeDocument/2006/relationships/image" Target="../media/image-12-3.png"/><Relationship Id="rId5" Type="http://schemas.openxmlformats.org/officeDocument/2006/relationships/slideLayout" Target="../slideLayouts/slideLayout1.xml"/><Relationship Id="rId6" Type="http://schemas.openxmlformats.org/officeDocument/2006/relationships/notesSlide" Target="../notesSlides/notesSlide12.xml"/></Relationships>
</file>

<file path=ppt/slides/_rels/slide13.xml.rels><?xml version="1.0" encoding="UTF-8"?><Relationships xmlns="http://schemas.openxmlformats.org/package/2006/relationships"><Relationship Id="rId3" Type="http://schemas.openxmlformats.org/officeDocument/2006/relationships/hyperlink" Target="https://github.com/github/copilot-app-for-beginners/tree/main/07-automations" TargetMode="External"/><Relationship Id="rId1" Type="http://schemas.openxmlformats.org/officeDocument/2006/relationships/image" Target="../media/image-13-1.png"/><Relationship Id="rId2" Type="http://schemas.openxmlformats.org/officeDocument/2006/relationships/image" Target="../media/image-13-2.png"/><Relationship Id="rId4" Type="http://schemas.openxmlformats.org/officeDocument/2006/relationships/image" Target="../media/image-13-3.jpg"/><Relationship Id="rId5" Type="http://schemas.openxmlformats.org/officeDocument/2006/relationships/image" Target="../media/image-13-4.png"/><Relationship Id="rId6" Type="http://schemas.openxmlformats.org/officeDocument/2006/relationships/image" Target="../media/image-13-5.png"/><Relationship Id="rId7" Type="http://schemas.openxmlformats.org/officeDocument/2006/relationships/image" Target="../media/image-13-6.png"/><Relationship Id="rId8" Type="http://schemas.openxmlformats.org/officeDocument/2006/relationships/slideLayout" Target="../slideLayouts/slideLayout1.xml"/><Relationship Id="rId9" Type="http://schemas.openxmlformats.org/officeDocument/2006/relationships/notesSlide" Target="../notesSlides/notesSlide13.xml"/></Relationships>
</file>

<file path=ppt/slides/_rels/slide14.xml.rels><?xml version="1.0" encoding="UTF-8"?><Relationships xmlns="http://schemas.openxmlformats.org/package/2006/relationships"><Relationship Id="rId3" Type="http://schemas.openxmlformats.org/officeDocument/2006/relationships/hyperlink" Target="https://github.com/github/copilot-app-for-beginners/tree/main/07-automations" TargetMode="External"/><Relationship Id="rId1" Type="http://schemas.openxmlformats.org/officeDocument/2006/relationships/image" Target="../media/image-14-1.png"/><Relationship Id="rId2" Type="http://schemas.openxmlformats.org/officeDocument/2006/relationships/image" Target="../media/image-14-2.png"/><Relationship Id="rId4" Type="http://schemas.openxmlformats.org/officeDocument/2006/relationships/image" Target="../media/image-14-3.png"/><Relationship Id="rId5" Type="http://schemas.openxmlformats.org/officeDocument/2006/relationships/slideLayout" Target="../slideLayouts/slideLayout1.xml"/><Relationship Id="rId6" Type="http://schemas.openxmlformats.org/officeDocument/2006/relationships/notesSlide" Target="../notesSlides/notesSlide14.xml"/></Relationships>
</file>

<file path=ppt/slides/_rels/slide15.xml.rels><?xml version="1.0" encoding="UTF-8"?><Relationships xmlns="http://schemas.openxmlformats.org/package/2006/relationships"><Relationship Id="rId3" Type="http://schemas.openxmlformats.org/officeDocument/2006/relationships/hyperlink" Target="https://github.com/github/copilot-app-for-beginners/tree/main/07-automations" TargetMode="External"/><Relationship Id="rId7" Type="http://schemas.openxmlformats.org/officeDocument/2006/relationships/hyperlink" Target="https://github.com/github/copilot-app-for-beginners" TargetMode="External"/><Relationship Id="rId1" Type="http://schemas.openxmlformats.org/officeDocument/2006/relationships/image" Target="../media/image-15-1.png"/><Relationship Id="rId2" Type="http://schemas.openxmlformats.org/officeDocument/2006/relationships/image" Target="../media/image-15-2.png"/><Relationship Id="rId4" Type="http://schemas.openxmlformats.org/officeDocument/2006/relationships/image" Target="../media/image-15-3.png"/><Relationship Id="rId5" Type="http://schemas.openxmlformats.org/officeDocument/2006/relationships/image" Target="../media/image-15-4.png"/><Relationship Id="rId6" Type="http://schemas.openxmlformats.org/officeDocument/2006/relationships/image" Target="../media/image-15-5.png"/><Relationship Id="rId8" Type="http://schemas.openxmlformats.org/officeDocument/2006/relationships/slideLayout" Target="../slideLayouts/slideLayout1.xml"/><Relationship Id="rId9" Type="http://schemas.openxmlformats.org/officeDocument/2006/relationships/notesSlide" Target="../notesSlides/notesSlide15.xml"/></Relationships>
</file>

<file path=ppt/slides/_rels/slide16.xml.rels><?xml version="1.0" encoding="UTF-8"?><Relationships xmlns="http://schemas.openxmlformats.org/package/2006/relationships"><Relationship Id="rId3" Type="http://schemas.openxmlformats.org/officeDocument/2006/relationships/hyperlink" Target="https://github.com/github/copilot-app-for-beginners/tree/main/07-automations" TargetMode="External"/><Relationship Id="rId5" Type="http://schemas.openxmlformats.org/officeDocument/2006/relationships/hyperlink" Target="https://github.com/github/copilot-app-for-beginners/tree/main/07-automations" TargetMode="External"/><Relationship Id="rId6" Type="http://schemas.openxmlformats.org/officeDocument/2006/relationships/hyperlink" Target="https://github.com/github/copilot-app-for-beginners" TargetMode="External"/><Relationship Id="rId1" Type="http://schemas.openxmlformats.org/officeDocument/2006/relationships/image" Target="../media/image-16-1.png"/><Relationship Id="rId2" Type="http://schemas.openxmlformats.org/officeDocument/2006/relationships/image" Target="../media/image-16-2.png"/><Relationship Id="rId4" Type="http://schemas.openxmlformats.org/officeDocument/2006/relationships/image" Target="../media/image-16-3.png"/><Relationship Id="rId7" Type="http://schemas.openxmlformats.org/officeDocument/2006/relationships/slideLayout" Target="../slideLayouts/slideLayout1.xml"/><Relationship Id="rId8"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pic>
        <p:nvPicPr>
          <p:cNvPr id="2"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0" y="0"/>
            <a:ext cx="9144000" cy="5143500"/>
          </a:xfrm>
          <a:prstGeom prst="rect">
            <a:avLst/>
          </a:prstGeom>
        </p:spPr>
      </p:pic>
      <p:pic>
        <p:nvPicPr>
          <p:cNvPr id="3" name="Image 1" descr="Open this chapter on GitHub">
            <a:hlinkClick r:id="rId3" tooltip="https://github.com/github/copilot-app-for-beginners/tree/main/07-automations"/>
          </p:cNvPr>
          <p:cNvPicPr>
            <a:picLocks noChangeAspect="1"/>
          </p:cNvPicPr>
          <p:nvPr/>
        </p:nvPicPr>
        <p:blipFill>
          <a:blip r:embed="rId2"/>
          <a:stretch>
            <a:fillRect/>
          </a:stretch>
        </p:blipFill>
        <p:spPr>
          <a:xfrm>
            <a:off x="8635901" y="203150"/>
            <a:ext cx="304800" cy="304800"/>
          </a:xfrm>
          <a:prstGeom prst="rect">
            <a:avLst/>
          </a:prstGeom>
        </p:spPr>
      </p:pic>
      <p:sp>
        <p:nvSpPr>
          <p:cNvPr id="4" name="Text 0"/>
          <p:cNvSpPr/>
          <p:nvPr/>
        </p:nvSpPr>
        <p:spPr>
          <a:xfrm>
            <a:off x="1015901" y="1293912"/>
            <a:ext cx="6088279" cy="209550"/>
          </a:xfrm>
          <a:prstGeom prst="rect">
            <a:avLst/>
          </a:prstGeom>
          <a:noFill/>
          <a:ln/>
        </p:spPr>
        <p:txBody>
          <a:bodyPr wrap="square" lIns="0" tIns="0" rIns="0" bIns="0" rtlCol="0" anchor="t"/>
          <a:lstStyle/>
          <a:p>
            <a:pPr algn="l" indent="0" marL="0">
              <a:buNone/>
            </a:pPr>
            <a:r>
              <a:rPr lang="en-US" sz="1450" b="1" dirty="0">
                <a:solidFill>
                  <a:srgbClr val="1A7F37"/>
                </a:solidFill>
                <a:latin typeface="Arial" pitchFamily="34" charset="0"/>
                <a:ea typeface="Arial" pitchFamily="34" charset="-122"/>
                <a:cs typeface="Arial" pitchFamily="34" charset="-120"/>
              </a:rPr>
              <a:t>CHAPTER 07</a:t>
            </a:r>
            <a:endParaRPr lang="en-US" sz="1450" dirty="0"/>
          </a:p>
        </p:txBody>
      </p:sp>
      <p:sp>
        <p:nvSpPr>
          <p:cNvPr id="5" name="Text 1"/>
          <p:cNvSpPr/>
          <p:nvPr/>
        </p:nvSpPr>
        <p:spPr>
          <a:xfrm>
            <a:off x="1015901" y="1604963"/>
            <a:ext cx="6088279" cy="609600"/>
          </a:xfrm>
          <a:prstGeom prst="rect">
            <a:avLst/>
          </a:prstGeom>
          <a:noFill/>
          <a:ln/>
        </p:spPr>
        <p:txBody>
          <a:bodyPr wrap="square" lIns="0" tIns="0" rIns="0" bIns="0" rtlCol="0" anchor="t"/>
          <a:lstStyle/>
          <a:p>
            <a:pPr algn="l" indent="0" marL="0">
              <a:lnSpc>
                <a:spcPts val="4800"/>
              </a:lnSpc>
              <a:spcBef>
                <a:spcPts val="800"/>
              </a:spcBef>
              <a:buNone/>
            </a:pPr>
            <a:r>
              <a:rPr lang="en-US" sz="4200" b="1" dirty="0">
                <a:solidFill>
                  <a:srgbClr val="1F2328"/>
                </a:solidFill>
                <a:latin typeface="Arial" pitchFamily="34" charset="0"/>
                <a:ea typeface="Arial" pitchFamily="34" charset="-122"/>
                <a:cs typeface="Arial" pitchFamily="34" charset="-120"/>
              </a:rPr>
              <a:t>Automations</a:t>
            </a:r>
            <a:endParaRPr lang="en-US" sz="4200" dirty="0"/>
          </a:p>
        </p:txBody>
      </p:sp>
      <p:sp>
        <p:nvSpPr>
          <p:cNvPr id="6" name="Text 2"/>
          <p:cNvSpPr/>
          <p:nvPr/>
        </p:nvSpPr>
        <p:spPr>
          <a:xfrm>
            <a:off x="1015901" y="2443163"/>
            <a:ext cx="609600" cy="63401"/>
          </a:xfrm>
          <a:prstGeom prst="roundRect">
            <a:avLst>
              <a:gd name="adj" fmla="val 40063"/>
            </a:avLst>
          </a:prstGeom>
          <a:solidFill>
            <a:srgbClr val="1A7F37"/>
          </a:solidFill>
          <a:ln/>
        </p:spPr>
        <p:txBody>
          <a:bodyPr wrap="square" rtlCol="0" anchor="ctr"/>
          <a:lstStyle/>
          <a:p>
            <a:pPr indent="0" marL="0">
              <a:buNone/>
            </a:pPr>
            <a:endParaRPr lang="en-US" dirty="0"/>
          </a:p>
        </p:txBody>
      </p:sp>
      <p:sp>
        <p:nvSpPr>
          <p:cNvPr id="7" name="Text 3"/>
          <p:cNvSpPr/>
          <p:nvPr/>
        </p:nvSpPr>
        <p:spPr>
          <a:xfrm>
            <a:off x="1015901" y="2735163"/>
            <a:ext cx="6088279" cy="660499"/>
          </a:xfrm>
          <a:prstGeom prst="rect">
            <a:avLst/>
          </a:prstGeom>
          <a:noFill/>
          <a:ln/>
        </p:spPr>
        <p:txBody>
          <a:bodyPr wrap="square" lIns="0" tIns="0" rIns="0" bIns="0" rtlCol="0" anchor="t"/>
          <a:lstStyle/>
          <a:p>
            <a:pPr algn="l" indent="0" marL="0">
              <a:lnSpc>
                <a:spcPts val="2600"/>
              </a:lnSpc>
              <a:buNone/>
            </a:pPr>
            <a:r>
              <a:rPr lang="en-US" sz="2050" dirty="0">
                <a:solidFill>
                  <a:srgbClr val="59636E"/>
                </a:solidFill>
                <a:latin typeface="Arial" pitchFamily="34" charset="0"/>
                <a:ea typeface="Arial" pitchFamily="34" charset="-122"/>
                <a:cs typeface="Arial" pitchFamily="34" charset="-120"/>
              </a:rPr>
              <a:t>What if a prompt you run every morning could run itself?</a:t>
            </a:r>
            <a:endParaRPr lang="en-US" sz="2050" dirty="0"/>
          </a:p>
        </p:txBody>
      </p:sp>
      <p:pic>
        <p:nvPicPr>
          <p:cNvPr id="8" name="Image 2"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1015901" y="3660725"/>
            <a:ext cx="177701" cy="177701"/>
          </a:xfrm>
          <a:prstGeom prst="rect">
            <a:avLst/>
          </a:prstGeom>
        </p:spPr>
      </p:pic>
      <p:sp>
        <p:nvSpPr>
          <p:cNvPr id="9" name="Text 4"/>
          <p:cNvSpPr/>
          <p:nvPr/>
        </p:nvSpPr>
        <p:spPr>
          <a:xfrm>
            <a:off x="1282452" y="3649563"/>
            <a:ext cx="3373252" cy="200025"/>
          </a:xfrm>
          <a:prstGeom prst="rect">
            <a:avLst/>
          </a:prstGeom>
          <a:noFill/>
          <a:ln/>
        </p:spPr>
        <p:txBody>
          <a:bodyPr wrap="square" lIns="0" tIns="0" rIns="0" bIns="0" rtlCol="0" anchor="t"/>
          <a:lstStyle/>
          <a:p>
            <a:pPr algn="l" indent="0" marL="0">
              <a:buNone/>
            </a:pPr>
            <a:r>
              <a:rPr lang="en-US" sz="1350" u="sng" dirty="0">
                <a:solidFill>
                  <a:srgbClr val="0969DA"/>
                </a:solidFill>
                <a:latin typeface="Arial" pitchFamily="34" charset="0"/>
                <a:ea typeface="Arial" pitchFamily="34" charset="-122"/>
                <a:cs typeface="Arial" pitchFamily="34" charset="-120"/>
                <a:hlinkClick r:id="rId5" invalidUrl="" action="" tgtFrame="" tooltip="https://github.com/github/copilot-app-for-beginners/tree/main/07-automations" history="1" highlightClick="0" endSnd="0">
                  <a:extLst>
                    <a:ext uri="{A12FA001-AC4F-418D-AE19-62706E023703}">
                      <ahyp:hlinkClr xmlns:ahyp="http://schemas.microsoft.com/office/drawing/2018/hyperlinkcolor" val="tx"/>
                    </a:ext>
                  </a:extLst>
                </a:hlinkClick>
              </a:rPr>
              <a:t>github.com/github/copilot-app-for-beginners</a:t>
            </a:r>
            <a:endParaRPr lang="en-US" sz="13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pic>
        <p:nvPicPr>
          <p:cNvPr id="2"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6349901" y="0"/>
            <a:ext cx="2793950" cy="1308050"/>
          </a:xfrm>
          <a:prstGeom prst="rect">
            <a:avLst/>
          </a:prstGeom>
        </p:spPr>
      </p:pic>
      <p:sp>
        <p:nvSpPr>
          <p:cNvPr id="3" name="Text 0"/>
          <p:cNvSpPr/>
          <p:nvPr/>
        </p:nvSpPr>
        <p:spPr>
          <a:xfrm>
            <a:off x="7340501" y="177701"/>
            <a:ext cx="1168301" cy="279350"/>
          </a:xfrm>
          <a:prstGeom prst="roundRect">
            <a:avLst>
              <a:gd name="adj" fmla="val 22731"/>
            </a:avLst>
          </a:prstGeom>
          <a:solidFill>
            <a:srgbClr val="1A7F37"/>
          </a:solidFill>
          <a:ln/>
        </p:spPr>
        <p:txBody>
          <a:bodyPr wrap="square" rtlCol="0" anchor="ctr"/>
          <a:lstStyle/>
          <a:p>
            <a:pPr indent="0" marL="0">
              <a:buNone/>
            </a:pPr>
            <a:endParaRPr lang="en-US" dirty="0"/>
          </a:p>
        </p:txBody>
      </p:sp>
      <p:sp>
        <p:nvSpPr>
          <p:cNvPr id="4" name="Text 1"/>
          <p:cNvSpPr/>
          <p:nvPr/>
        </p:nvSpPr>
        <p:spPr>
          <a:xfrm>
            <a:off x="7461041" y="231577"/>
            <a:ext cx="927071" cy="171450"/>
          </a:xfrm>
          <a:prstGeom prst="rect">
            <a:avLst/>
          </a:prstGeom>
          <a:noFill/>
          <a:ln/>
        </p:spPr>
        <p:txBody>
          <a:bodyPr wrap="square" lIns="0" tIns="0" rIns="0" bIns="0" rtlCol="0" anchor="t"/>
          <a:lstStyle/>
          <a:p>
            <a:pPr algn="ctr" indent="0" marL="0">
              <a:buNone/>
            </a:pPr>
            <a:r>
              <a:rPr lang="en-US" sz="1150" b="1" dirty="0">
                <a:solidFill>
                  <a:srgbClr val="FFFFFF"/>
                </a:solidFill>
                <a:latin typeface="Arial" pitchFamily="34" charset="0"/>
                <a:ea typeface="Arial" pitchFamily="34" charset="-122"/>
                <a:cs typeface="Arial" pitchFamily="34" charset="-120"/>
              </a:rPr>
              <a:t>CHAPTER 07</a:t>
            </a:r>
            <a:endParaRPr lang="en-US" sz="1150" dirty="0"/>
          </a:p>
        </p:txBody>
      </p:sp>
      <p:pic>
        <p:nvPicPr>
          <p:cNvPr id="5" name="Image 1" descr="Open this chapter on GitHub">
            <a:hlinkClick r:id="rId3" tooltip="https://github.com/github/copilot-app-for-beginners/tree/main/07-automations"/>
          </p:cNvPr>
          <p:cNvPicPr>
            <a:picLocks noChangeAspect="1"/>
          </p:cNvPicPr>
          <p:nvPr/>
        </p:nvPicPr>
        <p:blipFill>
          <a:blip r:embed="rId2"/>
          <a:stretch>
            <a:fillRect/>
          </a:stretch>
        </p:blipFill>
        <p:spPr>
          <a:xfrm>
            <a:off x="8610600" y="165050"/>
            <a:ext cx="304800" cy="304800"/>
          </a:xfrm>
          <a:prstGeom prst="rect">
            <a:avLst/>
          </a:prstGeom>
        </p:spPr>
      </p:pic>
      <p:sp>
        <p:nvSpPr>
          <p:cNvPr id="6" name="Text 2"/>
          <p:cNvSpPr/>
          <p:nvPr/>
        </p:nvSpPr>
        <p:spPr>
          <a:xfrm>
            <a:off x="507950" y="381000"/>
            <a:ext cx="8161020" cy="190500"/>
          </a:xfrm>
          <a:prstGeom prst="rect">
            <a:avLst/>
          </a:prstGeom>
          <a:noFill/>
          <a:ln/>
        </p:spPr>
        <p:txBody>
          <a:bodyPr wrap="square" lIns="0" tIns="0" rIns="0" bIns="0" rtlCol="0" anchor="t"/>
          <a:lstStyle/>
          <a:p>
            <a:pPr algn="l" indent="0" marL="0">
              <a:buNone/>
            </a:pPr>
            <a:r>
              <a:rPr lang="en-US" sz="1250" b="1" dirty="0">
                <a:solidFill>
                  <a:srgbClr val="1A7F37"/>
                </a:solidFill>
                <a:latin typeface="Arial" pitchFamily="34" charset="0"/>
                <a:ea typeface="Arial" pitchFamily="34" charset="-122"/>
                <a:cs typeface="Arial" pitchFamily="34" charset="-120"/>
              </a:rPr>
              <a:t>CHAPTER 07</a:t>
            </a:r>
            <a:endParaRPr lang="en-US" sz="1250" dirty="0"/>
          </a:p>
        </p:txBody>
      </p:sp>
      <p:sp>
        <p:nvSpPr>
          <p:cNvPr id="7" name="Text 3"/>
          <p:cNvSpPr/>
          <p:nvPr/>
        </p:nvSpPr>
        <p:spPr>
          <a:xfrm>
            <a:off x="507950" y="622250"/>
            <a:ext cx="8161020" cy="419100"/>
          </a:xfrm>
          <a:prstGeom prst="rect">
            <a:avLst/>
          </a:prstGeom>
          <a:noFill/>
          <a:ln/>
        </p:spPr>
        <p:txBody>
          <a:bodyPr wrap="square" lIns="0" tIns="0" rIns="0" bIns="0" rtlCol="0" anchor="t"/>
          <a:lstStyle/>
          <a:p>
            <a:pPr algn="l" indent="0" marL="0">
              <a:lnSpc>
                <a:spcPts val="3300"/>
              </a:lnSpc>
              <a:spcBef>
                <a:spcPts val="400"/>
              </a:spcBef>
              <a:buNone/>
            </a:pPr>
            <a:r>
              <a:rPr lang="en-US" sz="2800" b="1" dirty="0">
                <a:solidFill>
                  <a:srgbClr val="1F2328"/>
                </a:solidFill>
                <a:latin typeface="Arial" pitchFamily="34" charset="0"/>
                <a:ea typeface="Arial" pitchFamily="34" charset="-122"/>
                <a:cs typeface="Arial" pitchFamily="34" charset="-120"/>
              </a:rPr>
              <a:t>In this chapter</a:t>
            </a:r>
            <a:endParaRPr lang="en-US" sz="2800" dirty="0"/>
          </a:p>
        </p:txBody>
      </p:sp>
      <p:sp>
        <p:nvSpPr>
          <p:cNvPr id="8" name="Text 4"/>
          <p:cNvSpPr/>
          <p:nvPr/>
        </p:nvSpPr>
        <p:spPr>
          <a:xfrm>
            <a:off x="507950" y="1495425"/>
            <a:ext cx="8127950" cy="857250"/>
          </a:xfrm>
          <a:prstGeom prst="roundRect">
            <a:avLst>
              <a:gd name="adj" fmla="val 11852"/>
            </a:avLst>
          </a:prstGeom>
          <a:solidFill>
            <a:srgbClr val="F1F8FF"/>
          </a:solidFill>
          <a:ln/>
        </p:spPr>
        <p:txBody>
          <a:bodyPr wrap="square" rtlCol="0" anchor="ctr"/>
          <a:lstStyle/>
          <a:p>
            <a:pPr indent="0" marL="0">
              <a:buNone/>
            </a:pPr>
            <a:endParaRPr lang="en-US" dirty="0"/>
          </a:p>
        </p:txBody>
      </p:sp>
      <p:sp>
        <p:nvSpPr>
          <p:cNvPr id="9" name="Shape 5"/>
          <p:cNvSpPr/>
          <p:nvPr/>
        </p:nvSpPr>
        <p:spPr>
          <a:xfrm>
            <a:off x="507950" y="1500188"/>
            <a:ext cx="8127950" cy="0"/>
          </a:xfrm>
          <a:prstGeom prst="line">
            <a:avLst/>
          </a:prstGeom>
          <a:noFill/>
          <a:ln w="9525">
            <a:solidFill>
              <a:srgbClr val="9CD7FF"/>
            </a:solidFill>
            <a:prstDash val="solid"/>
          </a:ln>
        </p:spPr>
      </p:sp>
      <p:sp>
        <p:nvSpPr>
          <p:cNvPr id="10" name="Shape 6"/>
          <p:cNvSpPr/>
          <p:nvPr/>
        </p:nvSpPr>
        <p:spPr>
          <a:xfrm>
            <a:off x="8631138" y="1495425"/>
            <a:ext cx="0" cy="857250"/>
          </a:xfrm>
          <a:prstGeom prst="line">
            <a:avLst/>
          </a:prstGeom>
          <a:noFill/>
          <a:ln w="9525">
            <a:solidFill>
              <a:srgbClr val="9CD7FF"/>
            </a:solidFill>
            <a:prstDash val="solid"/>
          </a:ln>
        </p:spPr>
      </p:sp>
      <p:sp>
        <p:nvSpPr>
          <p:cNvPr id="11" name="Shape 7"/>
          <p:cNvSpPr/>
          <p:nvPr/>
        </p:nvSpPr>
        <p:spPr>
          <a:xfrm>
            <a:off x="507950" y="2347913"/>
            <a:ext cx="8127950" cy="0"/>
          </a:xfrm>
          <a:prstGeom prst="line">
            <a:avLst/>
          </a:prstGeom>
          <a:noFill/>
          <a:ln w="9525">
            <a:solidFill>
              <a:srgbClr val="9CD7FF"/>
            </a:solidFill>
            <a:prstDash val="solid"/>
          </a:ln>
        </p:spPr>
      </p:sp>
      <p:sp>
        <p:nvSpPr>
          <p:cNvPr id="12" name="Shape 8"/>
          <p:cNvSpPr/>
          <p:nvPr/>
        </p:nvSpPr>
        <p:spPr>
          <a:xfrm>
            <a:off x="546050" y="1495425"/>
            <a:ext cx="0" cy="857250"/>
          </a:xfrm>
          <a:prstGeom prst="line">
            <a:avLst/>
          </a:prstGeom>
          <a:noFill/>
          <a:ln w="76200">
            <a:solidFill>
              <a:srgbClr val="0969DA"/>
            </a:solidFill>
            <a:prstDash val="solid"/>
          </a:ln>
        </p:spPr>
      </p:sp>
      <p:sp>
        <p:nvSpPr>
          <p:cNvPr id="13" name="Text 9"/>
          <p:cNvSpPr/>
          <p:nvPr/>
        </p:nvSpPr>
        <p:spPr>
          <a:xfrm>
            <a:off x="812750" y="1709738"/>
            <a:ext cx="595833" cy="428625"/>
          </a:xfrm>
          <a:prstGeom prst="rect">
            <a:avLst/>
          </a:prstGeom>
          <a:noFill/>
          <a:ln/>
        </p:spPr>
        <p:txBody>
          <a:bodyPr wrap="square" lIns="0" tIns="0" rIns="0" bIns="0" rtlCol="0" anchor="t"/>
          <a:lstStyle/>
          <a:p>
            <a:pPr algn="l" indent="0" marL="0">
              <a:buNone/>
            </a:pPr>
            <a:r>
              <a:rPr lang="en-US" sz="3000" b="1" dirty="0">
                <a:solidFill>
                  <a:srgbClr val="0969DA"/>
                </a:solidFill>
                <a:latin typeface="Arial" pitchFamily="34" charset="0"/>
                <a:ea typeface="Arial" pitchFamily="34" charset="-122"/>
                <a:cs typeface="Arial" pitchFamily="34" charset="-120"/>
              </a:rPr>
              <a:t>01</a:t>
            </a:r>
            <a:endParaRPr lang="en-US" sz="3000" dirty="0"/>
          </a:p>
        </p:txBody>
      </p:sp>
      <p:sp>
        <p:nvSpPr>
          <p:cNvPr id="14" name="Text 10"/>
          <p:cNvSpPr/>
          <p:nvPr/>
        </p:nvSpPr>
        <p:spPr>
          <a:xfrm>
            <a:off x="1625501" y="1657350"/>
            <a:ext cx="6691247" cy="266700"/>
          </a:xfrm>
          <a:prstGeom prst="rect">
            <a:avLst/>
          </a:prstGeom>
          <a:noFill/>
          <a:ln/>
        </p:spPr>
        <p:txBody>
          <a:bodyPr wrap="square" lIns="0" tIns="0" rIns="0" bIns="0" rtlCol="0" anchor="t"/>
          <a:lstStyle/>
          <a:p>
            <a:pPr algn="l" indent="0" marL="0">
              <a:buNone/>
            </a:pPr>
            <a:r>
              <a:rPr lang="en-US" sz="1800" b="1" dirty="0">
                <a:solidFill>
                  <a:srgbClr val="1F2328"/>
                </a:solidFill>
                <a:latin typeface="Arial" pitchFamily="34" charset="0"/>
                <a:ea typeface="Arial" pitchFamily="34" charset="-122"/>
                <a:cs typeface="Arial" pitchFamily="34" charset="-120"/>
              </a:rPr>
              <a:t>Anatomy of an automation</a:t>
            </a:r>
            <a:endParaRPr lang="en-US" sz="1800" dirty="0"/>
          </a:p>
        </p:txBody>
      </p:sp>
      <p:sp>
        <p:nvSpPr>
          <p:cNvPr id="15" name="Text 11"/>
          <p:cNvSpPr/>
          <p:nvPr/>
        </p:nvSpPr>
        <p:spPr>
          <a:xfrm>
            <a:off x="1625501" y="1974800"/>
            <a:ext cx="6691247" cy="215950"/>
          </a:xfrm>
          <a:prstGeom prst="rect">
            <a:avLst/>
          </a:prstGeom>
          <a:noFill/>
          <a:ln/>
        </p:spPr>
        <p:txBody>
          <a:bodyPr wrap="square" lIns="0" tIns="0" rIns="0" bIns="0" rtlCol="0" anchor="t"/>
          <a:lstStyle/>
          <a:p>
            <a:pPr algn="l" indent="0" marL="0">
              <a:lnSpc>
                <a:spcPts val="1700"/>
              </a:lnSpc>
              <a:buNone/>
            </a:pPr>
            <a:r>
              <a:rPr lang="en-US" sz="1450" dirty="0">
                <a:solidFill>
                  <a:srgbClr val="59636E"/>
                </a:solidFill>
                <a:latin typeface="Arial" pitchFamily="34" charset="0"/>
                <a:ea typeface="Arial" pitchFamily="34" charset="-122"/>
                <a:cs typeface="Arial" pitchFamily="34" charset="-120"/>
              </a:rPr>
              <a:t>Every automation is a saved prompt with a trigger, tools, and a place to review it.</a:t>
            </a:r>
            <a:endParaRPr lang="en-US" sz="1450" dirty="0"/>
          </a:p>
        </p:txBody>
      </p:sp>
      <p:sp>
        <p:nvSpPr>
          <p:cNvPr id="16" name="Text 12"/>
          <p:cNvSpPr/>
          <p:nvPr/>
        </p:nvSpPr>
        <p:spPr>
          <a:xfrm>
            <a:off x="507950" y="2505075"/>
            <a:ext cx="8127950" cy="857250"/>
          </a:xfrm>
          <a:prstGeom prst="roundRect">
            <a:avLst>
              <a:gd name="adj" fmla="val 11852"/>
            </a:avLst>
          </a:prstGeom>
          <a:solidFill>
            <a:srgbClr val="F8F3FF"/>
          </a:solidFill>
          <a:ln/>
        </p:spPr>
        <p:txBody>
          <a:bodyPr wrap="square" rtlCol="0" anchor="ctr"/>
          <a:lstStyle/>
          <a:p>
            <a:pPr indent="0" marL="0">
              <a:buNone/>
            </a:pPr>
            <a:endParaRPr lang="en-US" dirty="0"/>
          </a:p>
        </p:txBody>
      </p:sp>
      <p:sp>
        <p:nvSpPr>
          <p:cNvPr id="17" name="Shape 13"/>
          <p:cNvSpPr/>
          <p:nvPr/>
        </p:nvSpPr>
        <p:spPr>
          <a:xfrm>
            <a:off x="507950" y="2509838"/>
            <a:ext cx="8127950" cy="0"/>
          </a:xfrm>
          <a:prstGeom prst="line">
            <a:avLst/>
          </a:prstGeom>
          <a:noFill/>
          <a:ln w="9525">
            <a:solidFill>
              <a:srgbClr val="E0C5FF"/>
            </a:solidFill>
            <a:prstDash val="solid"/>
          </a:ln>
        </p:spPr>
      </p:sp>
      <p:sp>
        <p:nvSpPr>
          <p:cNvPr id="18" name="Shape 14"/>
          <p:cNvSpPr/>
          <p:nvPr/>
        </p:nvSpPr>
        <p:spPr>
          <a:xfrm>
            <a:off x="8631138" y="2505075"/>
            <a:ext cx="0" cy="857250"/>
          </a:xfrm>
          <a:prstGeom prst="line">
            <a:avLst/>
          </a:prstGeom>
          <a:noFill/>
          <a:ln w="9525">
            <a:solidFill>
              <a:srgbClr val="E0C5FF"/>
            </a:solidFill>
            <a:prstDash val="solid"/>
          </a:ln>
        </p:spPr>
      </p:sp>
      <p:sp>
        <p:nvSpPr>
          <p:cNvPr id="19" name="Shape 15"/>
          <p:cNvSpPr/>
          <p:nvPr/>
        </p:nvSpPr>
        <p:spPr>
          <a:xfrm>
            <a:off x="507950" y="3357563"/>
            <a:ext cx="8127950" cy="0"/>
          </a:xfrm>
          <a:prstGeom prst="line">
            <a:avLst/>
          </a:prstGeom>
          <a:noFill/>
          <a:ln w="9525">
            <a:solidFill>
              <a:srgbClr val="E0C5FF"/>
            </a:solidFill>
            <a:prstDash val="solid"/>
          </a:ln>
        </p:spPr>
      </p:sp>
      <p:sp>
        <p:nvSpPr>
          <p:cNvPr id="20" name="Shape 16"/>
          <p:cNvSpPr/>
          <p:nvPr/>
        </p:nvSpPr>
        <p:spPr>
          <a:xfrm>
            <a:off x="546050" y="2505075"/>
            <a:ext cx="0" cy="857250"/>
          </a:xfrm>
          <a:prstGeom prst="line">
            <a:avLst/>
          </a:prstGeom>
          <a:noFill/>
          <a:ln w="76200">
            <a:solidFill>
              <a:srgbClr val="8250DF"/>
            </a:solidFill>
            <a:prstDash val="solid"/>
          </a:ln>
        </p:spPr>
      </p:sp>
      <p:sp>
        <p:nvSpPr>
          <p:cNvPr id="21" name="Text 17"/>
          <p:cNvSpPr/>
          <p:nvPr/>
        </p:nvSpPr>
        <p:spPr>
          <a:xfrm>
            <a:off x="812750" y="2719388"/>
            <a:ext cx="595833" cy="428625"/>
          </a:xfrm>
          <a:prstGeom prst="rect">
            <a:avLst/>
          </a:prstGeom>
          <a:noFill/>
          <a:ln/>
        </p:spPr>
        <p:txBody>
          <a:bodyPr wrap="square" lIns="0" tIns="0" rIns="0" bIns="0" rtlCol="0" anchor="t"/>
          <a:lstStyle/>
          <a:p>
            <a:pPr algn="l" indent="0" marL="0">
              <a:buNone/>
            </a:pPr>
            <a:r>
              <a:rPr lang="en-US" sz="3000" b="1" dirty="0">
                <a:solidFill>
                  <a:srgbClr val="8250DF"/>
                </a:solidFill>
                <a:latin typeface="Arial" pitchFamily="34" charset="0"/>
                <a:ea typeface="Arial" pitchFamily="34" charset="-122"/>
                <a:cs typeface="Arial" pitchFamily="34" charset="-120"/>
              </a:rPr>
              <a:t>02</a:t>
            </a:r>
            <a:endParaRPr lang="en-US" sz="3000" dirty="0"/>
          </a:p>
        </p:txBody>
      </p:sp>
      <p:sp>
        <p:nvSpPr>
          <p:cNvPr id="22" name="Text 18"/>
          <p:cNvSpPr/>
          <p:nvPr/>
        </p:nvSpPr>
        <p:spPr>
          <a:xfrm>
            <a:off x="1625501" y="2667000"/>
            <a:ext cx="5146179" cy="266700"/>
          </a:xfrm>
          <a:prstGeom prst="rect">
            <a:avLst/>
          </a:prstGeom>
          <a:noFill/>
          <a:ln/>
        </p:spPr>
        <p:txBody>
          <a:bodyPr wrap="square" lIns="0" tIns="0" rIns="0" bIns="0" rtlCol="0" anchor="t"/>
          <a:lstStyle/>
          <a:p>
            <a:pPr algn="l" indent="0" marL="0">
              <a:buNone/>
            </a:pPr>
            <a:r>
              <a:rPr lang="en-US" sz="1800" b="1" dirty="0">
                <a:solidFill>
                  <a:srgbClr val="1F2328"/>
                </a:solidFill>
                <a:latin typeface="Arial" pitchFamily="34" charset="0"/>
                <a:ea typeface="Arial" pitchFamily="34" charset="-122"/>
                <a:cs typeface="Arial" pitchFamily="34" charset="-120"/>
              </a:rPr>
              <a:t>Build a review readiness report</a:t>
            </a:r>
            <a:endParaRPr lang="en-US" sz="1800" dirty="0"/>
          </a:p>
        </p:txBody>
      </p:sp>
      <p:sp>
        <p:nvSpPr>
          <p:cNvPr id="23" name="Text 19"/>
          <p:cNvSpPr/>
          <p:nvPr/>
        </p:nvSpPr>
        <p:spPr>
          <a:xfrm>
            <a:off x="1625501" y="2984450"/>
            <a:ext cx="5146179" cy="215950"/>
          </a:xfrm>
          <a:prstGeom prst="rect">
            <a:avLst/>
          </a:prstGeom>
          <a:noFill/>
          <a:ln/>
        </p:spPr>
        <p:txBody>
          <a:bodyPr wrap="square" lIns="0" tIns="0" rIns="0" bIns="0" rtlCol="0" anchor="t"/>
          <a:lstStyle/>
          <a:p>
            <a:pPr algn="l" indent="0" marL="0">
              <a:lnSpc>
                <a:spcPts val="1700"/>
              </a:lnSpc>
              <a:buNone/>
            </a:pPr>
            <a:r>
              <a:rPr lang="en-US" sz="1450" dirty="0">
                <a:solidFill>
                  <a:srgbClr val="59636E"/>
                </a:solidFill>
                <a:latin typeface="Arial" pitchFamily="34" charset="0"/>
                <a:ea typeface="Arial" pitchFamily="34" charset="-122"/>
                <a:cs typeface="Arial" pitchFamily="34" charset="-120"/>
              </a:rPr>
              <a:t>Which PRs are ready to merge, and what is blocking the rest?</a:t>
            </a:r>
            <a:endParaRPr lang="en-US" sz="1450" dirty="0"/>
          </a:p>
        </p:txBody>
      </p:sp>
      <p:sp>
        <p:nvSpPr>
          <p:cNvPr id="24" name="Text 20"/>
          <p:cNvSpPr/>
          <p:nvPr/>
        </p:nvSpPr>
        <p:spPr>
          <a:xfrm>
            <a:off x="507950" y="3514725"/>
            <a:ext cx="8127950" cy="857250"/>
          </a:xfrm>
          <a:prstGeom prst="roundRect">
            <a:avLst>
              <a:gd name="adj" fmla="val 11852"/>
            </a:avLst>
          </a:prstGeom>
          <a:solidFill>
            <a:srgbClr val="F0FBF3"/>
          </a:solidFill>
          <a:ln/>
        </p:spPr>
        <p:txBody>
          <a:bodyPr wrap="square" rtlCol="0" anchor="ctr"/>
          <a:lstStyle/>
          <a:p>
            <a:pPr indent="0" marL="0">
              <a:buNone/>
            </a:pPr>
            <a:endParaRPr lang="en-US" dirty="0"/>
          </a:p>
        </p:txBody>
      </p:sp>
      <p:sp>
        <p:nvSpPr>
          <p:cNvPr id="25" name="Shape 21"/>
          <p:cNvSpPr/>
          <p:nvPr/>
        </p:nvSpPr>
        <p:spPr>
          <a:xfrm>
            <a:off x="507950" y="3519488"/>
            <a:ext cx="8127950" cy="0"/>
          </a:xfrm>
          <a:prstGeom prst="line">
            <a:avLst/>
          </a:prstGeom>
          <a:noFill/>
          <a:ln w="9525">
            <a:solidFill>
              <a:srgbClr val="8CE7A5"/>
            </a:solidFill>
            <a:prstDash val="solid"/>
          </a:ln>
        </p:spPr>
      </p:sp>
      <p:sp>
        <p:nvSpPr>
          <p:cNvPr id="26" name="Shape 22"/>
          <p:cNvSpPr/>
          <p:nvPr/>
        </p:nvSpPr>
        <p:spPr>
          <a:xfrm>
            <a:off x="8631138" y="3514725"/>
            <a:ext cx="0" cy="857250"/>
          </a:xfrm>
          <a:prstGeom prst="line">
            <a:avLst/>
          </a:prstGeom>
          <a:noFill/>
          <a:ln w="9525">
            <a:solidFill>
              <a:srgbClr val="8CE7A5"/>
            </a:solidFill>
            <a:prstDash val="solid"/>
          </a:ln>
        </p:spPr>
      </p:sp>
      <p:sp>
        <p:nvSpPr>
          <p:cNvPr id="27" name="Shape 23"/>
          <p:cNvSpPr/>
          <p:nvPr/>
        </p:nvSpPr>
        <p:spPr>
          <a:xfrm>
            <a:off x="507950" y="4367213"/>
            <a:ext cx="8127950" cy="0"/>
          </a:xfrm>
          <a:prstGeom prst="line">
            <a:avLst/>
          </a:prstGeom>
          <a:noFill/>
          <a:ln w="9525">
            <a:solidFill>
              <a:srgbClr val="8CE7A5"/>
            </a:solidFill>
            <a:prstDash val="solid"/>
          </a:ln>
        </p:spPr>
      </p:sp>
      <p:sp>
        <p:nvSpPr>
          <p:cNvPr id="28" name="Shape 24"/>
          <p:cNvSpPr/>
          <p:nvPr/>
        </p:nvSpPr>
        <p:spPr>
          <a:xfrm>
            <a:off x="546050" y="3514725"/>
            <a:ext cx="0" cy="857250"/>
          </a:xfrm>
          <a:prstGeom prst="line">
            <a:avLst/>
          </a:prstGeom>
          <a:noFill/>
          <a:ln w="76200">
            <a:solidFill>
              <a:srgbClr val="1A7F37"/>
            </a:solidFill>
            <a:prstDash val="solid"/>
          </a:ln>
        </p:spPr>
      </p:sp>
      <p:sp>
        <p:nvSpPr>
          <p:cNvPr id="29" name="Text 25"/>
          <p:cNvSpPr/>
          <p:nvPr/>
        </p:nvSpPr>
        <p:spPr>
          <a:xfrm>
            <a:off x="812750" y="3729038"/>
            <a:ext cx="595833" cy="428625"/>
          </a:xfrm>
          <a:prstGeom prst="rect">
            <a:avLst/>
          </a:prstGeom>
          <a:noFill/>
          <a:ln/>
        </p:spPr>
        <p:txBody>
          <a:bodyPr wrap="square" lIns="0" tIns="0" rIns="0" bIns="0" rtlCol="0" anchor="t"/>
          <a:lstStyle/>
          <a:p>
            <a:pPr algn="l" indent="0" marL="0">
              <a:buNone/>
            </a:pPr>
            <a:r>
              <a:rPr lang="en-US" sz="3000" b="1" dirty="0">
                <a:solidFill>
                  <a:srgbClr val="1A7F37"/>
                </a:solidFill>
                <a:latin typeface="Arial" pitchFamily="34" charset="0"/>
                <a:ea typeface="Arial" pitchFamily="34" charset="-122"/>
                <a:cs typeface="Arial" pitchFamily="34" charset="-120"/>
              </a:rPr>
              <a:t>03</a:t>
            </a:r>
            <a:endParaRPr lang="en-US" sz="3000" dirty="0"/>
          </a:p>
        </p:txBody>
      </p:sp>
      <p:sp>
        <p:nvSpPr>
          <p:cNvPr id="30" name="Text 26"/>
          <p:cNvSpPr/>
          <p:nvPr/>
        </p:nvSpPr>
        <p:spPr>
          <a:xfrm>
            <a:off x="1625501" y="3676650"/>
            <a:ext cx="5876967" cy="266700"/>
          </a:xfrm>
          <a:prstGeom prst="rect">
            <a:avLst/>
          </a:prstGeom>
          <a:noFill/>
          <a:ln/>
        </p:spPr>
        <p:txBody>
          <a:bodyPr wrap="square" lIns="0" tIns="0" rIns="0" bIns="0" rtlCol="0" anchor="t"/>
          <a:lstStyle/>
          <a:p>
            <a:pPr algn="l" indent="0" marL="0">
              <a:buNone/>
            </a:pPr>
            <a:r>
              <a:rPr lang="en-US" sz="1800" b="1" dirty="0">
                <a:solidFill>
                  <a:srgbClr val="1F2328"/>
                </a:solidFill>
                <a:latin typeface="Arial" pitchFamily="34" charset="0"/>
                <a:ea typeface="Arial" pitchFamily="34" charset="-122"/>
                <a:cs typeface="Arial" pitchFamily="34" charset="-120"/>
              </a:rPr>
              <a:t>Events and cloud</a:t>
            </a:r>
            <a:endParaRPr lang="en-US" sz="1800" dirty="0"/>
          </a:p>
        </p:txBody>
      </p:sp>
      <p:sp>
        <p:nvSpPr>
          <p:cNvPr id="31" name="Text 27"/>
          <p:cNvSpPr/>
          <p:nvPr/>
        </p:nvSpPr>
        <p:spPr>
          <a:xfrm>
            <a:off x="1625501" y="3994100"/>
            <a:ext cx="5876967" cy="215950"/>
          </a:xfrm>
          <a:prstGeom prst="rect">
            <a:avLst/>
          </a:prstGeom>
          <a:noFill/>
          <a:ln/>
        </p:spPr>
        <p:txBody>
          <a:bodyPr wrap="square" lIns="0" tIns="0" rIns="0" bIns="0" rtlCol="0" anchor="t"/>
          <a:lstStyle/>
          <a:p>
            <a:pPr algn="l" indent="0" marL="0">
              <a:lnSpc>
                <a:spcPts val="1700"/>
              </a:lnSpc>
              <a:buNone/>
            </a:pPr>
            <a:r>
              <a:rPr lang="en-US" sz="1450" dirty="0">
                <a:solidFill>
                  <a:srgbClr val="59636E"/>
                </a:solidFill>
                <a:latin typeface="Arial" pitchFamily="34" charset="0"/>
                <a:ea typeface="Arial" pitchFamily="34" charset="-122"/>
                <a:cs typeface="Arial" pitchFamily="34" charset="-120"/>
              </a:rPr>
              <a:t>Optional. React to repository events, or run while your laptop is closed.</a:t>
            </a:r>
            <a:endParaRPr lang="en-US" sz="14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9144000" cy="5143500"/>
          </a:xfrm>
          <a:prstGeom prst="rect">
            <a:avLst/>
          </a:prstGeom>
          <a:solidFill>
            <a:srgbClr val="F1F8FF"/>
          </a:solidFill>
          <a:ln/>
        </p:spPr>
        <p:txBody>
          <a:bodyPr wrap="square" rtlCol="0" anchor="ctr"/>
          <a:lstStyle/>
          <a:p>
            <a:pPr indent="0" marL="0">
              <a:buNone/>
            </a:pPr>
            <a:endParaRPr lang="en-US" dirty="0"/>
          </a:p>
        </p:txBody>
      </p:sp>
      <p:sp>
        <p:nvSpPr>
          <p:cNvPr id="3" name="Text 1"/>
          <p:cNvSpPr/>
          <p:nvPr/>
        </p:nvSpPr>
        <p:spPr>
          <a:xfrm>
            <a:off x="0" y="0"/>
            <a:ext cx="152400" cy="5143500"/>
          </a:xfrm>
          <a:prstGeom prst="rect">
            <a:avLst/>
          </a:prstGeom>
          <a:solidFill>
            <a:srgbClr val="0969DA"/>
          </a:solidFill>
          <a:ln/>
        </p:spPr>
        <p:txBody>
          <a:bodyPr wrap="square" rtlCol="0" anchor="ctr"/>
          <a:lstStyle/>
          <a:p>
            <a:pPr indent="0" marL="0">
              <a:buNone/>
            </a:pPr>
            <a:endParaRPr lang="en-US" dirty="0"/>
          </a:p>
        </p:txBody>
      </p:sp>
      <p:sp>
        <p:nvSpPr>
          <p:cNvPr id="4" name="Text 2"/>
          <p:cNvSpPr/>
          <p:nvPr/>
        </p:nvSpPr>
        <p:spPr>
          <a:xfrm>
            <a:off x="6040121" y="2412950"/>
            <a:ext cx="2849829" cy="2159050"/>
          </a:xfrm>
          <a:prstGeom prst="rect">
            <a:avLst/>
          </a:prstGeom>
          <a:noFill/>
          <a:ln/>
        </p:spPr>
        <p:txBody>
          <a:bodyPr wrap="square" lIns="0" tIns="0" rIns="0" bIns="0" rtlCol="0" anchor="t"/>
          <a:lstStyle/>
          <a:p>
            <a:pPr algn="r" indent="0" marL="0">
              <a:lnSpc>
                <a:spcPts val="17000"/>
              </a:lnSpc>
              <a:buNone/>
            </a:pPr>
            <a:r>
              <a:rPr lang="en-US" sz="15000" b="1" dirty="0">
                <a:solidFill>
                  <a:srgbClr val="9CD7FF"/>
                </a:solidFill>
                <a:latin typeface="Arial" pitchFamily="34" charset="0"/>
                <a:ea typeface="Arial" pitchFamily="34" charset="-122"/>
                <a:cs typeface="Arial" pitchFamily="34" charset="-120"/>
              </a:rPr>
              <a:t>01</a:t>
            </a:r>
            <a:endParaRPr lang="en-US" sz="15000" dirty="0"/>
          </a:p>
        </p:txBody>
      </p:sp>
      <p:pic>
        <p:nvPicPr>
          <p:cNvPr id="5"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6349901" y="0"/>
            <a:ext cx="2793950" cy="1308050"/>
          </a:xfrm>
          <a:prstGeom prst="rect">
            <a:avLst/>
          </a:prstGeom>
        </p:spPr>
      </p:pic>
      <p:sp>
        <p:nvSpPr>
          <p:cNvPr id="6" name="Text 3"/>
          <p:cNvSpPr/>
          <p:nvPr/>
        </p:nvSpPr>
        <p:spPr>
          <a:xfrm>
            <a:off x="7340501" y="177701"/>
            <a:ext cx="1168301" cy="279350"/>
          </a:xfrm>
          <a:prstGeom prst="roundRect">
            <a:avLst>
              <a:gd name="adj" fmla="val 22731"/>
            </a:avLst>
          </a:prstGeom>
          <a:solidFill>
            <a:srgbClr val="1A7F37"/>
          </a:solidFill>
          <a:ln/>
        </p:spPr>
        <p:txBody>
          <a:bodyPr wrap="square" rtlCol="0" anchor="ctr"/>
          <a:lstStyle/>
          <a:p>
            <a:pPr indent="0" marL="0">
              <a:buNone/>
            </a:pPr>
            <a:endParaRPr lang="en-US" dirty="0"/>
          </a:p>
        </p:txBody>
      </p:sp>
      <p:sp>
        <p:nvSpPr>
          <p:cNvPr id="7" name="Text 4"/>
          <p:cNvSpPr/>
          <p:nvPr/>
        </p:nvSpPr>
        <p:spPr>
          <a:xfrm>
            <a:off x="7461041" y="231577"/>
            <a:ext cx="927071" cy="171450"/>
          </a:xfrm>
          <a:prstGeom prst="rect">
            <a:avLst/>
          </a:prstGeom>
          <a:noFill/>
          <a:ln/>
        </p:spPr>
        <p:txBody>
          <a:bodyPr wrap="square" lIns="0" tIns="0" rIns="0" bIns="0" rtlCol="0" anchor="t"/>
          <a:lstStyle/>
          <a:p>
            <a:pPr algn="ctr" indent="0" marL="0">
              <a:buNone/>
            </a:pPr>
            <a:r>
              <a:rPr lang="en-US" sz="1150" b="1" dirty="0">
                <a:solidFill>
                  <a:srgbClr val="FFFFFF"/>
                </a:solidFill>
                <a:latin typeface="Arial" pitchFamily="34" charset="0"/>
                <a:ea typeface="Arial" pitchFamily="34" charset="-122"/>
                <a:cs typeface="Arial" pitchFamily="34" charset="-120"/>
              </a:rPr>
              <a:t>CHAPTER 07</a:t>
            </a:r>
            <a:endParaRPr lang="en-US" sz="1150" dirty="0"/>
          </a:p>
        </p:txBody>
      </p:sp>
      <p:pic>
        <p:nvPicPr>
          <p:cNvPr id="8" name="Image 1" descr="Open this chapter on GitHub">
            <a:hlinkClick r:id="rId3" tooltip="https://github.com/github/copilot-app-for-beginners/tree/main/07-automations"/>
          </p:cNvPr>
          <p:cNvPicPr>
            <a:picLocks noChangeAspect="1"/>
          </p:cNvPicPr>
          <p:nvPr/>
        </p:nvPicPr>
        <p:blipFill>
          <a:blip r:embed="rId2"/>
          <a:stretch>
            <a:fillRect/>
          </a:stretch>
        </p:blipFill>
        <p:spPr>
          <a:xfrm>
            <a:off x="8610600" y="165050"/>
            <a:ext cx="304800" cy="304800"/>
          </a:xfrm>
          <a:prstGeom prst="rect">
            <a:avLst/>
          </a:prstGeom>
        </p:spPr>
      </p:pic>
      <p:sp>
        <p:nvSpPr>
          <p:cNvPr id="9" name="Text 5"/>
          <p:cNvSpPr/>
          <p:nvPr/>
        </p:nvSpPr>
        <p:spPr>
          <a:xfrm>
            <a:off x="711101" y="1279773"/>
            <a:ext cx="5570169" cy="209550"/>
          </a:xfrm>
          <a:prstGeom prst="rect">
            <a:avLst/>
          </a:prstGeom>
          <a:noFill/>
          <a:ln/>
        </p:spPr>
        <p:txBody>
          <a:bodyPr wrap="square" lIns="0" tIns="0" rIns="0" bIns="0" rtlCol="0" anchor="t"/>
          <a:lstStyle/>
          <a:p>
            <a:pPr algn="l" indent="0" marL="0">
              <a:buNone/>
            </a:pPr>
            <a:r>
              <a:rPr lang="en-US" sz="1450" b="1" dirty="0">
                <a:solidFill>
                  <a:srgbClr val="0969DA"/>
                </a:solidFill>
                <a:latin typeface="Arial" pitchFamily="34" charset="0"/>
                <a:ea typeface="Arial" pitchFamily="34" charset="-122"/>
                <a:cs typeface="Arial" pitchFamily="34" charset="-120"/>
              </a:rPr>
              <a:t>SECTION 1 OF 3</a:t>
            </a:r>
            <a:endParaRPr lang="en-US" sz="1450" dirty="0"/>
          </a:p>
        </p:txBody>
      </p:sp>
      <p:sp>
        <p:nvSpPr>
          <p:cNvPr id="10" name="Text 6"/>
          <p:cNvSpPr/>
          <p:nvPr/>
        </p:nvSpPr>
        <p:spPr>
          <a:xfrm>
            <a:off x="711101" y="1590824"/>
            <a:ext cx="5570169" cy="1168301"/>
          </a:xfrm>
          <a:prstGeom prst="rect">
            <a:avLst/>
          </a:prstGeom>
          <a:noFill/>
          <a:ln/>
        </p:spPr>
        <p:txBody>
          <a:bodyPr wrap="square" lIns="0" tIns="0" rIns="0" bIns="0" rtlCol="0" anchor="t"/>
          <a:lstStyle/>
          <a:p>
            <a:pPr algn="l" indent="0" marL="0">
              <a:lnSpc>
                <a:spcPts val="4600"/>
              </a:lnSpc>
              <a:spcBef>
                <a:spcPts val="800"/>
              </a:spcBef>
              <a:buNone/>
            </a:pPr>
            <a:r>
              <a:rPr lang="en-US" sz="4000" b="1" dirty="0">
                <a:solidFill>
                  <a:srgbClr val="1F2328"/>
                </a:solidFill>
                <a:latin typeface="Arial" pitchFamily="34" charset="0"/>
                <a:ea typeface="Arial" pitchFamily="34" charset="-122"/>
                <a:cs typeface="Arial" pitchFamily="34" charset="-120"/>
              </a:rPr>
              <a:t>Anatomy of an automation</a:t>
            </a:r>
            <a:endParaRPr lang="en-US" sz="4000" dirty="0"/>
          </a:p>
        </p:txBody>
      </p:sp>
      <p:sp>
        <p:nvSpPr>
          <p:cNvPr id="11" name="Text 7"/>
          <p:cNvSpPr/>
          <p:nvPr/>
        </p:nvSpPr>
        <p:spPr>
          <a:xfrm>
            <a:off x="711101" y="2962275"/>
            <a:ext cx="609600" cy="63401"/>
          </a:xfrm>
          <a:prstGeom prst="roundRect">
            <a:avLst>
              <a:gd name="adj" fmla="val 40063"/>
            </a:avLst>
          </a:prstGeom>
          <a:solidFill>
            <a:srgbClr val="0969DA"/>
          </a:solidFill>
          <a:ln/>
        </p:spPr>
        <p:txBody>
          <a:bodyPr wrap="square" rtlCol="0" anchor="ctr"/>
          <a:lstStyle/>
          <a:p>
            <a:pPr indent="0" marL="0">
              <a:buNone/>
            </a:pPr>
            <a:endParaRPr lang="en-US" dirty="0"/>
          </a:p>
        </p:txBody>
      </p:sp>
      <p:sp>
        <p:nvSpPr>
          <p:cNvPr id="12" name="Text 8"/>
          <p:cNvSpPr/>
          <p:nvPr/>
        </p:nvSpPr>
        <p:spPr>
          <a:xfrm>
            <a:off x="711101" y="3228826"/>
            <a:ext cx="5570169" cy="634901"/>
          </a:xfrm>
          <a:prstGeom prst="rect">
            <a:avLst/>
          </a:prstGeom>
          <a:noFill/>
          <a:ln/>
        </p:spPr>
        <p:txBody>
          <a:bodyPr wrap="square" lIns="0" tIns="0" rIns="0" bIns="0" rtlCol="0" anchor="t"/>
          <a:lstStyle/>
          <a:p>
            <a:pPr algn="l" indent="0" marL="0">
              <a:lnSpc>
                <a:spcPts val="2500"/>
              </a:lnSpc>
              <a:buNone/>
            </a:pPr>
            <a:r>
              <a:rPr lang="en-US" sz="1900" dirty="0">
                <a:solidFill>
                  <a:srgbClr val="59636E"/>
                </a:solidFill>
                <a:latin typeface="Arial" pitchFamily="34" charset="0"/>
                <a:ea typeface="Arial" pitchFamily="34" charset="-122"/>
                <a:cs typeface="Arial" pitchFamily="34" charset="-120"/>
              </a:rPr>
              <a:t>Every automation is a saved prompt with a trigger, tools, and a place to review it.</a:t>
            </a:r>
            <a:endParaRPr lang="en-US" sz="1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pic>
        <p:nvPicPr>
          <p:cNvPr id="2"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6349901" y="0"/>
            <a:ext cx="2793950" cy="1308050"/>
          </a:xfrm>
          <a:prstGeom prst="rect">
            <a:avLst/>
          </a:prstGeom>
        </p:spPr>
      </p:pic>
      <p:sp>
        <p:nvSpPr>
          <p:cNvPr id="3" name="Text 0"/>
          <p:cNvSpPr/>
          <p:nvPr/>
        </p:nvSpPr>
        <p:spPr>
          <a:xfrm>
            <a:off x="7340501" y="177701"/>
            <a:ext cx="1168301" cy="279350"/>
          </a:xfrm>
          <a:prstGeom prst="roundRect">
            <a:avLst>
              <a:gd name="adj" fmla="val 22731"/>
            </a:avLst>
          </a:prstGeom>
          <a:solidFill>
            <a:srgbClr val="1A7F37"/>
          </a:solidFill>
          <a:ln/>
        </p:spPr>
        <p:txBody>
          <a:bodyPr wrap="square" rtlCol="0" anchor="ctr"/>
          <a:lstStyle/>
          <a:p>
            <a:pPr indent="0" marL="0">
              <a:buNone/>
            </a:pPr>
            <a:endParaRPr lang="en-US" dirty="0"/>
          </a:p>
        </p:txBody>
      </p:sp>
      <p:sp>
        <p:nvSpPr>
          <p:cNvPr id="4" name="Text 1"/>
          <p:cNvSpPr/>
          <p:nvPr/>
        </p:nvSpPr>
        <p:spPr>
          <a:xfrm>
            <a:off x="7461041" y="231577"/>
            <a:ext cx="927071" cy="171450"/>
          </a:xfrm>
          <a:prstGeom prst="rect">
            <a:avLst/>
          </a:prstGeom>
          <a:noFill/>
          <a:ln/>
        </p:spPr>
        <p:txBody>
          <a:bodyPr wrap="square" lIns="0" tIns="0" rIns="0" bIns="0" rtlCol="0" anchor="t"/>
          <a:lstStyle/>
          <a:p>
            <a:pPr algn="ctr" indent="0" marL="0">
              <a:buNone/>
            </a:pPr>
            <a:r>
              <a:rPr lang="en-US" sz="1150" b="1" dirty="0">
                <a:solidFill>
                  <a:srgbClr val="FFFFFF"/>
                </a:solidFill>
                <a:latin typeface="Arial" pitchFamily="34" charset="0"/>
                <a:ea typeface="Arial" pitchFamily="34" charset="-122"/>
                <a:cs typeface="Arial" pitchFamily="34" charset="-120"/>
              </a:rPr>
              <a:t>CHAPTER 07</a:t>
            </a:r>
            <a:endParaRPr lang="en-US" sz="1150" dirty="0"/>
          </a:p>
        </p:txBody>
      </p:sp>
      <p:pic>
        <p:nvPicPr>
          <p:cNvPr id="5" name="Image 1" descr="Open this chapter on GitHub">
            <a:hlinkClick r:id="rId3" tooltip="https://github.com/github/copilot-app-for-beginners/tree/main/07-automations"/>
          </p:cNvPr>
          <p:cNvPicPr>
            <a:picLocks noChangeAspect="1"/>
          </p:cNvPicPr>
          <p:nvPr/>
        </p:nvPicPr>
        <p:blipFill>
          <a:blip r:embed="rId2"/>
          <a:stretch>
            <a:fillRect/>
          </a:stretch>
        </p:blipFill>
        <p:spPr>
          <a:xfrm>
            <a:off x="8610600" y="165050"/>
            <a:ext cx="304800" cy="304800"/>
          </a:xfrm>
          <a:prstGeom prst="rect">
            <a:avLst/>
          </a:prstGeom>
        </p:spPr>
      </p:pic>
      <p:sp>
        <p:nvSpPr>
          <p:cNvPr id="6" name="Text 2"/>
          <p:cNvSpPr/>
          <p:nvPr/>
        </p:nvSpPr>
        <p:spPr>
          <a:xfrm>
            <a:off x="507950" y="381000"/>
            <a:ext cx="8161020" cy="190500"/>
          </a:xfrm>
          <a:prstGeom prst="rect">
            <a:avLst/>
          </a:prstGeom>
          <a:noFill/>
          <a:ln/>
        </p:spPr>
        <p:txBody>
          <a:bodyPr wrap="square" lIns="0" tIns="0" rIns="0" bIns="0" rtlCol="0" anchor="t"/>
          <a:lstStyle/>
          <a:p>
            <a:pPr algn="l" indent="0" marL="0">
              <a:buNone/>
            </a:pPr>
            <a:r>
              <a:rPr lang="en-US" sz="1250" b="1" dirty="0">
                <a:solidFill>
                  <a:srgbClr val="9A6700"/>
                </a:solidFill>
                <a:latin typeface="Arial" pitchFamily="34" charset="0"/>
                <a:ea typeface="Arial" pitchFamily="34" charset="-122"/>
                <a:cs typeface="Arial" pitchFamily="34" charset="-120"/>
              </a:rPr>
              <a:t>FROM THE STUDIO</a:t>
            </a:r>
            <a:endParaRPr lang="en-US" sz="1250" dirty="0"/>
          </a:p>
        </p:txBody>
      </p:sp>
      <p:sp>
        <p:nvSpPr>
          <p:cNvPr id="7" name="Text 3"/>
          <p:cNvSpPr/>
          <p:nvPr/>
        </p:nvSpPr>
        <p:spPr>
          <a:xfrm>
            <a:off x="507950" y="622250"/>
            <a:ext cx="8161020" cy="419100"/>
          </a:xfrm>
          <a:prstGeom prst="rect">
            <a:avLst/>
          </a:prstGeom>
          <a:noFill/>
          <a:ln/>
        </p:spPr>
        <p:txBody>
          <a:bodyPr wrap="square" lIns="0" tIns="0" rIns="0" bIns="0" rtlCol="0" anchor="t"/>
          <a:lstStyle/>
          <a:p>
            <a:pPr algn="l" indent="0" marL="0">
              <a:lnSpc>
                <a:spcPts val="3300"/>
              </a:lnSpc>
              <a:spcBef>
                <a:spcPts val="400"/>
              </a:spcBef>
              <a:buNone/>
            </a:pPr>
            <a:r>
              <a:rPr lang="en-US" sz="2800" b="1" dirty="0">
                <a:solidFill>
                  <a:srgbClr val="1F2328"/>
                </a:solidFill>
                <a:latin typeface="Arial" pitchFamily="34" charset="0"/>
                <a:ea typeface="Arial" pitchFamily="34" charset="-122"/>
                <a:cs typeface="Arial" pitchFamily="34" charset="-120"/>
              </a:rPr>
              <a:t>Programming the sequencer</a:t>
            </a:r>
            <a:endParaRPr lang="en-US" sz="2800" dirty="0"/>
          </a:p>
        </p:txBody>
      </p:sp>
      <p:sp>
        <p:nvSpPr>
          <p:cNvPr id="8" name="Text 4"/>
          <p:cNvSpPr/>
          <p:nvPr/>
        </p:nvSpPr>
        <p:spPr>
          <a:xfrm>
            <a:off x="507950" y="1104751"/>
            <a:ext cx="8161020" cy="254050"/>
          </a:xfrm>
          <a:prstGeom prst="rect">
            <a:avLst/>
          </a:prstGeom>
          <a:noFill/>
          <a:ln/>
        </p:spPr>
        <p:txBody>
          <a:bodyPr wrap="square" lIns="0" tIns="0" rIns="0" bIns="0" rtlCol="0" anchor="t"/>
          <a:lstStyle/>
          <a:p>
            <a:pPr algn="l" indent="0" marL="0">
              <a:lnSpc>
                <a:spcPts val="2000"/>
              </a:lnSpc>
              <a:spcBef>
                <a:spcPts val="500"/>
              </a:spcBef>
              <a:buNone/>
            </a:pPr>
            <a:r>
              <a:rPr lang="en-US" sz="1650" dirty="0">
                <a:solidFill>
                  <a:srgbClr val="59636E"/>
                </a:solidFill>
                <a:latin typeface="Arial" pitchFamily="34" charset="0"/>
                <a:ea typeface="Arial" pitchFamily="34" charset="-122"/>
                <a:cs typeface="Arial" pitchFamily="34" charset="-120"/>
              </a:rPr>
              <a:t>Program the pattern once. Press play when you need it.</a:t>
            </a:r>
            <a:endParaRPr lang="en-US" sz="1650" dirty="0"/>
          </a:p>
        </p:txBody>
      </p:sp>
      <p:sp>
        <p:nvSpPr>
          <p:cNvPr id="9" name="Text 5"/>
          <p:cNvSpPr/>
          <p:nvPr/>
        </p:nvSpPr>
        <p:spPr>
          <a:xfrm>
            <a:off x="511076" y="1700361"/>
            <a:ext cx="4184600" cy="2821930"/>
          </a:xfrm>
          <a:prstGeom prst="roundRect">
            <a:avLst>
              <a:gd name="adj" fmla="val 2700"/>
            </a:avLst>
          </a:prstGeom>
          <a:solidFill>
            <a:srgbClr val="FFFFFF"/>
          </a:solidFill>
          <a:ln w="9525">
            <a:solidFill>
              <a:srgbClr val="D1D9E0"/>
            </a:solidFill>
          </a:ln>
          <a:effectLst>
            <a:outerShdw sx="100000" sy="100000" kx="0" ky="0" algn="bl" rotWithShape="0" blurRad="38100" dist="9525" dir="5400000">
              <a:srgbClr val="1f2328">
                <a:alpha val="12000"/>
              </a:srgbClr>
            </a:outerShdw>
          </a:effectLst>
        </p:spPr>
        <p:txBody>
          <a:bodyPr wrap="square" rtlCol="0" anchor="ctr"/>
          <a:lstStyle/>
          <a:p>
            <a:pPr indent="0" marL="0">
              <a:buNone/>
            </a:pPr>
            <a:endParaRPr lang="en-US" dirty="0"/>
          </a:p>
        </p:txBody>
      </p:sp>
      <p:pic>
        <p:nvPicPr>
          <p:cNvPr id="10" name="Image 2" descr="Sequencer analogy for automations"/>
          <p:cNvPicPr>
            <a:picLocks noChangeAspect="1"/>
          </p:cNvPicPr>
          <p:nvPr/>
        </p:nvPicPr>
        <p:blipFill>
          <a:blip r:embed="rId4"/>
          <a:stretch>
            <a:fillRect/>
          </a:stretch>
        </p:blipFill>
        <p:spPr>
          <a:xfrm>
            <a:off x="558701" y="1747986"/>
            <a:ext cx="4089350" cy="2726680"/>
          </a:xfrm>
          <a:prstGeom prst="rect">
            <a:avLst/>
          </a:prstGeom>
        </p:spPr>
      </p:pic>
      <p:sp>
        <p:nvSpPr>
          <p:cNvPr id="11" name="Text 6"/>
          <p:cNvSpPr/>
          <p:nvPr/>
        </p:nvSpPr>
        <p:spPr>
          <a:xfrm>
            <a:off x="5003750" y="2000548"/>
            <a:ext cx="3555950" cy="2221706"/>
          </a:xfrm>
          <a:prstGeom prst="roundRect">
            <a:avLst>
              <a:gd name="adj" fmla="val 4573"/>
            </a:avLst>
          </a:prstGeom>
          <a:solidFill>
            <a:srgbClr val="FFFFFF"/>
          </a:solidFill>
          <a:ln w="9525">
            <a:solidFill>
              <a:srgbClr val="D1D9E0"/>
            </a:solidFill>
          </a:ln>
        </p:spPr>
        <p:txBody>
          <a:bodyPr wrap="square" rtlCol="0" anchor="ctr"/>
          <a:lstStyle/>
          <a:p>
            <a:pPr indent="0" marL="0">
              <a:buNone/>
            </a:pPr>
            <a:endParaRPr lang="en-US" dirty="0"/>
          </a:p>
        </p:txBody>
      </p:sp>
      <p:sp>
        <p:nvSpPr>
          <p:cNvPr id="12" name="Text 7"/>
          <p:cNvSpPr/>
          <p:nvPr/>
        </p:nvSpPr>
        <p:spPr>
          <a:xfrm>
            <a:off x="5013275" y="2010073"/>
            <a:ext cx="3536900" cy="326975"/>
          </a:xfrm>
          <a:prstGeom prst="rect">
            <a:avLst/>
          </a:prstGeom>
          <a:solidFill>
            <a:srgbClr val="DDF4FF"/>
          </a:solidFill>
          <a:ln/>
        </p:spPr>
        <p:txBody>
          <a:bodyPr wrap="square" rtlCol="0" anchor="ctr"/>
          <a:lstStyle/>
          <a:p>
            <a:pPr indent="0" marL="0">
              <a:buNone/>
            </a:pPr>
            <a:endParaRPr lang="en-US" dirty="0"/>
          </a:p>
        </p:txBody>
      </p:sp>
      <p:sp>
        <p:nvSpPr>
          <p:cNvPr id="13" name="Shape 8"/>
          <p:cNvSpPr/>
          <p:nvPr/>
        </p:nvSpPr>
        <p:spPr>
          <a:xfrm>
            <a:off x="5013275" y="2332286"/>
            <a:ext cx="3536900" cy="0"/>
          </a:xfrm>
          <a:prstGeom prst="line">
            <a:avLst/>
          </a:prstGeom>
          <a:noFill/>
          <a:ln w="9525">
            <a:solidFill>
              <a:srgbClr val="9CD7FF"/>
            </a:solidFill>
            <a:prstDash val="solid"/>
          </a:ln>
        </p:spPr>
      </p:sp>
      <p:sp>
        <p:nvSpPr>
          <p:cNvPr id="14" name="Text 9"/>
          <p:cNvSpPr/>
          <p:nvPr/>
        </p:nvSpPr>
        <p:spPr>
          <a:xfrm>
            <a:off x="5165675" y="2086273"/>
            <a:ext cx="1373073" cy="165050"/>
          </a:xfrm>
          <a:prstGeom prst="rect">
            <a:avLst/>
          </a:prstGeom>
          <a:noFill/>
          <a:ln/>
        </p:spPr>
        <p:txBody>
          <a:bodyPr wrap="square" lIns="0" tIns="0" rIns="0" bIns="0" rtlCol="0" anchor="t"/>
          <a:lstStyle/>
          <a:p>
            <a:pPr algn="l" indent="0" marL="0">
              <a:lnSpc>
                <a:spcPts val="1300"/>
              </a:lnSpc>
              <a:buNone/>
            </a:pPr>
            <a:r>
              <a:rPr lang="en-US" sz="1150" b="1" dirty="0">
                <a:solidFill>
                  <a:srgbClr val="0969DA"/>
                </a:solidFill>
                <a:latin typeface="Arial" pitchFamily="34" charset="0"/>
                <a:ea typeface="Arial" pitchFamily="34" charset="-122"/>
                <a:cs typeface="Arial" pitchFamily="34" charset="-120"/>
              </a:rPr>
              <a:t>SEQUENCER</a:t>
            </a:r>
            <a:endParaRPr lang="en-US" sz="1150" dirty="0"/>
          </a:p>
        </p:txBody>
      </p:sp>
      <p:sp>
        <p:nvSpPr>
          <p:cNvPr id="15" name="Text 10"/>
          <p:cNvSpPr/>
          <p:nvPr/>
        </p:nvSpPr>
        <p:spPr>
          <a:xfrm>
            <a:off x="6816626" y="2086273"/>
            <a:ext cx="1632204" cy="165050"/>
          </a:xfrm>
          <a:prstGeom prst="rect">
            <a:avLst/>
          </a:prstGeom>
          <a:noFill/>
          <a:ln/>
        </p:spPr>
        <p:txBody>
          <a:bodyPr wrap="square" lIns="0" tIns="0" rIns="0" bIns="0" rtlCol="0" anchor="t"/>
          <a:lstStyle/>
          <a:p>
            <a:pPr algn="l" indent="0" marL="0">
              <a:lnSpc>
                <a:spcPts val="1300"/>
              </a:lnSpc>
              <a:buNone/>
            </a:pPr>
            <a:r>
              <a:rPr lang="en-US" sz="1150" b="1" dirty="0">
                <a:solidFill>
                  <a:srgbClr val="0969DA"/>
                </a:solidFill>
                <a:latin typeface="Arial" pitchFamily="34" charset="0"/>
                <a:ea typeface="Arial" pitchFamily="34" charset="-122"/>
                <a:cs typeface="Arial" pitchFamily="34" charset="-120"/>
              </a:rPr>
              <a:t>AUTOMATION</a:t>
            </a:r>
            <a:endParaRPr lang="en-US" sz="1150" dirty="0"/>
          </a:p>
        </p:txBody>
      </p:sp>
      <p:sp>
        <p:nvSpPr>
          <p:cNvPr id="16" name="Shape 11"/>
          <p:cNvSpPr/>
          <p:nvPr/>
        </p:nvSpPr>
        <p:spPr>
          <a:xfrm>
            <a:off x="5013275" y="2958852"/>
            <a:ext cx="3536900" cy="0"/>
          </a:xfrm>
          <a:prstGeom prst="line">
            <a:avLst/>
          </a:prstGeom>
          <a:noFill/>
          <a:ln w="9525">
            <a:solidFill>
              <a:srgbClr val="D1D9E0"/>
            </a:solidFill>
            <a:prstDash val="solid"/>
          </a:ln>
        </p:spPr>
      </p:sp>
      <p:sp>
        <p:nvSpPr>
          <p:cNvPr id="17" name="Text 12"/>
          <p:cNvSpPr/>
          <p:nvPr/>
        </p:nvSpPr>
        <p:spPr>
          <a:xfrm>
            <a:off x="5165675" y="2438549"/>
            <a:ext cx="1373073" cy="414040"/>
          </a:xfrm>
          <a:prstGeom prst="rect">
            <a:avLst/>
          </a:prstGeom>
          <a:noFill/>
          <a:ln/>
        </p:spPr>
        <p:txBody>
          <a:bodyPr wrap="square" lIns="0" tIns="0" rIns="0" bIns="0" rtlCol="0" anchor="t"/>
          <a:lstStyle/>
          <a:p>
            <a:pPr algn="l" indent="0" marL="0">
              <a:lnSpc>
                <a:spcPts val="1630"/>
              </a:lnSpc>
              <a:buNone/>
            </a:pPr>
            <a:r>
              <a:rPr lang="en-US" sz="1400" dirty="0">
                <a:solidFill>
                  <a:srgbClr val="59636E"/>
                </a:solidFill>
                <a:latin typeface="Arial" pitchFamily="34" charset="0"/>
                <a:ea typeface="Arial" pitchFamily="34" charset="-122"/>
                <a:cs typeface="Arial" pitchFamily="34" charset="-120"/>
              </a:rPr>
              <a:t>Programmed pattern</a:t>
            </a:r>
            <a:endParaRPr lang="en-US" sz="1400" dirty="0"/>
          </a:p>
        </p:txBody>
      </p:sp>
      <p:sp>
        <p:nvSpPr>
          <p:cNvPr id="18" name="Text 13"/>
          <p:cNvSpPr/>
          <p:nvPr/>
        </p:nvSpPr>
        <p:spPr>
          <a:xfrm>
            <a:off x="6816626" y="2541984"/>
            <a:ext cx="1632204" cy="207020"/>
          </a:xfrm>
          <a:prstGeom prst="rect">
            <a:avLst/>
          </a:prstGeom>
          <a:noFill/>
          <a:ln/>
        </p:spPr>
        <p:txBody>
          <a:bodyPr wrap="square" lIns="0" tIns="0" rIns="0" bIns="0" rtlCol="0" anchor="t"/>
          <a:lstStyle/>
          <a:p>
            <a:pPr algn="l" indent="0" marL="0">
              <a:lnSpc>
                <a:spcPts val="1630"/>
              </a:lnSpc>
              <a:buNone/>
            </a:pPr>
            <a:r>
              <a:rPr lang="en-US" sz="1400" dirty="0">
                <a:solidFill>
                  <a:srgbClr val="1F2328"/>
                </a:solidFill>
                <a:latin typeface="Arial" pitchFamily="34" charset="0"/>
                <a:ea typeface="Arial" pitchFamily="34" charset="-122"/>
                <a:cs typeface="Arial" pitchFamily="34" charset="-120"/>
              </a:rPr>
              <a:t>Saved prompt</a:t>
            </a:r>
            <a:endParaRPr lang="en-US" sz="1400" dirty="0"/>
          </a:p>
        </p:txBody>
      </p:sp>
      <p:sp>
        <p:nvSpPr>
          <p:cNvPr id="19" name="Shape 14"/>
          <p:cNvSpPr/>
          <p:nvPr/>
        </p:nvSpPr>
        <p:spPr>
          <a:xfrm>
            <a:off x="5013275" y="3378398"/>
            <a:ext cx="3536900" cy="0"/>
          </a:xfrm>
          <a:prstGeom prst="line">
            <a:avLst/>
          </a:prstGeom>
          <a:noFill/>
          <a:ln w="9525">
            <a:solidFill>
              <a:srgbClr val="D1D9E0"/>
            </a:solidFill>
            <a:prstDash val="solid"/>
          </a:ln>
        </p:spPr>
      </p:sp>
      <p:sp>
        <p:nvSpPr>
          <p:cNvPr id="20" name="Text 15"/>
          <p:cNvSpPr/>
          <p:nvPr/>
        </p:nvSpPr>
        <p:spPr>
          <a:xfrm>
            <a:off x="5165675" y="3065115"/>
            <a:ext cx="1373073" cy="207020"/>
          </a:xfrm>
          <a:prstGeom prst="rect">
            <a:avLst/>
          </a:prstGeom>
          <a:noFill/>
          <a:ln/>
        </p:spPr>
        <p:txBody>
          <a:bodyPr wrap="square" lIns="0" tIns="0" rIns="0" bIns="0" rtlCol="0" anchor="t"/>
          <a:lstStyle/>
          <a:p>
            <a:pPr algn="l" indent="0" marL="0">
              <a:lnSpc>
                <a:spcPts val="1630"/>
              </a:lnSpc>
              <a:buNone/>
            </a:pPr>
            <a:r>
              <a:rPr lang="en-US" sz="1400" dirty="0">
                <a:solidFill>
                  <a:srgbClr val="59636E"/>
                </a:solidFill>
                <a:latin typeface="Arial" pitchFamily="34" charset="0"/>
                <a:ea typeface="Arial" pitchFamily="34" charset="-122"/>
                <a:cs typeface="Arial" pitchFamily="34" charset="-120"/>
              </a:rPr>
              <a:t>Hit play</a:t>
            </a:r>
            <a:endParaRPr lang="en-US" sz="1400" dirty="0"/>
          </a:p>
        </p:txBody>
      </p:sp>
      <p:sp>
        <p:nvSpPr>
          <p:cNvPr id="21" name="Text 16"/>
          <p:cNvSpPr/>
          <p:nvPr/>
        </p:nvSpPr>
        <p:spPr>
          <a:xfrm>
            <a:off x="6816626" y="3065115"/>
            <a:ext cx="1632204" cy="207020"/>
          </a:xfrm>
          <a:prstGeom prst="rect">
            <a:avLst/>
          </a:prstGeom>
          <a:noFill/>
          <a:ln/>
        </p:spPr>
        <p:txBody>
          <a:bodyPr wrap="square" lIns="0" tIns="0" rIns="0" bIns="0" rtlCol="0" anchor="t"/>
          <a:lstStyle/>
          <a:p>
            <a:pPr algn="l" indent="0" marL="0">
              <a:lnSpc>
                <a:spcPts val="1630"/>
              </a:lnSpc>
              <a:buNone/>
            </a:pPr>
            <a:r>
              <a:rPr lang="en-US" sz="1400" dirty="0">
                <a:solidFill>
                  <a:srgbClr val="1F2328"/>
                </a:solidFill>
                <a:latin typeface="Arial" pitchFamily="34" charset="0"/>
                <a:ea typeface="Arial" pitchFamily="34" charset="-122"/>
                <a:cs typeface="Arial" pitchFamily="34" charset="-120"/>
              </a:rPr>
              <a:t>Manual trigger</a:t>
            </a:r>
            <a:endParaRPr lang="en-US" sz="1400" dirty="0"/>
          </a:p>
        </p:txBody>
      </p:sp>
      <p:sp>
        <p:nvSpPr>
          <p:cNvPr id="22" name="Shape 17"/>
          <p:cNvSpPr/>
          <p:nvPr/>
        </p:nvSpPr>
        <p:spPr>
          <a:xfrm>
            <a:off x="5013275" y="3797945"/>
            <a:ext cx="3536900" cy="0"/>
          </a:xfrm>
          <a:prstGeom prst="line">
            <a:avLst/>
          </a:prstGeom>
          <a:noFill/>
          <a:ln w="9525">
            <a:solidFill>
              <a:srgbClr val="D1D9E0"/>
            </a:solidFill>
            <a:prstDash val="solid"/>
          </a:ln>
        </p:spPr>
      </p:sp>
      <p:sp>
        <p:nvSpPr>
          <p:cNvPr id="23" name="Text 18"/>
          <p:cNvSpPr/>
          <p:nvPr/>
        </p:nvSpPr>
        <p:spPr>
          <a:xfrm>
            <a:off x="5165675" y="3484662"/>
            <a:ext cx="1373073" cy="207020"/>
          </a:xfrm>
          <a:prstGeom prst="rect">
            <a:avLst/>
          </a:prstGeom>
          <a:noFill/>
          <a:ln/>
        </p:spPr>
        <p:txBody>
          <a:bodyPr wrap="square" lIns="0" tIns="0" rIns="0" bIns="0" rtlCol="0" anchor="t"/>
          <a:lstStyle/>
          <a:p>
            <a:pPr algn="l" indent="0" marL="0">
              <a:lnSpc>
                <a:spcPts val="1630"/>
              </a:lnSpc>
              <a:buNone/>
            </a:pPr>
            <a:r>
              <a:rPr lang="en-US" sz="1400" dirty="0">
                <a:solidFill>
                  <a:srgbClr val="59636E"/>
                </a:solidFill>
                <a:latin typeface="Arial" pitchFamily="34" charset="0"/>
                <a:ea typeface="Arial" pitchFamily="34" charset="-122"/>
                <a:cs typeface="Arial" pitchFamily="34" charset="-120"/>
              </a:rPr>
              <a:t>Run on the clock</a:t>
            </a:r>
            <a:endParaRPr lang="en-US" sz="1400" dirty="0"/>
          </a:p>
        </p:txBody>
      </p:sp>
      <p:sp>
        <p:nvSpPr>
          <p:cNvPr id="24" name="Text 19"/>
          <p:cNvSpPr/>
          <p:nvPr/>
        </p:nvSpPr>
        <p:spPr>
          <a:xfrm>
            <a:off x="6816626" y="3484662"/>
            <a:ext cx="1632204" cy="207020"/>
          </a:xfrm>
          <a:prstGeom prst="rect">
            <a:avLst/>
          </a:prstGeom>
          <a:noFill/>
          <a:ln/>
        </p:spPr>
        <p:txBody>
          <a:bodyPr wrap="square" lIns="0" tIns="0" rIns="0" bIns="0" rtlCol="0" anchor="t"/>
          <a:lstStyle/>
          <a:p>
            <a:pPr algn="l" indent="0" marL="0">
              <a:lnSpc>
                <a:spcPts val="1630"/>
              </a:lnSpc>
              <a:buNone/>
            </a:pPr>
            <a:r>
              <a:rPr lang="en-US" sz="1400" dirty="0">
                <a:solidFill>
                  <a:srgbClr val="1F2328"/>
                </a:solidFill>
                <a:latin typeface="Arial" pitchFamily="34" charset="0"/>
                <a:ea typeface="Arial" pitchFamily="34" charset="-122"/>
                <a:cs typeface="Arial" pitchFamily="34" charset="-120"/>
              </a:rPr>
              <a:t>Schedule</a:t>
            </a:r>
            <a:endParaRPr lang="en-US" sz="1400" dirty="0"/>
          </a:p>
        </p:txBody>
      </p:sp>
      <p:sp>
        <p:nvSpPr>
          <p:cNvPr id="25" name="Text 20"/>
          <p:cNvSpPr/>
          <p:nvPr/>
        </p:nvSpPr>
        <p:spPr>
          <a:xfrm>
            <a:off x="5165675" y="3904208"/>
            <a:ext cx="1373073" cy="207020"/>
          </a:xfrm>
          <a:prstGeom prst="rect">
            <a:avLst/>
          </a:prstGeom>
          <a:noFill/>
          <a:ln/>
        </p:spPr>
        <p:txBody>
          <a:bodyPr wrap="square" lIns="0" tIns="0" rIns="0" bIns="0" rtlCol="0" anchor="t"/>
          <a:lstStyle/>
          <a:p>
            <a:pPr algn="l" indent="0" marL="0">
              <a:lnSpc>
                <a:spcPts val="1630"/>
              </a:lnSpc>
              <a:buNone/>
            </a:pPr>
            <a:r>
              <a:rPr lang="en-US" sz="1400" dirty="0">
                <a:solidFill>
                  <a:srgbClr val="59636E"/>
                </a:solidFill>
                <a:latin typeface="Arial" pitchFamily="34" charset="0"/>
                <a:ea typeface="Arial" pitchFamily="34" charset="-122"/>
                <a:cs typeface="Arial" pitchFamily="34" charset="-120"/>
              </a:rPr>
              <a:t>Check the mix</a:t>
            </a:r>
            <a:endParaRPr lang="en-US" sz="1400" dirty="0"/>
          </a:p>
        </p:txBody>
      </p:sp>
      <p:sp>
        <p:nvSpPr>
          <p:cNvPr id="26" name="Text 21"/>
          <p:cNvSpPr/>
          <p:nvPr/>
        </p:nvSpPr>
        <p:spPr>
          <a:xfrm>
            <a:off x="6816626" y="3904208"/>
            <a:ext cx="1632204" cy="207020"/>
          </a:xfrm>
          <a:prstGeom prst="rect">
            <a:avLst/>
          </a:prstGeom>
          <a:noFill/>
          <a:ln/>
        </p:spPr>
        <p:txBody>
          <a:bodyPr wrap="square" lIns="0" tIns="0" rIns="0" bIns="0" rtlCol="0" anchor="t"/>
          <a:lstStyle/>
          <a:p>
            <a:pPr algn="l" indent="0" marL="0">
              <a:lnSpc>
                <a:spcPts val="1630"/>
              </a:lnSpc>
              <a:buNone/>
            </a:pPr>
            <a:r>
              <a:rPr lang="en-US" sz="1400" dirty="0">
                <a:solidFill>
                  <a:srgbClr val="1F2328"/>
                </a:solidFill>
                <a:latin typeface="Arial" pitchFamily="34" charset="0"/>
                <a:ea typeface="Arial" pitchFamily="34" charset="-122"/>
                <a:cs typeface="Arial" pitchFamily="34" charset="-120"/>
              </a:rPr>
              <a:t>Review the result</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pic>
        <p:nvPicPr>
          <p:cNvPr id="2"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6349901" y="0"/>
            <a:ext cx="2793950" cy="1308050"/>
          </a:xfrm>
          <a:prstGeom prst="rect">
            <a:avLst/>
          </a:prstGeom>
        </p:spPr>
      </p:pic>
      <p:sp>
        <p:nvSpPr>
          <p:cNvPr id="3" name="Text 0"/>
          <p:cNvSpPr/>
          <p:nvPr/>
        </p:nvSpPr>
        <p:spPr>
          <a:xfrm>
            <a:off x="7340501" y="177701"/>
            <a:ext cx="1168301" cy="279350"/>
          </a:xfrm>
          <a:prstGeom prst="roundRect">
            <a:avLst>
              <a:gd name="adj" fmla="val 22731"/>
            </a:avLst>
          </a:prstGeom>
          <a:solidFill>
            <a:srgbClr val="1A7F37"/>
          </a:solidFill>
          <a:ln/>
        </p:spPr>
        <p:txBody>
          <a:bodyPr wrap="square" rtlCol="0" anchor="ctr"/>
          <a:lstStyle/>
          <a:p>
            <a:pPr indent="0" marL="0">
              <a:buNone/>
            </a:pPr>
            <a:endParaRPr lang="en-US" dirty="0"/>
          </a:p>
        </p:txBody>
      </p:sp>
      <p:sp>
        <p:nvSpPr>
          <p:cNvPr id="4" name="Text 1"/>
          <p:cNvSpPr/>
          <p:nvPr/>
        </p:nvSpPr>
        <p:spPr>
          <a:xfrm>
            <a:off x="7461041" y="231577"/>
            <a:ext cx="927071" cy="171450"/>
          </a:xfrm>
          <a:prstGeom prst="rect">
            <a:avLst/>
          </a:prstGeom>
          <a:noFill/>
          <a:ln/>
        </p:spPr>
        <p:txBody>
          <a:bodyPr wrap="square" lIns="0" tIns="0" rIns="0" bIns="0" rtlCol="0" anchor="t"/>
          <a:lstStyle/>
          <a:p>
            <a:pPr algn="ctr" indent="0" marL="0">
              <a:buNone/>
            </a:pPr>
            <a:r>
              <a:rPr lang="en-US" sz="1150" b="1" dirty="0">
                <a:solidFill>
                  <a:srgbClr val="FFFFFF"/>
                </a:solidFill>
                <a:latin typeface="Arial" pitchFamily="34" charset="0"/>
                <a:ea typeface="Arial" pitchFamily="34" charset="-122"/>
                <a:cs typeface="Arial" pitchFamily="34" charset="-120"/>
              </a:rPr>
              <a:t>CHAPTER 07</a:t>
            </a:r>
            <a:endParaRPr lang="en-US" sz="1150" dirty="0"/>
          </a:p>
        </p:txBody>
      </p:sp>
      <p:pic>
        <p:nvPicPr>
          <p:cNvPr id="5" name="Image 1" descr="Open this chapter on GitHub">
            <a:hlinkClick r:id="rId3" tooltip="https://github.com/github/copilot-app-for-beginners/tree/main/07-automations"/>
          </p:cNvPr>
          <p:cNvPicPr>
            <a:picLocks noChangeAspect="1"/>
          </p:cNvPicPr>
          <p:nvPr/>
        </p:nvPicPr>
        <p:blipFill>
          <a:blip r:embed="rId2"/>
          <a:stretch>
            <a:fillRect/>
          </a:stretch>
        </p:blipFill>
        <p:spPr>
          <a:xfrm>
            <a:off x="8610600" y="165050"/>
            <a:ext cx="304800" cy="304800"/>
          </a:xfrm>
          <a:prstGeom prst="rect">
            <a:avLst/>
          </a:prstGeom>
        </p:spPr>
      </p:pic>
      <p:sp>
        <p:nvSpPr>
          <p:cNvPr id="6" name="Text 2"/>
          <p:cNvSpPr/>
          <p:nvPr/>
        </p:nvSpPr>
        <p:spPr>
          <a:xfrm>
            <a:off x="507950" y="381000"/>
            <a:ext cx="8161020" cy="190500"/>
          </a:xfrm>
          <a:prstGeom prst="rect">
            <a:avLst/>
          </a:prstGeom>
          <a:noFill/>
          <a:ln/>
        </p:spPr>
        <p:txBody>
          <a:bodyPr wrap="square" lIns="0" tIns="0" rIns="0" bIns="0" rtlCol="0" anchor="t"/>
          <a:lstStyle/>
          <a:p>
            <a:pPr algn="l" indent="0" marL="0">
              <a:buNone/>
            </a:pPr>
            <a:r>
              <a:rPr lang="en-US" sz="1250" b="1" dirty="0">
                <a:solidFill>
                  <a:srgbClr val="0969DA"/>
                </a:solidFill>
                <a:latin typeface="Arial" pitchFamily="34" charset="0"/>
                <a:ea typeface="Arial" pitchFamily="34" charset="-122"/>
                <a:cs typeface="Arial" pitchFamily="34" charset="-120"/>
              </a:rPr>
              <a:t>CORE CONCEPT</a:t>
            </a:r>
            <a:endParaRPr lang="en-US" sz="1250" dirty="0"/>
          </a:p>
        </p:txBody>
      </p:sp>
      <p:sp>
        <p:nvSpPr>
          <p:cNvPr id="7" name="Text 3"/>
          <p:cNvSpPr/>
          <p:nvPr/>
        </p:nvSpPr>
        <p:spPr>
          <a:xfrm>
            <a:off x="507950" y="622250"/>
            <a:ext cx="8161020" cy="419100"/>
          </a:xfrm>
          <a:prstGeom prst="rect">
            <a:avLst/>
          </a:prstGeom>
          <a:noFill/>
          <a:ln/>
        </p:spPr>
        <p:txBody>
          <a:bodyPr wrap="square" lIns="0" tIns="0" rIns="0" bIns="0" rtlCol="0" anchor="t"/>
          <a:lstStyle/>
          <a:p>
            <a:pPr algn="l" indent="0" marL="0">
              <a:lnSpc>
                <a:spcPts val="3300"/>
              </a:lnSpc>
              <a:spcBef>
                <a:spcPts val="400"/>
              </a:spcBef>
              <a:buNone/>
            </a:pPr>
            <a:r>
              <a:rPr lang="en-US" sz="2800" b="1" dirty="0">
                <a:solidFill>
                  <a:srgbClr val="1F2328"/>
                </a:solidFill>
                <a:latin typeface="Arial" pitchFamily="34" charset="0"/>
                <a:ea typeface="Arial" pitchFamily="34" charset="-122"/>
                <a:cs typeface="Arial" pitchFamily="34" charset="-120"/>
              </a:rPr>
              <a:t>Four parts of an automation</a:t>
            </a:r>
            <a:endParaRPr lang="en-US" sz="2800" dirty="0"/>
          </a:p>
        </p:txBody>
      </p:sp>
      <p:sp>
        <p:nvSpPr>
          <p:cNvPr id="8" name="Text 4"/>
          <p:cNvSpPr/>
          <p:nvPr/>
        </p:nvSpPr>
        <p:spPr>
          <a:xfrm>
            <a:off x="511076" y="1633091"/>
            <a:ext cx="3549551" cy="2397621"/>
          </a:xfrm>
          <a:prstGeom prst="roundRect">
            <a:avLst>
              <a:gd name="adj" fmla="val 3178"/>
            </a:avLst>
          </a:prstGeom>
          <a:solidFill>
            <a:srgbClr val="FFFFFF"/>
          </a:solidFill>
          <a:ln w="9525">
            <a:solidFill>
              <a:srgbClr val="D1D9E0"/>
            </a:solidFill>
          </a:ln>
          <a:effectLst>
            <a:outerShdw sx="100000" sy="100000" kx="0" ky="0" algn="bl" rotWithShape="0" blurRad="38100" dist="9525" dir="5400000">
              <a:srgbClr val="1f2328">
                <a:alpha val="12000"/>
              </a:srgbClr>
            </a:outerShdw>
          </a:effectLst>
        </p:spPr>
        <p:txBody>
          <a:bodyPr wrap="square" rtlCol="0" anchor="ctr"/>
          <a:lstStyle/>
          <a:p>
            <a:pPr indent="0" marL="0">
              <a:buNone/>
            </a:pPr>
            <a:endParaRPr lang="en-US" dirty="0"/>
          </a:p>
        </p:txBody>
      </p:sp>
      <p:pic>
        <p:nvPicPr>
          <p:cNvPr id="9" name="Image 2" descr="Automation trigger to agent run"/>
          <p:cNvPicPr>
            <a:picLocks noChangeAspect="1"/>
          </p:cNvPicPr>
          <p:nvPr/>
        </p:nvPicPr>
        <p:blipFill>
          <a:blip r:embed="rId4"/>
          <a:stretch>
            <a:fillRect/>
          </a:stretch>
        </p:blipFill>
        <p:spPr>
          <a:xfrm>
            <a:off x="558701" y="1680716"/>
            <a:ext cx="3454301" cy="2302371"/>
          </a:xfrm>
          <a:prstGeom prst="rect">
            <a:avLst/>
          </a:prstGeom>
        </p:spPr>
      </p:pic>
      <p:sp>
        <p:nvSpPr>
          <p:cNvPr id="10" name="Text 5"/>
          <p:cNvSpPr/>
          <p:nvPr/>
        </p:nvSpPr>
        <p:spPr>
          <a:xfrm>
            <a:off x="4419451" y="1734889"/>
            <a:ext cx="381000" cy="381000"/>
          </a:xfrm>
          <a:prstGeom prst="roundRect">
            <a:avLst>
              <a:gd name="adj" fmla="val 23333"/>
            </a:avLst>
          </a:prstGeom>
          <a:solidFill>
            <a:srgbClr val="DDF4FF"/>
          </a:solidFill>
          <a:ln/>
        </p:spPr>
        <p:txBody>
          <a:bodyPr wrap="square" rtlCol="0" anchor="ctr"/>
          <a:lstStyle/>
          <a:p>
            <a:pPr indent="0" marL="0">
              <a:buNone/>
            </a:pPr>
            <a:endParaRPr lang="en-US" dirty="0"/>
          </a:p>
        </p:txBody>
      </p:sp>
      <p:pic>
        <p:nvPicPr>
          <p:cNvPr id="11" name="Image 3" descr="">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4502051" y="1817489"/>
            <a:ext cx="215801" cy="215801"/>
          </a:xfrm>
          <a:prstGeom prst="rect">
            <a:avLst/>
          </a:prstGeom>
        </p:spPr>
      </p:pic>
      <p:sp>
        <p:nvSpPr>
          <p:cNvPr id="12" name="Text 6"/>
          <p:cNvSpPr/>
          <p:nvPr/>
        </p:nvSpPr>
        <p:spPr>
          <a:xfrm>
            <a:off x="4952851" y="1699468"/>
            <a:ext cx="1117586" cy="228600"/>
          </a:xfrm>
          <a:prstGeom prst="rect">
            <a:avLst/>
          </a:prstGeom>
          <a:noFill/>
          <a:ln/>
        </p:spPr>
        <p:txBody>
          <a:bodyPr wrap="square" lIns="0" tIns="0" rIns="0" bIns="0" rtlCol="0" anchor="t"/>
          <a:lstStyle/>
          <a:p>
            <a:pPr algn="l" indent="0" marL="0">
              <a:buNone/>
            </a:pPr>
            <a:r>
              <a:rPr lang="en-US" sz="1550" b="1" dirty="0">
                <a:solidFill>
                  <a:srgbClr val="1F2328"/>
                </a:solidFill>
                <a:latin typeface="Arial" pitchFamily="34" charset="0"/>
                <a:ea typeface="Arial" pitchFamily="34" charset="-122"/>
                <a:cs typeface="Arial" pitchFamily="34" charset="-120"/>
              </a:rPr>
              <a:t>Trigger</a:t>
            </a:r>
            <a:endParaRPr lang="en-US" sz="1550" dirty="0"/>
          </a:p>
        </p:txBody>
      </p:sp>
      <p:sp>
        <p:nvSpPr>
          <p:cNvPr id="13" name="Text 7"/>
          <p:cNvSpPr/>
          <p:nvPr/>
        </p:nvSpPr>
        <p:spPr>
          <a:xfrm>
            <a:off x="4952851" y="1953369"/>
            <a:ext cx="1117586" cy="198090"/>
          </a:xfrm>
          <a:prstGeom prst="rect">
            <a:avLst/>
          </a:prstGeom>
          <a:noFill/>
          <a:ln/>
        </p:spPr>
        <p:txBody>
          <a:bodyPr wrap="square" lIns="0" tIns="0" rIns="0" bIns="0" rtlCol="0" anchor="t"/>
          <a:lstStyle/>
          <a:p>
            <a:pPr algn="l" indent="0" marL="0">
              <a:lnSpc>
                <a:spcPts val="1560"/>
              </a:lnSpc>
              <a:buNone/>
            </a:pPr>
            <a:r>
              <a:rPr lang="en-US" sz="1350" dirty="0">
                <a:solidFill>
                  <a:srgbClr val="59636E"/>
                </a:solidFill>
                <a:latin typeface="Arial" pitchFamily="34" charset="0"/>
                <a:ea typeface="Arial" pitchFamily="34" charset="-122"/>
                <a:cs typeface="Arial" pitchFamily="34" charset="-120"/>
              </a:rPr>
              <a:t>What starts it?</a:t>
            </a:r>
            <a:endParaRPr lang="en-US" sz="1350" dirty="0"/>
          </a:p>
        </p:txBody>
      </p:sp>
      <p:sp>
        <p:nvSpPr>
          <p:cNvPr id="14" name="Text 8"/>
          <p:cNvSpPr/>
          <p:nvPr/>
        </p:nvSpPr>
        <p:spPr>
          <a:xfrm>
            <a:off x="4419451" y="2390031"/>
            <a:ext cx="381000" cy="381000"/>
          </a:xfrm>
          <a:prstGeom prst="roundRect">
            <a:avLst>
              <a:gd name="adj" fmla="val 23333"/>
            </a:avLst>
          </a:prstGeom>
          <a:solidFill>
            <a:srgbClr val="DDF4FF"/>
          </a:solidFill>
          <a:ln/>
        </p:spPr>
        <p:txBody>
          <a:bodyPr wrap="square" rtlCol="0" anchor="ctr"/>
          <a:lstStyle/>
          <a:p>
            <a:pPr indent="0" marL="0">
              <a:buNone/>
            </a:pPr>
            <a:endParaRPr lang="en-US" dirty="0"/>
          </a:p>
        </p:txBody>
      </p:sp>
      <p:pic>
        <p:nvPicPr>
          <p:cNvPr id="15" name="Image 4" descr="">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4502051" y="2472630"/>
            <a:ext cx="215801" cy="215801"/>
          </a:xfrm>
          <a:prstGeom prst="rect">
            <a:avLst/>
          </a:prstGeom>
        </p:spPr>
      </p:pic>
      <p:sp>
        <p:nvSpPr>
          <p:cNvPr id="16" name="Text 9"/>
          <p:cNvSpPr/>
          <p:nvPr/>
        </p:nvSpPr>
        <p:spPr>
          <a:xfrm>
            <a:off x="4952851" y="2354610"/>
            <a:ext cx="2090351" cy="228600"/>
          </a:xfrm>
          <a:prstGeom prst="rect">
            <a:avLst/>
          </a:prstGeom>
          <a:noFill/>
          <a:ln/>
        </p:spPr>
        <p:txBody>
          <a:bodyPr wrap="square" lIns="0" tIns="0" rIns="0" bIns="0" rtlCol="0" anchor="t"/>
          <a:lstStyle/>
          <a:p>
            <a:pPr algn="l" indent="0" marL="0">
              <a:buNone/>
            </a:pPr>
            <a:r>
              <a:rPr lang="en-US" sz="1550" b="1" dirty="0">
                <a:solidFill>
                  <a:srgbClr val="1F2328"/>
                </a:solidFill>
                <a:latin typeface="Arial" pitchFamily="34" charset="0"/>
                <a:ea typeface="Arial" pitchFamily="34" charset="-122"/>
                <a:cs typeface="Arial" pitchFamily="34" charset="-120"/>
              </a:rPr>
              <a:t>Prompt</a:t>
            </a:r>
            <a:endParaRPr lang="en-US" sz="1550" dirty="0"/>
          </a:p>
        </p:txBody>
      </p:sp>
      <p:sp>
        <p:nvSpPr>
          <p:cNvPr id="17" name="Text 10"/>
          <p:cNvSpPr/>
          <p:nvPr/>
        </p:nvSpPr>
        <p:spPr>
          <a:xfrm>
            <a:off x="4952851" y="2608511"/>
            <a:ext cx="2090351" cy="198090"/>
          </a:xfrm>
          <a:prstGeom prst="rect">
            <a:avLst/>
          </a:prstGeom>
          <a:noFill/>
          <a:ln/>
        </p:spPr>
        <p:txBody>
          <a:bodyPr wrap="square" lIns="0" tIns="0" rIns="0" bIns="0" rtlCol="0" anchor="t"/>
          <a:lstStyle/>
          <a:p>
            <a:pPr algn="l" indent="0" marL="0">
              <a:lnSpc>
                <a:spcPts val="1560"/>
              </a:lnSpc>
              <a:buNone/>
            </a:pPr>
            <a:r>
              <a:rPr lang="en-US" sz="1350" dirty="0">
                <a:solidFill>
                  <a:srgbClr val="59636E"/>
                </a:solidFill>
                <a:latin typeface="Arial" pitchFamily="34" charset="0"/>
                <a:ea typeface="Arial" pitchFamily="34" charset="-122"/>
                <a:cs typeface="Arial" pitchFamily="34" charset="-120"/>
              </a:rPr>
              <a:t>What should the agent do?</a:t>
            </a:r>
            <a:endParaRPr lang="en-US" sz="1350" dirty="0"/>
          </a:p>
        </p:txBody>
      </p:sp>
      <p:sp>
        <p:nvSpPr>
          <p:cNvPr id="18" name="Text 11"/>
          <p:cNvSpPr/>
          <p:nvPr/>
        </p:nvSpPr>
        <p:spPr>
          <a:xfrm>
            <a:off x="4419451" y="3045172"/>
            <a:ext cx="381000" cy="381000"/>
          </a:xfrm>
          <a:prstGeom prst="roundRect">
            <a:avLst>
              <a:gd name="adj" fmla="val 23333"/>
            </a:avLst>
          </a:prstGeom>
          <a:solidFill>
            <a:srgbClr val="DDF4FF"/>
          </a:solidFill>
          <a:ln/>
        </p:spPr>
        <p:txBody>
          <a:bodyPr wrap="square" rtlCol="0" anchor="ctr"/>
          <a:lstStyle/>
          <a:p>
            <a:pPr indent="0" marL="0">
              <a:buNone/>
            </a:pPr>
            <a:endParaRPr lang="en-US" dirty="0"/>
          </a:p>
        </p:txBody>
      </p:sp>
      <p:pic>
        <p:nvPicPr>
          <p:cNvPr id="19" name="Image 5" descr="">
            <a:extLs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4502051" y="3127772"/>
            <a:ext cx="215801" cy="215801"/>
          </a:xfrm>
          <a:prstGeom prst="rect">
            <a:avLst/>
          </a:prstGeom>
        </p:spPr>
      </p:pic>
      <p:sp>
        <p:nvSpPr>
          <p:cNvPr id="20" name="Text 12"/>
          <p:cNvSpPr/>
          <p:nvPr/>
        </p:nvSpPr>
        <p:spPr>
          <a:xfrm>
            <a:off x="4952851" y="3009751"/>
            <a:ext cx="2614988" cy="228600"/>
          </a:xfrm>
          <a:prstGeom prst="rect">
            <a:avLst/>
          </a:prstGeom>
          <a:noFill/>
          <a:ln/>
        </p:spPr>
        <p:txBody>
          <a:bodyPr wrap="square" lIns="0" tIns="0" rIns="0" bIns="0" rtlCol="0" anchor="t"/>
          <a:lstStyle/>
          <a:p>
            <a:pPr algn="l" indent="0" marL="0">
              <a:buNone/>
            </a:pPr>
            <a:r>
              <a:rPr lang="en-US" sz="1550" b="1" dirty="0">
                <a:solidFill>
                  <a:srgbClr val="1F2328"/>
                </a:solidFill>
                <a:latin typeface="Arial" pitchFamily="34" charset="0"/>
                <a:ea typeface="Arial" pitchFamily="34" charset="-122"/>
                <a:cs typeface="Arial" pitchFamily="34" charset="-120"/>
              </a:rPr>
              <a:t>Tools</a:t>
            </a:r>
            <a:endParaRPr lang="en-US" sz="1550" dirty="0"/>
          </a:p>
        </p:txBody>
      </p:sp>
      <p:sp>
        <p:nvSpPr>
          <p:cNvPr id="21" name="Text 13"/>
          <p:cNvSpPr/>
          <p:nvPr/>
        </p:nvSpPr>
        <p:spPr>
          <a:xfrm>
            <a:off x="4952851" y="3263652"/>
            <a:ext cx="2614988" cy="198090"/>
          </a:xfrm>
          <a:prstGeom prst="rect">
            <a:avLst/>
          </a:prstGeom>
          <a:noFill/>
          <a:ln/>
        </p:spPr>
        <p:txBody>
          <a:bodyPr wrap="square" lIns="0" tIns="0" rIns="0" bIns="0" rtlCol="0" anchor="t"/>
          <a:lstStyle/>
          <a:p>
            <a:pPr algn="l" indent="0" marL="0">
              <a:lnSpc>
                <a:spcPts val="1560"/>
              </a:lnSpc>
              <a:buNone/>
            </a:pPr>
            <a:r>
              <a:rPr lang="en-US" sz="1350" dirty="0">
                <a:solidFill>
                  <a:srgbClr val="59636E"/>
                </a:solidFill>
                <a:latin typeface="Arial" pitchFamily="34" charset="0"/>
                <a:ea typeface="Arial" pitchFamily="34" charset="-122"/>
                <a:cs typeface="Arial" pitchFamily="34" charset="-120"/>
              </a:rPr>
              <a:t>What is the least access needed?</a:t>
            </a:r>
            <a:endParaRPr lang="en-US" sz="1350" dirty="0"/>
          </a:p>
        </p:txBody>
      </p:sp>
      <p:sp>
        <p:nvSpPr>
          <p:cNvPr id="22" name="Text 14"/>
          <p:cNvSpPr/>
          <p:nvPr/>
        </p:nvSpPr>
        <p:spPr>
          <a:xfrm>
            <a:off x="4419451" y="3700314"/>
            <a:ext cx="381000" cy="381000"/>
          </a:xfrm>
          <a:prstGeom prst="roundRect">
            <a:avLst>
              <a:gd name="adj" fmla="val 23333"/>
            </a:avLst>
          </a:prstGeom>
          <a:solidFill>
            <a:srgbClr val="DDF4FF"/>
          </a:solidFill>
          <a:ln/>
        </p:spPr>
        <p:txBody>
          <a:bodyPr wrap="square" rtlCol="0" anchor="ctr"/>
          <a:lstStyle/>
          <a:p>
            <a:pPr indent="0" marL="0">
              <a:buNone/>
            </a:pPr>
            <a:endParaRPr lang="en-US" dirty="0"/>
          </a:p>
        </p:txBody>
      </p:sp>
      <p:pic>
        <p:nvPicPr>
          <p:cNvPr id="23" name="Image 6" descr="">
            <a:extLst>
              <a:ext uri="{C183D7F6-B498-43B3-948B-1728B52AA6E4}">
                <adec:decorative xmlns:adec="http://schemas.microsoft.com/office/drawing/2017/decorative" val="1"/>
              </a:ext>
            </a:extLst>
          </p:cNvPr>
          <p:cNvPicPr>
            <a:picLocks noChangeAspect="1"/>
          </p:cNvPicPr>
          <p:nvPr/>
        </p:nvPicPr>
        <p:blipFill>
          <a:blip r:embed="rId8"/>
          <a:stretch>
            <a:fillRect/>
          </a:stretch>
        </p:blipFill>
        <p:spPr>
          <a:xfrm>
            <a:off x="4502051" y="3782913"/>
            <a:ext cx="215801" cy="215801"/>
          </a:xfrm>
          <a:prstGeom prst="rect">
            <a:avLst/>
          </a:prstGeom>
        </p:spPr>
      </p:pic>
      <p:sp>
        <p:nvSpPr>
          <p:cNvPr id="24" name="Text 15"/>
          <p:cNvSpPr/>
          <p:nvPr/>
        </p:nvSpPr>
        <p:spPr>
          <a:xfrm>
            <a:off x="4952851" y="3664893"/>
            <a:ext cx="2226064" cy="228600"/>
          </a:xfrm>
          <a:prstGeom prst="rect">
            <a:avLst/>
          </a:prstGeom>
          <a:noFill/>
          <a:ln/>
        </p:spPr>
        <p:txBody>
          <a:bodyPr wrap="square" lIns="0" tIns="0" rIns="0" bIns="0" rtlCol="0" anchor="t"/>
          <a:lstStyle/>
          <a:p>
            <a:pPr algn="l" indent="0" marL="0">
              <a:buNone/>
            </a:pPr>
            <a:r>
              <a:rPr lang="en-US" sz="1550" b="1" dirty="0">
                <a:solidFill>
                  <a:srgbClr val="1F2328"/>
                </a:solidFill>
                <a:latin typeface="Arial" pitchFamily="34" charset="0"/>
                <a:ea typeface="Arial" pitchFamily="34" charset="-122"/>
                <a:cs typeface="Arial" pitchFamily="34" charset="-120"/>
              </a:rPr>
              <a:t>Review path</a:t>
            </a:r>
            <a:endParaRPr lang="en-US" sz="1550" dirty="0"/>
          </a:p>
        </p:txBody>
      </p:sp>
      <p:sp>
        <p:nvSpPr>
          <p:cNvPr id="25" name="Text 16"/>
          <p:cNvSpPr/>
          <p:nvPr/>
        </p:nvSpPr>
        <p:spPr>
          <a:xfrm>
            <a:off x="4952851" y="3918793"/>
            <a:ext cx="2226064" cy="198090"/>
          </a:xfrm>
          <a:prstGeom prst="rect">
            <a:avLst/>
          </a:prstGeom>
          <a:noFill/>
          <a:ln/>
        </p:spPr>
        <p:txBody>
          <a:bodyPr wrap="square" lIns="0" tIns="0" rIns="0" bIns="0" rtlCol="0" anchor="t"/>
          <a:lstStyle/>
          <a:p>
            <a:pPr algn="l" indent="0" marL="0">
              <a:lnSpc>
                <a:spcPts val="1560"/>
              </a:lnSpc>
              <a:buNone/>
            </a:pPr>
            <a:r>
              <a:rPr lang="en-US" sz="1350" dirty="0">
                <a:solidFill>
                  <a:srgbClr val="59636E"/>
                </a:solidFill>
                <a:latin typeface="Arial" pitchFamily="34" charset="0"/>
                <a:ea typeface="Arial" pitchFamily="34" charset="-122"/>
                <a:cs typeface="Arial" pitchFamily="34" charset="-120"/>
              </a:rPr>
              <a:t>Where do I check the result?</a:t>
            </a:r>
            <a:endParaRPr lang="en-US" sz="13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pic>
        <p:nvPicPr>
          <p:cNvPr id="2"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6349901" y="0"/>
            <a:ext cx="2793950" cy="1308050"/>
          </a:xfrm>
          <a:prstGeom prst="rect">
            <a:avLst/>
          </a:prstGeom>
        </p:spPr>
      </p:pic>
      <p:sp>
        <p:nvSpPr>
          <p:cNvPr id="3" name="Text 0"/>
          <p:cNvSpPr/>
          <p:nvPr/>
        </p:nvSpPr>
        <p:spPr>
          <a:xfrm>
            <a:off x="7340501" y="177701"/>
            <a:ext cx="1168301" cy="279350"/>
          </a:xfrm>
          <a:prstGeom prst="roundRect">
            <a:avLst>
              <a:gd name="adj" fmla="val 22731"/>
            </a:avLst>
          </a:prstGeom>
          <a:solidFill>
            <a:srgbClr val="1A7F37"/>
          </a:solidFill>
          <a:ln/>
        </p:spPr>
        <p:txBody>
          <a:bodyPr wrap="square" rtlCol="0" anchor="ctr"/>
          <a:lstStyle/>
          <a:p>
            <a:pPr indent="0" marL="0">
              <a:buNone/>
            </a:pPr>
            <a:endParaRPr lang="en-US" dirty="0"/>
          </a:p>
        </p:txBody>
      </p:sp>
      <p:sp>
        <p:nvSpPr>
          <p:cNvPr id="4" name="Text 1"/>
          <p:cNvSpPr/>
          <p:nvPr/>
        </p:nvSpPr>
        <p:spPr>
          <a:xfrm>
            <a:off x="7461041" y="231577"/>
            <a:ext cx="927071" cy="171450"/>
          </a:xfrm>
          <a:prstGeom prst="rect">
            <a:avLst/>
          </a:prstGeom>
          <a:noFill/>
          <a:ln/>
        </p:spPr>
        <p:txBody>
          <a:bodyPr wrap="square" lIns="0" tIns="0" rIns="0" bIns="0" rtlCol="0" anchor="t"/>
          <a:lstStyle/>
          <a:p>
            <a:pPr algn="ctr" indent="0" marL="0">
              <a:buNone/>
            </a:pPr>
            <a:r>
              <a:rPr lang="en-US" sz="1150" b="1" dirty="0">
                <a:solidFill>
                  <a:srgbClr val="FFFFFF"/>
                </a:solidFill>
                <a:latin typeface="Arial" pitchFamily="34" charset="0"/>
                <a:ea typeface="Arial" pitchFamily="34" charset="-122"/>
                <a:cs typeface="Arial" pitchFamily="34" charset="-120"/>
              </a:rPr>
              <a:t>CHAPTER 07</a:t>
            </a:r>
            <a:endParaRPr lang="en-US" sz="1150" dirty="0"/>
          </a:p>
        </p:txBody>
      </p:sp>
      <p:pic>
        <p:nvPicPr>
          <p:cNvPr id="5" name="Image 1" descr="Open this chapter on GitHub">
            <a:hlinkClick r:id="rId3" tooltip="https://github.com/github/copilot-app-for-beginners/tree/main/07-automations"/>
          </p:cNvPr>
          <p:cNvPicPr>
            <a:picLocks noChangeAspect="1"/>
          </p:cNvPicPr>
          <p:nvPr/>
        </p:nvPicPr>
        <p:blipFill>
          <a:blip r:embed="rId2"/>
          <a:stretch>
            <a:fillRect/>
          </a:stretch>
        </p:blipFill>
        <p:spPr>
          <a:xfrm>
            <a:off x="8610600" y="165050"/>
            <a:ext cx="304800" cy="304800"/>
          </a:xfrm>
          <a:prstGeom prst="rect">
            <a:avLst/>
          </a:prstGeom>
        </p:spPr>
      </p:pic>
      <p:sp>
        <p:nvSpPr>
          <p:cNvPr id="6" name="Text 2"/>
          <p:cNvSpPr/>
          <p:nvPr/>
        </p:nvSpPr>
        <p:spPr>
          <a:xfrm>
            <a:off x="507950" y="381000"/>
            <a:ext cx="8161020" cy="190500"/>
          </a:xfrm>
          <a:prstGeom prst="rect">
            <a:avLst/>
          </a:prstGeom>
          <a:noFill/>
          <a:ln/>
        </p:spPr>
        <p:txBody>
          <a:bodyPr wrap="square" lIns="0" tIns="0" rIns="0" bIns="0" rtlCol="0" anchor="t"/>
          <a:lstStyle/>
          <a:p>
            <a:pPr algn="l" indent="0" marL="0">
              <a:buNone/>
            </a:pPr>
            <a:r>
              <a:rPr lang="en-US" sz="1250" b="1" dirty="0">
                <a:solidFill>
                  <a:srgbClr val="0969DA"/>
                </a:solidFill>
                <a:latin typeface="Arial" pitchFamily="34" charset="0"/>
                <a:ea typeface="Arial" pitchFamily="34" charset="-122"/>
                <a:cs typeface="Arial" pitchFamily="34" charset="-120"/>
              </a:rPr>
              <a:t>START SAFE</a:t>
            </a:r>
            <a:endParaRPr lang="en-US" sz="1250" dirty="0"/>
          </a:p>
        </p:txBody>
      </p:sp>
      <p:sp>
        <p:nvSpPr>
          <p:cNvPr id="7" name="Text 3"/>
          <p:cNvSpPr/>
          <p:nvPr/>
        </p:nvSpPr>
        <p:spPr>
          <a:xfrm>
            <a:off x="507950" y="622250"/>
            <a:ext cx="8161020" cy="419100"/>
          </a:xfrm>
          <a:prstGeom prst="rect">
            <a:avLst/>
          </a:prstGeom>
          <a:noFill/>
          <a:ln/>
        </p:spPr>
        <p:txBody>
          <a:bodyPr wrap="square" lIns="0" tIns="0" rIns="0" bIns="0" rtlCol="0" anchor="t"/>
          <a:lstStyle/>
          <a:p>
            <a:pPr algn="l" indent="0" marL="0">
              <a:lnSpc>
                <a:spcPts val="3300"/>
              </a:lnSpc>
              <a:spcBef>
                <a:spcPts val="400"/>
              </a:spcBef>
              <a:buNone/>
            </a:pPr>
            <a:r>
              <a:rPr lang="en-US" sz="2800" b="1" dirty="0">
                <a:solidFill>
                  <a:srgbClr val="1F2328"/>
                </a:solidFill>
                <a:latin typeface="Arial" pitchFamily="34" charset="0"/>
                <a:ea typeface="Arial" pitchFamily="34" charset="-122"/>
                <a:cs typeface="Arial" pitchFamily="34" charset="-120"/>
              </a:rPr>
              <a:t>Start manual, then expand</a:t>
            </a:r>
            <a:endParaRPr lang="en-US" sz="2800" dirty="0"/>
          </a:p>
        </p:txBody>
      </p:sp>
      <p:sp>
        <p:nvSpPr>
          <p:cNvPr id="8" name="Text 4"/>
          <p:cNvSpPr/>
          <p:nvPr/>
        </p:nvSpPr>
        <p:spPr>
          <a:xfrm>
            <a:off x="507950" y="1104751"/>
            <a:ext cx="8161020" cy="254050"/>
          </a:xfrm>
          <a:prstGeom prst="rect">
            <a:avLst/>
          </a:prstGeom>
          <a:noFill/>
          <a:ln/>
        </p:spPr>
        <p:txBody>
          <a:bodyPr wrap="square" lIns="0" tIns="0" rIns="0" bIns="0" rtlCol="0" anchor="t"/>
          <a:lstStyle/>
          <a:p>
            <a:pPr algn="l" indent="0" marL="0">
              <a:lnSpc>
                <a:spcPts val="2000"/>
              </a:lnSpc>
              <a:spcBef>
                <a:spcPts val="500"/>
              </a:spcBef>
              <a:buNone/>
            </a:pPr>
            <a:r>
              <a:rPr lang="en-US" sz="1650" dirty="0">
                <a:solidFill>
                  <a:srgbClr val="59636E"/>
                </a:solidFill>
                <a:latin typeface="Arial" pitchFamily="34" charset="0"/>
                <a:ea typeface="Arial" pitchFamily="34" charset="-122"/>
                <a:cs typeface="Arial" pitchFamily="34" charset="-120"/>
              </a:rPr>
              <a:t>Test the prompt before you add a schedule or trigger.</a:t>
            </a:r>
            <a:endParaRPr lang="en-US" sz="1650" dirty="0"/>
          </a:p>
        </p:txBody>
      </p:sp>
      <p:sp>
        <p:nvSpPr>
          <p:cNvPr id="9" name="Text 5"/>
          <p:cNvSpPr/>
          <p:nvPr/>
        </p:nvSpPr>
        <p:spPr>
          <a:xfrm>
            <a:off x="511076" y="1874490"/>
            <a:ext cx="3549551" cy="2397621"/>
          </a:xfrm>
          <a:prstGeom prst="roundRect">
            <a:avLst>
              <a:gd name="adj" fmla="val 3178"/>
            </a:avLst>
          </a:prstGeom>
          <a:solidFill>
            <a:srgbClr val="FFFFFF"/>
          </a:solidFill>
          <a:ln w="9525">
            <a:solidFill>
              <a:srgbClr val="D1D9E0"/>
            </a:solidFill>
          </a:ln>
          <a:effectLst>
            <a:outerShdw sx="100000" sy="100000" kx="0" ky="0" algn="bl" rotWithShape="0" blurRad="38100" dist="9525" dir="5400000">
              <a:srgbClr val="1f2328">
                <a:alpha val="12000"/>
              </a:srgbClr>
            </a:outerShdw>
          </a:effectLst>
        </p:spPr>
        <p:txBody>
          <a:bodyPr wrap="square" rtlCol="0" anchor="ctr"/>
          <a:lstStyle/>
          <a:p>
            <a:pPr indent="0" marL="0">
              <a:buNone/>
            </a:pPr>
            <a:endParaRPr lang="en-US" dirty="0"/>
          </a:p>
        </p:txBody>
      </p:sp>
      <p:pic>
        <p:nvPicPr>
          <p:cNvPr id="10" name="Image 2" descr="Start manual, then expand automations"/>
          <p:cNvPicPr>
            <a:picLocks noChangeAspect="1"/>
          </p:cNvPicPr>
          <p:nvPr/>
        </p:nvPicPr>
        <p:blipFill>
          <a:blip r:embed="rId4"/>
          <a:stretch>
            <a:fillRect/>
          </a:stretch>
        </p:blipFill>
        <p:spPr>
          <a:xfrm>
            <a:off x="558701" y="1922115"/>
            <a:ext cx="3454301" cy="2302371"/>
          </a:xfrm>
          <a:prstGeom prst="rect">
            <a:avLst/>
          </a:prstGeom>
        </p:spPr>
      </p:pic>
      <p:sp>
        <p:nvSpPr>
          <p:cNvPr id="11" name="Text 6"/>
          <p:cNvSpPr/>
          <p:nvPr/>
        </p:nvSpPr>
        <p:spPr>
          <a:xfrm>
            <a:off x="4317802" y="1574750"/>
            <a:ext cx="4318099" cy="1409700"/>
          </a:xfrm>
          <a:prstGeom prst="roundRect">
            <a:avLst>
              <a:gd name="adj" fmla="val 9009"/>
            </a:avLst>
          </a:prstGeom>
          <a:solidFill>
            <a:srgbClr val="FFFFFF"/>
          </a:solidFill>
          <a:ln w="9525">
            <a:solidFill>
              <a:srgbClr val="8CE7A5"/>
            </a:solidFill>
          </a:ln>
        </p:spPr>
        <p:txBody>
          <a:bodyPr wrap="square" rtlCol="0" anchor="ctr"/>
          <a:lstStyle/>
          <a:p>
            <a:pPr indent="0" marL="0">
              <a:buNone/>
            </a:pPr>
            <a:endParaRPr lang="en-US" dirty="0"/>
          </a:p>
        </p:txBody>
      </p:sp>
      <p:sp>
        <p:nvSpPr>
          <p:cNvPr id="12" name="Text 7"/>
          <p:cNvSpPr/>
          <p:nvPr/>
        </p:nvSpPr>
        <p:spPr>
          <a:xfrm>
            <a:off x="4479727" y="1736675"/>
            <a:ext cx="381000" cy="381000"/>
          </a:xfrm>
          <a:prstGeom prst="roundRect">
            <a:avLst>
              <a:gd name="adj" fmla="val 23333"/>
            </a:avLst>
          </a:prstGeom>
          <a:solidFill>
            <a:srgbClr val="DAFBE1"/>
          </a:solidFill>
          <a:ln/>
        </p:spPr>
        <p:txBody>
          <a:bodyPr wrap="square" rtlCol="0" anchor="ctr"/>
          <a:lstStyle/>
          <a:p>
            <a:pPr indent="0" marL="0">
              <a:buNone/>
            </a:pPr>
            <a:endParaRPr lang="en-US" dirty="0"/>
          </a:p>
        </p:txBody>
      </p:sp>
      <p:pic>
        <p:nvPicPr>
          <p:cNvPr id="13" name="Image 3" descr="">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4562326" y="1819275"/>
            <a:ext cx="215801" cy="215801"/>
          </a:xfrm>
          <a:prstGeom prst="rect">
            <a:avLst/>
          </a:prstGeom>
        </p:spPr>
      </p:pic>
      <p:sp>
        <p:nvSpPr>
          <p:cNvPr id="14" name="Text 8"/>
          <p:cNvSpPr/>
          <p:nvPr/>
        </p:nvSpPr>
        <p:spPr>
          <a:xfrm>
            <a:off x="4975027" y="1812875"/>
            <a:ext cx="2232288" cy="228600"/>
          </a:xfrm>
          <a:prstGeom prst="rect">
            <a:avLst/>
          </a:prstGeom>
          <a:noFill/>
          <a:ln/>
        </p:spPr>
        <p:txBody>
          <a:bodyPr wrap="square" lIns="0" tIns="0" rIns="0" bIns="0" rtlCol="0" anchor="t"/>
          <a:lstStyle/>
          <a:p>
            <a:pPr algn="l" indent="0" marL="0">
              <a:lnSpc>
                <a:spcPts val="1800"/>
              </a:lnSpc>
              <a:buNone/>
            </a:pPr>
            <a:r>
              <a:rPr lang="en-US" sz="1650" b="1" dirty="0">
                <a:solidFill>
                  <a:srgbClr val="1F2328"/>
                </a:solidFill>
                <a:latin typeface="Arial" pitchFamily="34" charset="0"/>
                <a:ea typeface="Arial" pitchFamily="34" charset="-122"/>
                <a:cs typeface="Arial" pitchFamily="34" charset="-120"/>
              </a:rPr>
              <a:t>Good first automation</a:t>
            </a:r>
            <a:endParaRPr lang="en-US" sz="1650" dirty="0"/>
          </a:p>
        </p:txBody>
      </p:sp>
      <p:sp>
        <p:nvSpPr>
          <p:cNvPr id="15" name="Text 9"/>
          <p:cNvSpPr/>
          <p:nvPr/>
        </p:nvSpPr>
        <p:spPr>
          <a:xfrm>
            <a:off x="4479727" y="2193875"/>
            <a:ext cx="4074134" cy="214610"/>
          </a:xfrm>
          <a:prstGeom prst="rect">
            <a:avLst/>
          </a:prstGeom>
          <a:noFill/>
          <a:ln/>
        </p:spPr>
        <p:txBody>
          <a:bodyPr wrap="square" lIns="0" tIns="0" rIns="0" bIns="0" rtlCol="0" anchor="t"/>
          <a:lstStyle/>
          <a:p>
            <a:pPr algn="l" indent="0" marL="0">
              <a:lnSpc>
                <a:spcPts val="1690"/>
              </a:lnSpc>
              <a:buNone/>
            </a:pPr>
            <a:r>
              <a:rPr lang="en-US" sz="1400" dirty="0">
                <a:solidFill>
                  <a:srgbClr val="59636E"/>
                </a:solidFill>
                <a:latin typeface="Arial" pitchFamily="34" charset="0"/>
                <a:ea typeface="Arial" pitchFamily="34" charset="-122"/>
                <a:cs typeface="Arial" pitchFamily="34" charset="-120"/>
              </a:rPr>
              <a:t>A read-only report you already run by hand.</a:t>
            </a:r>
            <a:endParaRPr lang="en-US" sz="1400" dirty="0"/>
          </a:p>
        </p:txBody>
      </p:sp>
      <p:sp>
        <p:nvSpPr>
          <p:cNvPr id="16" name="Text 10"/>
          <p:cNvSpPr/>
          <p:nvPr/>
        </p:nvSpPr>
        <p:spPr>
          <a:xfrm>
            <a:off x="4317802" y="3162151"/>
            <a:ext cx="4318099" cy="1409700"/>
          </a:xfrm>
          <a:prstGeom prst="roundRect">
            <a:avLst>
              <a:gd name="adj" fmla="val 9009"/>
            </a:avLst>
          </a:prstGeom>
          <a:solidFill>
            <a:srgbClr val="FFFFFF"/>
          </a:solidFill>
          <a:ln w="9525">
            <a:solidFill>
              <a:srgbClr val="FFCECB"/>
            </a:solidFill>
          </a:ln>
        </p:spPr>
        <p:txBody>
          <a:bodyPr wrap="square" rtlCol="0" anchor="ctr"/>
          <a:lstStyle/>
          <a:p>
            <a:pPr indent="0" marL="0">
              <a:buNone/>
            </a:pPr>
            <a:endParaRPr lang="en-US" dirty="0"/>
          </a:p>
        </p:txBody>
      </p:sp>
      <p:sp>
        <p:nvSpPr>
          <p:cNvPr id="17" name="Text 11"/>
          <p:cNvSpPr/>
          <p:nvPr/>
        </p:nvSpPr>
        <p:spPr>
          <a:xfrm>
            <a:off x="4479727" y="3324076"/>
            <a:ext cx="381000" cy="381000"/>
          </a:xfrm>
          <a:prstGeom prst="roundRect">
            <a:avLst>
              <a:gd name="adj" fmla="val 23333"/>
            </a:avLst>
          </a:prstGeom>
          <a:solidFill>
            <a:srgbClr val="FFEBE9"/>
          </a:solidFill>
          <a:ln/>
        </p:spPr>
        <p:txBody>
          <a:bodyPr wrap="square" rtlCol="0" anchor="ctr"/>
          <a:lstStyle/>
          <a:p>
            <a:pPr indent="0" marL="0">
              <a:buNone/>
            </a:pPr>
            <a:endParaRPr lang="en-US" dirty="0"/>
          </a:p>
        </p:txBody>
      </p:sp>
      <p:pic>
        <p:nvPicPr>
          <p:cNvPr id="18" name="Image 4" descr="">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4562326" y="3406676"/>
            <a:ext cx="215801" cy="215801"/>
          </a:xfrm>
          <a:prstGeom prst="rect">
            <a:avLst/>
          </a:prstGeom>
        </p:spPr>
      </p:pic>
      <p:sp>
        <p:nvSpPr>
          <p:cNvPr id="19" name="Text 12"/>
          <p:cNvSpPr/>
          <p:nvPr/>
        </p:nvSpPr>
        <p:spPr>
          <a:xfrm>
            <a:off x="4975027" y="3400276"/>
            <a:ext cx="1298537" cy="228600"/>
          </a:xfrm>
          <a:prstGeom prst="rect">
            <a:avLst/>
          </a:prstGeom>
          <a:noFill/>
          <a:ln/>
        </p:spPr>
        <p:txBody>
          <a:bodyPr wrap="square" lIns="0" tIns="0" rIns="0" bIns="0" rtlCol="0" anchor="t"/>
          <a:lstStyle/>
          <a:p>
            <a:pPr algn="l" indent="0" marL="0">
              <a:lnSpc>
                <a:spcPts val="1800"/>
              </a:lnSpc>
              <a:buNone/>
            </a:pPr>
            <a:r>
              <a:rPr lang="en-US" sz="1650" b="1" dirty="0">
                <a:solidFill>
                  <a:srgbClr val="1F2328"/>
                </a:solidFill>
                <a:latin typeface="Arial" pitchFamily="34" charset="0"/>
                <a:ea typeface="Arial" pitchFamily="34" charset="-122"/>
                <a:cs typeface="Arial" pitchFamily="34" charset="-120"/>
              </a:rPr>
              <a:t>Avoid at first</a:t>
            </a:r>
            <a:endParaRPr lang="en-US" sz="1650" dirty="0"/>
          </a:p>
        </p:txBody>
      </p:sp>
      <p:sp>
        <p:nvSpPr>
          <p:cNvPr id="20" name="Text 13"/>
          <p:cNvSpPr/>
          <p:nvPr/>
        </p:nvSpPr>
        <p:spPr>
          <a:xfrm>
            <a:off x="4479727" y="3781276"/>
            <a:ext cx="4074134" cy="214610"/>
          </a:xfrm>
          <a:prstGeom prst="rect">
            <a:avLst/>
          </a:prstGeom>
          <a:noFill/>
          <a:ln/>
        </p:spPr>
        <p:txBody>
          <a:bodyPr wrap="square" lIns="0" tIns="0" rIns="0" bIns="0" rtlCol="0" anchor="t"/>
          <a:lstStyle/>
          <a:p>
            <a:pPr algn="l" indent="0" marL="0">
              <a:lnSpc>
                <a:spcPts val="1690"/>
              </a:lnSpc>
              <a:buNone/>
            </a:pPr>
            <a:r>
              <a:rPr lang="en-US" sz="1400" dirty="0">
                <a:solidFill>
                  <a:srgbClr val="59636E"/>
                </a:solidFill>
                <a:latin typeface="Arial" pitchFamily="34" charset="0"/>
                <a:ea typeface="Arial" pitchFamily="34" charset="-122"/>
                <a:cs typeface="Arial" pitchFamily="34" charset="-120"/>
              </a:rPr>
              <a:t>Writing code, commenting, labeling, or merging.</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9144000" cy="5143500"/>
          </a:xfrm>
          <a:prstGeom prst="rect">
            <a:avLst/>
          </a:prstGeom>
          <a:solidFill>
            <a:srgbClr val="F8F3FF"/>
          </a:solidFill>
          <a:ln/>
        </p:spPr>
        <p:txBody>
          <a:bodyPr wrap="square" rtlCol="0" anchor="ctr"/>
          <a:lstStyle/>
          <a:p>
            <a:pPr indent="0" marL="0">
              <a:buNone/>
            </a:pPr>
            <a:endParaRPr lang="en-US" dirty="0"/>
          </a:p>
        </p:txBody>
      </p:sp>
      <p:sp>
        <p:nvSpPr>
          <p:cNvPr id="3" name="Text 1"/>
          <p:cNvSpPr/>
          <p:nvPr/>
        </p:nvSpPr>
        <p:spPr>
          <a:xfrm>
            <a:off x="0" y="0"/>
            <a:ext cx="152400" cy="5143500"/>
          </a:xfrm>
          <a:prstGeom prst="rect">
            <a:avLst/>
          </a:prstGeom>
          <a:solidFill>
            <a:srgbClr val="8250DF"/>
          </a:solidFill>
          <a:ln/>
        </p:spPr>
        <p:txBody>
          <a:bodyPr wrap="square" rtlCol="0" anchor="ctr"/>
          <a:lstStyle/>
          <a:p>
            <a:pPr indent="0" marL="0">
              <a:buNone/>
            </a:pPr>
            <a:endParaRPr lang="en-US" dirty="0"/>
          </a:p>
        </p:txBody>
      </p:sp>
      <p:sp>
        <p:nvSpPr>
          <p:cNvPr id="4" name="Text 2"/>
          <p:cNvSpPr/>
          <p:nvPr/>
        </p:nvSpPr>
        <p:spPr>
          <a:xfrm>
            <a:off x="6040121" y="2412950"/>
            <a:ext cx="2849829" cy="2159050"/>
          </a:xfrm>
          <a:prstGeom prst="rect">
            <a:avLst/>
          </a:prstGeom>
          <a:noFill/>
          <a:ln/>
        </p:spPr>
        <p:txBody>
          <a:bodyPr wrap="square" lIns="0" tIns="0" rIns="0" bIns="0" rtlCol="0" anchor="t"/>
          <a:lstStyle/>
          <a:p>
            <a:pPr algn="r" indent="0" marL="0">
              <a:lnSpc>
                <a:spcPts val="17000"/>
              </a:lnSpc>
              <a:buNone/>
            </a:pPr>
            <a:r>
              <a:rPr lang="en-US" sz="15000" b="1" dirty="0">
                <a:solidFill>
                  <a:srgbClr val="E0C5FF"/>
                </a:solidFill>
                <a:latin typeface="Arial" pitchFamily="34" charset="0"/>
                <a:ea typeface="Arial" pitchFamily="34" charset="-122"/>
                <a:cs typeface="Arial" pitchFamily="34" charset="-120"/>
              </a:rPr>
              <a:t>02</a:t>
            </a:r>
            <a:endParaRPr lang="en-US" sz="15000" dirty="0"/>
          </a:p>
        </p:txBody>
      </p:sp>
      <p:pic>
        <p:nvPicPr>
          <p:cNvPr id="5"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6349901" y="0"/>
            <a:ext cx="2793950" cy="1308050"/>
          </a:xfrm>
          <a:prstGeom prst="rect">
            <a:avLst/>
          </a:prstGeom>
        </p:spPr>
      </p:pic>
      <p:sp>
        <p:nvSpPr>
          <p:cNvPr id="6" name="Text 3"/>
          <p:cNvSpPr/>
          <p:nvPr/>
        </p:nvSpPr>
        <p:spPr>
          <a:xfrm>
            <a:off x="7340501" y="177701"/>
            <a:ext cx="1168301" cy="279350"/>
          </a:xfrm>
          <a:prstGeom prst="roundRect">
            <a:avLst>
              <a:gd name="adj" fmla="val 22731"/>
            </a:avLst>
          </a:prstGeom>
          <a:solidFill>
            <a:srgbClr val="1A7F37"/>
          </a:solidFill>
          <a:ln/>
        </p:spPr>
        <p:txBody>
          <a:bodyPr wrap="square" rtlCol="0" anchor="ctr"/>
          <a:lstStyle/>
          <a:p>
            <a:pPr indent="0" marL="0">
              <a:buNone/>
            </a:pPr>
            <a:endParaRPr lang="en-US" dirty="0"/>
          </a:p>
        </p:txBody>
      </p:sp>
      <p:sp>
        <p:nvSpPr>
          <p:cNvPr id="7" name="Text 4"/>
          <p:cNvSpPr/>
          <p:nvPr/>
        </p:nvSpPr>
        <p:spPr>
          <a:xfrm>
            <a:off x="7461041" y="231577"/>
            <a:ext cx="927071" cy="171450"/>
          </a:xfrm>
          <a:prstGeom prst="rect">
            <a:avLst/>
          </a:prstGeom>
          <a:noFill/>
          <a:ln/>
        </p:spPr>
        <p:txBody>
          <a:bodyPr wrap="square" lIns="0" tIns="0" rIns="0" bIns="0" rtlCol="0" anchor="t"/>
          <a:lstStyle/>
          <a:p>
            <a:pPr algn="ctr" indent="0" marL="0">
              <a:buNone/>
            </a:pPr>
            <a:r>
              <a:rPr lang="en-US" sz="1150" b="1" dirty="0">
                <a:solidFill>
                  <a:srgbClr val="FFFFFF"/>
                </a:solidFill>
                <a:latin typeface="Arial" pitchFamily="34" charset="0"/>
                <a:ea typeface="Arial" pitchFamily="34" charset="-122"/>
                <a:cs typeface="Arial" pitchFamily="34" charset="-120"/>
              </a:rPr>
              <a:t>CHAPTER 07</a:t>
            </a:r>
            <a:endParaRPr lang="en-US" sz="1150" dirty="0"/>
          </a:p>
        </p:txBody>
      </p:sp>
      <p:pic>
        <p:nvPicPr>
          <p:cNvPr id="8" name="Image 1" descr="Open this chapter on GitHub">
            <a:hlinkClick r:id="rId3" tooltip="https://github.com/github/copilot-app-for-beginners/tree/main/07-automations"/>
          </p:cNvPr>
          <p:cNvPicPr>
            <a:picLocks noChangeAspect="1"/>
          </p:cNvPicPr>
          <p:nvPr/>
        </p:nvPicPr>
        <p:blipFill>
          <a:blip r:embed="rId2"/>
          <a:stretch>
            <a:fillRect/>
          </a:stretch>
        </p:blipFill>
        <p:spPr>
          <a:xfrm>
            <a:off x="8610600" y="165050"/>
            <a:ext cx="304800" cy="304800"/>
          </a:xfrm>
          <a:prstGeom prst="rect">
            <a:avLst/>
          </a:prstGeom>
        </p:spPr>
      </p:pic>
      <p:sp>
        <p:nvSpPr>
          <p:cNvPr id="9" name="Text 5"/>
          <p:cNvSpPr/>
          <p:nvPr/>
        </p:nvSpPr>
        <p:spPr>
          <a:xfrm>
            <a:off x="711101" y="1279773"/>
            <a:ext cx="5570169" cy="209550"/>
          </a:xfrm>
          <a:prstGeom prst="rect">
            <a:avLst/>
          </a:prstGeom>
          <a:noFill/>
          <a:ln/>
        </p:spPr>
        <p:txBody>
          <a:bodyPr wrap="square" lIns="0" tIns="0" rIns="0" bIns="0" rtlCol="0" anchor="t"/>
          <a:lstStyle/>
          <a:p>
            <a:pPr algn="l" indent="0" marL="0">
              <a:buNone/>
            </a:pPr>
            <a:r>
              <a:rPr lang="en-US" sz="1450" b="1" dirty="0">
                <a:solidFill>
                  <a:srgbClr val="8250DF"/>
                </a:solidFill>
                <a:latin typeface="Arial" pitchFamily="34" charset="0"/>
                <a:ea typeface="Arial" pitchFamily="34" charset="-122"/>
                <a:cs typeface="Arial" pitchFamily="34" charset="-120"/>
              </a:rPr>
              <a:t>SECTION 2 OF 3</a:t>
            </a:r>
            <a:endParaRPr lang="en-US" sz="1450" dirty="0"/>
          </a:p>
        </p:txBody>
      </p:sp>
      <p:sp>
        <p:nvSpPr>
          <p:cNvPr id="10" name="Text 6"/>
          <p:cNvSpPr/>
          <p:nvPr/>
        </p:nvSpPr>
        <p:spPr>
          <a:xfrm>
            <a:off x="711101" y="1590824"/>
            <a:ext cx="5570169" cy="1168301"/>
          </a:xfrm>
          <a:prstGeom prst="rect">
            <a:avLst/>
          </a:prstGeom>
          <a:noFill/>
          <a:ln/>
        </p:spPr>
        <p:txBody>
          <a:bodyPr wrap="square" lIns="0" tIns="0" rIns="0" bIns="0" rtlCol="0" anchor="t"/>
          <a:lstStyle/>
          <a:p>
            <a:pPr algn="l" indent="0" marL="0">
              <a:lnSpc>
                <a:spcPts val="4600"/>
              </a:lnSpc>
              <a:spcBef>
                <a:spcPts val="800"/>
              </a:spcBef>
              <a:buNone/>
            </a:pPr>
            <a:r>
              <a:rPr lang="en-US" sz="4000" b="1" dirty="0">
                <a:solidFill>
                  <a:srgbClr val="1F2328"/>
                </a:solidFill>
                <a:latin typeface="Arial" pitchFamily="34" charset="0"/>
                <a:ea typeface="Arial" pitchFamily="34" charset="-122"/>
                <a:cs typeface="Arial" pitchFamily="34" charset="-120"/>
              </a:rPr>
              <a:t>Build a review readiness report</a:t>
            </a:r>
            <a:endParaRPr lang="en-US" sz="4000" dirty="0"/>
          </a:p>
        </p:txBody>
      </p:sp>
      <p:sp>
        <p:nvSpPr>
          <p:cNvPr id="11" name="Text 7"/>
          <p:cNvSpPr/>
          <p:nvPr/>
        </p:nvSpPr>
        <p:spPr>
          <a:xfrm>
            <a:off x="711101" y="2962275"/>
            <a:ext cx="609600" cy="63401"/>
          </a:xfrm>
          <a:prstGeom prst="roundRect">
            <a:avLst>
              <a:gd name="adj" fmla="val 40063"/>
            </a:avLst>
          </a:prstGeom>
          <a:solidFill>
            <a:srgbClr val="8250DF"/>
          </a:solidFill>
          <a:ln/>
        </p:spPr>
        <p:txBody>
          <a:bodyPr wrap="square" rtlCol="0" anchor="ctr"/>
          <a:lstStyle/>
          <a:p>
            <a:pPr indent="0" marL="0">
              <a:buNone/>
            </a:pPr>
            <a:endParaRPr lang="en-US" dirty="0"/>
          </a:p>
        </p:txBody>
      </p:sp>
      <p:sp>
        <p:nvSpPr>
          <p:cNvPr id="12" name="Text 8"/>
          <p:cNvSpPr/>
          <p:nvPr/>
        </p:nvSpPr>
        <p:spPr>
          <a:xfrm>
            <a:off x="711101" y="3228826"/>
            <a:ext cx="5570169" cy="634901"/>
          </a:xfrm>
          <a:prstGeom prst="rect">
            <a:avLst/>
          </a:prstGeom>
          <a:noFill/>
          <a:ln/>
        </p:spPr>
        <p:txBody>
          <a:bodyPr wrap="square" lIns="0" tIns="0" rIns="0" bIns="0" rtlCol="0" anchor="t"/>
          <a:lstStyle/>
          <a:p>
            <a:pPr algn="l" indent="0" marL="0">
              <a:lnSpc>
                <a:spcPts val="2500"/>
              </a:lnSpc>
              <a:buNone/>
            </a:pPr>
            <a:r>
              <a:rPr lang="en-US" sz="1900" dirty="0">
                <a:solidFill>
                  <a:srgbClr val="59636E"/>
                </a:solidFill>
                <a:latin typeface="Arial" pitchFamily="34" charset="0"/>
                <a:ea typeface="Arial" pitchFamily="34" charset="-122"/>
                <a:cs typeface="Arial" pitchFamily="34" charset="-120"/>
              </a:rPr>
              <a:t>Which PRs are ready to merge, and what is blocking the rest?</a:t>
            </a:r>
            <a:endParaRPr lang="en-US" sz="1900" dirty="0"/>
          </a:p>
        </p:txBody>
      </p:sp>
    </p:spTree>
  </p:cSld>
  <p:clrMapOvr>
    <a:masterClrMapping/>
  </p:clrMapOvr>
</p:sld>
</file>

<file path=ppt/slides/slide8.xml><?xml version="1.0" encoding="utf-8"?>
<ns0:sld xmlns:ns0="http://schemas.openxmlformats.org/presentationml/2006/main" xmlns:ns1="http://schemas.openxmlformats.org/drawingml/2006/main" xmlns:ns2="http://schemas.microsoft.com/office/drawing/2017/decorative" xmlns:ns3="http://schemas.openxmlformats.org/officeDocument/2006/relationships">
  <ns0:cSld name="Slide 8">
    <ns0:bg>
      <ns0:bgPr>
        <ns1:solidFill>
          <ns1:srgbClr val="FFFFFF"/>
        </ns1:solidFill>
      </ns0:bgPr>
    </ns0:bg>
    <ns0:spTree>
      <ns0:nvGrpSpPr>
        <ns0:cNvPr id="1" name=""/>
        <ns0:cNvGrpSpPr/>
        <ns0:nvPr/>
      </ns0:nvGrpSpPr>
      <ns0:grpSpPr>
        <ns1:xfrm>
          <ns1:off x="0" y="0"/>
          <ns1:ext cx="0" cy="0"/>
          <ns1:chOff x="0" y="0"/>
          <ns1:chExt cx="0" cy="0"/>
        </ns1:xfrm>
      </ns0:grpSpPr>
      <ns0:pic>
        <ns0:nvPicPr>
          <ns0:cNvPr id="2" name="Image 0" descr="">
            <ns1:extLst>
              <ns1:ext uri="{C183D7F6-B498-43B3-948B-1728B52AA6E4}">
                <ns2:decorative val="1"/>
              </ns1:ext>
            </ns1:extLst>
          </ns0:cNvPr>
          <ns0:cNvPicPr>
            <ns1:picLocks noChangeAspect="1"/>
          </ns0:cNvPicPr>
          <ns0:nvPr/>
        </ns0:nvPicPr>
        <ns0:blipFill>
          <ns1:blip ns3:embed="rId1"/>
          <ns1:stretch>
            <ns1:fillRect/>
          </ns1:stretch>
        </ns0:blipFill>
        <ns0:spPr>
          <ns1:xfrm>
            <ns1:off x="6349901" y="0"/>
            <ns1:ext cx="2793950" cy="1308050"/>
          </ns1:xfrm>
          <ns1:prstGeom prst="rect">
            <ns1:avLst/>
          </ns1:prstGeom>
        </ns0:spPr>
      </ns0:pic>
      <ns0:sp>
        <ns0:nvSpPr>
          <ns0:cNvPr id="3" name="Text 0"/>
          <ns0:cNvSpPr/>
          <ns0:nvPr/>
        </ns0:nvSpPr>
        <ns0:spPr>
          <ns1:xfrm>
            <ns1:off x="7340501" y="177701"/>
            <ns1:ext cx="1168301" cy="279350"/>
          </ns1:xfrm>
          <ns1:prstGeom prst="roundRect">
            <ns1:avLst>
              <ns1:gd name="adj" fmla="val 22731"/>
            </ns1:avLst>
          </ns1:prstGeom>
          <ns1:solidFill>
            <ns1:srgbClr val="1A7F37"/>
          </ns1:solidFill>
          <ns1:ln/>
        </ns0:spPr>
        <ns0:txBody>
          <ns1:bodyPr wrap="square" rtlCol="0" anchor="ctr"/>
          <ns1:lstStyle/>
          <ns1:p>
            <ns1:pPr indent="0" marL="0">
              <ns1:buNone/>
            </ns1:pPr>
            <ns1:endParaRPr lang="en-US" dirty="0"/>
          </ns1:p>
        </ns0:txBody>
      </ns0:sp>
      <ns0:sp>
        <ns0:nvSpPr>
          <ns0:cNvPr id="4" name="Text 1"/>
          <ns0:cNvSpPr/>
          <ns0:nvPr/>
        </ns0:nvSpPr>
        <ns0:spPr>
          <ns1:xfrm>
            <ns1:off x="7461041" y="231577"/>
            <ns1:ext cx="927071" cy="171450"/>
          </ns1:xfrm>
          <ns1:prstGeom prst="rect">
            <ns1:avLst/>
          </ns1:prstGeom>
          <ns1:noFill/>
          <ns1:ln/>
        </ns0:spPr>
        <ns0:txBody>
          <ns1:bodyPr wrap="square" lIns="0" tIns="0" rIns="0" bIns="0" rtlCol="0" anchor="t"/>
          <ns1:lstStyle/>
          <ns1:p>
            <ns1:pPr algn="ctr" indent="0" marL="0">
              <ns1:buNone/>
            </ns1:pPr>
            <ns1:r>
              <ns1:rPr lang="en-US" sz="1150" b="1" dirty="0">
                <ns1:solidFill>
                  <ns1:srgbClr val="FFFFFF"/>
                </ns1:solidFill>
                <ns1:latin typeface="Arial" pitchFamily="34" charset="0"/>
                <ns1:ea typeface="Arial" pitchFamily="34" charset="-122"/>
                <ns1:cs typeface="Arial" pitchFamily="34" charset="-120"/>
              </ns1:rPr>
              <ns1:t>CHAPTER 07</ns1:t>
            </ns1:r>
            <ns1:endParaRPr lang="en-US" sz="1150" dirty="0"/>
          </ns1:p>
        </ns0:txBody>
      </ns0:sp>
      <ns0:pic>
        <ns0:nvPicPr>
          <ns0:cNvPr id="5" name="Image 1" descr="Open this chapter on GitHub">
            <ns1:hlinkClick ns3:id="rId3" tooltip="https://github.com/github/copilot-app-for-beginners/tree/main/07-automations"/>
          </ns0:cNvPr>
          <ns0:cNvPicPr>
            <ns1:picLocks noChangeAspect="1"/>
          </ns0:cNvPicPr>
          <ns0:nvPr/>
        </ns0:nvPicPr>
        <ns0:blipFill>
          <ns1:blip ns3:embed="rId2"/>
          <ns1:stretch>
            <ns1:fillRect/>
          </ns1:stretch>
        </ns0:blipFill>
        <ns0:spPr>
          <ns1:xfrm>
            <ns1:off x="8610600" y="165050"/>
            <ns1:ext cx="304800" cy="304800"/>
          </ns1:xfrm>
          <ns1:prstGeom prst="rect">
            <ns1:avLst/>
          </ns1:prstGeom>
        </ns0:spPr>
      </ns0:pic>
      <ns0:sp>
        <ns0:nvSpPr>
          <ns0:cNvPr id="6" name="Text 2"/>
          <ns0:cNvSpPr/>
          <ns0:nvPr/>
        </ns0:nvSpPr>
        <ns0:spPr>
          <ns1:xfrm>
            <ns1:off x="507950" y="381000"/>
            <ns1:ext cx="8161020" cy="190500"/>
          </ns1:xfrm>
          <ns1:prstGeom prst="rect">
            <ns1:avLst/>
          </ns1:prstGeom>
          <ns1:noFill/>
          <ns1:ln/>
        </ns0:spPr>
        <ns0:txBody>
          <ns1:bodyPr wrap="square" lIns="0" tIns="0" rIns="0" bIns="0" rtlCol="0" anchor="t"/>
          <ns1:lstStyle/>
          <ns1:p>
            <ns1:pPr algn="l" indent="0" marL="0">
              <ns1:buNone/>
            </ns1:pPr>
            <ns1:r>
              <ns1:rPr lang="en-US" sz="1250" b="1" dirty="0">
                <ns1:solidFill>
                  <ns1:srgbClr val="8250DF"/>
                </ns1:solidFill>
                <ns1:latin typeface="Arial" pitchFamily="34" charset="0"/>
                <ns1:ea typeface="Arial" pitchFamily="34" charset="-122"/>
                <ns1:cs typeface="Arial" pitchFamily="34" charset="-120"/>
              </ns1:rPr>
              <ns1:t>EXERCISE</ns1:t>
            </ns1:r>
            <ns1:endParaRPr lang="en-US" sz="1250" dirty="0"/>
          </ns1:p>
        </ns0:txBody>
      </ns0:sp>
      <ns0:sp>
        <ns0:nvSpPr>
          <ns0:cNvPr id="7" name="Text 3"/>
          <ns0:cNvSpPr/>
          <ns0:nvPr/>
        </ns0:nvSpPr>
        <ns0:spPr>
          <ns1:xfrm>
            <ns1:off x="507950" y="622250"/>
            <ns1:ext cx="8161020" cy="419100"/>
          </ns1:xfrm>
          <ns1:prstGeom prst="rect">
            <ns1:avLst/>
          </ns1:prstGeom>
          <ns1:noFill/>
          <ns1:ln/>
        </ns0:spPr>
        <ns0:txBody>
          <ns1:bodyPr wrap="square" lIns="0" tIns="0" rIns="0" bIns="0" rtlCol="0" anchor="t"/>
          <ns1:lstStyle/>
          <ns1:p>
            <ns1:pPr algn="l" indent="0" marL="0">
              <ns1:lnSpc>
                <ns1:spcPts val="3300"/>
              </ns1:lnSpc>
              <ns1:spcBef>
                <ns1:spcPts val="400"/>
              </ns1:spcBef>
              <ns1:buNone/>
            </ns1:pPr>
            <ns1:r>
              <ns1:rPr lang="en-US" sz="2800" b="1" dirty="0">
                <ns1:solidFill>
                  <ns1:srgbClr val="1F2328"/>
                </ns1:solidFill>
                <ns1:latin typeface="Arial" pitchFamily="34" charset="0"/>
                <ns1:ea typeface="Arial" pitchFamily="34" charset="-122"/>
                <ns1:cs typeface="Arial" pitchFamily="34" charset="-120"/>
              </ns1:rPr>
              <ns1:t>Create a manual readiness report</ns1:t>
            </ns1:r>
            <ns1:endParaRPr lang="en-US" sz="2800" dirty="0"/>
          </ns1:p>
        </ns0:txBody>
      </ns0:sp>
      <ns0:sp>
        <ns0:nvSpPr>
          <ns0:cNvPr id="8" name="Text 4"/>
          <ns0:cNvSpPr/>
          <ns0:nvPr/>
        </ns0:nvSpPr>
        <ns0:spPr>
          <ns1:xfrm>
            <ns1:off x="507950" y="1104751"/>
            <ns1:ext cx="8161020" cy="254050"/>
          </ns1:xfrm>
          <ns1:prstGeom prst="rect">
            <ns1:avLst/>
          </ns1:prstGeom>
          <ns1:noFill/>
          <ns1:ln/>
        </ns0:spPr>
        <ns0:txBody>
          <ns1:bodyPr wrap="square" lIns="0" tIns="0" rIns="0" bIns="0" rtlCol="0" anchor="t"/>
          <ns1:lstStyle/>
          <ns1:p>
            <ns1:pPr algn="l" indent="0" marL="0">
              <ns1:lnSpc>
                <ns1:spcPts val="2000"/>
              </ns1:lnSpc>
              <ns1:spcBef>
                <ns1:spcPts val="500"/>
              </ns1:spcBef>
              <ns1:buNone/>
            </ns1:pPr>
            <ns1:r>
              <ns1:rPr lang="en-US" sz="1650" dirty="0">
                <ns1:solidFill>
                  <ns1:srgbClr val="59636E"/>
                </ns1:solidFill>
                <ns1:latin typeface="Arial" pitchFamily="34" charset="0"/>
                <ns1:ea typeface="Arial" pitchFamily="34" charset="-122"/>
                <ns1:cs typeface="Arial" pitchFamily="34" charset="-120"/>
              </ns1:rPr>
              <ns1:t>Automations &gt; </ns1:t>
            </ns1:r>
            <ns1:pPr algn="l" indent="0" marL="0">
              <ns1:lnSpc>
                <ns1:spcPts val="2000"/>
              </ns1:lnSpc>
              <ns1:spcBef>
                <ns1:spcPts val="500"/>
              </ns1:spcBef>
              <ns1:buNone/>
            </ns1:pPr>
            <ns1:r>
              <ns1:rPr lang="en-US" sz="1650" b="1" dirty="0">
                <ns1:solidFill>
                  <ns1:srgbClr val="59636E"/>
                </ns1:solidFill>
                <ns1:latin typeface="Arial" pitchFamily="34" charset="0"/>
                <ns1:ea typeface="Arial" pitchFamily="34" charset="-122"/>
                <ns1:cs typeface="Arial" pitchFamily="34" charset="-120"/>
              </ns1:rPr>
              <ns1:t>New automation</ns1:t>
            </ns1:r>
            <ns1:pPr algn="l" indent="0" marL="0">
              <ns1:lnSpc>
                <ns1:spcPts val="2000"/>
              </ns1:lnSpc>
              <ns1:spcBef>
                <ns1:spcPts val="500"/>
              </ns1:spcBef>
              <ns1:buNone/>
            </ns1:pPr>
            <ns1:r>
              <ns1:rPr lang="en-US" sz="1650" dirty="0">
                <ns1:solidFill>
                  <ns1:srgbClr val="59636E"/>
                </ns1:solidFill>
                <ns1:latin typeface="Arial" pitchFamily="34" charset="0"/>
                <ns1:ea typeface="Arial" pitchFamily="34" charset="-122"/>
                <ns1:cs typeface="Arial" pitchFamily="34" charset="-120"/>
              </ns1:rPr>
              <ns1:t>. Set </ns1:t>
            </ns1:r>
            <ns1:pPr algn="l" indent="0" marL="0">
              <ns1:lnSpc>
                <ns1:spcPts val="2000"/>
              </ns1:lnSpc>
              <ns1:spcBef>
                <ns1:spcPts val="500"/>
              </ns1:spcBef>
              <ns1:buNone/>
            </ns1:pPr>
            <ns1:r>
              <ns1:rPr lang="en-US" sz="1650" b="1" dirty="0">
                <ns1:solidFill>
                  <ns1:srgbClr val="59636E"/>
                </ns1:solidFill>
                <ns1:latin typeface="Arial" pitchFamily="34" charset="0"/>
                <ns1:ea typeface="Arial" pitchFamily="34" charset="-122"/>
                <ns1:cs typeface="Arial" pitchFamily="34" charset="-120"/>
              </ns1:rPr>
              <ns1:t>Trigger</ns1:t>
            </ns1:r>
            <ns1:pPr algn="l" indent="0" marL="0">
              <ns1:lnSpc>
                <ns1:spcPts val="2000"/>
              </ns1:lnSpc>
              <ns1:spcBef>
                <ns1:spcPts val="500"/>
              </ns1:spcBef>
              <ns1:buNone/>
            </ns1:pPr>
            <ns1:r>
              <ns1:rPr lang="en-US" sz="1650" dirty="0">
                <ns1:solidFill>
                  <ns1:srgbClr val="59636E"/>
                </ns1:solidFill>
                <ns1:latin typeface="Arial" pitchFamily="34" charset="0"/>
                <ns1:ea typeface="Arial" pitchFamily="34" charset="-122"/>
                <ns1:cs typeface="Arial" pitchFamily="34" charset="-120"/>
              </ns1:rPr>
              <ns1:t> to </ns1:t>
            </ns1:r>
            <ns1:pPr algn="l" indent="0" marL="0">
              <ns1:lnSpc>
                <ns1:spcPts val="2000"/>
              </ns1:lnSpc>
              <ns1:spcBef>
                <ns1:spcPts val="500"/>
              </ns1:spcBef>
              <ns1:buNone/>
            </ns1:pPr>
            <ns1:r>
              <ns1:rPr lang="en-US" sz="1650" b="1" dirty="0">
                <ns1:solidFill>
                  <ns1:srgbClr val="59636E"/>
                </ns1:solidFill>
                <ns1:latin typeface="Arial" pitchFamily="34" charset="0"/>
                <ns1:ea typeface="Arial" pitchFamily="34" charset="-122"/>
                <ns1:cs typeface="Arial" pitchFamily="34" charset="-120"/>
              </ns1:rPr>
              <ns1:t>Manual</ns1:t>
            </ns1:r>
            <ns1:pPr algn="l" indent="0" marL="0">
              <ns1:lnSpc>
                <ns1:spcPts val="2000"/>
              </ns1:lnSpc>
              <ns1:spcBef>
                <ns1:spcPts val="500"/>
              </ns1:spcBef>
              <ns1:buNone/>
            </ns1:pPr>
            <ns1:r>
              <ns1:rPr lang="en-US" sz="1650" dirty="0">
                <ns1:solidFill>
                  <ns1:srgbClr val="59636E"/>
                </ns1:solidFill>
                <ns1:latin typeface="Arial" pitchFamily="34" charset="0"/>
                <ns1:ea typeface="Arial" pitchFamily="34" charset="-122"/>
                <ns1:cs typeface="Arial" pitchFamily="34" charset="-120"/>
              </ns1:rPr>
              <ns1:t>.</ns1:t>
            </ns1:r>
            <ns1:endParaRPr lang="en-US" sz="1650" dirty="0"/>
          </ns1:p>
        </ns0:txBody>
      </ns0:sp>
      <ns0:sp>
        <ns0:nvSpPr>
          <ns0:cNvPr id="9" name="Text 5"/>
          <ns0:cNvSpPr/>
          <ns0:nvPr/>
        </ns0:nvSpPr>
        <ns0:spPr>
          <ns1:xfrm>
            <ns1:off x="551706" y="1577876"/>
            <ns1:ext cx="4230291" cy="2990850"/>
          </ns1:xfrm>
          <ns1:prstGeom prst="roundRect">
            <ns1:avLst>
              <ns1:gd name="adj" fmla="val 2548"/>
            </ns1:avLst>
          </ns1:prstGeom>
          <ns1:solidFill>
            <ns1:srgbClr val="FFFFFF"/>
          </ns1:solidFill>
          <ns1:ln w="9525">
            <ns1:solidFill>
              <ns1:srgbClr val="D1D9E0"/>
            </ns1:solidFill>
          </ns1:ln>
          <ns1:effectLst>
            <ns1:outerShdw sx="100000" sy="100000" kx="0" ky="0" algn="bl" rotWithShape="0" blurRad="38100" dist="9525" dir="5400000">
              <ns1:srgbClr val="1f2328">
                <ns1:alpha val="12000"/>
              </ns1:srgbClr>
            </ns1:outerShdw>
          </ns1:effectLst>
        </ns0:spPr>
        <ns0:txBody>
          <ns1:bodyPr wrap="square" rtlCol="0" anchor="ctr"/>
          <ns1:lstStyle/>
          <ns1:p>
            <ns1:pPr indent="0" marL="0">
              <ns1:buNone/>
            </ns1:pPr>
            <ns1:endParaRPr lang="en-US" dirty="0"/>
          </ns1:p>
        </ns0:txBody>
      </ns0:sp>
      <ns0:pic>
        <ns0:nvPicPr>
          <ns0:cNvPr id="10" name="Image 2" descr="New automation form with Manual trigger, cloud off, selected repository, Current checkout, and Create and run"/>
          <ns0:cNvPicPr>
            <ns1:picLocks noChangeAspect="1"/>
          </ns0:cNvPicPr>
          <ns0:nvPr/>
        </ns0:nvPicPr>
        <ns0:blipFill>
          <ns1:blip ns3:embed="rId4"/>
          <ns1:stretch>
            <ns1:fillRect/>
          </ns1:stretch>
        </ns0:blipFill>
        <ns0:spPr>
          <ns1:xfrm>
            <ns1:off x="599331" y="1625501"/>
            <ns1:ext cx="4135041" cy="2895600"/>
          </ns1:xfrm>
          <ns1:prstGeom prst="rect">
            <ns1:avLst/>
          </ns1:prstGeom>
        </ns0:spPr>
      </ns0:pic>
      <ns0:sp>
        <ns0:nvSpPr>
          <ns0:cNvPr id="11" name="Text 6"/>
          <ns0:cNvSpPr/>
          <ns0:nvPr/>
        </ns0:nvSpPr>
        <ns0:spPr>
          <ns1:xfrm>
            <ns1:off x="5079802" y="1811685"/>
            <ns1:ext cx="279350" cy="279350"/>
          </ns1:xfrm>
          <ns1:prstGeom prst="roundRect">
            <ns1:avLst>
              <ns1:gd name="adj" fmla="val 327331"/>
            </ns1:avLst>
          </ns1:prstGeom>
          <ns1:solidFill>
            <ns1:srgbClr val="8250DF"/>
          </ns1:solidFill>
          <ns1:ln/>
        </ns0:spPr>
        <ns0:txBody>
          <ns1:bodyPr wrap="square" rtlCol="0" anchor="ctr"/>
          <ns1:lstStyle/>
          <ns1:p>
            <ns1:pPr indent="0" marL="0">
              <ns1:buNone/>
            </ns1:pPr>
            <ns1:endParaRPr lang="en-US" dirty="0"/>
          </ns1:p>
        </ns0:txBody>
      </ns0:sp>
      <ns0:sp>
        <ns0:nvSpPr>
          <ns0:cNvPr id="12" name="Text 7"/>
          <ns0:cNvSpPr/>
          <ns0:nvPr/>
        </ns0:nvSpPr>
        <ns0:spPr>
          <ns1:xfrm>
            <ns1:off x="5174467" y="1856036"/>
            <ns1:ext cx="90020" cy="190500"/>
          </ns1:xfrm>
          <ns1:prstGeom prst="rect">
            <ns1:avLst/>
          </ns1:prstGeom>
          <ns1:noFill/>
          <ns1:ln/>
        </ns0:spPr>
        <ns0:txBody>
          <ns1:bodyPr wrap="square" lIns="0" tIns="0" rIns="0" bIns="0" rtlCol="0" anchor="t"/>
          <ns1:lstStyle/>
          <ns1:p>
            <ns1:pPr algn="ctr" indent="0" marL="0">
              <ns1:buNone/>
            </ns1:pPr>
            <ns1:r>
              <ns1:rPr lang="en-US" sz="1250" b="1" dirty="0">
                <ns1:solidFill>
                  <ns1:srgbClr val="FFFFFF"/>
                </ns1:solidFill>
                <ns1:latin typeface="Arial" pitchFamily="34" charset="0"/>
                <ns1:ea typeface="Arial" pitchFamily="34" charset="-122"/>
                <ns1:cs typeface="Arial" pitchFamily="34" charset="-120"/>
              </ns1:rPr>
              <ns1:t>1</ns1:t>
            </ns1:r>
            <ns1:endParaRPr lang="en-US" sz="1250" dirty="0"/>
          </ns1:p>
        </ns0:txBody>
      </ns0:sp>
      <ns0:sp>
        <ns0:nvSpPr>
          <ns0:cNvPr id="13" name="Text 8"/>
          <ns0:cNvSpPr/>
          <ns0:nvPr/>
        </ns0:nvSpPr>
        <ns0:spPr>
          <ns1:xfrm>
            <ns1:off x="5511552" y="1811685"/>
            <ns1:ext cx="2728689" cy="222200"/>
          </ns1:xfrm>
          <ns1:prstGeom prst="rect">
            <ns1:avLst/>
          </ns1:prstGeom>
          <ns1:noFill/>
          <ns1:ln/>
        </ns0:spPr>
        <ns0:txBody>
          <ns1:bodyPr wrap="square" lIns="0" tIns="0" rIns="0" bIns="0" rtlCol="0" anchor="t"/>
          <ns1:lstStyle/>
          <ns1:p>
            <ns1:pPr algn="l" indent="0" marL="0">
              <ns1:lnSpc>
                <ns1:spcPts val="1750"/>
              </ns1:lnSpc>
              <ns1:buNone/>
            </ns1:pPr>
            <ns1:r>
              <ns1:rPr lang="en-US" sz="1550" b="1" dirty="0">
                <ns1:solidFill>
                  <ns1:srgbClr val="1F2328"/>
                </ns1:solidFill>
                <ns1:latin typeface="Arial" pitchFamily="34" charset="0"/>
                <ns1:ea typeface="Arial" pitchFamily="34" charset="-122"/>
                <ns1:cs typeface="Arial" pitchFamily="34" charset="-120"/>
              </ns1:rPr>
              <ns1:t>Name it</ns1:t>
            </ns1:r>
            <ns1:endParaRPr lang="en-US" sz="1550" dirty="0"/>
          </ns1:p>
        </ns0:txBody>
      </ns0:sp>
      <ns0:sp>
        <ns0:nvSpPr>
          <ns0:cNvPr id="14" name="Text 9"/>
          <ns0:cNvSpPr/>
          <ns0:nvPr/>
        </ns0:nvSpPr>
        <ns0:spPr>
          <ns1:xfrm>
            <ns1:off x="5511552" y="2059186"/>
            <ns1:ext cx="2728689" cy="207615"/>
          </ns1:xfrm>
          <ns1:prstGeom prst="rect">
            <ns1:avLst/>
          </ns1:prstGeom>
          <ns1:noFill/>
          <ns1:ln/>
        </ns0:spPr>
        <ns0:txBody>
          <ns1:bodyPr wrap="square" lIns="0" tIns="0" rIns="0" bIns="0" rtlCol="0" anchor="t"/>
          <ns1:lstStyle/>
          <ns1:p>
            <ns1:pPr algn="l" indent="0" marL="0">
              <ns1:lnSpc>
                <ns1:spcPts val="1560"/>
              </ns1:lnSpc>
              <ns1:buNone/>
            </ns1:pPr>
            <ns1:r>
              <ns1:rPr lang="en-US" sz="1350" b="1" dirty="0">
                <ns1:solidFill>
                  <ns1:srgbClr val="0550AE"/>
                </ns1:solidFill>
                <ns1:latin typeface="Courier New" pitchFamily="34" charset="0"/>
                <ns1:ea typeface="Courier New" pitchFamily="34" charset="-122"/>
                <ns1:cs typeface="Courier New" pitchFamily="34" charset="-120"/>
              </ns1:rPr>
              <ns1:t>PR review readiness report</ns1:t>
            </ns1:r>
            <ns1:endParaRPr lang="en-US" sz="1350" dirty="0"/>
          </ns1:p>
        </ns0:txBody>
      </ns0:sp>
      <ns0:sp>
        <ns0:nvSpPr>
          <ns0:cNvPr id="15" name="Text 10"/>
          <ns0:cNvSpPr/>
          <ns0:nvPr/>
        </ns0:nvSpPr>
        <ns0:spPr>
          <ns1:xfrm>
            <ns1:off x="5079802" y="2444502"/>
            <ns1:ext cx="279350" cy="279350"/>
          </ns1:xfrm>
          <ns1:prstGeom prst="roundRect">
            <ns1:avLst>
              <ns1:gd name="adj" fmla="val 327331"/>
            </ns1:avLst>
          </ns1:prstGeom>
          <ns1:solidFill>
            <ns1:srgbClr val="8250DF"/>
          </ns1:solidFill>
          <ns1:ln/>
        </ns0:spPr>
        <ns0:txBody>
          <ns1:bodyPr wrap="square" rtlCol="0" anchor="ctr"/>
          <ns1:lstStyle/>
          <ns1:p>
            <ns1:pPr indent="0" marL="0">
              <ns1:buNone/>
            </ns1:pPr>
            <ns1:endParaRPr lang="en-US" dirty="0"/>
          </ns1:p>
        </ns0:txBody>
      </ns0:sp>
      <ns0:sp>
        <ns0:nvSpPr>
          <ns0:cNvPr id="16" name="Text 11"/>
          <ns0:cNvSpPr/>
          <ns0:nvPr/>
        </ns0:nvSpPr>
        <ns0:spPr>
          <ns1:xfrm>
            <ns1:off x="5174467" y="2488853"/>
            <ns1:ext cx="90020" cy="190500"/>
          </ns1:xfrm>
          <ns1:prstGeom prst="rect">
            <ns1:avLst/>
          </ns1:prstGeom>
          <ns1:noFill/>
          <ns1:ln/>
        </ns0:spPr>
        <ns0:txBody>
          <ns1:bodyPr wrap="square" lIns="0" tIns="0" rIns="0" bIns="0" rtlCol="0" anchor="t"/>
          <ns1:lstStyle/>
          <ns1:p>
            <ns1:pPr algn="ctr" indent="0" marL="0">
              <ns1:buNone/>
            </ns1:pPr>
            <ns1:r>
              <ns1:rPr lang="en-US" sz="1250" b="1" dirty="0">
                <ns1:solidFill>
                  <ns1:srgbClr val="FFFFFF"/>
                </ns1:solidFill>
                <ns1:latin typeface="Arial" pitchFamily="34" charset="0"/>
                <ns1:ea typeface="Arial" pitchFamily="34" charset="-122"/>
                <ns1:cs typeface="Arial" pitchFamily="34" charset="-120"/>
              </ns1:rPr>
              <ns1:t>2</ns1:t>
            </ns1:r>
            <ns1:endParaRPr lang="en-US" sz="1250" dirty="0"/>
          </ns1:p>
        </ns0:txBody>
      </ns0:sp>
      <ns0:sp>
        <ns0:nvSpPr>
          <ns0:cNvPr id="17" name="Text 12"/>
          <ns0:cNvSpPr/>
          <ns0:nvPr/>
        </ns0:nvSpPr>
        <ns0:spPr>
          <ns1:xfrm>
            <ns1:off x="5511552" y="2444502"/>
            <ns1:ext cx="3186836" cy="222200"/>
          </ns1:xfrm>
          <ns1:prstGeom prst="rect">
            <ns1:avLst/>
          </ns1:prstGeom>
          <ns1:noFill/>
          <ns1:ln/>
        </ns0:spPr>
        <ns0:txBody>
          <ns1:bodyPr wrap="square" lIns="0" tIns="0" rIns="0" bIns="0" rtlCol="0" anchor="t"/>
          <ns1:lstStyle/>
          <ns1:p>
            <ns1:pPr algn="l" indent="0" marL="0">
              <ns1:lnSpc>
                <ns1:spcPts val="1750"/>
              </ns1:lnSpc>
              <ns1:buNone/>
            </ns1:pPr>
            <ns1:r>
              <ns1:rPr lang="en-US" sz="1550" b="1" dirty="0">
                <ns1:solidFill>
                  <ns1:srgbClr val="1F2328"/>
                </ns1:solidFill>
                <ns1:latin typeface="Arial" pitchFamily="34" charset="0"/>
                <ns1:ea typeface="Arial" pitchFamily="34" charset="-122"/>
                <ns1:cs typeface="Arial" pitchFamily="34" charset="-120"/>
              </ns1:rPr>
              <ns1:t>Paste the read-only prompt</ns1:t>
            </ns1:r>
            <ns1:endParaRPr lang="en-US" sz="1550" dirty="0"/>
          </ns1:p>
        </ns0:txBody>
      </ns0:sp>
      <ns0:sp>
        <ns0:nvSpPr>
          <ns0:cNvPr id="18" name="Text 13"/>
          <ns0:cNvSpPr/>
          <ns0:nvPr/>
        </ns0:nvSpPr>
        <ns0:spPr>
          <ns1:xfrm>
            <ns1:off x="5511552" y="2692003"/>
            <ns1:ext cx="3186836" cy="396180"/>
          </ns1:xfrm>
          <ns1:prstGeom prst="rect">
            <ns1:avLst/>
          </ns1:prstGeom>
          <ns1:noFill/>
          <ns1:ln/>
        </ns0:spPr>
        <ns0:txBody>
          <ns1:bodyPr wrap="square" lIns="0" tIns="0" rIns="0" bIns="0" rtlCol="0" anchor="t"/>
          <ns1:lstStyle/>
          <ns1:p>
            <ns1:pPr algn="l" indent="0" marL="0">
              <ns1:lnSpc>
                <ns1:spcPts val="1560"/>
              </ns1:lnSpc>
              <ns1:buNone/>
            </ns1:pPr>
            <ns1:r>
              <ns1:rPr lang="en-US" sz="1350" dirty="0">
                <ns1:solidFill>
                  <ns1:srgbClr val="59636E"/>
                </ns1:solidFill>
                <ns1:latin typeface="Arial" pitchFamily="34" charset="0"/>
                <ns1:ea typeface="Arial" pitchFamily="34" charset="-122"/>
                <ns1:cs typeface="Arial" pitchFamily="34" charset="-120"/>
              </ns1:rPr>
              <ns1:t>CI, comments, and the next action per PR.</ns1:t>
            </ns1:r>
            <ns1:endParaRPr lang="en-US" sz="1350" dirty="0"/>
          </ns1:p>
        </ns0:txBody>
      </ns0:sp>
      <ns0:sp>
        <ns0:nvSpPr>
          <ns0:cNvPr id="19" name="Text 14"/>
          <ns0:cNvSpPr/>
          <ns0:nvPr/>
        </ns0:nvSpPr>
        <ns0:spPr>
          <ns1:xfrm>
            <ns1:off x="5079802" y="3265884"/>
            <ns1:ext cx="279350" cy="279350"/>
          </ns1:xfrm>
          <ns1:prstGeom prst="roundRect">
            <ns1:avLst>
              <ns1:gd name="adj" fmla="val 327331"/>
            </ns1:avLst>
          </ns1:prstGeom>
          <ns1:solidFill>
            <ns1:srgbClr val="8250DF"/>
          </ns1:solidFill>
          <ns1:ln/>
        </ns0:spPr>
        <ns0:txBody>
          <ns1:bodyPr wrap="square" rtlCol="0" anchor="ctr"/>
          <ns1:lstStyle/>
          <ns1:p>
            <ns1:pPr indent="0" marL="0">
              <ns1:buNone/>
            </ns1:pPr>
            <ns1:endParaRPr lang="en-US" dirty="0"/>
          </ns1:p>
        </ns0:txBody>
      </ns0:sp>
      <ns0:sp>
        <ns0:nvSpPr>
          <ns0:cNvPr id="20" name="Text 15"/>
          <ns0:cNvSpPr/>
          <ns0:nvPr/>
        </ns0:nvSpPr>
        <ns0:spPr>
          <ns1:xfrm>
            <ns1:off x="5174467" y="3310235"/>
            <ns1:ext cx="90020" cy="190500"/>
          </ns1:xfrm>
          <ns1:prstGeom prst="rect">
            <ns1:avLst/>
          </ns1:prstGeom>
          <ns1:noFill/>
          <ns1:ln/>
        </ns0:spPr>
        <ns0:txBody>
          <ns1:bodyPr wrap="square" lIns="0" tIns="0" rIns="0" bIns="0" rtlCol="0" anchor="t"/>
          <ns1:lstStyle/>
          <ns1:p>
            <ns1:pPr algn="ctr" indent="0" marL="0">
              <ns1:buNone/>
            </ns1:pPr>
            <ns1:r>
              <ns1:rPr lang="en-US" sz="1250" b="1" dirty="0">
                <ns1:solidFill>
                  <ns1:srgbClr val="FFFFFF"/>
                </ns1:solidFill>
                <ns1:latin typeface="Arial" pitchFamily="34" charset="0"/>
                <ns1:ea typeface="Arial" pitchFamily="34" charset="-122"/>
                <ns1:cs typeface="Arial" pitchFamily="34" charset="-120"/>
              </ns1:rPr>
              <ns1:t>3</ns1:t>
            </ns1:r>
            <ns1:endParaRPr lang="en-US" sz="1250" dirty="0"/>
          </ns1:p>
        </ns0:txBody>
      </ns0:sp>
      <ns0:sp>
        <ns0:nvSpPr>
          <ns0:cNvPr id="21" name="Text 16"/>
          <ns0:cNvSpPr/>
          <ns0:nvPr/>
        </ns0:nvSpPr>
        <ns0:spPr>
          <ns1:xfrm>
            <ns1:off x="5511552" y="3265884"/>
            <ns1:ext cx="2654001" cy="222200"/>
          </ns1:xfrm>
          <ns1:prstGeom prst="rect">
            <ns1:avLst/>
          </ns1:prstGeom>
          <ns1:noFill/>
          <ns1:ln/>
        </ns0:spPr>
        <ns0:txBody>
          <ns1:bodyPr wrap="square" lIns="0" tIns="0" rIns="0" bIns="0" rtlCol="0" anchor="t"/>
          <ns1:lstStyle/>
          <ns1:p>
            <ns1:pPr algn="l" indent="0" marL="0">
              <ns1:lnSpc>
                <ns1:spcPts val="1750"/>
              </ns1:lnSpc>
              <ns1:buNone/>
            </ns1:pPr>
            <ns1:r>
              <ns1:rPr lang="en-US" sz="1550" b="1" dirty="0">
                <ns1:solidFill>
                  <ns1:srgbClr val="1F2328"/>
                </ns1:solidFill>
                <ns1:latin typeface="Arial" pitchFamily="34" charset="0"/>
                <ns1:ea typeface="Arial" pitchFamily="34" charset="-122"/>
                <ns1:cs typeface="Arial" pitchFamily="34" charset="-120"/>
              </ns1:rPr>
              <ns1:t>Cloud off, Current checkout</ns1:t>
            </ns1:r>
            <ns1:endParaRPr lang="en-US" sz="1550" dirty="0"/>
          </ns1:p>
        </ns0:txBody>
      </ns0:sp>
      <ns0:sp>
        <ns0:nvSpPr>
          <ns0:cNvPr id="22" name="Text 17"/>
          <ns0:cNvSpPr/>
          <ns0:nvPr/>
        </ns0:nvSpPr>
        <ns0:spPr>
          <ns1:xfrm>
            <ns1:off x="5511552" y="3513386"/>
            <ns1:ext cx="2654001" cy="198090"/>
          </ns1:xfrm>
          <ns1:prstGeom prst="rect">
            <ns1:avLst/>
          </ns1:prstGeom>
          <ns1:noFill/>
          <ns1:ln/>
        </ns0:spPr>
        <ns0:txBody>
          <ns1:bodyPr wrap="square" lIns="0" tIns="0" rIns="0" bIns="0" rtlCol="0" anchor="t"/>
          <ns1:lstStyle/>
          <ns1:p>
            <ns1:pPr algn="l" indent="0" marL="0">
              <ns1:lnSpc>
                <ns1:spcPts val="1560"/>
              </ns1:lnSpc>
              <ns1:buNone/>
            </ns1:pPr>
            <ns1:r>
              <ns1:rPr lang="en-US" sz="1350" dirty="0">
                <ns1:solidFill>
                  <ns1:srgbClr val="59636E"/>
                </ns1:solidFill>
                <ns1:latin typeface="Arial" pitchFamily="34" charset="0"/>
                <ns1:ea typeface="Arial" pitchFamily="34" charset="-122"/>
                <ns1:cs typeface="Arial" pitchFamily="34" charset="-120"/>
              </ns1:rPr>
              <ns1:t>Runs locally. It only reads data.</ns1:t>
            </ns1:r>
            <ns1:endParaRPr lang="en-US" sz="1350" dirty="0"/>
          </ns1:p>
        </ns0:txBody>
      </ns0:sp>
      <ns0:sp>
        <ns0:nvSpPr>
          <ns0:cNvPr id="23" name="Text 18"/>
          <ns0:cNvSpPr/>
          <ns0:nvPr/>
        </ns0:nvSpPr>
        <ns0:spPr>
          <ns1:xfrm>
            <ns1:off x="5079802" y="3889177"/>
            <ns1:ext cx="279350" cy="279350"/>
          </ns1:xfrm>
          <ns1:prstGeom prst="roundRect">
            <ns1:avLst>
              <ns1:gd name="adj" fmla="val 327331"/>
            </ns1:avLst>
          </ns1:prstGeom>
          <ns1:solidFill>
            <ns1:srgbClr val="8250DF"/>
          </ns1:solidFill>
          <ns1:ln/>
        </ns0:spPr>
        <ns0:txBody>
          <ns1:bodyPr wrap="square" rtlCol="0" anchor="ctr"/>
          <ns1:lstStyle/>
          <ns1:p>
            <ns1:pPr indent="0" marL="0">
              <ns1:buNone/>
            </ns1:pPr>
            <ns1:endParaRPr lang="en-US" dirty="0"/>
          </ns1:p>
        </ns0:txBody>
      </ns0:sp>
      <ns0:sp>
        <ns0:nvSpPr>
          <ns0:cNvPr id="24" name="Text 19"/>
          <ns0:cNvSpPr/>
          <ns0:nvPr/>
        </ns0:nvSpPr>
        <ns0:spPr>
          <ns1:xfrm>
            <ns1:off x="5174467" y="3933527"/>
            <ns1:ext cx="90020" cy="190500"/>
          </ns1:xfrm>
          <ns1:prstGeom prst="rect">
            <ns1:avLst/>
          </ns1:prstGeom>
          <ns1:noFill/>
          <ns1:ln/>
        </ns0:spPr>
        <ns0:txBody>
          <ns1:bodyPr wrap="square" lIns="0" tIns="0" rIns="0" bIns="0" rtlCol="0" anchor="t"/>
          <ns1:lstStyle/>
          <ns1:p>
            <ns1:pPr algn="ctr" indent="0" marL="0">
              <ns1:buNone/>
            </ns1:pPr>
            <ns1:r>
              <ns1:rPr lang="en-US" sz="1250" b="1" dirty="0">
                <ns1:solidFill>
                  <ns1:srgbClr val="FFFFFF"/>
                </ns1:solidFill>
                <ns1:latin typeface="Arial" pitchFamily="34" charset="0"/>
                <ns1:ea typeface="Arial" pitchFamily="34" charset="-122"/>
                <ns1:cs typeface="Arial" pitchFamily="34" charset="-120"/>
              </ns1:rPr>
              <ns1:t>4</ns1:t>
            </ns1:r>
            <ns1:endParaRPr lang="en-US" sz="1250" dirty="0"/>
          </ns1:p>
        </ns0:txBody>
      </ns0:sp>
      <ns0:sp>
        <ns0:nvSpPr>
          <ns0:cNvPr id="25" name="Text 20"/>
          <ns0:cNvSpPr/>
          <ns0:nvPr/>
        </ns0:nvSpPr>
        <ns0:spPr>
          <ns1:xfrm>
            <ns1:off x="5511552" y="3889177"/>
            <ns1:ext cx="2400943" cy="222200"/>
          </ns1:xfrm>
          <ns1:prstGeom prst="rect">
            <ns1:avLst/>
          </ns1:prstGeom>
          <ns1:noFill/>
          <ns1:ln/>
        </ns0:spPr>
        <ns0:txBody>
          <ns1:bodyPr wrap="square" lIns="0" tIns="0" rIns="0" bIns="0" rtlCol="0" anchor="t"/>
          <ns1:lstStyle/>
          <ns1:p>
            <ns1:pPr algn="l" indent="0" marL="0">
              <ns1:lnSpc>
                <ns1:spcPts val="1750"/>
              </ns1:lnSpc>
              <ns1:buNone/>
            </ns1:pPr>
            <ns1:r>
              <ns1:rPr lang="en-US" sz="1550" b="1" dirty="0">
                <ns1:solidFill>
                  <ns1:srgbClr val="1F2328"/>
                </ns1:solidFill>
                <ns1:latin typeface="Arial" pitchFamily="34" charset="0"/>
                <ns1:ea typeface="Arial" pitchFamily="34" charset="-122"/>
                <ns1:cs typeface="Arial" pitchFamily="34" charset="-120"/>
              </ns1:rPr>
              <ns1:t>Create and run</ns1:t>
            </ns1:r>
            <ns1:endParaRPr lang="en-US" sz="1550" dirty="0"/>
          </ns1:p>
        </ns0:txBody>
      </ns0:sp>
      <ns0:sp>
        <ns0:nvSpPr>
          <ns0:cNvPr id="26" name="Text 21"/>
          <ns0:cNvSpPr/>
          <ns0:nvPr/>
        </ns0:nvSpPr>
        <ns0:spPr>
          <ns1:xfrm>
            <ns1:off x="5511552" y="4136678"/>
            <ns1:ext cx="2400943" cy="198090"/>
          </ns1:xfrm>
          <ns1:prstGeom prst="rect">
            <ns1:avLst/>
          </ns1:prstGeom>
          <ns1:noFill/>
          <ns1:ln/>
        </ns0:spPr>
        <ns0:txBody>
          <ns1:bodyPr wrap="square" lIns="0" tIns="0" rIns="0" bIns="0" rtlCol="0" anchor="t"/>
          <ns1:lstStyle/>
          <ns1:p>
            <ns1:pPr algn="l" indent="0" marL="0">
              <ns1:lnSpc>
                <ns1:spcPts val="1560"/>
              </ns1:lnSpc>
              <ns1:buNone/>
            </ns1:pPr>
            <ns1:r>
              <ns1:rPr lang="en-US" sz="1350" dirty="0">
                <ns1:solidFill>
                  <ns1:srgbClr val="59636E"/>
                </ns1:solidFill>
                <ns1:latin typeface="Arial" pitchFamily="34" charset="0"/>
                <ns1:ea typeface="Arial" pitchFamily="34" charset="-122"/>
                <ns1:cs typeface="Arial" pitchFamily="34" charset="-120"/>
              </ns1:rPr>
              <ns1:t>From the arrow next to </ns1:t>
            </ns1:r>
            <ns1:pPr algn="l" indent="0" marL="0">
              <ns1:lnSpc>
                <ns1:spcPts val="1560"/>
              </ns1:lnSpc>
              <ns1:buNone/>
            </ns1:pPr>
            <ns1:r>
              <ns1:rPr lang="en-US" sz="1350" b="1" dirty="0">
                <ns1:solidFill>
                  <ns1:srgbClr val="59636E"/>
                </ns1:solidFill>
                <ns1:latin typeface="Arial" pitchFamily="34" charset="0"/>
                <ns1:ea typeface="Arial" pitchFamily="34" charset="-122"/>
                <ns1:cs typeface="Arial" pitchFamily="34" charset="-120"/>
              </ns1:rPr>
              <ns1:t>Create</ns1:t>
            </ns1:r>
            <ns1:pPr algn="l" indent="0" marL="0">
              <ns1:lnSpc>
                <ns1:spcPts val="1560"/>
              </ns1:lnSpc>
              <ns1:buNone/>
            </ns1:pPr>
            <ns1:r>
              <ns1:rPr lang="en-US" sz="1350" dirty="0">
                <ns1:solidFill>
                  <ns1:srgbClr val="59636E"/>
                </ns1:solidFill>
                <ns1:latin typeface="Arial" pitchFamily="34" charset="0"/>
                <ns1:ea typeface="Arial" pitchFamily="34" charset="-122"/>
                <ns1:cs typeface="Arial" pitchFamily="34" charset="-120"/>
              </ns1:rPr>
              <ns1:t>.</ns1:t>
            </ns1:r>
            <ns1:endParaRPr lang="en-US" sz="1350" dirty="0"/>
          </ns1:p>
        </ns0:txBody>
      </ns0:sp>
    </ns0:spTree>
  </ns0:cSld>
  <ns0:clrMapOvr>
    <ns1:masterClrMapping/>
  </ns0:clrMapOvr>
</ns0: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pic>
        <p:nvPicPr>
          <p:cNvPr id="2"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6349901" y="0"/>
            <a:ext cx="2793950" cy="1308050"/>
          </a:xfrm>
          <a:prstGeom prst="rect">
            <a:avLst/>
          </a:prstGeom>
        </p:spPr>
      </p:pic>
      <p:sp>
        <p:nvSpPr>
          <p:cNvPr id="3" name="Text 0"/>
          <p:cNvSpPr/>
          <p:nvPr/>
        </p:nvSpPr>
        <p:spPr>
          <a:xfrm>
            <a:off x="7340501" y="177701"/>
            <a:ext cx="1168301" cy="279350"/>
          </a:xfrm>
          <a:prstGeom prst="roundRect">
            <a:avLst>
              <a:gd name="adj" fmla="val 22731"/>
            </a:avLst>
          </a:prstGeom>
          <a:solidFill>
            <a:srgbClr val="1A7F37"/>
          </a:solidFill>
          <a:ln/>
        </p:spPr>
        <p:txBody>
          <a:bodyPr wrap="square" rtlCol="0" anchor="ctr"/>
          <a:lstStyle/>
          <a:p>
            <a:pPr indent="0" marL="0">
              <a:buNone/>
            </a:pPr>
            <a:endParaRPr lang="en-US" dirty="0"/>
          </a:p>
        </p:txBody>
      </p:sp>
      <p:sp>
        <p:nvSpPr>
          <p:cNvPr id="4" name="Text 1"/>
          <p:cNvSpPr/>
          <p:nvPr/>
        </p:nvSpPr>
        <p:spPr>
          <a:xfrm>
            <a:off x="7461041" y="231577"/>
            <a:ext cx="927071" cy="171450"/>
          </a:xfrm>
          <a:prstGeom prst="rect">
            <a:avLst/>
          </a:prstGeom>
          <a:noFill/>
          <a:ln/>
        </p:spPr>
        <p:txBody>
          <a:bodyPr wrap="square" lIns="0" tIns="0" rIns="0" bIns="0" rtlCol="0" anchor="t"/>
          <a:lstStyle/>
          <a:p>
            <a:pPr algn="ctr" indent="0" marL="0">
              <a:buNone/>
            </a:pPr>
            <a:r>
              <a:rPr lang="en-US" sz="1150" b="1" dirty="0">
                <a:solidFill>
                  <a:srgbClr val="FFFFFF"/>
                </a:solidFill>
                <a:latin typeface="Arial" pitchFamily="34" charset="0"/>
                <a:ea typeface="Arial" pitchFamily="34" charset="-122"/>
                <a:cs typeface="Arial" pitchFamily="34" charset="-120"/>
              </a:rPr>
              <a:t>CHAPTER 07</a:t>
            </a:r>
            <a:endParaRPr lang="en-US" sz="1150" dirty="0"/>
          </a:p>
        </p:txBody>
      </p:sp>
      <p:pic>
        <p:nvPicPr>
          <p:cNvPr id="5" name="Image 1" descr="Open this chapter on GitHub">
            <a:hlinkClick r:id="rId3" tooltip="https://github.com/github/copilot-app-for-beginners/tree/main/07-automations"/>
          </p:cNvPr>
          <p:cNvPicPr>
            <a:picLocks noChangeAspect="1"/>
          </p:cNvPicPr>
          <p:nvPr/>
        </p:nvPicPr>
        <p:blipFill>
          <a:blip r:embed="rId2"/>
          <a:stretch>
            <a:fillRect/>
          </a:stretch>
        </p:blipFill>
        <p:spPr>
          <a:xfrm>
            <a:off x="8610600" y="165050"/>
            <a:ext cx="304800" cy="304800"/>
          </a:xfrm>
          <a:prstGeom prst="rect">
            <a:avLst/>
          </a:prstGeom>
        </p:spPr>
      </p:pic>
      <p:sp>
        <p:nvSpPr>
          <p:cNvPr id="6" name="Text 2"/>
          <p:cNvSpPr/>
          <p:nvPr/>
        </p:nvSpPr>
        <p:spPr>
          <a:xfrm>
            <a:off x="507950" y="381000"/>
            <a:ext cx="8161020" cy="190500"/>
          </a:xfrm>
          <a:prstGeom prst="rect">
            <a:avLst/>
          </a:prstGeom>
          <a:noFill/>
          <a:ln/>
        </p:spPr>
        <p:txBody>
          <a:bodyPr wrap="square" lIns="0" tIns="0" rIns="0" bIns="0" rtlCol="0" anchor="t"/>
          <a:lstStyle/>
          <a:p>
            <a:pPr algn="l" indent="0" marL="0">
              <a:buNone/>
            </a:pPr>
            <a:r>
              <a:rPr lang="en-US" sz="1250" b="1" dirty="0">
                <a:solidFill>
                  <a:srgbClr val="8250DF"/>
                </a:solidFill>
                <a:latin typeface="Arial" pitchFamily="34" charset="0"/>
                <a:ea typeface="Arial" pitchFamily="34" charset="-122"/>
                <a:cs typeface="Arial" pitchFamily="34" charset="-120"/>
              </a:rPr>
              <a:t>INSPECT THE RUN</a:t>
            </a:r>
            <a:endParaRPr lang="en-US" sz="1250" dirty="0"/>
          </a:p>
        </p:txBody>
      </p:sp>
      <p:sp>
        <p:nvSpPr>
          <p:cNvPr id="7" name="Text 3"/>
          <p:cNvSpPr/>
          <p:nvPr/>
        </p:nvSpPr>
        <p:spPr>
          <a:xfrm>
            <a:off x="507950" y="622250"/>
            <a:ext cx="8161020" cy="419100"/>
          </a:xfrm>
          <a:prstGeom prst="rect">
            <a:avLst/>
          </a:prstGeom>
          <a:noFill/>
          <a:ln/>
        </p:spPr>
        <p:txBody>
          <a:bodyPr wrap="square" lIns="0" tIns="0" rIns="0" bIns="0" rtlCol="0" anchor="t"/>
          <a:lstStyle/>
          <a:p>
            <a:pPr algn="l" indent="0" marL="0">
              <a:lnSpc>
                <a:spcPts val="3300"/>
              </a:lnSpc>
              <a:spcBef>
                <a:spcPts val="400"/>
              </a:spcBef>
              <a:buNone/>
            </a:pPr>
            <a:r>
              <a:rPr lang="en-US" sz="2800" b="1" dirty="0">
                <a:solidFill>
                  <a:srgbClr val="1F2328"/>
                </a:solidFill>
                <a:latin typeface="Arial" pitchFamily="34" charset="0"/>
                <a:ea typeface="Arial" pitchFamily="34" charset="-122"/>
                <a:cs typeface="Arial" pitchFamily="34" charset="-120"/>
              </a:rPr>
              <a:t>Why each PR is blocked</a:t>
            </a:r>
            <a:endParaRPr lang="en-US" sz="2800" dirty="0"/>
          </a:p>
        </p:txBody>
      </p:sp>
      <p:sp>
        <p:nvSpPr>
          <p:cNvPr id="8" name="Text 4"/>
          <p:cNvSpPr/>
          <p:nvPr/>
        </p:nvSpPr>
        <p:spPr>
          <a:xfrm>
            <a:off x="507950" y="1104751"/>
            <a:ext cx="8161020" cy="254050"/>
          </a:xfrm>
          <a:prstGeom prst="rect">
            <a:avLst/>
          </a:prstGeom>
          <a:noFill/>
          <a:ln/>
        </p:spPr>
        <p:txBody>
          <a:bodyPr wrap="square" lIns="0" tIns="0" rIns="0" bIns="0" rtlCol="0" anchor="t"/>
          <a:lstStyle/>
          <a:p>
            <a:pPr algn="l" indent="0" marL="0">
              <a:lnSpc>
                <a:spcPts val="2000"/>
              </a:lnSpc>
              <a:spcBef>
                <a:spcPts val="500"/>
              </a:spcBef>
              <a:buNone/>
            </a:pPr>
            <a:r>
              <a:rPr lang="en-US" sz="1650" dirty="0">
                <a:solidFill>
                  <a:srgbClr val="59636E"/>
                </a:solidFill>
                <a:latin typeface="Arial" pitchFamily="34" charset="0"/>
                <a:ea typeface="Arial" pitchFamily="34" charset="-122"/>
                <a:cs typeface="Arial" pitchFamily="34" charset="-120"/>
              </a:rPr>
              <a:t>Your PR numbers, titles, and statuses may differ.</a:t>
            </a:r>
            <a:endParaRPr lang="en-US" sz="1650" dirty="0"/>
          </a:p>
        </p:txBody>
      </p:sp>
      <p:sp>
        <p:nvSpPr>
          <p:cNvPr id="9" name="Text 5"/>
          <p:cNvSpPr/>
          <p:nvPr/>
        </p:nvSpPr>
        <p:spPr>
          <a:xfrm>
            <a:off x="507950" y="2149673"/>
            <a:ext cx="8127950" cy="1923306"/>
          </a:xfrm>
          <a:prstGeom prst="roundRect">
            <a:avLst>
              <a:gd name="adj" fmla="val 5283"/>
            </a:avLst>
          </a:prstGeom>
          <a:solidFill>
            <a:srgbClr val="FFFFFF"/>
          </a:solidFill>
          <a:ln w="9525">
            <a:solidFill>
              <a:srgbClr val="D1D9E0"/>
            </a:solidFill>
          </a:ln>
        </p:spPr>
        <p:txBody>
          <a:bodyPr wrap="square" rtlCol="0" anchor="ctr"/>
          <a:lstStyle/>
          <a:p>
            <a:pPr indent="0" marL="0">
              <a:buNone/>
            </a:pPr>
            <a:endParaRPr lang="en-US" dirty="0"/>
          </a:p>
        </p:txBody>
      </p:sp>
      <p:sp>
        <p:nvSpPr>
          <p:cNvPr id="10" name="Text 6"/>
          <p:cNvSpPr/>
          <p:nvPr/>
        </p:nvSpPr>
        <p:spPr>
          <a:xfrm>
            <a:off x="517475" y="2159198"/>
            <a:ext cx="8108900" cy="326975"/>
          </a:xfrm>
          <a:prstGeom prst="rect">
            <a:avLst/>
          </a:prstGeom>
          <a:solidFill>
            <a:srgbClr val="DDF4FF"/>
          </a:solidFill>
          <a:ln/>
        </p:spPr>
        <p:txBody>
          <a:bodyPr wrap="square" rtlCol="0" anchor="ctr"/>
          <a:lstStyle/>
          <a:p>
            <a:pPr indent="0" marL="0">
              <a:buNone/>
            </a:pPr>
            <a:endParaRPr lang="en-US" dirty="0"/>
          </a:p>
        </p:txBody>
      </p:sp>
      <p:sp>
        <p:nvSpPr>
          <p:cNvPr id="11" name="Shape 7"/>
          <p:cNvSpPr/>
          <p:nvPr/>
        </p:nvSpPr>
        <p:spPr>
          <a:xfrm>
            <a:off x="517475" y="2481411"/>
            <a:ext cx="8108900" cy="0"/>
          </a:xfrm>
          <a:prstGeom prst="line">
            <a:avLst/>
          </a:prstGeom>
          <a:noFill/>
          <a:ln w="9525">
            <a:solidFill>
              <a:srgbClr val="9CD7FF"/>
            </a:solidFill>
            <a:prstDash val="solid"/>
          </a:ln>
        </p:spPr>
      </p:sp>
      <p:sp>
        <p:nvSpPr>
          <p:cNvPr id="12" name="Text 8"/>
          <p:cNvSpPr/>
          <p:nvPr/>
        </p:nvSpPr>
        <p:spPr>
          <a:xfrm>
            <a:off x="669875" y="2235398"/>
            <a:ext cx="2927553" cy="165050"/>
          </a:xfrm>
          <a:prstGeom prst="rect">
            <a:avLst/>
          </a:prstGeom>
          <a:noFill/>
          <a:ln/>
        </p:spPr>
        <p:txBody>
          <a:bodyPr wrap="square" lIns="0" tIns="0" rIns="0" bIns="0" rtlCol="0" anchor="t"/>
          <a:lstStyle/>
          <a:p>
            <a:pPr algn="l" indent="0" marL="0">
              <a:lnSpc>
                <a:spcPts val="1300"/>
              </a:lnSpc>
              <a:buNone/>
            </a:pPr>
            <a:r>
              <a:rPr lang="en-US" sz="1150" b="1" dirty="0">
                <a:solidFill>
                  <a:srgbClr val="0969DA"/>
                </a:solidFill>
                <a:latin typeface="Arial" pitchFamily="34" charset="0"/>
                <a:ea typeface="Arial" pitchFamily="34" charset="-122"/>
                <a:cs typeface="Arial" pitchFamily="34" charset="-120"/>
              </a:rPr>
              <a:t>PULL REQUEST</a:t>
            </a:r>
            <a:endParaRPr lang="en-US" sz="1150" dirty="0"/>
          </a:p>
        </p:txBody>
      </p:sp>
      <p:sp>
        <p:nvSpPr>
          <p:cNvPr id="13" name="Text 9"/>
          <p:cNvSpPr/>
          <p:nvPr/>
        </p:nvSpPr>
        <p:spPr>
          <a:xfrm>
            <a:off x="3844826" y="2235398"/>
            <a:ext cx="1113943" cy="165050"/>
          </a:xfrm>
          <a:prstGeom prst="rect">
            <a:avLst/>
          </a:prstGeom>
          <a:noFill/>
          <a:ln/>
        </p:spPr>
        <p:txBody>
          <a:bodyPr wrap="square" lIns="0" tIns="0" rIns="0" bIns="0" rtlCol="0" anchor="t"/>
          <a:lstStyle/>
          <a:p>
            <a:pPr algn="l" indent="0" marL="0">
              <a:lnSpc>
                <a:spcPts val="1300"/>
              </a:lnSpc>
              <a:buNone/>
            </a:pPr>
            <a:r>
              <a:rPr lang="en-US" sz="1150" b="1" dirty="0">
                <a:solidFill>
                  <a:srgbClr val="0969DA"/>
                </a:solidFill>
                <a:latin typeface="Arial" pitchFamily="34" charset="0"/>
                <a:ea typeface="Arial" pitchFamily="34" charset="-122"/>
                <a:cs typeface="Arial" pitchFamily="34" charset="-120"/>
              </a:rPr>
              <a:t>CI</a:t>
            </a:r>
            <a:endParaRPr lang="en-US" sz="1150" dirty="0"/>
          </a:p>
        </p:txBody>
      </p:sp>
      <p:sp>
        <p:nvSpPr>
          <p:cNvPr id="14" name="Text 10"/>
          <p:cNvSpPr/>
          <p:nvPr/>
        </p:nvSpPr>
        <p:spPr>
          <a:xfrm>
            <a:off x="5241727" y="2235398"/>
            <a:ext cx="3316173" cy="165050"/>
          </a:xfrm>
          <a:prstGeom prst="rect">
            <a:avLst/>
          </a:prstGeom>
          <a:noFill/>
          <a:ln/>
        </p:spPr>
        <p:txBody>
          <a:bodyPr wrap="square" lIns="0" tIns="0" rIns="0" bIns="0" rtlCol="0" anchor="t"/>
          <a:lstStyle/>
          <a:p>
            <a:pPr algn="l" indent="0" marL="0">
              <a:lnSpc>
                <a:spcPts val="1300"/>
              </a:lnSpc>
              <a:buNone/>
            </a:pPr>
            <a:r>
              <a:rPr lang="en-US" sz="1150" b="1" dirty="0">
                <a:solidFill>
                  <a:srgbClr val="0969DA"/>
                </a:solidFill>
                <a:latin typeface="Arial" pitchFamily="34" charset="0"/>
                <a:ea typeface="Arial" pitchFamily="34" charset="-122"/>
                <a:cs typeface="Arial" pitchFamily="34" charset="-120"/>
              </a:rPr>
              <a:t>NEXT HUMAN ACTION</a:t>
            </a:r>
            <a:endParaRPr lang="en-US" sz="1150" dirty="0"/>
          </a:p>
        </p:txBody>
      </p:sp>
      <p:sp>
        <p:nvSpPr>
          <p:cNvPr id="15" name="Shape 11"/>
          <p:cNvSpPr/>
          <p:nvPr/>
        </p:nvSpPr>
        <p:spPr>
          <a:xfrm>
            <a:off x="517475" y="3010346"/>
            <a:ext cx="8108900" cy="0"/>
          </a:xfrm>
          <a:prstGeom prst="line">
            <a:avLst/>
          </a:prstGeom>
          <a:noFill/>
          <a:ln w="9525">
            <a:solidFill>
              <a:srgbClr val="D1D9E0"/>
            </a:solidFill>
            <a:prstDash val="solid"/>
          </a:ln>
        </p:spPr>
      </p:sp>
      <p:sp>
        <p:nvSpPr>
          <p:cNvPr id="16" name="Text 12"/>
          <p:cNvSpPr/>
          <p:nvPr/>
        </p:nvSpPr>
        <p:spPr>
          <a:xfrm>
            <a:off x="669875" y="2638574"/>
            <a:ext cx="2927553" cy="214610"/>
          </a:xfrm>
          <a:prstGeom prst="rect">
            <a:avLst/>
          </a:prstGeom>
          <a:noFill/>
          <a:ln/>
        </p:spPr>
        <p:txBody>
          <a:bodyPr wrap="square" lIns="0" tIns="0" rIns="0" bIns="0" rtlCol="0" anchor="t"/>
          <a:lstStyle/>
          <a:p>
            <a:pPr algn="l" indent="0" marL="0">
              <a:lnSpc>
                <a:spcPts val="1690"/>
              </a:lnSpc>
              <a:buNone/>
            </a:pPr>
            <a:r>
              <a:rPr lang="en-US" sz="1450" b="1" dirty="0">
                <a:solidFill>
                  <a:srgbClr val="1F2328"/>
                </a:solidFill>
                <a:latin typeface="Arial" pitchFamily="34" charset="0"/>
                <a:ea typeface="Arial" pitchFamily="34" charset="-122"/>
                <a:cs typeface="Arial" pitchFamily="34" charset="-120"/>
              </a:rPr>
              <a:t>#6 Improve empty-state copy</a:t>
            </a:r>
            <a:endParaRPr lang="en-US" sz="1450" dirty="0"/>
          </a:p>
        </p:txBody>
      </p:sp>
      <p:sp>
        <p:nvSpPr>
          <p:cNvPr id="17" name="Text 13"/>
          <p:cNvSpPr/>
          <p:nvPr/>
        </p:nvSpPr>
        <p:spPr>
          <a:xfrm>
            <a:off x="3844826" y="2638574"/>
            <a:ext cx="1113943" cy="214610"/>
          </a:xfrm>
          <a:prstGeom prst="rect">
            <a:avLst/>
          </a:prstGeom>
          <a:noFill/>
          <a:ln/>
        </p:spPr>
        <p:txBody>
          <a:bodyPr wrap="square" lIns="0" tIns="0" rIns="0" bIns="0" rtlCol="0" anchor="t"/>
          <a:lstStyle/>
          <a:p>
            <a:pPr algn="l" indent="0" marL="0">
              <a:lnSpc>
                <a:spcPts val="1690"/>
              </a:lnSpc>
              <a:buNone/>
            </a:pPr>
            <a:r>
              <a:rPr lang="en-US" sz="1450" b="1" dirty="0">
                <a:solidFill>
                  <a:srgbClr val="1A7F37"/>
                </a:solidFill>
                <a:latin typeface="Arial" pitchFamily="34" charset="0"/>
                <a:ea typeface="Arial" pitchFamily="34" charset="-122"/>
                <a:cs typeface="Arial" pitchFamily="34" charset="-120"/>
              </a:rPr>
              <a:t>Pass</a:t>
            </a:r>
            <a:endParaRPr lang="en-US" sz="1450" dirty="0"/>
          </a:p>
        </p:txBody>
      </p:sp>
      <p:sp>
        <p:nvSpPr>
          <p:cNvPr id="18" name="Text 14"/>
          <p:cNvSpPr/>
          <p:nvPr/>
        </p:nvSpPr>
        <p:spPr>
          <a:xfrm>
            <a:off x="5241727" y="2638574"/>
            <a:ext cx="3316173" cy="214610"/>
          </a:xfrm>
          <a:prstGeom prst="rect">
            <a:avLst/>
          </a:prstGeom>
          <a:noFill/>
          <a:ln/>
        </p:spPr>
        <p:txBody>
          <a:bodyPr wrap="square" lIns="0" tIns="0" rIns="0" bIns="0" rtlCol="0" anchor="t"/>
          <a:lstStyle/>
          <a:p>
            <a:pPr algn="l" indent="0" marL="0">
              <a:lnSpc>
                <a:spcPts val="1690"/>
              </a:lnSpc>
              <a:buNone/>
            </a:pPr>
            <a:r>
              <a:rPr lang="en-US" sz="1450" dirty="0">
                <a:solidFill>
                  <a:srgbClr val="1F2328"/>
                </a:solidFill>
                <a:latin typeface="Arial" pitchFamily="34" charset="0"/>
                <a:ea typeface="Arial" pitchFamily="34" charset="-122"/>
                <a:cs typeface="Arial" pitchFamily="34" charset="-120"/>
              </a:rPr>
              <a:t>Address the review comment</a:t>
            </a:r>
            <a:endParaRPr lang="en-US" sz="1450" dirty="0"/>
          </a:p>
        </p:txBody>
      </p:sp>
      <p:sp>
        <p:nvSpPr>
          <p:cNvPr id="19" name="Shape 15"/>
          <p:cNvSpPr/>
          <p:nvPr/>
        </p:nvSpPr>
        <p:spPr>
          <a:xfrm>
            <a:off x="517475" y="3539282"/>
            <a:ext cx="8108900" cy="0"/>
          </a:xfrm>
          <a:prstGeom prst="line">
            <a:avLst/>
          </a:prstGeom>
          <a:noFill/>
          <a:ln w="9525">
            <a:solidFill>
              <a:srgbClr val="D1D9E0"/>
            </a:solidFill>
            <a:prstDash val="solid"/>
          </a:ln>
        </p:spPr>
      </p:sp>
      <p:sp>
        <p:nvSpPr>
          <p:cNvPr id="20" name="Text 16"/>
          <p:cNvSpPr/>
          <p:nvPr/>
        </p:nvSpPr>
        <p:spPr>
          <a:xfrm>
            <a:off x="669875" y="3167509"/>
            <a:ext cx="2927553" cy="214610"/>
          </a:xfrm>
          <a:prstGeom prst="rect">
            <a:avLst/>
          </a:prstGeom>
          <a:noFill/>
          <a:ln/>
        </p:spPr>
        <p:txBody>
          <a:bodyPr wrap="square" lIns="0" tIns="0" rIns="0" bIns="0" rtlCol="0" anchor="t"/>
          <a:lstStyle/>
          <a:p>
            <a:pPr algn="l" indent="0" marL="0">
              <a:lnSpc>
                <a:spcPts val="1690"/>
              </a:lnSpc>
              <a:buNone/>
            </a:pPr>
            <a:r>
              <a:rPr lang="en-US" sz="1450" b="1" dirty="0">
                <a:solidFill>
                  <a:srgbClr val="1F2328"/>
                </a:solidFill>
                <a:latin typeface="Arial" pitchFamily="34" charset="0"/>
                <a:ea typeface="Arial" pitchFamily="34" charset="-122"/>
                <a:cs typeface="Arial" pitchFamily="34" charset="-120"/>
              </a:rPr>
              <a:t>#7 Failing stats check practice</a:t>
            </a:r>
            <a:endParaRPr lang="en-US" sz="1450" dirty="0"/>
          </a:p>
        </p:txBody>
      </p:sp>
      <p:sp>
        <p:nvSpPr>
          <p:cNvPr id="21" name="Text 17"/>
          <p:cNvSpPr/>
          <p:nvPr/>
        </p:nvSpPr>
        <p:spPr>
          <a:xfrm>
            <a:off x="3844826" y="3167509"/>
            <a:ext cx="1113943" cy="214610"/>
          </a:xfrm>
          <a:prstGeom prst="rect">
            <a:avLst/>
          </a:prstGeom>
          <a:noFill/>
          <a:ln/>
        </p:spPr>
        <p:txBody>
          <a:bodyPr wrap="square" lIns="0" tIns="0" rIns="0" bIns="0" rtlCol="0" anchor="t"/>
          <a:lstStyle/>
          <a:p>
            <a:pPr algn="l" indent="0" marL="0">
              <a:lnSpc>
                <a:spcPts val="1690"/>
              </a:lnSpc>
              <a:buNone/>
            </a:pPr>
            <a:r>
              <a:rPr lang="en-US" sz="1450" b="1" dirty="0">
                <a:solidFill>
                  <a:srgbClr val="CF222E"/>
                </a:solidFill>
                <a:latin typeface="Arial" pitchFamily="34" charset="0"/>
                <a:ea typeface="Arial" pitchFamily="34" charset="-122"/>
                <a:cs typeface="Arial" pitchFamily="34" charset="-120"/>
              </a:rPr>
              <a:t>Fail</a:t>
            </a:r>
            <a:endParaRPr lang="en-US" sz="1450" dirty="0"/>
          </a:p>
        </p:txBody>
      </p:sp>
      <p:sp>
        <p:nvSpPr>
          <p:cNvPr id="22" name="Text 18"/>
          <p:cNvSpPr/>
          <p:nvPr/>
        </p:nvSpPr>
        <p:spPr>
          <a:xfrm>
            <a:off x="5241727" y="3167509"/>
            <a:ext cx="3316173" cy="214610"/>
          </a:xfrm>
          <a:prstGeom prst="rect">
            <a:avLst/>
          </a:prstGeom>
          <a:noFill/>
          <a:ln/>
        </p:spPr>
        <p:txBody>
          <a:bodyPr wrap="square" lIns="0" tIns="0" rIns="0" bIns="0" rtlCol="0" anchor="t"/>
          <a:lstStyle/>
          <a:p>
            <a:pPr algn="l" indent="0" marL="0">
              <a:lnSpc>
                <a:spcPts val="1690"/>
              </a:lnSpc>
              <a:buNone/>
            </a:pPr>
            <a:r>
              <a:rPr lang="en-US" sz="1450" dirty="0">
                <a:solidFill>
                  <a:srgbClr val="1F2328"/>
                </a:solidFill>
                <a:latin typeface="Arial" pitchFamily="34" charset="0"/>
                <a:ea typeface="Arial" pitchFamily="34" charset="-122"/>
                <a:cs typeface="Arial" pitchFamily="34" charset="-120"/>
              </a:rPr>
              <a:t>Fix the favorite count</a:t>
            </a:r>
            <a:endParaRPr lang="en-US" sz="1450" dirty="0"/>
          </a:p>
        </p:txBody>
      </p:sp>
      <p:sp>
        <p:nvSpPr>
          <p:cNvPr id="23" name="Text 19"/>
          <p:cNvSpPr/>
          <p:nvPr/>
        </p:nvSpPr>
        <p:spPr>
          <a:xfrm>
            <a:off x="669875" y="3696444"/>
            <a:ext cx="2927553" cy="214610"/>
          </a:xfrm>
          <a:prstGeom prst="rect">
            <a:avLst/>
          </a:prstGeom>
          <a:noFill/>
          <a:ln/>
        </p:spPr>
        <p:txBody>
          <a:bodyPr wrap="square" lIns="0" tIns="0" rIns="0" bIns="0" rtlCol="0" anchor="t"/>
          <a:lstStyle/>
          <a:p>
            <a:pPr algn="l" indent="0" marL="0">
              <a:lnSpc>
                <a:spcPts val="1690"/>
              </a:lnSpc>
              <a:buNone/>
            </a:pPr>
            <a:r>
              <a:rPr lang="en-US" sz="1450" b="1" dirty="0">
                <a:solidFill>
                  <a:srgbClr val="1F2328"/>
                </a:solidFill>
                <a:latin typeface="Arial" pitchFamily="34" charset="0"/>
                <a:ea typeface="Arial" pitchFamily="34" charset="-122"/>
                <a:cs typeface="Arial" pitchFamily="34" charset="-120"/>
              </a:rPr>
              <a:t>#8 Reading dashboard</a:t>
            </a:r>
            <a:endParaRPr lang="en-US" sz="1450" dirty="0"/>
          </a:p>
        </p:txBody>
      </p:sp>
      <p:sp>
        <p:nvSpPr>
          <p:cNvPr id="24" name="Text 20"/>
          <p:cNvSpPr/>
          <p:nvPr/>
        </p:nvSpPr>
        <p:spPr>
          <a:xfrm>
            <a:off x="3844826" y="3696444"/>
            <a:ext cx="1113943" cy="214610"/>
          </a:xfrm>
          <a:prstGeom prst="rect">
            <a:avLst/>
          </a:prstGeom>
          <a:noFill/>
          <a:ln/>
        </p:spPr>
        <p:txBody>
          <a:bodyPr wrap="square" lIns="0" tIns="0" rIns="0" bIns="0" rtlCol="0" anchor="t"/>
          <a:lstStyle/>
          <a:p>
            <a:pPr algn="l" indent="0" marL="0">
              <a:lnSpc>
                <a:spcPts val="1690"/>
              </a:lnSpc>
              <a:buNone/>
            </a:pPr>
            <a:r>
              <a:rPr lang="en-US" sz="1450" b="1" dirty="0">
                <a:solidFill>
                  <a:srgbClr val="1A7F37"/>
                </a:solidFill>
                <a:latin typeface="Arial" pitchFamily="34" charset="0"/>
                <a:ea typeface="Arial" pitchFamily="34" charset="-122"/>
                <a:cs typeface="Arial" pitchFamily="34" charset="-120"/>
              </a:rPr>
              <a:t>Pass</a:t>
            </a:r>
            <a:endParaRPr lang="en-US" sz="1450" dirty="0"/>
          </a:p>
        </p:txBody>
      </p:sp>
      <p:sp>
        <p:nvSpPr>
          <p:cNvPr id="25" name="Text 21"/>
          <p:cNvSpPr/>
          <p:nvPr/>
        </p:nvSpPr>
        <p:spPr>
          <a:xfrm>
            <a:off x="5241727" y="3696444"/>
            <a:ext cx="3316173" cy="214610"/>
          </a:xfrm>
          <a:prstGeom prst="rect">
            <a:avLst/>
          </a:prstGeom>
          <a:noFill/>
          <a:ln/>
        </p:spPr>
        <p:txBody>
          <a:bodyPr wrap="square" lIns="0" tIns="0" rIns="0" bIns="0" rtlCol="0" anchor="t"/>
          <a:lstStyle/>
          <a:p>
            <a:pPr algn="l" indent="0" marL="0">
              <a:lnSpc>
                <a:spcPts val="1690"/>
              </a:lnSpc>
              <a:buNone/>
            </a:pPr>
            <a:r>
              <a:rPr lang="en-US" sz="1450" dirty="0">
                <a:solidFill>
                  <a:srgbClr val="1F2328"/>
                </a:solidFill>
                <a:latin typeface="Arial" pitchFamily="34" charset="0"/>
                <a:ea typeface="Arial" pitchFamily="34" charset="-122"/>
                <a:cs typeface="Arial" pitchFamily="34" charset="-120"/>
              </a:rPr>
              <a:t>Ready to merge</a:t>
            </a:r>
            <a:endParaRPr lang="en-US" sz="1450" dirty="0"/>
          </a:p>
        </p:txBody>
      </p:sp>
    </p:spTree>
  </p:cSld>
  <p:clrMapOvr>
    <a:masterClrMapping/>
  </p:clrMapOvr>
</p:sld>
</file>

<file path=ppt/slides/slide10.xml><?xml version="1.0" encoding="utf-8"?>
<ns0:sld xmlns:ns0="http://schemas.openxmlformats.org/presentationml/2006/main" xmlns:ns1="http://schemas.openxmlformats.org/drawingml/2006/main" xmlns:ns2="http://schemas.microsoft.com/office/drawing/2017/decorative" xmlns:ns3="http://schemas.openxmlformats.org/officeDocument/2006/relationships">
  <ns0:cSld name="Slide 10">
    <ns0:bg>
      <ns0:bgPr>
        <ns1:solidFill>
          <ns1:srgbClr val="FFFFFF"/>
        </ns1:solidFill>
      </ns0:bgPr>
    </ns0:bg>
    <ns0:spTree>
      <ns0:nvGrpSpPr>
        <ns0:cNvPr id="1" name=""/>
        <ns0:cNvGrpSpPr/>
        <ns0:nvPr/>
      </ns0:nvGrpSpPr>
      <ns0:grpSpPr>
        <ns1:xfrm>
          <ns1:off x="0" y="0"/>
          <ns1:ext cx="0" cy="0"/>
          <ns1:chOff x="0" y="0"/>
          <ns1:chExt cx="0" cy="0"/>
        </ns1:xfrm>
      </ns0:grpSpPr>
      <ns0:pic>
        <ns0:nvPicPr>
          <ns0:cNvPr id="2" name="Image 0" descr="">
            <ns1:extLst>
              <ns1:ext uri="{C183D7F6-B498-43B3-948B-1728B52AA6E4}">
                <ns2:decorative val="1"/>
              </ns1:ext>
            </ns1:extLst>
          </ns0:cNvPr>
          <ns0:cNvPicPr>
            <ns1:picLocks noChangeAspect="1"/>
          </ns0:cNvPicPr>
          <ns0:nvPr/>
        </ns0:nvPicPr>
        <ns0:blipFill>
          <ns1:blip ns3:embed="rId1"/>
          <ns1:stretch>
            <ns1:fillRect/>
          </ns1:stretch>
        </ns0:blipFill>
        <ns0:spPr>
          <ns1:xfrm>
            <ns1:off x="6349901" y="0"/>
            <ns1:ext cx="2793950" cy="1308050"/>
          </ns1:xfrm>
          <ns1:prstGeom prst="rect">
            <ns1:avLst/>
          </ns1:prstGeom>
        </ns0:spPr>
      </ns0:pic>
      <ns0:sp>
        <ns0:nvSpPr>
          <ns0:cNvPr id="3" name="Text 0"/>
          <ns0:cNvSpPr/>
          <ns0:nvPr/>
        </ns0:nvSpPr>
        <ns0:spPr>
          <ns1:xfrm>
            <ns1:off x="7340501" y="177701"/>
            <ns1:ext cx="1168301" cy="279350"/>
          </ns1:xfrm>
          <ns1:prstGeom prst="roundRect">
            <ns1:avLst>
              <ns1:gd name="adj" fmla="val 22731"/>
            </ns1:avLst>
          </ns1:prstGeom>
          <ns1:solidFill>
            <ns1:srgbClr val="1A7F37"/>
          </ns1:solidFill>
          <ns1:ln/>
        </ns0:spPr>
        <ns0:txBody>
          <ns1:bodyPr wrap="square" rtlCol="0" anchor="ctr"/>
          <ns1:lstStyle/>
          <ns1:p>
            <ns1:pPr indent="0" marL="0">
              <ns1:buNone/>
            </ns1:pPr>
            <ns1:endParaRPr lang="en-US" dirty="0"/>
          </ns1:p>
        </ns0:txBody>
      </ns0:sp>
      <ns0:sp>
        <ns0:nvSpPr>
          <ns0:cNvPr id="4" name="Text 1"/>
          <ns0:cNvSpPr/>
          <ns0:nvPr/>
        </ns0:nvSpPr>
        <ns0:spPr>
          <ns1:xfrm>
            <ns1:off x="7461041" y="231577"/>
            <ns1:ext cx="927071" cy="171450"/>
          </ns1:xfrm>
          <ns1:prstGeom prst="rect">
            <ns1:avLst/>
          </ns1:prstGeom>
          <ns1:noFill/>
          <ns1:ln/>
        </ns0:spPr>
        <ns0:txBody>
          <ns1:bodyPr wrap="square" lIns="0" tIns="0" rIns="0" bIns="0" rtlCol="0" anchor="t"/>
          <ns1:lstStyle/>
          <ns1:p>
            <ns1:pPr algn="ctr" indent="0" marL="0">
              <ns1:buNone/>
            </ns1:pPr>
            <ns1:r>
              <ns1:rPr lang="en-US" sz="1150" b="1" dirty="0">
                <ns1:solidFill>
                  <ns1:srgbClr val="FFFFFF"/>
                </ns1:solidFill>
                <ns1:latin typeface="Arial" pitchFamily="34" charset="0"/>
                <ns1:ea typeface="Arial" pitchFamily="34" charset="-122"/>
                <ns1:cs typeface="Arial" pitchFamily="34" charset="-120"/>
              </ns1:rPr>
              <ns1:t>CHAPTER 07</ns1:t>
            </ns1:r>
            <ns1:endParaRPr lang="en-US" sz="1150" dirty="0"/>
          </ns1:p>
        </ns0:txBody>
      </ns0:sp>
      <ns0:pic>
        <ns0:nvPicPr>
          <ns0:cNvPr id="5" name="Image 1" descr="Open this chapter on GitHub">
            <ns1:hlinkClick ns3:id="rId3" tooltip="https://github.com/github/copilot-app-for-beginners/tree/main/07-automations"/>
          </ns0:cNvPr>
          <ns0:cNvPicPr>
            <ns1:picLocks noChangeAspect="1"/>
          </ns0:cNvPicPr>
          <ns0:nvPr/>
        </ns0:nvPicPr>
        <ns0:blipFill>
          <ns1:blip ns3:embed="rId2"/>
          <ns1:stretch>
            <ns1:fillRect/>
          </ns1:stretch>
        </ns0:blipFill>
        <ns0:spPr>
          <ns1:xfrm>
            <ns1:off x="8610600" y="165050"/>
            <ns1:ext cx="304800" cy="304800"/>
          </ns1:xfrm>
          <ns1:prstGeom prst="rect">
            <ns1:avLst/>
          </ns1:prstGeom>
        </ns0:spPr>
      </ns0:pic>
      <ns0:sp>
        <ns0:nvSpPr>
          <ns0:cNvPr id="6" name="Text 2"/>
          <ns0:cNvSpPr/>
          <ns0:nvPr/>
        </ns0:nvSpPr>
        <ns0:spPr>
          <ns1:xfrm>
            <ns1:off x="507950" y="381000"/>
            <ns1:ext cx="8161020" cy="190500"/>
          </ns1:xfrm>
          <ns1:prstGeom prst="rect">
            <ns1:avLst/>
          </ns1:prstGeom>
          <ns1:noFill/>
          <ns1:ln/>
        </ns0:spPr>
        <ns0:txBody>
          <ns1:bodyPr wrap="square" lIns="0" tIns="0" rIns="0" bIns="0" rtlCol="0" anchor="t"/>
          <ns1:lstStyle/>
          <ns1:p>
            <ns1:pPr algn="l" indent="0" marL="0">
              <ns1:buNone/>
            </ns1:pPr>
            <ns1:r>
              <ns1:rPr lang="en-US" sz="1250" b="1" dirty="0">
                <ns1:solidFill>
                  <ns1:srgbClr val="8250DF"/>
                </ns1:solidFill>
                <ns1:latin typeface="Arial" pitchFamily="34" charset="0"/>
                <ns1:ea typeface="Arial" pitchFamily="34" charset="-122"/>
                <ns1:cs typeface="Arial" pitchFamily="34" charset="-120"/>
              </ns1:rPr>
              <ns1:t>EXERCISE</ns1:t>
            </ns1:r>
            <ns1:endParaRPr lang="en-US" sz="1250" dirty="0"/>
          </ns1:p>
        </ns0:txBody>
      </ns0:sp>
      <ns0:sp>
        <ns0:nvSpPr>
          <ns0:cNvPr id="7" name="Text 3"/>
          <ns0:cNvSpPr/>
          <ns0:nvPr/>
        </ns0:nvSpPr>
        <ns0:spPr>
          <ns1:xfrm>
            <ns1:off x="507950" y="622250"/>
            <ns1:ext cx="8161020" cy="419100"/>
          </ns1:xfrm>
          <ns1:prstGeom prst="rect">
            <ns1:avLst/>
          </ns1:prstGeom>
          <ns1:noFill/>
          <ns1:ln/>
        </ns0:spPr>
        <ns0:txBody>
          <ns1:bodyPr wrap="square" lIns="0" tIns="0" rIns="0" bIns="0" rtlCol="0" anchor="t"/>
          <ns1:lstStyle/>
          <ns1:p>
            <ns1:pPr algn="l" indent="0" marL="0">
              <ns1:lnSpc>
                <ns1:spcPts val="3300"/>
              </ns1:lnSpc>
              <ns1:spcBef>
                <ns1:spcPts val="400"/>
              </ns1:spcBef>
              <ns1:buNone/>
            </ns1:pPr>
            <ns1:r>
              <ns1:rPr lang="en-US" sz="2800" b="1" dirty="0">
                <ns1:solidFill>
                  <ns1:srgbClr val="1F2328"/>
                </ns1:solidFill>
                <ns1:latin typeface="Arial" pitchFamily="34" charset="0"/>
                <ns1:ea typeface="Arial" pitchFamily="34" charset="-122"/>
                <ns1:cs typeface="Arial" pitchFamily="34" charset="-120"/>
              </ns1:rPr>
              <ns1:t>Schedule it for every morning</ns1:t>
            </ns1:r>
            <ns1:endParaRPr lang="en-US" sz="2800" dirty="0"/>
          </ns1:p>
        </ns0:txBody>
      </ns0:sp>
      <ns0:sp>
        <ns0:nvSpPr>
          <ns0:cNvPr id="8" name="Text 4"/>
          <ns0:cNvSpPr/>
          <ns0:nvPr/>
        </ns0:nvSpPr>
        <ns0:spPr>
          <ns1:xfrm>
            <ns1:off x="1302395" y="1450777"/>
            <ns1:ext cx="2221111" cy="2990850"/>
          </ns1:xfrm>
          <ns1:prstGeom prst="roundRect">
            <ns1:avLst>
              <ns1:gd name="adj" fmla="val 3431"/>
            </ns1:avLst>
          </ns1:prstGeom>
          <ns1:solidFill>
            <ns1:srgbClr val="FFFFFF"/>
          </ns1:solidFill>
          <ns1:ln w="9525">
            <ns1:solidFill>
              <ns1:srgbClr val="D1D9E0"/>
            </ns1:solidFill>
          </ns1:ln>
          <ns1:effectLst>
            <ns1:outerShdw sx="100000" sy="100000" kx="0" ky="0" algn="bl" rotWithShape="0" blurRad="38100" dist="9525" dir="5400000">
              <ns1:srgbClr val="1f2328">
                <ns1:alpha val="12000"/>
              </ns1:srgbClr>
            </ns1:outerShdw>
          </ns1:effectLst>
        </ns0:spPr>
        <ns0:txBody>
          <ns1:bodyPr wrap="square" rtlCol="0" anchor="ctr"/>
          <ns1:lstStyle/>
          <ns1:p>
            <ns1:pPr indent="0" marL="0">
              <ns1:buNone/>
            </ns1:pPr>
            <ns1:endParaRPr lang="en-US" dirty="0"/>
          </ns1:p>
        </ns0:txBody>
      </ns0:sp>
      <ns0:pic>
        <ns0:nvPicPr>
          <ns0:cNvPr id="9" name="Image 2" descr="Automation trigger options in the new-automation form"/>
          <ns0:cNvPicPr>
            <ns1:picLocks noChangeAspect="1"/>
          </ns0:cNvPicPr>
          <ns0:nvPr/>
        </ns0:nvPicPr>
        <ns0:blipFill>
          <ns1:blip ns3:embed="rId4"/>
          <ns1:stretch>
            <ns1:fillRect/>
          </ns1:stretch>
        </ns0:blipFill>
        <ns0:spPr>
          <ns1:xfrm>
            <ns1:off x="1350020" y="1498402"/>
            <ns1:ext cx="2125861" cy="2895600"/>
          </ns1:xfrm>
          <ns1:prstGeom prst="rect">
            <ns1:avLst/>
          </ns1:prstGeom>
        </ns0:spPr>
      </ns0:pic>
      <ns0:sp>
        <ns0:nvSpPr>
          <ns0:cNvPr id="10" name="Text 5"/>
          <ns0:cNvSpPr/>
          <ns0:nvPr/>
        </ns0:nvSpPr>
        <ns0:spPr>
          <ns1:xfrm>
            <ns1:off x="4571851" y="1522214"/>
            <ns1:ext cx="1968550" cy="901601"/>
          </ns1:xfrm>
          <ns1:prstGeom prst="roundRect">
            <ns1:avLst>
              <ns1:gd name="adj" fmla="val 14086"/>
            </ns1:avLst>
          </ns1:prstGeom>
          <ns1:solidFill>
            <ns1:srgbClr val="DDF4FF"/>
          </ns1:solidFill>
          <ns1:ln w="9525">
            <ns1:solidFill>
              <ns1:srgbClr val="9CD7FF"/>
            </ns1:solidFill>
          </ns1:ln>
        </ns0:spPr>
        <ns0:txBody>
          <ns1:bodyPr wrap="square" rtlCol="0" anchor="ctr"/>
          <ns1:lstStyle/>
          <ns1:p>
            <ns1:pPr indent="0" marL="0">
              <ns1:buNone/>
            </ns1:pPr>
            <ns1:endParaRPr lang="en-US" dirty="0"/>
          </ns1:p>
        </ns0:txBody>
      </ns0:sp>
      <ns0:sp>
        <ns0:nvSpPr>
          <ns0:cNvPr id="11" name="Text 6"/>
          <ns0:cNvSpPr/>
          <ns0:nvPr/>
        </ns0:nvSpPr>
        <ns0:spPr>
          <ns1:xfrm>
            <ns1:off x="4733776" y="1658689"/>
            <ns1:ext cx="1677594" cy="419100"/>
          </ns1:xfrm>
          <ns1:prstGeom prst="rect">
            <ns1:avLst/>
          </ns1:prstGeom>
          <ns1:noFill/>
          <ns1:ln/>
        </ns0:spPr>
        <ns0:txBody>
          <ns1:bodyPr wrap="square" lIns="0" tIns="0" rIns="0" bIns="0" rtlCol="0" anchor="t"/>
          <ns1:lstStyle/>
          <ns1:p>
            <ns1:pPr algn="l" indent="0" marL="0">
              <ns1:buNone/>
            </ns1:pPr>
            <ns1:r>
              <ns1:rPr lang="en-US" sz="1450" b="1" dirty="0">
                <ns1:solidFill>
                  <ns1:srgbClr val="1F2328"/>
                </ns1:solidFill>
                <ns1:latin typeface="Arial" pitchFamily="34" charset="0"/>
                <ns1:ea typeface="Arial" pitchFamily="34" charset="-122"/>
                <ns1:cs typeface="Arial" pitchFamily="34" charset="-120"/>
              </ns1:rPr>
              <ns1:t>Manual: "What is the status now?"</ns1:t>
            </ns1:r>
            <ns1:endParaRPr lang="en-US" sz="1450" dirty="0"/>
          </ns1:p>
        </ns0:txBody>
      </ns0:sp>
      <ns0:sp>
        <ns0:nvSpPr>
          <ns0:cNvPr id="12" name="Text 7"/>
          <ns0:cNvSpPr/>
          <ns0:nvPr/>
        </ns0:nvSpPr>
        <ns0:spPr>
          <ns1:xfrm>
            <ns1:off x="6667351" y="1522214"/>
            <ns1:ext cx="1968550" cy="901601"/>
          </ns1:xfrm>
          <ns1:prstGeom prst="roundRect">
            <ns1:avLst>
              <ns1:gd name="adj" fmla="val 14086"/>
            </ns1:avLst>
          </ns1:prstGeom>
          <ns1:solidFill>
            <ns1:srgbClr val="DAFBE1"/>
          </ns1:solidFill>
          <ns1:ln w="9525">
            <ns1:solidFill>
              <ns1:srgbClr val="8CE7A5"/>
            </ns1:solidFill>
          </ns1:ln>
        </ns0:spPr>
        <ns0:txBody>
          <ns1:bodyPr wrap="square" rtlCol="0" anchor="ctr"/>
          <ns1:lstStyle/>
          <ns1:p>
            <ns1:pPr indent="0" marL="0">
              <ns1:buNone/>
            </ns1:pPr>
            <ns1:endParaRPr lang="en-US" dirty="0"/>
          </ns1:p>
        </ns0:txBody>
      </ns0:sp>
      <ns0:sp>
        <ns0:nvSpPr>
          <ns0:cNvPr id="13" name="Text 8"/>
          <ns0:cNvSpPr/>
          <ns0:nvPr/>
        </ns0:nvSpPr>
        <ns0:spPr>
          <ns1:xfrm>
            <ns1:off x="6829276" y="1658689"/>
            <ns1:ext cx="1677594" cy="628650"/>
          </ns1:xfrm>
          <ns1:prstGeom prst="rect">
            <ns1:avLst/>
          </ns1:prstGeom>
          <ns1:noFill/>
          <ns1:ln/>
        </ns0:spPr>
        <ns0:txBody>
          <ns1:bodyPr wrap="square" lIns="0" tIns="0" rIns="0" bIns="0" rtlCol="0" anchor="t"/>
          <ns1:lstStyle/>
          <ns1:p>
            <ns1:pPr algn="l" indent="0" marL="0">
              <ns1:buNone/>
            </ns1:pPr>
            <ns1:r>
              <ns1:rPr lang="en-US" sz="1450" b="1" dirty="0">
                <ns1:solidFill>
                  <ns1:srgbClr val="1F2328"/>
                </ns1:solidFill>
                <ns1:latin typeface="Arial" pitchFamily="34" charset="0"/>
                <ns1:ea typeface="Arial" pitchFamily="34" charset="-122"/>
                <ns1:cs typeface="Arial" pitchFamily="34" charset="-120"/>
              </ns1:rPr>
              <ns1:t>Daily: "What changed since yesterday?"</ns1:t>
            </ns1:r>
            <ns1:endParaRPr lang="en-US" sz="1450" dirty="0"/>
          </ns1:p>
        </ns0:txBody>
      </ns0:sp>
      <ns0:sp>
        <ns0:nvSpPr>
          <ns0:cNvPr id="14" name="Text 9"/>
          <ns0:cNvSpPr/>
          <ns0:nvPr/>
        </ns0:nvSpPr>
        <ns0:spPr>
          <ns1:xfrm>
            <ns1:off x="4571851" y="2626965"/>
            <ns1:ext cx="279350" cy="279350"/>
          </ns1:xfrm>
          <ns1:prstGeom prst="roundRect">
            <ns1:avLst>
              <ns1:gd name="adj" fmla="val 327331"/>
            </ns1:avLst>
          </ns1:prstGeom>
          <ns1:solidFill>
            <ns1:srgbClr val="8250DF"/>
          </ns1:solidFill>
          <ns1:ln/>
        </ns0:spPr>
        <ns0:txBody>
          <ns1:bodyPr wrap="square" rtlCol="0" anchor="ctr"/>
          <ns1:lstStyle/>
          <ns1:p>
            <ns1:pPr indent="0" marL="0">
              <ns1:buNone/>
            </ns1:pPr>
            <ns1:endParaRPr lang="en-US" dirty="0"/>
          </ns1:p>
        </ns0:txBody>
      </ns0:sp>
      <ns0:sp>
        <ns0:nvSpPr>
          <ns0:cNvPr id="15" name="Text 10"/>
          <ns0:cNvSpPr/>
          <ns0:nvPr/>
        </ns0:nvSpPr>
        <ns0:spPr>
          <ns1:xfrm>
            <ns1:off x="4666516" y="2671316"/>
            <ns1:ext cx="90020" cy="190500"/>
          </ns1:xfrm>
          <ns1:prstGeom prst="rect">
            <ns1:avLst/>
          </ns1:prstGeom>
          <ns1:noFill/>
          <ns1:ln/>
        </ns0:spPr>
        <ns0:txBody>
          <ns1:bodyPr wrap="square" lIns="0" tIns="0" rIns="0" bIns="0" rtlCol="0" anchor="t"/>
          <ns1:lstStyle/>
          <ns1:p>
            <ns1:pPr algn="ctr" indent="0" marL="0">
              <ns1:buNone/>
            </ns1:pPr>
            <ns1:r>
              <ns1:rPr lang="en-US" sz="1250" b="1" dirty="0">
                <ns1:solidFill>
                  <ns1:srgbClr val="FFFFFF"/>
                </ns1:solidFill>
                <ns1:latin typeface="Arial" pitchFamily="34" charset="0"/>
                <ns1:ea typeface="Arial" pitchFamily="34" charset="-122"/>
                <ns1:cs typeface="Arial" pitchFamily="34" charset="-120"/>
              </ns1:rPr>
              <ns1:t>1</ns1:t>
            </ns1:r>
            <ns1:endParaRPr lang="en-US" sz="1250" dirty="0"/>
          </ns1:p>
        </ns0:txBody>
      </ns0:sp>
      <ns0:sp>
        <ns0:nvSpPr>
          <ns0:cNvPr id="16" name="Text 11"/>
          <ns0:cNvSpPr/>
          <ns0:nvPr/>
        </ns0:nvSpPr>
        <ns0:spPr>
          <ns1:xfrm>
            <ns1:off x="5003602" y="2626965"/>
            <ns1:ext cx="2051337" cy="222200"/>
          </ns1:xfrm>
          <ns1:prstGeom prst="rect">
            <ns1:avLst/>
          </ns1:prstGeom>
          <ns1:noFill/>
          <ns1:ln/>
        </ns0:spPr>
        <ns0:txBody>
          <ns1:bodyPr wrap="square" lIns="0" tIns="0" rIns="0" bIns="0" rtlCol="0" anchor="t"/>
          <ns1:lstStyle/>
          <ns1:p>
            <ns1:pPr algn="l" indent="0" marL="0">
              <ns1:lnSpc>
                <ns1:spcPts val="1750"/>
              </ns1:lnSpc>
              <ns1:buNone/>
            </ns1:pPr>
            <ns1:r>
              <ns1:rPr lang="en-US" sz="1550" b="1" dirty="0">
                <ns1:solidFill>
                  <ns1:srgbClr val="1F2328"/>
                </ns1:solidFill>
                <ns1:latin typeface="Arial" pitchFamily="34" charset="0"/>
                <ns1:ea typeface="Arial" pitchFamily="34" charset="-122"/>
                <ns1:cs typeface="Arial" pitchFamily="34" charset="-120"/>
              </ns1:rPr>
              <ns1:t>Edit the trigger</ns1:t>
            </ns1:r>
            <ns1:endParaRPr lang="en-US" sz="1550" dirty="0"/>
          </ns1:p>
        </ns0:txBody>
      </ns0:sp>
      <ns0:sp>
        <ns0:nvSpPr>
          <ns0:cNvPr id="17" name="Text 12"/>
          <ns0:cNvSpPr/>
          <ns0:nvPr/>
        </ns0:nvSpPr>
        <ns0:spPr>
          <ns1:xfrm>
            <ns1:off x="5003602" y="2874466"/>
            <ns1:ext cx="2051337" cy="198090"/>
          </ns1:xfrm>
          <ns1:prstGeom prst="rect">
            <ns1:avLst/>
          </ns1:prstGeom>
          <ns1:noFill/>
          <ns1:ln/>
        </ns0:spPr>
        <ns0:txBody>
          <ns1:bodyPr wrap="square" lIns="0" tIns="0" rIns="0" bIns="0" rtlCol="0" anchor="t"/>
          <ns1:lstStyle/>
          <ns1:p>
            <ns1:pPr algn="l" indent="0" marL="0">
              <ns1:lnSpc>
                <ns1:spcPts val="1560"/>
              </ns1:lnSpc>
              <ns1:buNone/>
            </ns1:pPr>
            <ns1:r>
              <ns1:rPr lang="en-US" sz="1350" b="1" dirty="0">
                <ns1:solidFill>
                  <ns1:srgbClr val="59636E"/>
                </ns1:solidFill>
                <ns1:latin typeface="Arial" pitchFamily="34" charset="0"/>
                <ns1:ea typeface="Arial" pitchFamily="34" charset="-122"/>
                <ns1:cs typeface="Arial" pitchFamily="34" charset="-120"/>
              </ns1:rPr>
              <ns1:t>Manual</ns1:t>
            </ns1:r>
            <ns1:pPr algn="l" indent="0" marL="0">
              <ns1:lnSpc>
                <ns1:spcPts val="1560"/>
              </ns1:lnSpc>
              <ns1:buNone/>
            </ns1:pPr>
            <ns1:r>
              <ns1:rPr lang="en-US" sz="1350" dirty="0">
                <ns1:solidFill>
                  <ns1:srgbClr val="59636E"/>
                </ns1:solidFill>
                <ns1:latin typeface="Arial" pitchFamily="34" charset="0"/>
                <ns1:ea typeface="Arial" pitchFamily="34" charset="-122"/>
                <ns1:cs typeface="Arial" pitchFamily="34" charset="-120"/>
              </ns1:rPr>
              <ns1:t> to </ns1:t>
            </ns1:r>
            <ns1:pPr algn="l" indent="0" marL="0">
              <ns1:lnSpc>
                <ns1:spcPts val="1560"/>
              </ns1:lnSpc>
              <ns1:buNone/>
            </ns1:pPr>
            <ns1:r>
              <ns1:rPr lang="en-US" sz="1350" b="1" dirty="0">
                <ns1:solidFill>
                  <ns1:srgbClr val="59636E"/>
                </ns1:solidFill>
                <ns1:latin typeface="Arial" pitchFamily="34" charset="0"/>
                <ns1:ea typeface="Arial" pitchFamily="34" charset="-122"/>
                <ns1:cs typeface="Arial" pitchFamily="34" charset="-120"/>
              </ns1:rPr>
              <ns1:t>Daily</ns1:t>
            </ns1:r>
            <ns1:pPr algn="l" indent="0" marL="0">
              <ns1:lnSpc>
                <ns1:spcPts val="1560"/>
              </ns1:lnSpc>
              <ns1:buNone/>
            </ns1:pPr>
            <ns1:r>
              <ns1:rPr lang="en-US" sz="1350" dirty="0">
                <ns1:solidFill>
                  <ns1:srgbClr val="59636E"/>
                </ns1:solidFill>
                <ns1:latin typeface="Arial" pitchFamily="34" charset="0"/>
                <ns1:ea typeface="Arial" pitchFamily="34" charset="-122"/>
                <ns1:cs typeface="Arial" pitchFamily="34" charset="-120"/>
              </ns1:rPr>
              <ns1:t>, at </ns1:t>
            </ns1:r>
            <ns1:pPr algn="l" indent="0" marL="0">
              <ns1:lnSpc>
                <ns1:spcPts val="1560"/>
              </ns1:lnSpc>
              <ns1:buNone/>
            </ns1:pPr>
            <ns1:r>
              <ns1:rPr lang="en-US" sz="1350" b="1" dirty="0">
                <ns1:solidFill>
                  <ns1:srgbClr val="59636E"/>
                </ns1:solidFill>
                <ns1:latin typeface="Arial" pitchFamily="34" charset="0"/>
                <ns1:ea typeface="Arial" pitchFamily="34" charset="-122"/>
                <ns1:cs typeface="Arial" pitchFamily="34" charset="-120"/>
              </ns1:rPr>
              <ns1:t>08:00</ns1:t>
            </ns1:r>
            <ns1:pPr algn="l" indent="0" marL="0">
              <ns1:lnSpc>
                <ns1:spcPts val="1560"/>
              </ns1:lnSpc>
              <ns1:buNone/>
            </ns1:pPr>
            <ns1:r>
              <ns1:rPr lang="en-US" sz="1350" dirty="0">
                <ns1:solidFill>
                  <ns1:srgbClr val="59636E"/>
                </ns1:solidFill>
                <ns1:latin typeface="Arial" pitchFamily="34" charset="0"/>
                <ns1:ea typeface="Arial" pitchFamily="34" charset="-122"/>
                <ns1:cs typeface="Arial" pitchFamily="34" charset="-120"/>
              </ns1:rPr>
              <ns1:t>.</ns1:t>
            </ns1:r>
            <ns1:endParaRPr lang="en-US" sz="1350" dirty="0"/>
          </ns1:p>
        </ns0:txBody>
      </ns0:sp>
      <ns0:sp>
        <ns0:nvSpPr>
          <ns0:cNvPr id="18" name="Text 13"/>
          <ns0:cNvSpPr/>
          <ns0:nvPr/>
        </ns0:nvSpPr>
        <ns0:spPr>
          <ns1:xfrm>
            <ns1:off x="4571851" y="3275707"/>
            <ns1:ext cx="279350" cy="279350"/>
          </ns1:xfrm>
          <ns1:prstGeom prst="roundRect">
            <ns1:avLst>
              <ns1:gd name="adj" fmla="val 327331"/>
            </ns1:avLst>
          </ns1:prstGeom>
          <ns1:solidFill>
            <ns1:srgbClr val="8250DF"/>
          </ns1:solidFill>
          <ns1:ln/>
        </ns0:spPr>
        <ns0:txBody>
          <ns1:bodyPr wrap="square" rtlCol="0" anchor="ctr"/>
          <ns1:lstStyle/>
          <ns1:p>
            <ns1:pPr indent="0" marL="0">
              <ns1:buNone/>
            </ns1:pPr>
            <ns1:endParaRPr lang="en-US" dirty="0"/>
          </ns1:p>
        </ns0:txBody>
      </ns0:sp>
      <ns0:sp>
        <ns0:nvSpPr>
          <ns0:cNvPr id="19" name="Text 14"/>
          <ns0:cNvSpPr/>
          <ns0:nvPr/>
        </ns0:nvSpPr>
        <ns0:spPr>
          <ns1:xfrm>
            <ns1:off x="4666516" y="3320058"/>
            <ns1:ext cx="90020" cy="190500"/>
          </ns1:xfrm>
          <ns1:prstGeom prst="rect">
            <ns1:avLst/>
          </ns1:prstGeom>
          <ns1:noFill/>
          <ns1:ln/>
        </ns0:spPr>
        <ns0:txBody>
          <ns1:bodyPr wrap="square" lIns="0" tIns="0" rIns="0" bIns="0" rtlCol="0" anchor="t"/>
          <ns1:lstStyle/>
          <ns1:p>
            <ns1:pPr algn="ctr" indent="0" marL="0">
              <ns1:buNone/>
            </ns1:pPr>
            <ns1:r>
              <ns1:rPr lang="en-US" sz="1250" b="1" dirty="0">
                <ns1:solidFill>
                  <ns1:srgbClr val="FFFFFF"/>
                </ns1:solidFill>
                <ns1:latin typeface="Arial" pitchFamily="34" charset="0"/>
                <ns1:ea typeface="Arial" pitchFamily="34" charset="-122"/>
                <ns1:cs typeface="Arial" pitchFamily="34" charset="-120"/>
              </ns1:rPr>
              <ns1:t>2</ns1:t>
            </ns1:r>
            <ns1:endParaRPr lang="en-US" sz="1250" dirty="0"/>
          </ns1:p>
        </ns0:txBody>
      </ns0:sp>
      <ns0:sp>
        <ns0:nvSpPr>
          <ns0:cNvPr id="20" name="Text 15"/>
          <ns0:cNvSpPr/>
          <ns0:nvPr/>
        </ns0:nvSpPr>
        <ns0:spPr>
          <ns1:xfrm>
            <ns1:off x="5003602" y="3275707"/>
            <ns1:ext cx="3257273" cy="222200"/>
          </ns1:xfrm>
          <ns1:prstGeom prst="rect">
            <ns1:avLst/>
          </ns1:prstGeom>
          <ns1:noFill/>
          <ns1:ln/>
        </ns0:spPr>
        <ns0:txBody>
          <ns1:bodyPr wrap="square" lIns="0" tIns="0" rIns="0" bIns="0" rtlCol="0" anchor="t"/>
          <ns1:lstStyle/>
          <ns1:p>
            <ns1:pPr algn="l" indent="0" marL="0">
              <ns1:lnSpc>
                <ns1:spcPts val="1750"/>
              </ns1:lnSpc>
              <ns1:buNone/>
            </ns1:pPr>
            <ns1:r>
              <ns1:rPr lang="en-US" sz="1550" b="1" dirty="0">
                <ns1:solidFill>
                  <ns1:srgbClr val="1F2328"/>
                </ns1:solidFill>
                <ns1:latin typeface="Arial" pitchFamily="34" charset="0"/>
                <ns1:ea typeface="Arial" pitchFamily="34" charset="-122"/>
                <ns1:cs typeface="Arial" pitchFamily="34" charset="-120"/>
              </ns1:rPr>
              <ns1:t>Keep the app running</ns1:t>
            </ns1:r>
            <ns1:endParaRPr lang="en-US" sz="1550" dirty="0"/>
          </ns1:p>
        </ns0:txBody>
      </ns0:sp>
      <ns0:sp>
        <ns0:nvSpPr>
          <ns0:cNvPr id="21" name="Text 16"/>
          <ns0:cNvSpPr/>
          <ns0:nvPr/>
        </ns0:nvSpPr>
        <ns0:spPr>
          <ns1:xfrm>
            <ns1:off x="5003602" y="3523208"/>
            <ns1:ext cx="3257273" cy="198090"/>
          </ns1:xfrm>
          <ns1:prstGeom prst="rect">
            <ns1:avLst/>
          </ns1:prstGeom>
          <ns1:noFill/>
          <ns1:ln/>
        </ns0:spPr>
        <ns0:txBody>
          <ns1:bodyPr wrap="square" lIns="0" tIns="0" rIns="0" bIns="0" rtlCol="0" anchor="t"/>
          <ns1:lstStyle/>
          <ns1:p>
            <ns1:pPr algn="l" indent="0" marL="0">
              <ns1:lnSpc>
                <ns1:spcPts val="1560"/>
              </ns1:lnSpc>
              <ns1:buNone/>
            </ns1:pPr>
            <ns1:r>
              <ns1:rPr lang="en-US" sz="1350" dirty="0">
                <ns1:solidFill>
                  <ns1:srgbClr val="59636E"/>
                </ns1:solidFill>
                <ns1:latin typeface="Arial" pitchFamily="34" charset="0"/>
                <ns1:ea typeface="Arial" pitchFamily="34" charset="-122"/>
                <ns1:cs typeface="Arial" pitchFamily="34" charset="-120"/>
              </ns1:rPr>
              <ns1:t>Local runs need the app open and awake.</ns1:t>
            </ns1:r>
            <ns1:endParaRPr lang="en-US" sz="1350" dirty="0"/>
          </ns1:p>
        </ns0:txBody>
      </ns0:sp>
      <ns0:sp>
        <ns0:nvSpPr>
          <ns0:cNvPr id="22" name="Text 17"/>
          <ns0:cNvSpPr/>
          <ns0:nvPr/>
        </ns0:nvSpPr>
        <ns0:spPr>
          <ns1:xfrm>
            <ns1:off x="4571851" y="3924449"/>
            <ns1:ext cx="279350" cy="279350"/>
          </ns1:xfrm>
          <ns1:prstGeom prst="roundRect">
            <ns1:avLst>
              <ns1:gd name="adj" fmla="val 327331"/>
            </ns1:avLst>
          </ns1:prstGeom>
          <ns1:solidFill>
            <ns1:srgbClr val="8250DF"/>
          </ns1:solidFill>
          <ns1:ln/>
        </ns0:spPr>
        <ns0:txBody>
          <ns1:bodyPr wrap="square" rtlCol="0" anchor="ctr"/>
          <ns1:lstStyle/>
          <ns1:p>
            <ns1:pPr indent="0" marL="0">
              <ns1:buNone/>
            </ns1:pPr>
            <ns1:endParaRPr lang="en-US" dirty="0"/>
          </ns1:p>
        </ns0:txBody>
      </ns0:sp>
      <ns0:sp>
        <ns0:nvSpPr>
          <ns0:cNvPr id="23" name="Text 18"/>
          <ns0:cNvSpPr/>
          <ns0:nvPr/>
        </ns0:nvSpPr>
        <ns0:spPr>
          <ns1:xfrm>
            <ns1:off x="4666516" y="3968800"/>
            <ns1:ext cx="90020" cy="190500"/>
          </ns1:xfrm>
          <ns1:prstGeom prst="rect">
            <ns1:avLst/>
          </ns1:prstGeom>
          <ns1:noFill/>
          <ns1:ln/>
        </ns0:spPr>
        <ns0:txBody>
          <ns1:bodyPr wrap="square" lIns="0" tIns="0" rIns="0" bIns="0" rtlCol="0" anchor="t"/>
          <ns1:lstStyle/>
          <ns1:p>
            <ns1:pPr algn="ctr" indent="0" marL="0">
              <ns1:buNone/>
            </ns1:pPr>
            <ns1:r>
              <ns1:rPr lang="en-US" sz="1250" b="1" dirty="0">
                <ns1:solidFill>
                  <ns1:srgbClr val="FFFFFF"/>
                </ns1:solidFill>
                <ns1:latin typeface="Arial" pitchFamily="34" charset="0"/>
                <ns1:ea typeface="Arial" pitchFamily="34" charset="-122"/>
                <ns1:cs typeface="Arial" pitchFamily="34" charset="-120"/>
              </ns1:rPr>
              <ns1:t>3</ns1:t>
            </ns1:r>
            <ns1:endParaRPr lang="en-US" sz="1250" dirty="0"/>
          </ns1:p>
        </ns0:txBody>
      </ns0:sp>
      <ns0:sp>
        <ns0:nvSpPr>
          <ns0:cNvPr id="24" name="Text 19"/>
          <ns0:cNvSpPr/>
          <ns0:nvPr/>
        </ns0:nvSpPr>
        <ns0:spPr>
          <ns1:xfrm>
            <ns1:off x="5003602" y="3924449"/>
            <ns1:ext cx="3207937" cy="222200"/>
          </ns1:xfrm>
          <ns1:prstGeom prst="rect">
            <ns1:avLst/>
          </ns1:prstGeom>
          <ns1:noFill/>
          <ns1:ln/>
        </ns0:spPr>
        <ns0:txBody>
          <ns1:bodyPr wrap="square" lIns="0" tIns="0" rIns="0" bIns="0" rtlCol="0" anchor="t"/>
          <ns1:lstStyle/>
          <ns1:p>
            <ns1:pPr algn="l" indent="0" marL="0">
              <ns1:lnSpc>
                <ns1:spcPts val="1750"/>
              </ns1:lnSpc>
              <ns1:buNone/>
            </ns1:pPr>
            <ns1:r>
              <ns1:rPr lang="en-US" sz="1550" b="1" dirty="0">
                <ns1:solidFill>
                  <ns1:srgbClr val="1F2328"/>
                </ns1:solidFill>
                <ns1:latin typeface="Arial" pitchFamily="34" charset="0"/>
                <ns1:ea typeface="Arial" pitchFamily="34" charset="-122"/>
                <ns1:cs typeface="Arial" pitchFamily="34" charset="-120"/>
              </ns1:rPr>
              <ns1:t>Check Recent runs</ns1:t>
            </ns1:r>
            <ns1:endParaRPr lang="en-US" sz="1550" dirty="0"/>
          </ns1:p>
        </ns0:txBody>
      </ns0:sp>
      <ns0:sp>
        <ns0:nvSpPr>
          <ns0:cNvPr id="25" name="Text 20"/>
          <ns0:cNvSpPr/>
          <ns0:nvPr/>
        </ns0:nvSpPr>
        <ns0:spPr>
          <ns1:xfrm>
            <ns1:off x="5003602" y="4171950"/>
            <ns1:ext cx="3207937" cy="198090"/>
          </ns1:xfrm>
          <ns1:prstGeom prst="rect">
            <ns1:avLst/>
          </ns1:prstGeom>
          <ns1:noFill/>
          <ns1:ln/>
        </ns0:spPr>
        <ns0:txBody>
          <ns1:bodyPr wrap="square" lIns="0" tIns="0" rIns="0" bIns="0" rtlCol="0" anchor="t"/>
          <ns1:lstStyle/>
          <ns1:p>
            <ns1:pPr algn="l" indent="0" marL="0">
              <ns1:lnSpc>
                <ns1:spcPts val="1560"/>
              </ns1:lnSpc>
              <ns1:buNone/>
            </ns1:pPr>
            <ns1:r>
              <ns1:rPr lang="en-US" sz="1350" dirty="0">
                <ns1:solidFill>
                  <ns1:srgbClr val="59636E"/>
                </ns1:solidFill>
                <ns1:latin typeface="Arial" pitchFamily="34" charset="0"/>
                <ns1:ea typeface="Arial" pitchFamily="34" charset="-122"/>
                <ns1:cs typeface="Arial" pitchFamily="34" charset="-120"/>
              </ns1:rPr>
              <ns1:t>A new run appears without pressing </ns1:t>
            </ns1:r>
            <ns1:pPr algn="l" indent="0" marL="0">
              <ns1:lnSpc>
                <ns1:spcPts val="1560"/>
              </ns1:lnSpc>
              <ns1:buNone/>
            </ns1:pPr>
            <ns1:r>
              <ns1:rPr lang="en-US" sz="1350" b="1" dirty="0">
                <ns1:solidFill>
                  <ns1:srgbClr val="59636E"/>
                </ns1:solidFill>
                <ns1:latin typeface="Arial" pitchFamily="34" charset="0"/>
                <ns1:ea typeface="Arial" pitchFamily="34" charset="-122"/>
                <ns1:cs typeface="Arial" pitchFamily="34" charset="-120"/>
              </ns1:rPr>
              <ns1:t>Run</ns1:t>
            </ns1:r>
            <ns1:pPr algn="l" indent="0" marL="0">
              <ns1:lnSpc>
                <ns1:spcPts val="1560"/>
              </ns1:lnSpc>
              <ns1:buNone/>
            </ns1:pPr>
            <ns1:r>
              <ns1:rPr lang="en-US" sz="1350" dirty="0">
                <ns1:solidFill>
                  <ns1:srgbClr val="59636E"/>
                </ns1:solidFill>
                <ns1:latin typeface="Arial" pitchFamily="34" charset="0"/>
                <ns1:ea typeface="Arial" pitchFamily="34" charset="-122"/>
                <ns1:cs typeface="Arial" pitchFamily="34" charset="-120"/>
              </ns1:rPr>
              <ns1:t>.</ns1:t>
            </ns1:r>
            <ns1:endParaRPr lang="en-US" sz="1350" dirty="0"/>
          </ns1:p>
        </ns0:txBody>
      </ns0:sp>
    </ns0:spTree>
  </ns0:cSld>
  <ns0:clrMapOvr>
    <ns1:masterClrMapping/>
  </ns0:clrMapOvr>
</ns0: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9144000" cy="5143500"/>
          </a:xfrm>
          <a:prstGeom prst="rect">
            <a:avLst/>
          </a:prstGeom>
          <a:solidFill>
            <a:srgbClr val="F0FBF3"/>
          </a:solidFill>
          <a:ln/>
        </p:spPr>
        <p:txBody>
          <a:bodyPr wrap="square" rtlCol="0" anchor="ctr"/>
          <a:lstStyle/>
          <a:p>
            <a:pPr indent="0" marL="0">
              <a:buNone/>
            </a:pPr>
            <a:endParaRPr lang="en-US" dirty="0"/>
          </a:p>
        </p:txBody>
      </p:sp>
      <p:sp>
        <p:nvSpPr>
          <p:cNvPr id="3" name="Text 1"/>
          <p:cNvSpPr/>
          <p:nvPr/>
        </p:nvSpPr>
        <p:spPr>
          <a:xfrm>
            <a:off x="0" y="0"/>
            <a:ext cx="152400" cy="5143500"/>
          </a:xfrm>
          <a:prstGeom prst="rect">
            <a:avLst/>
          </a:prstGeom>
          <a:solidFill>
            <a:srgbClr val="1A7F37"/>
          </a:solidFill>
          <a:ln/>
        </p:spPr>
        <p:txBody>
          <a:bodyPr wrap="square" rtlCol="0" anchor="ctr"/>
          <a:lstStyle/>
          <a:p>
            <a:pPr indent="0" marL="0">
              <a:buNone/>
            </a:pPr>
            <a:endParaRPr lang="en-US" dirty="0"/>
          </a:p>
        </p:txBody>
      </p:sp>
      <p:sp>
        <p:nvSpPr>
          <p:cNvPr id="4" name="Text 2"/>
          <p:cNvSpPr/>
          <p:nvPr/>
        </p:nvSpPr>
        <p:spPr>
          <a:xfrm>
            <a:off x="6040121" y="2412950"/>
            <a:ext cx="2849829" cy="2159050"/>
          </a:xfrm>
          <a:prstGeom prst="rect">
            <a:avLst/>
          </a:prstGeom>
          <a:noFill/>
          <a:ln/>
        </p:spPr>
        <p:txBody>
          <a:bodyPr wrap="square" lIns="0" tIns="0" rIns="0" bIns="0" rtlCol="0" anchor="t"/>
          <a:lstStyle/>
          <a:p>
            <a:pPr algn="r" indent="0" marL="0">
              <a:lnSpc>
                <a:spcPts val="17000"/>
              </a:lnSpc>
              <a:buNone/>
            </a:pPr>
            <a:r>
              <a:rPr lang="en-US" sz="15000" b="1" dirty="0">
                <a:solidFill>
                  <a:srgbClr val="8CE7A5"/>
                </a:solidFill>
                <a:latin typeface="Arial" pitchFamily="34" charset="0"/>
                <a:ea typeface="Arial" pitchFamily="34" charset="-122"/>
                <a:cs typeface="Arial" pitchFamily="34" charset="-120"/>
              </a:rPr>
              <a:t>03</a:t>
            </a:r>
            <a:endParaRPr lang="en-US" sz="15000" dirty="0"/>
          </a:p>
        </p:txBody>
      </p:sp>
      <p:pic>
        <p:nvPicPr>
          <p:cNvPr id="5"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6349901" y="0"/>
            <a:ext cx="2793950" cy="1308050"/>
          </a:xfrm>
          <a:prstGeom prst="rect">
            <a:avLst/>
          </a:prstGeom>
        </p:spPr>
      </p:pic>
      <p:sp>
        <p:nvSpPr>
          <p:cNvPr id="6" name="Text 3"/>
          <p:cNvSpPr/>
          <p:nvPr/>
        </p:nvSpPr>
        <p:spPr>
          <a:xfrm>
            <a:off x="7340501" y="177701"/>
            <a:ext cx="1168301" cy="279350"/>
          </a:xfrm>
          <a:prstGeom prst="roundRect">
            <a:avLst>
              <a:gd name="adj" fmla="val 22731"/>
            </a:avLst>
          </a:prstGeom>
          <a:solidFill>
            <a:srgbClr val="1A7F37"/>
          </a:solidFill>
          <a:ln/>
        </p:spPr>
        <p:txBody>
          <a:bodyPr wrap="square" rtlCol="0" anchor="ctr"/>
          <a:lstStyle/>
          <a:p>
            <a:pPr indent="0" marL="0">
              <a:buNone/>
            </a:pPr>
            <a:endParaRPr lang="en-US" dirty="0"/>
          </a:p>
        </p:txBody>
      </p:sp>
      <p:sp>
        <p:nvSpPr>
          <p:cNvPr id="7" name="Text 4"/>
          <p:cNvSpPr/>
          <p:nvPr/>
        </p:nvSpPr>
        <p:spPr>
          <a:xfrm>
            <a:off x="7461041" y="231577"/>
            <a:ext cx="927071" cy="171450"/>
          </a:xfrm>
          <a:prstGeom prst="rect">
            <a:avLst/>
          </a:prstGeom>
          <a:noFill/>
          <a:ln/>
        </p:spPr>
        <p:txBody>
          <a:bodyPr wrap="square" lIns="0" tIns="0" rIns="0" bIns="0" rtlCol="0" anchor="t"/>
          <a:lstStyle/>
          <a:p>
            <a:pPr algn="ctr" indent="0" marL="0">
              <a:buNone/>
            </a:pPr>
            <a:r>
              <a:rPr lang="en-US" sz="1150" b="1" dirty="0">
                <a:solidFill>
                  <a:srgbClr val="FFFFFF"/>
                </a:solidFill>
                <a:latin typeface="Arial" pitchFamily="34" charset="0"/>
                <a:ea typeface="Arial" pitchFamily="34" charset="-122"/>
                <a:cs typeface="Arial" pitchFamily="34" charset="-120"/>
              </a:rPr>
              <a:t>CHAPTER 07</a:t>
            </a:r>
            <a:endParaRPr lang="en-US" sz="1150" dirty="0"/>
          </a:p>
        </p:txBody>
      </p:sp>
      <p:pic>
        <p:nvPicPr>
          <p:cNvPr id="8" name="Image 1" descr="Open this chapter on GitHub">
            <a:hlinkClick r:id="rId3" tooltip="https://github.com/github/copilot-app-for-beginners/tree/main/07-automations"/>
          </p:cNvPr>
          <p:cNvPicPr>
            <a:picLocks noChangeAspect="1"/>
          </p:cNvPicPr>
          <p:nvPr/>
        </p:nvPicPr>
        <p:blipFill>
          <a:blip r:embed="rId2"/>
          <a:stretch>
            <a:fillRect/>
          </a:stretch>
        </p:blipFill>
        <p:spPr>
          <a:xfrm>
            <a:off x="8610600" y="165050"/>
            <a:ext cx="304800" cy="304800"/>
          </a:xfrm>
          <a:prstGeom prst="rect">
            <a:avLst/>
          </a:prstGeom>
        </p:spPr>
      </p:pic>
      <p:sp>
        <p:nvSpPr>
          <p:cNvPr id="9" name="Text 5"/>
          <p:cNvSpPr/>
          <p:nvPr/>
        </p:nvSpPr>
        <p:spPr>
          <a:xfrm>
            <a:off x="711101" y="1571774"/>
            <a:ext cx="5570169" cy="209550"/>
          </a:xfrm>
          <a:prstGeom prst="rect">
            <a:avLst/>
          </a:prstGeom>
          <a:noFill/>
          <a:ln/>
        </p:spPr>
        <p:txBody>
          <a:bodyPr wrap="square" lIns="0" tIns="0" rIns="0" bIns="0" rtlCol="0" anchor="t"/>
          <a:lstStyle/>
          <a:p>
            <a:pPr algn="l" indent="0" marL="0">
              <a:buNone/>
            </a:pPr>
            <a:r>
              <a:rPr lang="en-US" sz="1450" b="1" dirty="0">
                <a:solidFill>
                  <a:srgbClr val="1A7F37"/>
                </a:solidFill>
                <a:latin typeface="Arial" pitchFamily="34" charset="0"/>
                <a:ea typeface="Arial" pitchFamily="34" charset="-122"/>
                <a:cs typeface="Arial" pitchFamily="34" charset="-120"/>
              </a:rPr>
              <a:t>SECTION 3 OF 3</a:t>
            </a:r>
            <a:endParaRPr lang="en-US" sz="1450" dirty="0"/>
          </a:p>
        </p:txBody>
      </p:sp>
      <p:sp>
        <p:nvSpPr>
          <p:cNvPr id="10" name="Text 6"/>
          <p:cNvSpPr/>
          <p:nvPr/>
        </p:nvSpPr>
        <p:spPr>
          <a:xfrm>
            <a:off x="711101" y="1882825"/>
            <a:ext cx="5570169" cy="584150"/>
          </a:xfrm>
          <a:prstGeom prst="rect">
            <a:avLst/>
          </a:prstGeom>
          <a:noFill/>
          <a:ln/>
        </p:spPr>
        <p:txBody>
          <a:bodyPr wrap="square" lIns="0" tIns="0" rIns="0" bIns="0" rtlCol="0" anchor="t"/>
          <a:lstStyle/>
          <a:p>
            <a:pPr algn="l" indent="0" marL="0">
              <a:lnSpc>
                <a:spcPts val="4600"/>
              </a:lnSpc>
              <a:spcBef>
                <a:spcPts val="800"/>
              </a:spcBef>
              <a:buNone/>
            </a:pPr>
            <a:r>
              <a:rPr lang="en-US" sz="4000" b="1" dirty="0">
                <a:solidFill>
                  <a:srgbClr val="1F2328"/>
                </a:solidFill>
                <a:latin typeface="Arial" pitchFamily="34" charset="0"/>
                <a:ea typeface="Arial" pitchFamily="34" charset="-122"/>
                <a:cs typeface="Arial" pitchFamily="34" charset="-120"/>
              </a:rPr>
              <a:t>Events and cloud</a:t>
            </a:r>
            <a:endParaRPr lang="en-US" sz="4000" dirty="0"/>
          </a:p>
        </p:txBody>
      </p:sp>
      <p:sp>
        <p:nvSpPr>
          <p:cNvPr id="11" name="Text 7"/>
          <p:cNvSpPr/>
          <p:nvPr/>
        </p:nvSpPr>
        <p:spPr>
          <a:xfrm>
            <a:off x="711101" y="2670125"/>
            <a:ext cx="609600" cy="63401"/>
          </a:xfrm>
          <a:prstGeom prst="roundRect">
            <a:avLst>
              <a:gd name="adj" fmla="val 40063"/>
            </a:avLst>
          </a:prstGeom>
          <a:solidFill>
            <a:srgbClr val="1A7F37"/>
          </a:solidFill>
          <a:ln/>
        </p:spPr>
        <p:txBody>
          <a:bodyPr wrap="square" rtlCol="0" anchor="ctr"/>
          <a:lstStyle/>
          <a:p>
            <a:pPr indent="0" marL="0">
              <a:buNone/>
            </a:pPr>
            <a:endParaRPr lang="en-US" dirty="0"/>
          </a:p>
        </p:txBody>
      </p:sp>
      <p:sp>
        <p:nvSpPr>
          <p:cNvPr id="12" name="Text 8"/>
          <p:cNvSpPr/>
          <p:nvPr/>
        </p:nvSpPr>
        <p:spPr>
          <a:xfrm>
            <a:off x="711101" y="2936677"/>
            <a:ext cx="5570169" cy="634901"/>
          </a:xfrm>
          <a:prstGeom prst="rect">
            <a:avLst/>
          </a:prstGeom>
          <a:noFill/>
          <a:ln/>
        </p:spPr>
        <p:txBody>
          <a:bodyPr wrap="square" lIns="0" tIns="0" rIns="0" bIns="0" rtlCol="0" anchor="t"/>
          <a:lstStyle/>
          <a:p>
            <a:pPr algn="l" indent="0" marL="0">
              <a:lnSpc>
                <a:spcPts val="2500"/>
              </a:lnSpc>
              <a:buNone/>
            </a:pPr>
            <a:r>
              <a:rPr lang="en-US" sz="1900" dirty="0">
                <a:solidFill>
                  <a:srgbClr val="59636E"/>
                </a:solidFill>
                <a:latin typeface="Arial" pitchFamily="34" charset="0"/>
                <a:ea typeface="Arial" pitchFamily="34" charset="-122"/>
                <a:cs typeface="Arial" pitchFamily="34" charset="-120"/>
              </a:rPr>
              <a:t>Optional. React to repository events, or run while your laptop is closed.</a:t>
            </a:r>
            <a:endParaRPr lang="en-US" sz="1900" dirty="0"/>
          </a:p>
        </p:txBody>
      </p:sp>
    </p:spTree>
  </p:cSld>
  <p:clrMapOvr>
    <a:masterClrMapping/>
  </p:clrMapOvr>
</p:sld>
</file>

<file path=ppt/slides/slide12.xml><?xml version="1.0" encoding="utf-8"?>
<ns0:sld xmlns:ns0="http://schemas.openxmlformats.org/presentationml/2006/main" xmlns:ns1="http://schemas.openxmlformats.org/drawingml/2006/main" xmlns:ns2="http://schemas.microsoft.com/office/drawing/2017/decorative" xmlns:ns3="http://schemas.openxmlformats.org/officeDocument/2006/relationships">
  <ns0:cSld name="Slide 12">
    <ns0:bg>
      <ns0:bgPr>
        <ns1:solidFill>
          <ns1:srgbClr val="FFFFFF"/>
        </ns1:solidFill>
      </ns0:bgPr>
    </ns0:bg>
    <ns0:spTree>
      <ns0:nvGrpSpPr>
        <ns0:cNvPr id="1" name=""/>
        <ns0:cNvGrpSpPr/>
        <ns0:nvPr/>
      </ns0:nvGrpSpPr>
      <ns0:grpSpPr>
        <ns1:xfrm>
          <ns1:off x="0" y="0"/>
          <ns1:ext cx="0" cy="0"/>
          <ns1:chOff x="0" y="0"/>
          <ns1:chExt cx="0" cy="0"/>
        </ns1:xfrm>
      </ns0:grpSpPr>
      <ns0:pic>
        <ns0:nvPicPr>
          <ns0:cNvPr id="2" name="Image 0" descr="">
            <ns1:extLst>
              <ns1:ext uri="{C183D7F6-B498-43B3-948B-1728B52AA6E4}">
                <ns2:decorative val="1"/>
              </ns1:ext>
            </ns1:extLst>
          </ns0:cNvPr>
          <ns0:cNvPicPr>
            <ns1:picLocks noChangeAspect="1"/>
          </ns0:cNvPicPr>
          <ns0:nvPr/>
        </ns0:nvPicPr>
        <ns0:blipFill>
          <ns1:blip ns3:embed="rId1"/>
          <ns1:stretch>
            <ns1:fillRect/>
          </ns1:stretch>
        </ns0:blipFill>
        <ns0:spPr>
          <ns1:xfrm>
            <ns1:off x="6349901" y="0"/>
            <ns1:ext cx="2793950" cy="1308050"/>
          </ns1:xfrm>
          <ns1:prstGeom prst="rect">
            <ns1:avLst/>
          </ns1:prstGeom>
        </ns0:spPr>
      </ns0:pic>
      <ns0:sp>
        <ns0:nvSpPr>
          <ns0:cNvPr id="3" name="Text 0"/>
          <ns0:cNvSpPr/>
          <ns0:nvPr/>
        </ns0:nvSpPr>
        <ns0:spPr>
          <ns1:xfrm>
            <ns1:off x="7340501" y="177701"/>
            <ns1:ext cx="1168301" cy="279350"/>
          </ns1:xfrm>
          <ns1:prstGeom prst="roundRect">
            <ns1:avLst>
              <ns1:gd name="adj" fmla="val 22731"/>
            </ns1:avLst>
          </ns1:prstGeom>
          <ns1:solidFill>
            <ns1:srgbClr val="1A7F37"/>
          </ns1:solidFill>
          <ns1:ln/>
        </ns0:spPr>
        <ns0:txBody>
          <ns1:bodyPr wrap="square" rtlCol="0" anchor="ctr"/>
          <ns1:lstStyle/>
          <ns1:p>
            <ns1:pPr indent="0" marL="0">
              <ns1:buNone/>
            </ns1:pPr>
            <ns1:endParaRPr lang="en-US" dirty="0"/>
          </ns1:p>
        </ns0:txBody>
      </ns0:sp>
      <ns0:sp>
        <ns0:nvSpPr>
          <ns0:cNvPr id="4" name="Text 1"/>
          <ns0:cNvSpPr/>
          <ns0:nvPr/>
        </ns0:nvSpPr>
        <ns0:spPr>
          <ns1:xfrm>
            <ns1:off x="7461041" y="231577"/>
            <ns1:ext cx="927071" cy="171450"/>
          </ns1:xfrm>
          <ns1:prstGeom prst="rect">
            <ns1:avLst/>
          </ns1:prstGeom>
          <ns1:noFill/>
          <ns1:ln/>
        </ns0:spPr>
        <ns0:txBody>
          <ns1:bodyPr wrap="square" lIns="0" tIns="0" rIns="0" bIns="0" rtlCol="0" anchor="t"/>
          <ns1:lstStyle/>
          <ns1:p>
            <ns1:pPr algn="ctr" indent="0" marL="0">
              <ns1:buNone/>
            </ns1:pPr>
            <ns1:r>
              <ns1:rPr lang="en-US" sz="1150" b="1" dirty="0">
                <ns1:solidFill>
                  <ns1:srgbClr val="FFFFFF"/>
                </ns1:solidFill>
                <ns1:latin typeface="Arial" pitchFamily="34" charset="0"/>
                <ns1:ea typeface="Arial" pitchFamily="34" charset="-122"/>
                <ns1:cs typeface="Arial" pitchFamily="34" charset="-120"/>
              </ns1:rPr>
              <ns1:t>CHAPTER 07</ns1:t>
            </ns1:r>
            <ns1:endParaRPr lang="en-US" sz="1150" dirty="0"/>
          </ns1:p>
        </ns0:txBody>
      </ns0:sp>
      <ns0:pic>
        <ns0:nvPicPr>
          <ns0:cNvPr id="5" name="Image 1" descr="Open this chapter on GitHub">
            <ns1:hlinkClick ns3:id="rId3" tooltip="https://github.com/github/copilot-app-for-beginners/tree/main/07-automations"/>
          </ns0:cNvPr>
          <ns0:cNvPicPr>
            <ns1:picLocks noChangeAspect="1"/>
          </ns0:cNvPicPr>
          <ns0:nvPr/>
        </ns0:nvPicPr>
        <ns0:blipFill>
          <ns1:blip ns3:embed="rId2"/>
          <ns1:stretch>
            <ns1:fillRect/>
          </ns1:stretch>
        </ns0:blipFill>
        <ns0:spPr>
          <ns1:xfrm>
            <ns1:off x="8610600" y="165050"/>
            <ns1:ext cx="304800" cy="304800"/>
          </ns1:xfrm>
          <ns1:prstGeom prst="rect">
            <ns1:avLst/>
          </ns1:prstGeom>
        </ns0:spPr>
      </ns0:pic>
      <ns0:sp>
        <ns0:nvSpPr>
          <ns0:cNvPr id="6" name="Text 2"/>
          <ns0:cNvSpPr/>
          <ns0:nvPr/>
        </ns0:nvSpPr>
        <ns0:spPr>
          <ns1:xfrm>
            <ns1:off x="507950" y="381000"/>
            <ns1:ext cx="8161020" cy="190500"/>
          </ns1:xfrm>
          <ns1:prstGeom prst="rect">
            <ns1:avLst/>
          </ns1:prstGeom>
          <ns1:noFill/>
          <ns1:ln/>
        </ns0:spPr>
        <ns0:txBody>
          <ns1:bodyPr wrap="square" lIns="0" tIns="0" rIns="0" bIns="0" rtlCol="0" anchor="t"/>
          <ns1:lstStyle/>
          <ns1:p>
            <ns1:pPr algn="l" indent="0" marL="0">
              <ns1:buNone/>
            </ns1:pPr>
            <ns1:r>
              <ns1:rPr lang="en-US" sz="1250" b="1" dirty="0">
                <ns1:solidFill>
                  <ns1:srgbClr val="1A7F37"/>
                </ns1:solidFill>
                <ns1:latin typeface="Arial" pitchFamily="34" charset="0"/>
                <ns1:ea typeface="Arial" pitchFamily="34" charset="-122"/>
                <ns1:cs typeface="Arial" pitchFamily="34" charset="-120"/>
              </ns1:rPr>
              <ns1:t>EVENT TRIGGERS</ns1:t>
            </ns1:r>
            <ns1:endParaRPr lang="en-US" sz="1250" dirty="0"/>
          </ns1:p>
        </ns0:txBody>
      </ns0:sp>
      <ns0:sp>
        <ns0:nvSpPr>
          <ns0:cNvPr id="7" name="Text 3"/>
          <ns0:cNvSpPr/>
          <ns0:nvPr/>
        </ns0:nvSpPr>
        <ns0:spPr>
          <ns1:xfrm>
            <ns1:off x="507950" y="622250"/>
            <ns1:ext cx="8161020" cy="419100"/>
          </ns1:xfrm>
          <ns1:prstGeom prst="rect">
            <ns1:avLst/>
          </ns1:prstGeom>
          <ns1:noFill/>
          <ns1:ln/>
        </ns0:spPr>
        <ns0:txBody>
          <ns1:bodyPr wrap="square" lIns="0" tIns="0" rIns="0" bIns="0" rtlCol="0" anchor="t"/>
          <ns1:lstStyle/>
          <ns1:p>
            <ns1:pPr algn="l" indent="0" marL="0">
              <ns1:lnSpc>
                <ns1:spcPts val="3300"/>
              </ns1:lnSpc>
              <ns1:spcBef>
                <ns1:spcPts val="400"/>
              </ns1:spcBef>
              <ns1:buNone/>
            </ns1:pPr>
            <ns1:r>
              <ns1:rPr lang="en-US" sz="2800" b="1" dirty="0">
                <ns1:solidFill>
                  <ns1:srgbClr val="1F2328"/>
                </ns1:solidFill>
                <ns1:latin typeface="Arial" pitchFamily="34" charset="0"/>
                <ns1:ea typeface="Arial" pitchFamily="34" charset="-122"/>
                <ns1:cs typeface="Arial" pitchFamily="34" charset="-120"/>
              </ns1:rPr>
              <ns1:t>React to repository activity, safely</ns1:t>
            </ns1:r>
            <ns1:endParaRPr lang="en-US" sz="2800" dirty="0"/>
          </ns1:p>
        </ns0:txBody>
      </ns0:sp>
      <ns0:sp>
        <ns0:nvSpPr>
          <ns0:cNvPr id="8" name="Text 4"/>
          <ns0:cNvSpPr/>
          <ns0:nvPr/>
        </ns0:nvSpPr>
        <ns0:spPr>
          <ns1:xfrm>
            <ns1:off x="507950" y="1104751"/>
            <ns1:ext cx="8161020" cy="254050"/>
          </ns1:xfrm>
          <ns1:prstGeom prst="rect">
            <ns1:avLst/>
          </ns1:prstGeom>
          <ns1:noFill/>
          <ns1:ln/>
        </ns0:spPr>
        <ns0:txBody>
          <ns1:bodyPr wrap="square" lIns="0" tIns="0" rIns="0" bIns="0" rtlCol="0" anchor="t"/>
          <ns1:lstStyle/>
          <ns1:p>
            <ns1:pPr algn="l" indent="0" marL="0">
              <ns1:lnSpc>
                <ns1:spcPts val="2000"/>
              </ns1:lnSpc>
              <ns1:spcBef>
                <ns1:spcPts val="500"/>
              </ns1:spcBef>
              <ns1:buNone/>
            </ns1:pPr>
            <ns1:r>
              <ns1:rPr lang="en-US" sz="1650" dirty="0">
                <ns1:solidFill>
                  <ns1:srgbClr val="59636E"/>
                </ns1:solidFill>
                <ns1:latin typeface="Arial" pitchFamily="34" charset="0"/>
                <ns1:ea typeface="Arial" pitchFamily="34" charset="-122"/>
                <ns1:cs typeface="Arial" pitchFamily="34" charset="-120"/>
              </ns1:rPr>
              <ns1:t>Issue, PR, discussion, alert, workflow, or automation events can start a run.</ns1:t>
            </ns1:r>
            <ns1:endParaRPr lang="en-US" sz="1650" dirty="0"/>
          </ns1:p>
        </ns0:txBody>
      </ns0:sp>
      <ns0:sp>
        <ns0:nvSpPr>
          <ns0:cNvPr id="9" name="Text 5"/>
          <ns0:cNvSpPr/>
          <ns0:nvPr/>
        </ns0:nvSpPr>
        <ns0:spPr>
          <ns1:xfrm>
            <ns1:off x="507950" y="2004268"/>
            <ns1:ext cx="5079950" cy="2214116"/>
          </ns1:xfrm>
          <ns1:prstGeom prst="roundRect">
            <ns1:avLst>
              <ns1:gd name="adj" fmla="val 5736"/>
            </ns1:avLst>
          </ns1:prstGeom>
          <ns1:solidFill>
            <ns1:srgbClr val="FFFFFF"/>
          </ns1:solidFill>
          <ns1:ln w="9525">
            <ns1:solidFill>
              <ns1:srgbClr val="8CE7A5"/>
            </ns1:solidFill>
          </ns1:ln>
        </ns0:spPr>
        <ns0:txBody>
          <ns1:bodyPr wrap="square" rtlCol="0" anchor="ctr"/>
          <ns1:lstStyle/>
          <ns1:p>
            <ns1:pPr indent="0" marL="0">
              <ns1:buNone/>
            </ns1:pPr>
            <ns1:endParaRPr lang="en-US" dirty="0"/>
          </ns1:p>
        </ns0:txBody>
      </ns0:sp>
      <ns0:sp>
        <ns0:nvSpPr>
          <ns0:cNvPr id="10" name="Shape 6"/>
          <ns0:cNvSpPr/>
          <ns0:nvPr/>
        </ns0:nvSpPr>
        <ns0:spPr>
          <ns1:xfrm>
            <ns1:off x="517475" y="2526506"/>
            <ns1:ext cx="5060900" cy="0"/>
          </ns1:xfrm>
          <ns1:prstGeom prst="line">
            <ns1:avLst/>
          </ns1:prstGeom>
          <ns1:noFill/>
          <ns1:ln w="9525">
            <ns1:solidFill>
              <ns1:srgbClr val="D1D9E0"/>
            </ns1:solidFill>
            <ns1:prstDash val="solid"/>
          </ns1:ln>
        </ns0:spPr>
      </ns0:sp>
      <ns0:sp>
        <ns0:nvSpPr>
          <ns0:cNvPr id="11" name="Text 7"/>
          <ns0:cNvSpPr/>
          <ns0:nvPr/>
        </ns0:nvSpPr>
        <ns0:spPr>
          <ns1:xfrm>
            <ns1:off x="695176" y="2128093"/>
            <ns1:ext cx="279350" cy="279350"/>
          </ns1:xfrm>
          <ns1:prstGeom prst="roundRect">
            <ns1:avLst>
              <ns1:gd name="adj" fmla="val 327331"/>
            </ns1:avLst>
          </ns1:prstGeom>
          <ns1:solidFill>
            <ns1:srgbClr val="1A7F37"/>
          </ns1:solidFill>
          <ns1:ln/>
        </ns0:spPr>
        <ns0:txBody>
          <ns1:bodyPr wrap="square" rtlCol="0" anchor="ctr"/>
          <ns1:lstStyle/>
          <ns1:p>
            <ns1:pPr indent="0" marL="0">
              <ns1:buNone/>
            </ns1:pPr>
            <ns1:endParaRPr lang="en-US" dirty="0"/>
          </ns1:p>
        </ns0:txBody>
      </ns0:sp>
      <ns0:sp>
        <ns0:nvSpPr>
          <ns0:cNvPr id="12" name="Text 8"/>
          <ns0:cNvSpPr/>
          <ns0:nvPr/>
        </ns0:nvSpPr>
        <ns0:spPr>
          <ns1:xfrm>
            <ns1:off x="789841" y="2172444"/>
            <ns1:ext cx="90020" cy="190500"/>
          </ns1:xfrm>
          <ns1:prstGeom prst="rect">
            <ns1:avLst/>
          </ns1:prstGeom>
          <ns1:noFill/>
          <ns1:ln/>
        </ns0:spPr>
        <ns0:txBody>
          <ns1:bodyPr wrap="square" lIns="0" tIns="0" rIns="0" bIns="0" rtlCol="0" anchor="t"/>
          <ns1:lstStyle/>
          <ns1:p>
            <ns1:pPr algn="ctr" indent="0" marL="0">
              <ns1:buNone/>
            </ns1:pPr>
            <ns1:r>
              <ns1:rPr lang="en-US" sz="1250" b="1" dirty="0">
                <ns1:solidFill>
                  <ns1:srgbClr val="FFFFFF"/>
                </ns1:solidFill>
                <ns1:latin typeface="Arial" pitchFamily="34" charset="0"/>
                <ns1:ea typeface="Arial" pitchFamily="34" charset="-122"/>
                <ns1:cs typeface="Arial" pitchFamily="34" charset="-120"/>
              </ns1:rPr>
              <ns1:t>1</ns1:t>
            </ns1:r>
            <ns1:endParaRPr lang="en-US" sz="1250" dirty="0"/>
          </ns1:p>
        </ns0:txBody>
      </ns0:sp>
      <ns0:sp>
        <ns0:nvSpPr>
          <ns0:cNvPr id="13" name="Text 9"/>
          <ns0:cNvSpPr/>
          <ns0:nvPr/>
        </ns0:nvSpPr>
        <ns0:spPr>
          <ns1:xfrm>
            <ns1:off x="1152227" y="2160389"/>
            <ns1:ext cx="1813459" cy="214610"/>
          </ns1:xfrm>
          <ns1:prstGeom prst="rect">
            <ns1:avLst/>
          </ns1:prstGeom>
          <ns1:noFill/>
          <ns1:ln/>
        </ns0:spPr>
        <ns0:txBody>
          <ns1:bodyPr wrap="square" lIns="0" tIns="0" rIns="0" bIns="0" rtlCol="0" anchor="t"/>
          <ns1:lstStyle/>
          <ns1:p>
            <ns1:pPr algn="l" indent="0" marL="0">
              <ns1:lnSpc>
                <ns1:spcPts val="1690"/>
              </ns1:lnSpc>
              <ns1:buNone/>
            </ns1:pPr>
            <ns1:r>
              <ns1:rPr lang="en-US" sz="1500" b="1" dirty="0">
                <ns1:solidFill>
                  <ns1:srgbClr val="1F2328"/>
                </ns1:solidFill>
                <ns1:latin typeface="Arial" pitchFamily="34" charset="0"/>
                <ns1:ea typeface="Arial" pitchFamily="34" charset="-122"/>
                <ns1:cs typeface="Arial" pitchFamily="34" charset="-120"/>
              </ns1:rPr>
              <ns1:t>Start read-only</ns1:t>
            </ns1:r>
            <ns1:endParaRPr lang="en-US" sz="1500" dirty="0"/>
          </ns1:p>
        </ns0:txBody>
      </ns0:sp>
      <ns0:sp>
        <ns0:nvSpPr>
          <ns0:cNvPr id="14" name="Text 10"/>
          <ns0:cNvSpPr/>
          <ns0:nvPr/>
        </ns0:nvSpPr>
        <ns0:spPr>
          <ns1:xfrm>
            <ns1:off x="3107829" y="2164259"/>
            <ns1:ext cx="2338703" cy="207020"/>
          </ns1:xfrm>
          <ns1:prstGeom prst="rect">
            <ns1:avLst/>
          </ns1:prstGeom>
          <ns1:noFill/>
          <ns1:ln/>
        </ns0:spPr>
        <ns0:txBody>
          <ns1:bodyPr wrap="square" lIns="0" tIns="0" rIns="0" bIns="0" rtlCol="0" anchor="t"/>
          <ns1:lstStyle/>
          <ns1:p>
            <ns1:pPr algn="l" indent="0" marL="0">
              <ns1:lnSpc>
                <ns1:spcPts val="1630"/>
              </ns1:lnSpc>
              <ns1:buNone/>
            </ns1:pPr>
            <ns1:r>
              <ns1:rPr lang="en-US" sz="1400" dirty="0">
                <ns1:solidFill>
                  <ns1:srgbClr val="59636E"/>
                </ns1:solidFill>
                <ns1:latin typeface="Arial" pitchFamily="34" charset="0"/>
                <ns1:ea typeface="Arial" pitchFamily="34" charset="-122"/>
                <ns1:cs typeface="Arial" pitchFamily="34" charset="-120"/>
              </ns1:rPr>
              <ns1:t>Summaries, not edits.</ns1:t>
            </ns1:r>
            <ns1:endParaRPr lang="en-US" sz="1400" dirty="0"/>
          </ns1:p>
        </ns0:txBody>
      </ns0:sp>
      <ns0:sp>
        <ns0:nvSpPr>
          <ns0:cNvPr id="15" name="Shape 11"/>
          <ns0:cNvSpPr/>
          <ns0:nvPr/>
        </ns0:nvSpPr>
        <ns0:spPr>
          <ns1:xfrm>
            <ns1:off x="517475" y="3178671"/>
            <ns1:ext cx="5060900" cy="0"/>
          </ns1:xfrm>
          <ns1:prstGeom prst="line">
            <ns1:avLst/>
          </ns1:prstGeom>
          <ns1:noFill/>
          <ns1:ln w="9525">
            <ns1:solidFill>
              <ns1:srgbClr val="D1D9E0"/>
            </ns1:solidFill>
            <ns1:prstDash val="solid"/>
          </ns1:ln>
        </ns0:spPr>
      </ns0:sp>
      <ns0:sp>
        <ns0:nvSpPr>
          <ns0:cNvPr id="16" name="Text 12"/>
          <ns0:cNvSpPr/>
          <ns0:nvPr/>
        </ns0:nvSpPr>
        <ns0:spPr>
          <ns1:xfrm>
            <ns1:off x="695176" y="2712839"/>
            <ns1:ext cx="279350" cy="279350"/>
          </ns1:xfrm>
          <ns1:prstGeom prst="roundRect">
            <ns1:avLst>
              <ns1:gd name="adj" fmla="val 327331"/>
            </ns1:avLst>
          </ns1:prstGeom>
          <ns1:solidFill>
            <ns1:srgbClr val="1A7F37"/>
          </ns1:solidFill>
          <ns1:ln/>
        </ns0:spPr>
        <ns0:txBody>
          <ns1:bodyPr wrap="square" rtlCol="0" anchor="ctr"/>
          <ns1:lstStyle/>
          <ns1:p>
            <ns1:pPr indent="0" marL="0">
              <ns1:buNone/>
            </ns1:pPr>
            <ns1:endParaRPr lang="en-US" dirty="0"/>
          </ns1:p>
        </ns0:txBody>
      </ns0:sp>
      <ns0:sp>
        <ns0:nvSpPr>
          <ns0:cNvPr id="17" name="Text 13"/>
          <ns0:cNvSpPr/>
          <ns0:nvPr/>
        </ns0:nvSpPr>
        <ns0:spPr>
          <ns1:xfrm>
            <ns1:off x="789841" y="2757190"/>
            <ns1:ext cx="90020" cy="190500"/>
          </ns1:xfrm>
          <ns1:prstGeom prst="rect">
            <ns1:avLst/>
          </ns1:prstGeom>
          <ns1:noFill/>
          <ns1:ln/>
        </ns0:spPr>
        <ns0:txBody>
          <ns1:bodyPr wrap="square" lIns="0" tIns="0" rIns="0" bIns="0" rtlCol="0" anchor="t"/>
          <ns1:lstStyle/>
          <ns1:p>
            <ns1:pPr algn="ctr" indent="0" marL="0">
              <ns1:buNone/>
            </ns1:pPr>
            <ns1:r>
              <ns1:rPr lang="en-US" sz="1250" b="1" dirty="0">
                <ns1:solidFill>
                  <ns1:srgbClr val="FFFFFF"/>
                </ns1:solidFill>
                <ns1:latin typeface="Arial" pitchFamily="34" charset="0"/>
                <ns1:ea typeface="Arial" pitchFamily="34" charset="-122"/>
                <ns1:cs typeface="Arial" pitchFamily="34" charset="-120"/>
              </ns1:rPr>
              <ns1:t>2</ns1:t>
            </ns1:r>
            <ns1:endParaRPr lang="en-US" sz="1250" dirty="0"/>
          </ns1:p>
        </ns0:txBody>
      </ns0:sp>
      <ns0:sp>
        <ns0:nvSpPr>
          <ns0:cNvPr id="18" name="Text 14"/>
          <ns0:cNvSpPr/>
          <ns0:nvPr/>
        </ns0:nvSpPr>
        <ns0:spPr>
          <ns1:xfrm>
            <ns1:off x="1152227" y="2745284"/>
            <ns1:ext cx="1813459" cy="214610"/>
          </ns1:xfrm>
          <ns1:prstGeom prst="rect">
            <ns1:avLst/>
          </ns1:prstGeom>
          <ns1:noFill/>
          <ns1:ln/>
        </ns0:spPr>
        <ns0:txBody>
          <ns1:bodyPr wrap="square" lIns="0" tIns="0" rIns="0" bIns="0" rtlCol="0" anchor="t"/>
          <ns1:lstStyle/>
          <ns1:p>
            <ns1:pPr algn="l" indent="0" marL="0">
              <ns1:lnSpc>
                <ns1:spcPts val="1690"/>
              </ns1:lnSpc>
              <ns1:buNone/>
            </ns1:pPr>
            <ns1:r>
              <ns1:rPr lang="en-US" sz="1500" b="1" dirty="0">
                <ns1:solidFill>
                  <ns1:srgbClr val="1F2328"/>
                </ns1:solidFill>
                <ns1:latin typeface="Arial" pitchFamily="34" charset="0"/>
                <ns1:ea typeface="Arial" pitchFamily="34" charset="-122"/>
                <ns1:cs typeface="Arial" pitchFamily="34" charset="-120"/>
              </ns1:rPr>
              <ns1:t>One repository</ns1:t>
            </ns1:r>
            <ns1:endParaRPr lang="en-US" sz="1500" dirty="0"/>
          </ns1:p>
        </ns0:txBody>
      </ns0:sp>
      <ns0:sp>
        <ns0:nvSpPr>
          <ns0:cNvPr id="19" name="Text 15"/>
          <ns0:cNvSpPr/>
          <ns0:nvPr/>
        </ns0:nvSpPr>
        <ns0:spPr>
          <ns1:xfrm>
            <ns1:off x="3107829" y="2645569"/>
            <ns1:ext cx="2338703" cy="414040"/>
          </ns1:xfrm>
          <ns1:prstGeom prst="rect">
            <ns1:avLst/>
          </ns1:prstGeom>
          <ns1:noFill/>
          <ns1:ln/>
        </ns0:spPr>
        <ns0:txBody>
          <ns1:bodyPr wrap="square" lIns="0" tIns="0" rIns="0" bIns="0" rtlCol="0" anchor="t"/>
          <ns1:lstStyle/>
          <ns1:p>
            <ns1:pPr algn="l" indent="0" marL="0">
              <ns1:lnSpc>
                <ns1:spcPts val="1630"/>
              </ns1:lnSpc>
              <ns1:buNone/>
            </ns1:pPr>
            <ns1:r>
              <ns1:rPr lang="en-US" sz="1400" dirty="0">
                <ns1:solidFill>
                  <ns1:srgbClr val="59636E"/>
                </ns1:solidFill>
                <ns1:latin typeface="Arial" pitchFamily="34" charset="0"/>
                <ns1:ea typeface="Arial" pitchFamily="34" charset="-122"/>
                <ns1:cs typeface="Arial" pitchFamily="34" charset="-120"/>
              </ns1:rPr>
              <ns1:t>Never every repo you can access.</ns1:t>
            </ns1:r>
            <ns1:endParaRPr lang="en-US" sz="1400" dirty="0"/>
          </ns1:p>
        </ns0:txBody>
      </ns0:sp>
      <ns0:sp>
        <ns0:nvSpPr>
          <ns0:cNvPr id="20" name="Shape 16"/>
          <ns0:cNvSpPr/>
          <ns0:nvPr/>
        </ns0:nvSpPr>
        <ns0:spPr>
          <ns1:xfrm>
            <ns1:off x="517475" y="3696146"/>
            <ns1:ext cx="5060900" cy="0"/>
          </ns1:xfrm>
          <ns1:prstGeom prst="line">
            <ns1:avLst/>
          </ns1:prstGeom>
          <ns1:noFill/>
          <ns1:ln w="9525">
            <ns1:solidFill>
              <ns1:srgbClr val="D1D9E0"/>
            </ns1:solidFill>
            <ns1:prstDash val="solid"/>
          </ns1:ln>
        </ns0:spPr>
      </ns0:sp>
      <ns0:sp>
        <ns0:nvSpPr>
          <ns0:cNvPr id="21" name="Text 17"/>
          <ns0:cNvSpPr/>
          <ns0:nvPr/>
        </ns0:nvSpPr>
        <ns0:spPr>
          <ns1:xfrm>
            <ns1:off x="695176" y="3297734"/>
            <ns1:ext cx="279350" cy="279350"/>
          </ns1:xfrm>
          <ns1:prstGeom prst="roundRect">
            <ns1:avLst>
              <ns1:gd name="adj" fmla="val 327331"/>
            </ns1:avLst>
          </ns1:prstGeom>
          <ns1:solidFill>
            <ns1:srgbClr val="1A7F37"/>
          </ns1:solidFill>
          <ns1:ln/>
        </ns0:spPr>
        <ns0:txBody>
          <ns1:bodyPr wrap="square" rtlCol="0" anchor="ctr"/>
          <ns1:lstStyle/>
          <ns1:p>
            <ns1:pPr indent="0" marL="0">
              <ns1:buNone/>
            </ns1:pPr>
            <ns1:endParaRPr lang="en-US" dirty="0"/>
          </ns1:p>
        </ns0:txBody>
      </ns0:sp>
      <ns0:sp>
        <ns0:nvSpPr>
          <ns0:cNvPr id="22" name="Text 18"/>
          <ns0:cNvSpPr/>
          <ns0:nvPr/>
        </ns0:nvSpPr>
        <ns0:spPr>
          <ns1:xfrm>
            <ns1:off x="789841" y="3342084"/>
            <ns1:ext cx="90020" cy="190500"/>
          </ns1:xfrm>
          <ns1:prstGeom prst="rect">
            <ns1:avLst/>
          </ns1:prstGeom>
          <ns1:noFill/>
          <ns1:ln/>
        </ns0:spPr>
        <ns0:txBody>
          <ns1:bodyPr wrap="square" lIns="0" tIns="0" rIns="0" bIns="0" rtlCol="0" anchor="t"/>
          <ns1:lstStyle/>
          <ns1:p>
            <ns1:pPr algn="ctr" indent="0" marL="0">
              <ns1:buNone/>
            </ns1:pPr>
            <ns1:r>
              <ns1:rPr lang="en-US" sz="1250" b="1" dirty="0">
                <ns1:solidFill>
                  <ns1:srgbClr val="FFFFFF"/>
                </ns1:solidFill>
                <ns1:latin typeface="Arial" pitchFamily="34" charset="0"/>
                <ns1:ea typeface="Arial" pitchFamily="34" charset="-122"/>
                <ns1:cs typeface="Arial" pitchFamily="34" charset="-120"/>
              </ns1:rPr>
              <ns1:t>3</ns1:t>
            </ns1:r>
            <ns1:endParaRPr lang="en-US" sz="1250" dirty="0"/>
          </ns1:p>
        </ns0:txBody>
      </ns0:sp>
      <ns0:sp>
        <ns0:nvSpPr>
          <ns0:cNvPr id="23" name="Text 19"/>
          <ns0:cNvSpPr/>
          <ns0:nvPr/>
        </ns0:nvSpPr>
        <ns0:spPr>
          <ns1:xfrm>
            <ns1:off x="1152227" y="3330029"/>
            <ns1:ext cx="1813459" cy="214610"/>
          </ns1:xfrm>
          <ns1:prstGeom prst="rect">
            <ns1:avLst/>
          </ns1:prstGeom>
          <ns1:noFill/>
          <ns1:ln/>
        </ns0:spPr>
        <ns0:txBody>
          <ns1:bodyPr wrap="square" lIns="0" tIns="0" rIns="0" bIns="0" rtlCol="0" anchor="t"/>
          <ns1:lstStyle/>
          <ns1:p>
            <ns1:pPr algn="l" indent="0" marL="0">
              <ns1:lnSpc>
                <ns1:spcPts val="1690"/>
              </ns1:lnSpc>
              <ns1:buNone/>
            </ns1:pPr>
            <ns1:r>
              <ns1:rPr lang="en-US" sz="1500" b="1" dirty="0">
                <ns1:solidFill>
                  <ns1:srgbClr val="1F2328"/>
                </ns1:solidFill>
                <ns1:latin typeface="Arial" pitchFamily="34" charset="0"/>
                <ns1:ea typeface="Arial" pitchFamily="34" charset="-122"/>
                <ns1:cs typeface="Arial" pitchFamily="34" charset="-120"/>
              </ns1:rPr>
              <ns1:t>Filter narrowly</ns1:t>
            </ns1:r>
            <ns1:endParaRPr lang="en-US" sz="1500" dirty="0"/>
          </ns1:p>
        </ns0:txBody>
      </ns0:sp>
      <ns0:sp>
        <ns0:nvSpPr>
          <ns0:cNvPr id="24" name="Text 20"/>
          <ns0:cNvSpPr/>
          <ns0:nvPr/>
        </ns0:nvSpPr>
        <ns0:spPr>
          <ns1:xfrm>
            <ns1:off x="3107829" y="3333899"/>
            <ns1:ext cx="2338703" cy="207020"/>
          </ns1:xfrm>
          <ns1:prstGeom prst="rect">
            <ns1:avLst/>
          </ns1:prstGeom>
          <ns1:noFill/>
          <ns1:ln/>
        </ns0:spPr>
        <ns0:txBody>
          <ns1:bodyPr wrap="square" lIns="0" tIns="0" rIns="0" bIns="0" rtlCol="0" anchor="t"/>
          <ns1:lstStyle/>
          <ns1:p>
            <ns1:pPr algn="l" indent="0" marL="0">
              <ns1:lnSpc>
                <ns1:spcPts val="1630"/>
              </ns1:lnSpc>
              <ns1:buNone/>
            </ns1:pPr>
            <ns1:r>
              <ns1:rPr lang="en-US" sz="1400" dirty="0">
                <ns1:solidFill>
                  <ns1:srgbClr val="59636E"/>
                </ns1:solidFill>
                <ns1:latin typeface="Arial" pitchFamily="34" charset="0"/>
                <ns1:ea typeface="Arial" pitchFamily="34" charset="-122"/>
                <ns1:cs typeface="Arial" pitchFamily="34" charset="-120"/>
              </ns1:rPr>
              <ns1:t>By label or search query.</ns1:t>
            </ns1:r>
            <ns1:endParaRPr lang="en-US" sz="1400" dirty="0"/>
          </ns1:p>
        </ns0:txBody>
      </ns0:sp>
      <ns0:sp>
        <ns0:nvSpPr>
          <ns0:cNvPr id="25" name="Text 21"/>
          <ns0:cNvSpPr/>
          <ns0:nvPr/>
        </ns0:nvSpPr>
        <ns0:spPr>
          <ns1:xfrm>
            <ns1:off x="695176" y="3815209"/>
            <ns1:ext cx="279350" cy="279350"/>
          </ns1:xfrm>
          <ns1:prstGeom prst="roundRect">
            <ns1:avLst>
              <ns1:gd name="adj" fmla="val 327331"/>
            </ns1:avLst>
          </ns1:prstGeom>
          <ns1:solidFill>
            <ns1:srgbClr val="1A7F37"/>
          </ns1:solidFill>
          <ns1:ln/>
        </ns0:spPr>
        <ns0:txBody>
          <ns1:bodyPr wrap="square" rtlCol="0" anchor="ctr"/>
          <ns1:lstStyle/>
          <ns1:p>
            <ns1:pPr indent="0" marL="0">
              <ns1:buNone/>
            </ns1:pPr>
            <ns1:endParaRPr lang="en-US" dirty="0"/>
          </ns1:p>
        </ns0:txBody>
      </ns0:sp>
      <ns0:sp>
        <ns0:nvSpPr>
          <ns0:cNvPr id="26" name="Text 22"/>
          <ns0:cNvSpPr/>
          <ns0:nvPr/>
        </ns0:nvSpPr>
        <ns0:spPr>
          <ns1:xfrm>
            <ns1:off x="789841" y="3859560"/>
            <ns1:ext cx="90020" cy="190500"/>
          </ns1:xfrm>
          <ns1:prstGeom prst="rect">
            <ns1:avLst/>
          </ns1:prstGeom>
          <ns1:noFill/>
          <ns1:ln/>
        </ns0:spPr>
        <ns0:txBody>
          <ns1:bodyPr wrap="square" lIns="0" tIns="0" rIns="0" bIns="0" rtlCol="0" anchor="t"/>
          <ns1:lstStyle/>
          <ns1:p>
            <ns1:pPr algn="ctr" indent="0" marL="0">
              <ns1:buNone/>
            </ns1:pPr>
            <ns1:r>
              <ns1:rPr lang="en-US" sz="1250" b="1" dirty="0">
                <ns1:solidFill>
                  <ns1:srgbClr val="FFFFFF"/>
                </ns1:solidFill>
                <ns1:latin typeface="Arial" pitchFamily="34" charset="0"/>
                <ns1:ea typeface="Arial" pitchFamily="34" charset="-122"/>
                <ns1:cs typeface="Arial" pitchFamily="34" charset="-120"/>
              </ns1:rPr>
              <ns1:t>4</ns1:t>
            </ns1:r>
            <ns1:endParaRPr lang="en-US" sz="1250" dirty="0"/>
          </ns1:p>
        </ns0:txBody>
      </ns0:sp>
      <ns0:sp>
        <ns0:nvSpPr>
          <ns0:cNvPr id="27" name="Text 23"/>
          <ns0:cNvSpPr/>
          <ns0:nvPr/>
        </ns0:nvSpPr>
        <ns0:spPr>
          <ns1:xfrm>
            <ns1:off x="1152227" y="3847505"/>
            <ns1:ext cx="1813459" cy="214610"/>
          </ns1:xfrm>
          <ns1:prstGeom prst="rect">
            <ns1:avLst/>
          </ns1:prstGeom>
          <ns1:noFill/>
          <ns1:ln/>
        </ns0:spPr>
        <ns0:txBody>
          <ns1:bodyPr wrap="square" lIns="0" tIns="0" rIns="0" bIns="0" rtlCol="0" anchor="t"/>
          <ns1:lstStyle/>
          <ns1:p>
            <ns1:pPr algn="l" indent="0" marL="0">
              <ns1:lnSpc>
                <ns1:spcPts val="1690"/>
              </ns1:lnSpc>
              <ns1:buNone/>
            </ns1:pPr>
            <ns1:r>
              <ns1:rPr lang="en-US" sz="1500" b="1" dirty="0">
                <ns1:solidFill>
                  <ns1:srgbClr val="1F2328"/>
                </ns1:solidFill>
                <ns1:latin typeface="Arial" pitchFamily="34" charset="0"/>
                <ns1:ea typeface="Arial" pitchFamily="34" charset="-122"/>
                <ns1:cs typeface="Arial" pitchFamily="34" charset="-120"/>
              </ns1:rPr>
              <ns1:t>Hold write tools</ns1:t>
            </ns1:r>
            <ns1:endParaRPr lang="en-US" sz="1500" dirty="0"/>
          </ns1:p>
        </ns0:txBody>
      </ns0:sp>
      <ns0:sp>
        <ns0:nvSpPr>
          <ns0:cNvPr id="28" name="Text 24"/>
          <ns0:cNvSpPr/>
          <ns0:nvPr/>
        </ns0:nvSpPr>
        <ns0:spPr>
          <ns1:xfrm>
            <ns1:off x="3107829" y="3851374"/>
            <ns1:ext cx="2338703" cy="207020"/>
          </ns1:xfrm>
          <ns1:prstGeom prst="rect">
            <ns1:avLst/>
          </ns1:prstGeom>
          <ns1:noFill/>
          <ns1:ln/>
        </ns0:spPr>
        <ns0:txBody>
          <ns1:bodyPr wrap="square" lIns="0" tIns="0" rIns="0" bIns="0" rtlCol="0" anchor="t"/>
          <ns1:lstStyle/>
          <ns1:p>
            <ns1:pPr algn="l" indent="0" marL="0">
              <ns1:lnSpc>
                <ns1:spcPts val="1630"/>
              </ns1:lnSpc>
              <ns1:buNone/>
            </ns1:pPr>
            <ns1:r>
              <ns1:rPr lang="en-US" sz="1400" dirty="0">
                <ns1:solidFill>
                  <ns1:srgbClr val="59636E"/>
                </ns1:solidFill>
                <ns1:latin typeface="Arial" pitchFamily="34" charset="0"/>
                <ns1:ea typeface="Arial" pitchFamily="34" charset="-122"/>
                <ns1:cs typeface="Arial" pitchFamily="34" charset="-120"/>
              </ns1:rPr>
              <ns1:t>Until several runs look right.</ns1:t>
            </ns1:r>
            <ns1:endParaRPr lang="en-US" sz="1400" dirty="0"/>
          </ns1:p>
        </ns0:txBody>
      </ns0:sp>
      <ns0:sp>
        <ns0:nvSpPr>
          <ns0:cNvPr id="29" name="Text 25"/>
          <ns0:cNvSpPr/>
          <ns0:nvPr/>
        </ns0:nvSpPr>
        <ns0:spPr>
          <ns1:xfrm>
            <ns1:off x="5791051" y="2639467"/>
            <ns1:ext cx="2844701" cy="943570"/>
          </ns1:xfrm>
          <ns1:prstGeom prst="roundRect">
            <ns1:avLst>
              <ns1:gd name="adj" fmla="val 10768"/>
            </ns1:avLst>
          </ns1:prstGeom>
          <ns1:solidFill>
            <ns1:srgbClr val="FFEBE9"/>
          </ns1:solidFill>
          <ns1:ln w="9525">
            <ns1:solidFill>
              <ns1:srgbClr val="FFCECB"/>
            </ns1:solidFill>
          </ns1:ln>
        </ns0:spPr>
        <ns0:txBody>
          <ns1:bodyPr wrap="square" rtlCol="0" anchor="ctr"/>
          <ns1:lstStyle/>
          <ns1:p>
            <ns1:pPr indent="0" marL="0">
              <ns1:buNone/>
            </ns1:pPr>
            <ns1:endParaRPr lang="en-US" dirty="0"/>
          </ns1:p>
        </ns0:txBody>
      </ns0:sp>
      <ns0:pic>
        <ns0:nvPicPr>
          <ns0:cNvPr id="30" name="Image 2" descr="">
            <ns1:extLst>
              <ns1:ext uri="{C183D7F6-B498-43B3-948B-1728B52AA6E4}">
                <ns2:decorative val="1"/>
              </ns1:ext>
            </ns1:extLst>
          </ns0:cNvPr>
          <ns0:cNvPicPr>
            <ns1:picLocks noChangeAspect="1"/>
          </ns0:cNvPicPr>
          <ns0:nvPr/>
        </ns0:nvPicPr>
        <ns0:blipFill>
          <ns1:blip ns3:embed="rId4"/>
          <ns1:stretch>
            <ns1:fillRect/>
          </ns1:stretch>
        </ns0:blipFill>
        <ns0:spPr>
          <ns1:xfrm>
            <ns1:off x="5978277" y="3009602"/>
            <ns1:ext cx="203150" cy="203150"/>
          </ns1:xfrm>
          <ns1:prstGeom prst="rect">
            <ns1:avLst/>
          </ns1:prstGeom>
        </ns0:spPr>
      </ns0:pic>
      <ns0:sp>
        <ns0:nvSpPr>
          <ns0:cNvPr id="31" name="Text 26"/>
          <ns0:cNvSpPr/>
          <ns0:nvPr/>
        </ns0:nvSpPr>
        <ns0:spPr>
          <ns1:xfrm>
            <ns1:off x="6308378" y="2775942"/>
            <ns1:ext cx="2182951" cy="670620"/>
          </ns1:xfrm>
          <ns1:prstGeom prst="rect">
            <ns1:avLst/>
          </ns1:prstGeom>
          <ns1:noFill/>
          <ns1:ln/>
        </ns0:spPr>
        <ns0:txBody>
          <ns1:bodyPr wrap="square" lIns="0" tIns="0" rIns="0" bIns="0" rtlCol="0" anchor="t"/>
          <ns1:lstStyle/>
          <ns1:p>
            <ns1:pPr algn="l" indent="0" marL="0">
              <ns1:lnSpc>
                <ns1:spcPts val="1760"/>
              </ns1:lnSpc>
              <ns1:buNone/>
            </ns1:pPr>
            <ns1:r>
              <ns1:rPr lang="en-US" sz="1450" dirty="0">
                <ns1:solidFill>
                  <ns1:srgbClr val="1F2328"/>
                </ns1:solidFill>
                <ns1:latin typeface="Arial" pitchFamily="34" charset="0"/>
                <ns1:ea typeface="Arial" pitchFamily="34" charset="-122"/>
                <ns1:cs typeface="Arial" pitchFamily="34" charset="-120"/>
              </ns1:rPr>
              <ns1:t>Hostile issue text plus write tools raises </ns1:t>
            </ns1:r>
            <ns1:pPr algn="l" indent="0" marL="0">
              <ns1:lnSpc>
                <ns1:spcPts val="1760"/>
              </ns1:lnSpc>
              <ns1:buNone/>
            </ns1:pPr>
            <ns1:r>
              <ns1:rPr lang="en-US" sz="1450" b="1" dirty="0">
                <ns1:solidFill>
                  <ns1:srgbClr val="1F2328"/>
                </ns1:solidFill>
                <ns1:latin typeface="Arial" pitchFamily="34" charset="0"/>
                <ns1:ea typeface="Arial" pitchFamily="34" charset="-122"/>
                <ns1:cs typeface="Arial" pitchFamily="34" charset="-120"/>
              </ns1:rPr>
              <ns1:t>prompt-injection</ns1:t>
            </ns1:r>
            <ns1:pPr algn="l" indent="0" marL="0">
              <ns1:lnSpc>
                <ns1:spcPts val="1760"/>
              </ns1:lnSpc>
              <ns1:buNone/>
            </ns1:pPr>
            <ns1:r>
              <ns1:rPr lang="en-US" sz="1450" dirty="0">
                <ns1:solidFill>
                  <ns1:srgbClr val="1F2328"/>
                </ns1:solidFill>
                <ns1:latin typeface="Arial" pitchFamily="34" charset="0"/>
                <ns1:ea typeface="Arial" pitchFamily="34" charset="-122"/>
                <ns1:cs typeface="Arial" pitchFamily="34" charset="-120"/>
              </ns1:rPr>
              <ns1:t> risk.</ns1:t>
            </ns1:r>
            <ns1:endParaRPr lang="en-US" sz="1450" dirty="0"/>
          </ns1:p>
        </ns0:txBody>
      </ns0:sp>
    </ns0:spTree>
  </ns0:cSld>
  <ns0:clrMapOvr>
    <ns1:masterClrMapping/>
  </ns0:clrMapOvr>
</ns0:sld>
</file>

<file path=ppt/slides/slide13.xml><?xml version="1.0" encoding="utf-8"?>
<ns0:sld xmlns:ns0="http://schemas.openxmlformats.org/presentationml/2006/main" xmlns:ns1="http://schemas.openxmlformats.org/drawingml/2006/main" xmlns:ns2="http://schemas.microsoft.com/office/drawing/2017/decorative" xmlns:ns3="http://schemas.openxmlformats.org/officeDocument/2006/relationships">
  <ns0:cSld name="Slide 13">
    <ns0:bg>
      <ns0:bgPr>
        <ns1:solidFill>
          <ns1:srgbClr val="FFFFFF"/>
        </ns1:solidFill>
      </ns0:bgPr>
    </ns0:bg>
    <ns0:spTree>
      <ns0:nvGrpSpPr>
        <ns0:cNvPr id="1" name=""/>
        <ns0:cNvGrpSpPr/>
        <ns0:nvPr/>
      </ns0:nvGrpSpPr>
      <ns0:grpSpPr>
        <ns1:xfrm>
          <ns1:off x="0" y="0"/>
          <ns1:ext cx="0" cy="0"/>
          <ns1:chOff x="0" y="0"/>
          <ns1:chExt cx="0" cy="0"/>
        </ns1:xfrm>
      </ns0:grpSpPr>
      <ns0:pic>
        <ns0:nvPicPr>
          <ns0:cNvPr id="2" name="Image 0" descr="">
            <ns1:extLst>
              <ns1:ext uri="{C183D7F6-B498-43B3-948B-1728B52AA6E4}">
                <ns2:decorative val="1"/>
              </ns1:ext>
            </ns1:extLst>
          </ns0:cNvPr>
          <ns0:cNvPicPr>
            <ns1:picLocks noChangeAspect="1"/>
          </ns0:cNvPicPr>
          <ns0:nvPr/>
        </ns0:nvPicPr>
        <ns0:blipFill>
          <ns1:blip ns3:embed="rId1"/>
          <ns1:stretch>
            <ns1:fillRect/>
          </ns1:stretch>
        </ns0:blipFill>
        <ns0:spPr>
          <ns1:xfrm>
            <ns1:off x="6349901" y="0"/>
            <ns1:ext cx="2793950" cy="1308050"/>
          </ns1:xfrm>
          <ns1:prstGeom prst="rect">
            <ns1:avLst/>
          </ns1:prstGeom>
        </ns0:spPr>
      </ns0:pic>
      <ns0:sp>
        <ns0:nvSpPr>
          <ns0:cNvPr id="3" name="Text 0"/>
          <ns0:cNvSpPr/>
          <ns0:nvPr/>
        </ns0:nvSpPr>
        <ns0:spPr>
          <ns1:xfrm>
            <ns1:off x="7340501" y="177701"/>
            <ns1:ext cx="1168301" cy="279350"/>
          </ns1:xfrm>
          <ns1:prstGeom prst="roundRect">
            <ns1:avLst>
              <ns1:gd name="adj" fmla="val 22731"/>
            </ns1:avLst>
          </ns1:prstGeom>
          <ns1:solidFill>
            <ns1:srgbClr val="1A7F37"/>
          </ns1:solidFill>
          <ns1:ln/>
        </ns0:spPr>
        <ns0:txBody>
          <ns1:bodyPr wrap="square" rtlCol="0" anchor="ctr"/>
          <ns1:lstStyle/>
          <ns1:p>
            <ns1:pPr indent="0" marL="0">
              <ns1:buNone/>
            </ns1:pPr>
            <ns1:endParaRPr lang="en-US" dirty="0"/>
          </ns1:p>
        </ns0:txBody>
      </ns0:sp>
      <ns0:sp>
        <ns0:nvSpPr>
          <ns0:cNvPr id="4" name="Text 1"/>
          <ns0:cNvSpPr/>
          <ns0:nvPr/>
        </ns0:nvSpPr>
        <ns0:spPr>
          <ns1:xfrm>
            <ns1:off x="7461041" y="231577"/>
            <ns1:ext cx="927071" cy="171450"/>
          </ns1:xfrm>
          <ns1:prstGeom prst="rect">
            <ns1:avLst/>
          </ns1:prstGeom>
          <ns1:noFill/>
          <ns1:ln/>
        </ns0:spPr>
        <ns0:txBody>
          <ns1:bodyPr wrap="square" lIns="0" tIns="0" rIns="0" bIns="0" rtlCol="0" anchor="t"/>
          <ns1:lstStyle/>
          <ns1:p>
            <ns1:pPr algn="ctr" indent="0" marL="0">
              <ns1:buNone/>
            </ns1:pPr>
            <ns1:r>
              <ns1:rPr lang="en-US" sz="1150" b="1" dirty="0">
                <ns1:solidFill>
                  <ns1:srgbClr val="FFFFFF"/>
                </ns1:solidFill>
                <ns1:latin typeface="Arial" pitchFamily="34" charset="0"/>
                <ns1:ea typeface="Arial" pitchFamily="34" charset="-122"/>
                <ns1:cs typeface="Arial" pitchFamily="34" charset="-120"/>
              </ns1:rPr>
              <ns1:t>CHAPTER 07</ns1:t>
            </ns1:r>
            <ns1:endParaRPr lang="en-US" sz="1150" dirty="0"/>
          </ns1:p>
        </ns0:txBody>
      </ns0:sp>
      <ns0:pic>
        <ns0:nvPicPr>
          <ns0:cNvPr id="5" name="Image 1" descr="Open this chapter on GitHub">
            <ns1:hlinkClick ns3:id="rId3" tooltip="https://github.com/github/copilot-app-for-beginners/tree/main/07-automations"/>
          </ns0:cNvPr>
          <ns0:cNvPicPr>
            <ns1:picLocks noChangeAspect="1"/>
          </ns0:cNvPicPr>
          <ns0:nvPr/>
        </ns0:nvPicPr>
        <ns0:blipFill>
          <ns1:blip ns3:embed="rId2"/>
          <ns1:stretch>
            <ns1:fillRect/>
          </ns1:stretch>
        </ns0:blipFill>
        <ns0:spPr>
          <ns1:xfrm>
            <ns1:off x="8610600" y="165050"/>
            <ns1:ext cx="304800" cy="304800"/>
          </ns1:xfrm>
          <ns1:prstGeom prst="rect">
            <ns1:avLst/>
          </ns1:prstGeom>
        </ns0:spPr>
      </ns0:pic>
      <ns0:sp>
        <ns0:nvSpPr>
          <ns0:cNvPr id="6" name="Text 2"/>
          <ns0:cNvSpPr/>
          <ns0:nvPr/>
        </ns0:nvSpPr>
        <ns0:spPr>
          <ns1:xfrm>
            <ns1:off x="507950" y="381000"/>
            <ns1:ext cx="8161020" cy="190500"/>
          </ns1:xfrm>
          <ns1:prstGeom prst="rect">
            <ns1:avLst/>
          </ns1:prstGeom>
          <ns1:noFill/>
          <ns1:ln/>
        </ns0:spPr>
        <ns0:txBody>
          <ns1:bodyPr wrap="square" lIns="0" tIns="0" rIns="0" bIns="0" rtlCol="0" anchor="t"/>
          <ns1:lstStyle/>
          <ns1:p>
            <ns1:pPr algn="l" indent="0" marL="0">
              <ns1:buNone/>
            </ns1:pPr>
            <ns1:r>
              <ns1:rPr lang="en-US" sz="1250" b="1" dirty="0">
                <ns1:solidFill>
                  <ns1:srgbClr val="1A7F37"/>
                </ns1:solidFill>
                <ns1:latin typeface="Arial" pitchFamily="34" charset="0"/>
                <ns1:ea typeface="Arial" pitchFamily="34" charset="-122"/>
                <ns1:cs typeface="Arial" pitchFamily="34" charset="-120"/>
              </ns1:rPr>
              <ns1:t>LOCAL OR CLOUD</ns1:t>
            </ns1:r>
            <ns1:endParaRPr lang="en-US" sz="1250" dirty="0"/>
          </ns1:p>
        </ns0:txBody>
      </ns0:sp>
      <ns0:sp>
        <ns0:nvSpPr>
          <ns0:cNvPr id="7" name="Text 3"/>
          <ns0:cNvSpPr/>
          <ns0:nvPr/>
        </ns0:nvSpPr>
        <ns0:spPr>
          <ns1:xfrm>
            <ns1:off x="507950" y="622250"/>
            <ns1:ext cx="8161020" cy="419100"/>
          </ns1:xfrm>
          <ns1:prstGeom prst="rect">
            <ns1:avLst/>
          </ns1:prstGeom>
          <ns1:noFill/>
          <ns1:ln/>
        </ns0:spPr>
        <ns0:txBody>
          <ns1:bodyPr wrap="square" lIns="0" tIns="0" rIns="0" bIns="0" rtlCol="0" anchor="t"/>
          <ns1:lstStyle/>
          <ns1:p>
            <ns1:pPr algn="l" indent="0" marL="0">
              <ns1:lnSpc>
                <ns1:spcPts val="3300"/>
              </ns1:lnSpc>
              <ns1:spcBef>
                <ns1:spcPts val="400"/>
              </ns1:spcBef>
              <ns1:buNone/>
            </ns1:pPr>
            <ns1:r>
              <ns1:rPr lang="en-US" sz="2800" b="1" dirty="0">
                <ns1:solidFill>
                  <ns1:srgbClr val="1F2328"/>
                </ns1:solidFill>
                <ns1:latin typeface="Arial" pitchFamily="34" charset="0"/>
                <ns1:ea typeface="Arial" pitchFamily="34" charset="-122"/>
                <ns1:cs typeface="Arial" pitchFamily="34" charset="-120"/>
              </ns1:rPr>
              <ns1:t>Move to the cloud only when it is proven</ns1:t>
            </ns1:r>
            <ns1:endParaRPr lang="en-US" sz="2800" dirty="0"/>
          </ns1:p>
        </ns0:txBody>
      </ns0:sp>
      <ns0:sp>
        <ns0:nvSpPr>
          <ns0:cNvPr id="8" name="Text 4"/>
          <ns0:cNvSpPr/>
          <ns0:nvPr/>
        </ns0:nvSpPr>
        <ns0:spPr>
          <ns1:xfrm>
            <ns1:off x="507950" y="1104751"/>
            <ns1:ext cx="8161020" cy="254050"/>
          </ns1:xfrm>
          <ns1:prstGeom prst="rect">
            <ns1:avLst/>
          </ns1:prstGeom>
          <ns1:noFill/>
          <ns1:ln/>
        </ns0:spPr>
        <ns0:txBody>
          <ns1:bodyPr wrap="square" lIns="0" tIns="0" rIns="0" bIns="0" rtlCol="0" anchor="t"/>
          <ns1:lstStyle/>
          <ns1:p>
            <ns1:pPr algn="l" indent="0" marL="0">
              <ns1:lnSpc>
                <ns1:spcPts val="2000"/>
              </ns1:lnSpc>
              <ns1:spcBef>
                <ns1:spcPts val="500"/>
              </ns1:spcBef>
              <ns1:buNone/>
            </ns1:pPr>
            <ns1:r>
              <ns1:rPr lang="en-US" sz="1650" dirty="0">
                <ns1:solidFill>
                  <ns1:srgbClr val="59636E"/>
                </ns1:solidFill>
                <ns1:latin typeface="Arial" pitchFamily="34" charset="0"/>
                <ns1:ea typeface="Arial" pitchFamily="34" charset="-122"/>
                <ns1:cs typeface="Arial" pitchFamily="34" charset="-120"/>
              </ns1:rPr>
              <ns1:t>Cloud runs on GitHub even when your laptop is closed.</ns1:t>
            </ns1:r>
            <ns1:endParaRPr lang="en-US" sz="1650" dirty="0"/>
          </ns1:p>
        </ns0:txBody>
      </ns0:sp>
      <ns0:sp>
        <ns0:nvSpPr>
          <ns0:cNvPr id="9" name="Text 5"/>
          <ns0:cNvSpPr/>
          <ns0:nvPr/>
        </ns0:nvSpPr>
        <ns0:spPr>
          <ns1:xfrm>
            <ns1:off x="511076" y="2212925"/>
            <ns1:ext cx="2533650" cy="1720751"/>
          </ns1:xfrm>
          <ns1:prstGeom prst="roundRect">
            <ns1:avLst>
              <ns1:gd name="adj" fmla="val 4428"/>
            </ns1:avLst>
          </ns1:prstGeom>
          <ns1:solidFill>
            <ns1:srgbClr val="FFFFFF"/>
          </ns1:solidFill>
          <ns1:ln w="9525">
            <ns1:solidFill>
              <ns1:srgbClr val="D1D9E0"/>
            </ns1:solidFill>
          </ns1:ln>
          <ns1:effectLst>
            <ns1:outerShdw sx="100000" sy="100000" kx="0" ky="0" algn="bl" rotWithShape="0" blurRad="38100" dist="9525" dir="5400000">
              <ns1:srgbClr val="1f2328">
                <ns1:alpha val="12000"/>
              </ns1:srgbClr>
            </ns1:outerShdw>
          </ns1:effectLst>
        </ns0:spPr>
        <ns0:txBody>
          <ns1:bodyPr wrap="square" rtlCol="0" anchor="ctr"/>
          <ns1:lstStyle/>
          <ns1:p>
            <ns1:pPr indent="0" marL="0">
              <ns1:buNone/>
            </ns1:pPr>
            <ns1:endParaRPr lang="en-US" dirty="0"/>
          </ns1:p>
        </ns0:txBody>
      </ns0:sp>
      <ns0:pic>
        <ns0:nvPicPr>
          <ns0:cNvPr id="10" name="Image 2" descr="Local versus cloud automations"/>
          <ns0:cNvPicPr>
            <ns1:picLocks noChangeAspect="1"/>
          </ns0:cNvPicPr>
          <ns0:nvPr/>
        </ns0:nvPicPr>
        <ns0:blipFill>
          <ns1:blip ns3:embed="rId4"/>
          <ns1:stretch>
            <ns1:fillRect/>
          </ns1:stretch>
        </ns0:blipFill>
        <ns0:spPr>
          <ns1:xfrm>
            <ns1:off x="558701" y="2260550"/>
            <ns1:ext cx="2438400" cy="1625501"/>
          </ns1:xfrm>
          <ns1:prstGeom prst="rect">
            <ns1:avLst/>
          </ns1:prstGeom>
        </ns0:spPr>
      </ns0:pic>
      <ns0:sp>
        <ns0:nvSpPr>
          <ns0:cNvPr id="11" name="Text 6"/>
          <ns0:cNvSpPr/>
          <ns0:nvPr/>
        </ns0:nvSpPr>
        <ns0:spPr>
          <ns1:xfrm>
            <ns1:off x="3251002" y="1574750"/>
            <ns1:ext cx="2692598" cy="2142530"/>
          </ns1:xfrm>
          <ns1:prstGeom prst="roundRect">
            <ns1:avLst>
              <ns1:gd name="adj" fmla="val 5928"/>
            </ns1:avLst>
          </ns1:prstGeom>
          <ns1:solidFill>
            <ns1:srgbClr val="FFFFFF"/>
          </ns1:solidFill>
          <ns1:ln w="9525">
            <ns1:solidFill>
              <ns1:srgbClr val="FFC49B"/>
            </ns1:solidFill>
          </ns1:ln>
        </ns0:spPr>
        <ns0:txBody>
          <ns1:bodyPr wrap="square" rtlCol="0" anchor="ctr"/>
          <ns1:lstStyle/>
          <ns1:p>
            <ns1:pPr indent="0" marL="0">
              <ns1:buNone/>
            </ns1:pPr>
            <ns1:endParaRPr lang="en-US" dirty="0"/>
          </ns1:p>
        </ns0:txBody>
      </ns0:sp>
      <ns0:sp>
        <ns0:nvSpPr>
          <ns0:cNvPr id="12" name="Text 7"/>
          <ns0:cNvSpPr/>
          <ns0:nvPr/>
        </ns0:nvSpPr>
        <ns0:spPr>
          <ns1:xfrm>
            <ns1:off x="3412927" y="1736675"/>
            <ns1:ext cx="381000" cy="381000"/>
          </ns1:xfrm>
          <ns1:prstGeom prst="roundRect">
            <ns1:avLst>
              <ns1:gd name="adj" fmla="val 23333"/>
            </ns1:avLst>
          </ns1:prstGeom>
          <ns1:solidFill>
            <ns1:srgbClr val="FFF1E5"/>
          </ns1:solidFill>
          <ns1:ln/>
        </ns0:spPr>
        <ns0:txBody>
          <ns1:bodyPr wrap="square" rtlCol="0" anchor="ctr"/>
          <ns1:lstStyle/>
          <ns1:p>
            <ns1:pPr indent="0" marL="0">
              <ns1:buNone/>
            </ns1:pPr>
            <ns1:endParaRPr lang="en-US" dirty="0"/>
          </ns1:p>
        </ns0:txBody>
      </ns0:sp>
      <ns0:pic>
        <ns0:nvPicPr>
          <ns0:cNvPr id="13" name="Image 3" descr="">
            <ns1:extLst>
              <ns1:ext uri="{C183D7F6-B498-43B3-948B-1728B52AA6E4}">
                <ns2:decorative val="1"/>
              </ns1:ext>
            </ns1:extLst>
          </ns0:cNvPr>
          <ns0:cNvPicPr>
            <ns1:picLocks noChangeAspect="1"/>
          </ns0:cNvPicPr>
          <ns0:nvPr/>
        </ns0:nvPicPr>
        <ns0:blipFill>
          <ns1:blip ns3:embed="rId5"/>
          <ns1:stretch>
            <ns1:fillRect/>
          </ns1:stretch>
        </ns0:blipFill>
        <ns0:spPr>
          <ns1:xfrm>
            <ns1:off x="3495526" y="1819275"/>
            <ns1:ext cx="215801" cy="215801"/>
          </ns1:xfrm>
          <ns1:prstGeom prst="rect">
            <ns1:avLst/>
          </ns1:prstGeom>
        </ns0:spPr>
      </ns0:pic>
      <ns0:sp>
        <ns0:nvSpPr>
          <ns0:cNvPr id="14" name="Text 8"/>
          <ns0:cNvSpPr/>
          <ns0:nvPr/>
        </ns0:nvSpPr>
        <ns0:spPr>
          <ns1:xfrm>
            <ns1:off x="3908227" y="1812875"/>
            <ns1:ext cx="1282598" cy="228600"/>
          </ns1:xfrm>
          <ns1:prstGeom prst="rect">
            <ns1:avLst/>
          </ns1:prstGeom>
          <ns1:noFill/>
          <ns1:ln/>
        </ns0:spPr>
        <ns0:txBody>
          <ns1:bodyPr wrap="square" lIns="0" tIns="0" rIns="0" bIns="0" rtlCol="0" anchor="t"/>
          <ns1:lstStyle/>
          <ns1:p>
            <ns1:pPr algn="l" indent="0" marL="0">
              <ns1:lnSpc>
                <ns1:spcPts val="1800"/>
              </ns1:lnSpc>
              <ns1:buNone/>
            </ns1:pPr>
            <ns1:r>
              <ns1:rPr lang="en-US" sz="1650" b="1" dirty="0">
                <ns1:solidFill>
                  <ns1:srgbClr val="1F2328"/>
                </ns1:solidFill>
                <ns1:latin typeface="Arial" pitchFamily="34" charset="0"/>
                <ns1:ea typeface="Arial" pitchFamily="34" charset="-122"/>
                <ns1:cs typeface="Arial" pitchFamily="34" charset="-120"/>
              </ns1:rPr>
              <ns1:t>Cloud needs</ns1:t>
            </ns1:r>
            <ns1:endParaRPr lang="en-US" sz="1650" dirty="0"/>
          </ns1:p>
        </ns0:txBody>
      </ns0:sp>
      <ns0:sp>
        <ns0:nvSpPr>
          <ns0:cNvPr id="15" name="Text 9"/>
          <ns0:cNvSpPr/>
          <ns0:nvPr/>
        </ns0:nvSpPr>
        <ns0:spPr>
          <ns1:xfrm>
            <ns1:off x="3412927" y="2273796"/>
            <ns1:ext cx="57150" cy="57150"/>
          </ns1:xfrm>
          <ns1:prstGeom prst="roundRect">
            <ns1:avLst>
              <ns1:gd name="adj" fmla="val 1600000"/>
            </ns1:avLst>
          </ns1:prstGeom>
          <ns1:solidFill>
            <ns1:srgbClr val="818B98"/>
          </ns1:solidFill>
          <ns1:ln/>
        </ns0:spPr>
        <ns0:txBody>
          <ns1:bodyPr wrap="square" rtlCol="0" anchor="ctr"/>
          <ns1:lstStyle/>
          <ns1:p>
            <ns1:pPr indent="0" marL="0">
              <ns1:buNone/>
            </ns1:pPr>
            <ns1:endParaRPr lang="en-US" dirty="0"/>
          </ns1:p>
        </ns0:txBody>
      </ns0:sp>
      <ns0:sp>
        <ns0:nvSpPr>
          <ns0:cNvPr id="16" name="Text 10"/>
          <ns0:cNvSpPr/>
          <ns0:nvPr/>
        </ns0:nvSpPr>
        <ns0:spPr>
          <ns1:xfrm>
            <ns1:off x="3571577" y="2193875"/>
            <ns1:ext cx="1673343" cy="207020"/>
          </ns1:xfrm>
          <ns1:prstGeom prst="rect">
            <ns1:avLst/>
          </ns1:prstGeom>
          <ns1:noFill/>
          <ns1:ln/>
        </ns0:spPr>
        <ns0:txBody>
          <ns1:bodyPr wrap="square" lIns="0" tIns="0" rIns="0" bIns="0" rtlCol="0" anchor="t"/>
          <ns1:lstStyle/>
          <ns1:p>
            <ns1:pPr algn="l" indent="0" marL="0">
              <ns1:lnSpc>
                <ns1:spcPts val="1630"/>
              </ns1:lnSpc>
              <ns1:buNone/>
            </ns1:pPr>
            <ns1:r>
              <ns1:rPr lang="en-US" sz="1400" dirty="0">
                <ns1:solidFill>
                  <ns1:srgbClr val="59636E"/>
                </ns1:solidFill>
                <ns1:latin typeface="Arial" pitchFamily="34" charset="0"/>
                <ns1:ea typeface="Arial" pitchFamily="34" charset="-122"/>
                <ns1:cs typeface="Arial" pitchFamily="34" charset="-120"/>
              </ns1:rPr>
              <ns1:t>Cloud agent enabled</ns1:t>
            </ns1:r>
            <ns1:endParaRPr lang="en-US" sz="1400" dirty="0"/>
          </ns1:p>
        </ns0:txBody>
      </ns0:sp>
      <ns0:sp>
        <ns0:nvSpPr>
          <ns0:cNvPr id="17" name="Text 11"/>
          <ns0:cNvSpPr/>
          <ns0:nvPr/>
        </ns0:nvSpPr>
        <ns0:spPr>
          <ns1:xfrm>
            <ns1:off x="3412927" y="2544217"/>
            <ns1:ext cx="57150" cy="57150"/>
          </ns1:xfrm>
          <ns1:prstGeom prst="roundRect">
            <ns1:avLst>
              <ns1:gd name="adj" fmla="val 1600000"/>
            </ns1:avLst>
          </ns1:prstGeom>
          <ns1:solidFill>
            <ns1:srgbClr val="818B98"/>
          </ns1:solidFill>
          <ns1:ln/>
        </ns0:spPr>
        <ns0:txBody>
          <ns1:bodyPr wrap="square" rtlCol="0" anchor="ctr"/>
          <ns1:lstStyle/>
          <ns1:p>
            <ns1:pPr indent="0" marL="0">
              <ns1:buNone/>
            </ns1:pPr>
            <ns1:endParaRPr lang="en-US" dirty="0"/>
          </ns1:p>
        </ns0:txBody>
      </ns0:sp>
      <ns0:sp>
        <ns0:nvSpPr>
          <ns0:cNvPr id="18" name="Text 12"/>
          <ns0:cNvSpPr/>
          <ns0:nvPr/>
        </ns0:nvSpPr>
        <ns0:spPr>
          <ns1:xfrm>
            <ns1:off x="3571577" y="2464296"/>
            <ns1:ext cx="1975283" cy="207020"/>
          </ns1:xfrm>
          <ns1:prstGeom prst="rect">
            <ns1:avLst/>
          </ns1:prstGeom>
          <ns1:noFill/>
          <ns1:ln/>
        </ns0:spPr>
        <ns0:txBody>
          <ns1:bodyPr wrap="square" lIns="0" tIns="0" rIns="0" bIns="0" rtlCol="0" anchor="t"/>
          <ns1:lstStyle/>
          <ns1:p>
            <ns1:pPr algn="l" indent="0" marL="0">
              <ns1:lnSpc>
                <ns1:spcPts val="1630"/>
              </ns1:lnSpc>
              <ns1:buNone/>
            </ns1:pPr>
            <ns1:r>
              <ns1:rPr lang="en-US" sz="1400" dirty="0">
                <ns1:solidFill>
                  <ns1:srgbClr val="59636E"/>
                </ns1:solidFill>
                <ns1:latin typeface="Arial" pitchFamily="34" charset="0"/>
                <ns1:ea typeface="Arial" pitchFamily="34" charset="-122"/>
                <ns1:cs typeface="Arial" pitchFamily="34" charset="-120"/>
              </ns1:rPr>
              <ns1:t>A private or internal repo</ns1:t>
            </ns1:r>
            <ns1:endParaRPr lang="en-US" sz="1400" dirty="0"/>
          </ns1:p>
        </ns0:txBody>
      </ns0:sp>
      <ns0:sp>
        <ns0:nvSpPr>
          <ns0:cNvPr id="19" name="Text 13"/>
          <ns0:cNvSpPr/>
          <ns0:nvPr/>
        </ns0:nvSpPr>
        <ns0:spPr>
          <ns1:xfrm>
            <ns1:off x="3412927" y="2814638"/>
            <ns1:ext cx="57150" cy="57150"/>
          </ns1:xfrm>
          <ns1:prstGeom prst="roundRect">
            <ns1:avLst>
              <ns1:gd name="adj" fmla="val 1600000"/>
            </ns1:avLst>
          </ns1:prstGeom>
          <ns1:solidFill>
            <ns1:srgbClr val="818B98"/>
          </ns1:solidFill>
          <ns1:ln/>
        </ns0:spPr>
        <ns0:txBody>
          <ns1:bodyPr wrap="square" rtlCol="0" anchor="ctr"/>
          <ns1:lstStyle/>
          <ns1:p>
            <ns1:pPr indent="0" marL="0">
              <ns1:buNone/>
            </ns1:pPr>
            <ns1:endParaRPr lang="en-US" dirty="0"/>
          </ns1:p>
        </ns0:txBody>
      </ns0:sp>
      <ns0:sp>
        <ns0:nvSpPr>
          <ns0:cNvPr id="20" name="Text 14"/>
          <ns0:cNvSpPr/>
          <ns0:nvPr/>
        </ns0:nvSpPr>
        <ns0:spPr>
          <ns1:xfrm>
            <ns1:off x="3571577" y="2734717"/>
            <ns1:ext cx="2254300" cy="414040"/>
          </ns1:xfrm>
          <ns1:prstGeom prst="rect">
            <ns1:avLst/>
          </ns1:prstGeom>
          <ns1:noFill/>
          <ns1:ln/>
        </ns0:spPr>
        <ns0:txBody>
          <ns1:bodyPr wrap="square" lIns="0" tIns="0" rIns="0" bIns="0" rtlCol="0" anchor="t"/>
          <ns1:lstStyle/>
          <ns1:p>
            <ns1:pPr algn="l" indent="0" marL="0">
              <ns1:lnSpc>
                <ns1:spcPts val="1630"/>
              </ns1:lnSpc>
              <ns1:buNone/>
            </ns1:pPr>
            <ns1:r>
              <ns1:rPr lang="en-US" sz="1400" dirty="0">
                <ns1:solidFill>
                  <ns1:srgbClr val="59636E"/>
                </ns1:solidFill>
                <ns1:latin typeface="Arial" pitchFamily="34" charset="0"/>
                <ns1:ea typeface="Arial" pitchFamily="34" charset="-122"/>
                <ns1:cs typeface="Arial" pitchFamily="34" charset="-120"/>
              </ns1:rPr>
              <ns1:t>Actions minutes and AI credits</ns1:t>
            </ns1:r>
            <ns1:endParaRPr lang="en-US" sz="1400" dirty="0"/>
          </ns1:p>
        </ns0:txBody>
      </ns0:sp>
      <ns0:sp>
        <ns0:nvSpPr>
          <ns0:cNvPr id="21" name="Text 15"/>
          <ns0:cNvSpPr/>
          <ns0:nvPr/>
        </ns0:nvSpPr>
        <ns0:spPr>
          <ns1:xfrm>
            <ns1:off x="3251002" y="3869680"/>
            <ns1:ext cx="2692598" cy="702171"/>
          </ns1:xfrm>
          <ns1:prstGeom prst="roundRect">
            <ns1:avLst>
              <ns1:gd name="adj" fmla="val 14469"/>
            </ns1:avLst>
          </ns1:prstGeom>
          <ns1:solidFill>
            <ns1:srgbClr val="DAFBE1"/>
          </ns1:solidFill>
          <ns1:ln w="9525">
            <ns1:solidFill>
              <ns1:srgbClr val="8CE7A5"/>
            </ns1:solidFill>
          </ns1:ln>
        </ns0:spPr>
        <ns0:txBody>
          <ns1:bodyPr wrap="square" rtlCol="0" anchor="ctr"/>
          <ns1:lstStyle/>
          <ns1:p>
            <ns1:pPr indent="0" marL="0">
              <ns1:buNone/>
            </ns1:pPr>
            <ns1:endParaRPr lang="en-US" dirty="0"/>
          </ns1:p>
        </ns0:txBody>
      </ns0:sp>
      <ns0:pic>
        <ns0:nvPicPr>
          <ns0:cNvPr id="22" name="Image 4" descr="">
            <ns1:extLst>
              <ns1:ext uri="{C183D7F6-B498-43B3-948B-1728B52AA6E4}">
                <ns2:decorative val="1"/>
              </ns1:ext>
            </ns1:extLst>
          </ns0:cNvPr>
          <ns0:cNvPicPr>
            <ns1:picLocks noChangeAspect="1"/>
          </ns0:cNvPicPr>
          <ns0:nvPr/>
        </ns0:nvPicPr>
        <ns0:blipFill>
          <ns1:blip ns3:embed="rId6"/>
          <ns1:stretch>
            <ns1:fillRect/>
          </ns1:stretch>
        </ns0:blipFill>
        <ns0:spPr>
          <ns1:xfrm>
            <ns1:off x="3438227" y="4119116"/>
            <ns1:ext cx="203150" cy="203150"/>
          </ns1:xfrm>
          <ns1:prstGeom prst="rect">
            <ns1:avLst/>
          </ns1:prstGeom>
        </ns0:spPr>
      </ns0:pic>
      <ns0:sp>
        <ns0:nvSpPr>
          <ns0:cNvPr id="23" name="Text 16"/>
          <ns0:cNvSpPr/>
          <ns0:nvPr/>
        </ns0:nvSpPr>
        <ns0:spPr>
          <ns1:xfrm>
            <ns1:off x="3768328" y="4006155"/>
            <ns1:ext cx="2027807" cy="429220"/>
          </ns1:xfrm>
          <ns1:prstGeom prst="rect">
            <ns1:avLst/>
          </ns1:prstGeom>
          <ns1:noFill/>
          <ns1:ln/>
        </ns0:spPr>
        <ns0:txBody>
          <ns1:bodyPr wrap="square" lIns="0" tIns="0" rIns="0" bIns="0" rtlCol="0" anchor="t"/>
          <ns1:lstStyle/>
          <ns1:p>
            <ns1:pPr algn="l" indent="0" marL="0">
              <ns1:lnSpc>
                <ns1:spcPts val="1690"/>
              </ns1:lnSpc>
              <ns1:buNone/>
            </ns1:pPr>
            <ns1:r>
              <ns1:rPr lang="en-US" sz="1400" dirty="0">
                <ns1:solidFill>
                  <ns1:srgbClr val="1F2328"/>
                </ns1:solidFill>
                <ns1:latin typeface="Arial" pitchFamily="34" charset="0"/>
                <ns1:ea typeface="Arial" pitchFamily="34" charset="-122"/>
                <ns1:cs typeface="Arial" pitchFamily="34" charset="-120"/>
              </ns1:rPr>
              <ns1:t>Select only the tools the task needs.</ns1:t>
            </ns1:r>
            <ns1:endParaRPr lang="en-US" sz="1400" dirty="0"/>
          </ns1:p>
        </ns0:txBody>
      </ns0:sp>
      <ns0:sp>
        <ns0:nvSpPr>
          <ns0:cNvPr id="24" name="Text 17"/>
          <ns0:cNvSpPr/>
          <ns0:nvPr/>
        </ns0:nvSpPr>
        <ns0:spPr>
          <ns1:xfrm>
            <ns1:off x="6149876" y="1775966"/>
            <ns1:ext cx="2482751" cy="2594521"/>
          </ns1:xfrm>
          <ns1:prstGeom prst="roundRect">
            <ns1:avLst>
              <ns1:gd name="adj" fmla="val 3069"/>
            </ns1:avLst>
          </ns1:prstGeom>
          <ns1:solidFill>
            <ns1:srgbClr val="FFFFFF"/>
          </ns1:solidFill>
          <ns1:ln w="9525">
            <ns1:solidFill>
              <ns1:srgbClr val="D1D9E0"/>
            </ns1:solidFill>
          </ns1:ln>
          <ns1:effectLst>
            <ns1:outerShdw sx="100000" sy="100000" kx="0" ky="0" algn="bl" rotWithShape="0" blurRad="38100" dist="9525" dir="5400000">
              <ns1:srgbClr val="1f2328">
                <ns1:alpha val="12000"/>
              </ns1:srgbClr>
            </ns1:outerShdw>
          </ns1:effectLst>
        </ns0:spPr>
        <ns0:txBody>
          <ns1:bodyPr wrap="square" rtlCol="0" anchor="ctr"/>
          <ns1:lstStyle/>
          <ns1:p>
            <ns1:pPr indent="0" marL="0">
              <ns1:buNone/>
            </ns1:pPr>
            <ns1:endParaRPr lang="en-US" dirty="0"/>
          </ns1:p>
        </ns0:txBody>
      </ns0:sp>
      <ns0:pic>
        <ns0:nvPicPr>
          <ns0:cNvPr id="25" name="Image 5" descr="Cloud automation Tools selector with Read PR, List PRs, and Search PRs selected, showing 3 tools selected while write tools such as Create PR are cleared"/>
          <ns0:cNvPicPr>
            <ns1:picLocks noChangeAspect="1"/>
          </ns0:cNvPicPr>
          <ns0:nvPr/>
        </ns0:nvPicPr>
        <ns0:blipFill>
          <ns1:blip ns3:embed="rId7"/>
          <ns1:stretch>
            <ns1:fillRect/>
          </ns1:stretch>
        </ns0:blipFill>
        <ns0:spPr>
          <ns1:xfrm>
            <ns1:off x="6197501" y="1823591"/>
            <ns1:ext cx="2387501" cy="2499271"/>
          </ns1:xfrm>
          <ns1:prstGeom prst="rect">
            <ns1:avLst/>
          </ns1:prstGeom>
        </ns0:spPr>
      </ns0:pic>
    </ns0:spTree>
  </ns0:cSld>
  <ns0:clrMapOvr>
    <ns1:masterClrMapping/>
  </ns0:clrMapOvr>
</ns0: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pic>
        <p:nvPicPr>
          <p:cNvPr id="2"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6349901" y="0"/>
            <a:ext cx="2793950" cy="1308050"/>
          </a:xfrm>
          <a:prstGeom prst="rect">
            <a:avLst/>
          </a:prstGeom>
        </p:spPr>
      </p:pic>
      <p:sp>
        <p:nvSpPr>
          <p:cNvPr id="3" name="Text 0"/>
          <p:cNvSpPr/>
          <p:nvPr/>
        </p:nvSpPr>
        <p:spPr>
          <a:xfrm>
            <a:off x="7340501" y="177701"/>
            <a:ext cx="1168301" cy="279350"/>
          </a:xfrm>
          <a:prstGeom prst="roundRect">
            <a:avLst>
              <a:gd name="adj" fmla="val 22731"/>
            </a:avLst>
          </a:prstGeom>
          <a:solidFill>
            <a:srgbClr val="1A7F37"/>
          </a:solidFill>
          <a:ln/>
        </p:spPr>
        <p:txBody>
          <a:bodyPr wrap="square" rtlCol="0" anchor="ctr"/>
          <a:lstStyle/>
          <a:p>
            <a:pPr indent="0" marL="0">
              <a:buNone/>
            </a:pPr>
            <a:endParaRPr lang="en-US" dirty="0"/>
          </a:p>
        </p:txBody>
      </p:sp>
      <p:sp>
        <p:nvSpPr>
          <p:cNvPr id="4" name="Text 1"/>
          <p:cNvSpPr/>
          <p:nvPr/>
        </p:nvSpPr>
        <p:spPr>
          <a:xfrm>
            <a:off x="7461041" y="231577"/>
            <a:ext cx="927071" cy="171450"/>
          </a:xfrm>
          <a:prstGeom prst="rect">
            <a:avLst/>
          </a:prstGeom>
          <a:noFill/>
          <a:ln/>
        </p:spPr>
        <p:txBody>
          <a:bodyPr wrap="square" lIns="0" tIns="0" rIns="0" bIns="0" rtlCol="0" anchor="t"/>
          <a:lstStyle/>
          <a:p>
            <a:pPr algn="ctr" indent="0" marL="0">
              <a:buNone/>
            </a:pPr>
            <a:r>
              <a:rPr lang="en-US" sz="1150" b="1" dirty="0">
                <a:solidFill>
                  <a:srgbClr val="FFFFFF"/>
                </a:solidFill>
                <a:latin typeface="Arial" pitchFamily="34" charset="0"/>
                <a:ea typeface="Arial" pitchFamily="34" charset="-122"/>
                <a:cs typeface="Arial" pitchFamily="34" charset="-120"/>
              </a:rPr>
              <a:t>CHAPTER 07</a:t>
            </a:r>
            <a:endParaRPr lang="en-US" sz="1150" dirty="0"/>
          </a:p>
        </p:txBody>
      </p:sp>
      <p:pic>
        <p:nvPicPr>
          <p:cNvPr id="5" name="Image 1" descr="Open this chapter on GitHub">
            <a:hlinkClick r:id="rId3" tooltip="https://github.com/github/copilot-app-for-beginners/tree/main/07-automations"/>
          </p:cNvPr>
          <p:cNvPicPr>
            <a:picLocks noChangeAspect="1"/>
          </p:cNvPicPr>
          <p:nvPr/>
        </p:nvPicPr>
        <p:blipFill>
          <a:blip r:embed="rId2"/>
          <a:stretch>
            <a:fillRect/>
          </a:stretch>
        </p:blipFill>
        <p:spPr>
          <a:xfrm>
            <a:off x="8610600" y="165050"/>
            <a:ext cx="304800" cy="304800"/>
          </a:xfrm>
          <a:prstGeom prst="rect">
            <a:avLst/>
          </a:prstGeom>
        </p:spPr>
      </p:pic>
      <p:sp>
        <p:nvSpPr>
          <p:cNvPr id="6" name="Text 2"/>
          <p:cNvSpPr/>
          <p:nvPr/>
        </p:nvSpPr>
        <p:spPr>
          <a:xfrm>
            <a:off x="507950" y="381000"/>
            <a:ext cx="8161020" cy="190500"/>
          </a:xfrm>
          <a:prstGeom prst="rect">
            <a:avLst/>
          </a:prstGeom>
          <a:noFill/>
          <a:ln/>
        </p:spPr>
        <p:txBody>
          <a:bodyPr wrap="square" lIns="0" tIns="0" rIns="0" bIns="0" rtlCol="0" anchor="t"/>
          <a:lstStyle/>
          <a:p>
            <a:pPr algn="l" indent="0" marL="0">
              <a:buNone/>
            </a:pPr>
            <a:r>
              <a:rPr lang="en-US" sz="1250" b="1" dirty="0">
                <a:solidFill>
                  <a:srgbClr val="BC4C00"/>
                </a:solidFill>
                <a:latin typeface="Arial" pitchFamily="34" charset="0"/>
                <a:ea typeface="Arial" pitchFamily="34" charset="-122"/>
                <a:cs typeface="Arial" pitchFamily="34" charset="-120"/>
              </a:rPr>
              <a:t>YOUR TURN</a:t>
            </a:r>
            <a:endParaRPr lang="en-US" sz="1250" dirty="0"/>
          </a:p>
        </p:txBody>
      </p:sp>
      <p:sp>
        <p:nvSpPr>
          <p:cNvPr id="7" name="Text 3"/>
          <p:cNvSpPr/>
          <p:nvPr/>
        </p:nvSpPr>
        <p:spPr>
          <a:xfrm>
            <a:off x="507950" y="622250"/>
            <a:ext cx="8161020" cy="419100"/>
          </a:xfrm>
          <a:prstGeom prst="rect">
            <a:avLst/>
          </a:prstGeom>
          <a:noFill/>
          <a:ln/>
        </p:spPr>
        <p:txBody>
          <a:bodyPr wrap="square" lIns="0" tIns="0" rIns="0" bIns="0" rtlCol="0" anchor="t"/>
          <a:lstStyle/>
          <a:p>
            <a:pPr algn="l" indent="0" marL="0">
              <a:lnSpc>
                <a:spcPts val="3300"/>
              </a:lnSpc>
              <a:spcBef>
                <a:spcPts val="400"/>
              </a:spcBef>
              <a:buNone/>
            </a:pPr>
            <a:r>
              <a:rPr lang="en-US" sz="2800" b="1" dirty="0">
                <a:solidFill>
                  <a:srgbClr val="1F2328"/>
                </a:solidFill>
                <a:latin typeface="Arial" pitchFamily="34" charset="0"/>
                <a:ea typeface="Arial" pitchFamily="34" charset="-122"/>
                <a:cs typeface="Arial" pitchFamily="34" charset="-120"/>
              </a:rPr>
              <a:t>Automate one task from your own work</a:t>
            </a:r>
            <a:endParaRPr lang="en-US" sz="2800" dirty="0"/>
          </a:p>
        </p:txBody>
      </p:sp>
      <p:sp>
        <p:nvSpPr>
          <p:cNvPr id="8" name="Text 4"/>
          <p:cNvSpPr/>
          <p:nvPr/>
        </p:nvSpPr>
        <p:spPr>
          <a:xfrm>
            <a:off x="507950" y="1839218"/>
            <a:ext cx="5079950" cy="2214116"/>
          </a:xfrm>
          <a:prstGeom prst="roundRect">
            <a:avLst>
              <a:gd name="adj" fmla="val 5736"/>
            </a:avLst>
          </a:prstGeom>
          <a:solidFill>
            <a:srgbClr val="FFFFFF"/>
          </a:solidFill>
          <a:ln w="9525">
            <a:solidFill>
              <a:srgbClr val="FFC49B"/>
            </a:solidFill>
          </a:ln>
        </p:spPr>
        <p:txBody>
          <a:bodyPr wrap="square" rtlCol="0" anchor="ctr"/>
          <a:lstStyle/>
          <a:p>
            <a:pPr indent="0" marL="0">
              <a:buNone/>
            </a:pPr>
            <a:endParaRPr lang="en-US" dirty="0"/>
          </a:p>
        </p:txBody>
      </p:sp>
      <p:sp>
        <p:nvSpPr>
          <p:cNvPr id="9" name="Shape 5"/>
          <p:cNvSpPr/>
          <p:nvPr/>
        </p:nvSpPr>
        <p:spPr>
          <a:xfrm>
            <a:off x="517475" y="2361456"/>
            <a:ext cx="5060900" cy="0"/>
          </a:xfrm>
          <a:prstGeom prst="line">
            <a:avLst/>
          </a:prstGeom>
          <a:noFill/>
          <a:ln w="9525">
            <a:solidFill>
              <a:srgbClr val="D1D9E0"/>
            </a:solidFill>
            <a:prstDash val="solid"/>
          </a:ln>
        </p:spPr>
      </p:sp>
      <p:sp>
        <p:nvSpPr>
          <p:cNvPr id="10" name="Text 6"/>
          <p:cNvSpPr/>
          <p:nvPr/>
        </p:nvSpPr>
        <p:spPr>
          <a:xfrm>
            <a:off x="695176" y="1963043"/>
            <a:ext cx="279350" cy="279350"/>
          </a:xfrm>
          <a:prstGeom prst="roundRect">
            <a:avLst>
              <a:gd name="adj" fmla="val 327331"/>
            </a:avLst>
          </a:prstGeom>
          <a:solidFill>
            <a:srgbClr val="BC4C00"/>
          </a:solidFill>
          <a:ln/>
        </p:spPr>
        <p:txBody>
          <a:bodyPr wrap="square" rtlCol="0" anchor="ctr"/>
          <a:lstStyle/>
          <a:p>
            <a:pPr indent="0" marL="0">
              <a:buNone/>
            </a:pPr>
            <a:endParaRPr lang="en-US" dirty="0"/>
          </a:p>
        </p:txBody>
      </p:sp>
      <p:sp>
        <p:nvSpPr>
          <p:cNvPr id="11" name="Text 7"/>
          <p:cNvSpPr/>
          <p:nvPr/>
        </p:nvSpPr>
        <p:spPr>
          <a:xfrm>
            <a:off x="789841" y="2007394"/>
            <a:ext cx="90020" cy="190500"/>
          </a:xfrm>
          <a:prstGeom prst="rect">
            <a:avLst/>
          </a:prstGeom>
          <a:noFill/>
          <a:ln/>
        </p:spPr>
        <p:txBody>
          <a:bodyPr wrap="square" lIns="0" tIns="0" rIns="0" bIns="0" rtlCol="0" anchor="t"/>
          <a:lstStyle/>
          <a:p>
            <a:pPr algn="ctr" indent="0" marL="0">
              <a:buNone/>
            </a:pPr>
            <a:r>
              <a:rPr lang="en-US" sz="1250" b="1" dirty="0">
                <a:solidFill>
                  <a:srgbClr val="FFFFFF"/>
                </a:solidFill>
                <a:latin typeface="Arial" pitchFamily="34" charset="0"/>
                <a:ea typeface="Arial" pitchFamily="34" charset="-122"/>
                <a:cs typeface="Arial" pitchFamily="34" charset="-120"/>
              </a:rPr>
              <a:t>1</a:t>
            </a:r>
            <a:endParaRPr lang="en-US" sz="1250" dirty="0"/>
          </a:p>
        </p:txBody>
      </p:sp>
      <p:sp>
        <p:nvSpPr>
          <p:cNvPr id="12" name="Text 8"/>
          <p:cNvSpPr/>
          <p:nvPr/>
        </p:nvSpPr>
        <p:spPr>
          <a:xfrm>
            <a:off x="1152227" y="1995339"/>
            <a:ext cx="1813459" cy="214610"/>
          </a:xfrm>
          <a:prstGeom prst="rect">
            <a:avLst/>
          </a:prstGeom>
          <a:noFill/>
          <a:ln/>
        </p:spPr>
        <p:txBody>
          <a:bodyPr wrap="square" lIns="0" tIns="0" rIns="0" bIns="0" rtlCol="0" anchor="t"/>
          <a:lstStyle/>
          <a:p>
            <a:pPr algn="l" indent="0" marL="0">
              <a:lnSpc>
                <a:spcPts val="1690"/>
              </a:lnSpc>
              <a:buNone/>
            </a:pPr>
            <a:r>
              <a:rPr lang="en-US" sz="1500" b="1" dirty="0">
                <a:solidFill>
                  <a:srgbClr val="1F2328"/>
                </a:solidFill>
                <a:latin typeface="Arial" pitchFamily="34" charset="0"/>
                <a:ea typeface="Arial" pitchFamily="34" charset="-122"/>
                <a:cs typeface="Arial" pitchFamily="34" charset="-120"/>
              </a:rPr>
              <a:t>Name it clearly</a:t>
            </a:r>
            <a:endParaRPr lang="en-US" sz="1500" dirty="0"/>
          </a:p>
        </p:txBody>
      </p:sp>
      <p:sp>
        <p:nvSpPr>
          <p:cNvPr id="13" name="Text 9"/>
          <p:cNvSpPr/>
          <p:nvPr/>
        </p:nvSpPr>
        <p:spPr>
          <a:xfrm>
            <a:off x="3107829" y="1999208"/>
            <a:ext cx="2338703" cy="207020"/>
          </a:xfrm>
          <a:prstGeom prst="rect">
            <a:avLst/>
          </a:prstGeom>
          <a:noFill/>
          <a:ln/>
        </p:spPr>
        <p:txBody>
          <a:bodyPr wrap="square" lIns="0" tIns="0" rIns="0" bIns="0" rtlCol="0" anchor="t"/>
          <a:lstStyle/>
          <a:p>
            <a:pPr algn="l" indent="0" marL="0">
              <a:lnSpc>
                <a:spcPts val="1630"/>
              </a:lnSpc>
              <a:buNone/>
            </a:pPr>
            <a:r>
              <a:rPr lang="en-US" sz="1400" dirty="0">
                <a:solidFill>
                  <a:srgbClr val="59636E"/>
                </a:solidFill>
                <a:latin typeface="Arial" pitchFamily="34" charset="0"/>
                <a:ea typeface="Arial" pitchFamily="34" charset="-122"/>
                <a:cs typeface="Arial" pitchFamily="34" charset="-120"/>
              </a:rPr>
              <a:t>Anyone knows what it does.</a:t>
            </a:r>
            <a:endParaRPr lang="en-US" sz="1400" dirty="0"/>
          </a:p>
        </p:txBody>
      </p:sp>
      <p:sp>
        <p:nvSpPr>
          <p:cNvPr id="14" name="Shape 10"/>
          <p:cNvSpPr/>
          <p:nvPr/>
        </p:nvSpPr>
        <p:spPr>
          <a:xfrm>
            <a:off x="517475" y="3013621"/>
            <a:ext cx="5060900" cy="0"/>
          </a:xfrm>
          <a:prstGeom prst="line">
            <a:avLst/>
          </a:prstGeom>
          <a:noFill/>
          <a:ln w="9525">
            <a:solidFill>
              <a:srgbClr val="D1D9E0"/>
            </a:solidFill>
            <a:prstDash val="solid"/>
          </a:ln>
        </p:spPr>
      </p:sp>
      <p:sp>
        <p:nvSpPr>
          <p:cNvPr id="15" name="Text 11"/>
          <p:cNvSpPr/>
          <p:nvPr/>
        </p:nvSpPr>
        <p:spPr>
          <a:xfrm>
            <a:off x="695176" y="2547789"/>
            <a:ext cx="279350" cy="279350"/>
          </a:xfrm>
          <a:prstGeom prst="roundRect">
            <a:avLst>
              <a:gd name="adj" fmla="val 327331"/>
            </a:avLst>
          </a:prstGeom>
          <a:solidFill>
            <a:srgbClr val="BC4C00"/>
          </a:solidFill>
          <a:ln/>
        </p:spPr>
        <p:txBody>
          <a:bodyPr wrap="square" rtlCol="0" anchor="ctr"/>
          <a:lstStyle/>
          <a:p>
            <a:pPr indent="0" marL="0">
              <a:buNone/>
            </a:pPr>
            <a:endParaRPr lang="en-US" dirty="0"/>
          </a:p>
        </p:txBody>
      </p:sp>
      <p:sp>
        <p:nvSpPr>
          <p:cNvPr id="16" name="Text 12"/>
          <p:cNvSpPr/>
          <p:nvPr/>
        </p:nvSpPr>
        <p:spPr>
          <a:xfrm>
            <a:off x="789841" y="2592139"/>
            <a:ext cx="90020" cy="190500"/>
          </a:xfrm>
          <a:prstGeom prst="rect">
            <a:avLst/>
          </a:prstGeom>
          <a:noFill/>
          <a:ln/>
        </p:spPr>
        <p:txBody>
          <a:bodyPr wrap="square" lIns="0" tIns="0" rIns="0" bIns="0" rtlCol="0" anchor="t"/>
          <a:lstStyle/>
          <a:p>
            <a:pPr algn="ctr" indent="0" marL="0">
              <a:buNone/>
            </a:pPr>
            <a:r>
              <a:rPr lang="en-US" sz="1250" b="1" dirty="0">
                <a:solidFill>
                  <a:srgbClr val="FFFFFF"/>
                </a:solidFill>
                <a:latin typeface="Arial" pitchFamily="34" charset="0"/>
                <a:ea typeface="Arial" pitchFamily="34" charset="-122"/>
                <a:cs typeface="Arial" pitchFamily="34" charset="-120"/>
              </a:rPr>
              <a:t>2</a:t>
            </a:r>
            <a:endParaRPr lang="en-US" sz="1250" dirty="0"/>
          </a:p>
        </p:txBody>
      </p:sp>
      <p:sp>
        <p:nvSpPr>
          <p:cNvPr id="17" name="Text 13"/>
          <p:cNvSpPr/>
          <p:nvPr/>
        </p:nvSpPr>
        <p:spPr>
          <a:xfrm>
            <a:off x="1152227" y="2580233"/>
            <a:ext cx="1813459" cy="214610"/>
          </a:xfrm>
          <a:prstGeom prst="rect">
            <a:avLst/>
          </a:prstGeom>
          <a:noFill/>
          <a:ln/>
        </p:spPr>
        <p:txBody>
          <a:bodyPr wrap="square" lIns="0" tIns="0" rIns="0" bIns="0" rtlCol="0" anchor="t"/>
          <a:lstStyle/>
          <a:p>
            <a:pPr algn="l" indent="0" marL="0">
              <a:lnSpc>
                <a:spcPts val="1690"/>
              </a:lnSpc>
              <a:buNone/>
            </a:pPr>
            <a:r>
              <a:rPr lang="en-US" sz="1500" b="1" dirty="0">
                <a:solidFill>
                  <a:srgbClr val="1F2328"/>
                </a:solidFill>
                <a:latin typeface="Arial" pitchFamily="34" charset="0"/>
                <a:ea typeface="Arial" pitchFamily="34" charset="-122"/>
                <a:cs typeface="Arial" pitchFamily="34" charset="-120"/>
              </a:rPr>
              <a:t>Keep it manual</a:t>
            </a:r>
            <a:endParaRPr lang="en-US" sz="1500" dirty="0"/>
          </a:p>
        </p:txBody>
      </p:sp>
      <p:sp>
        <p:nvSpPr>
          <p:cNvPr id="18" name="Text 14"/>
          <p:cNvSpPr/>
          <p:nvPr/>
        </p:nvSpPr>
        <p:spPr>
          <a:xfrm>
            <a:off x="3107829" y="2480518"/>
            <a:ext cx="2338703" cy="414040"/>
          </a:xfrm>
          <a:prstGeom prst="rect">
            <a:avLst/>
          </a:prstGeom>
          <a:noFill/>
          <a:ln/>
        </p:spPr>
        <p:txBody>
          <a:bodyPr wrap="square" lIns="0" tIns="0" rIns="0" bIns="0" rtlCol="0" anchor="t"/>
          <a:lstStyle/>
          <a:p>
            <a:pPr algn="l" indent="0" marL="0">
              <a:lnSpc>
                <a:spcPts val="1630"/>
              </a:lnSpc>
              <a:buNone/>
            </a:pPr>
            <a:r>
              <a:rPr lang="en-US" sz="1400" dirty="0">
                <a:solidFill>
                  <a:srgbClr val="59636E"/>
                </a:solidFill>
                <a:latin typeface="Arial" pitchFamily="34" charset="0"/>
                <a:ea typeface="Arial" pitchFamily="34" charset="-122"/>
                <a:cs typeface="Arial" pitchFamily="34" charset="-120"/>
              </a:rPr>
              <a:t>One bounded task. Say what not to do.</a:t>
            </a:r>
            <a:endParaRPr lang="en-US" sz="1400" dirty="0"/>
          </a:p>
        </p:txBody>
      </p:sp>
      <p:sp>
        <p:nvSpPr>
          <p:cNvPr id="19" name="Shape 15"/>
          <p:cNvSpPr/>
          <p:nvPr/>
        </p:nvSpPr>
        <p:spPr>
          <a:xfrm>
            <a:off x="517475" y="3531096"/>
            <a:ext cx="5060900" cy="0"/>
          </a:xfrm>
          <a:prstGeom prst="line">
            <a:avLst/>
          </a:prstGeom>
          <a:noFill/>
          <a:ln w="9525">
            <a:solidFill>
              <a:srgbClr val="D1D9E0"/>
            </a:solidFill>
            <a:prstDash val="solid"/>
          </a:ln>
        </p:spPr>
      </p:sp>
      <p:sp>
        <p:nvSpPr>
          <p:cNvPr id="20" name="Text 16"/>
          <p:cNvSpPr/>
          <p:nvPr/>
        </p:nvSpPr>
        <p:spPr>
          <a:xfrm>
            <a:off x="695176" y="3132683"/>
            <a:ext cx="279350" cy="279350"/>
          </a:xfrm>
          <a:prstGeom prst="roundRect">
            <a:avLst>
              <a:gd name="adj" fmla="val 327331"/>
            </a:avLst>
          </a:prstGeom>
          <a:solidFill>
            <a:srgbClr val="BC4C00"/>
          </a:solidFill>
          <a:ln/>
        </p:spPr>
        <p:txBody>
          <a:bodyPr wrap="square" rtlCol="0" anchor="ctr"/>
          <a:lstStyle/>
          <a:p>
            <a:pPr indent="0" marL="0">
              <a:buNone/>
            </a:pPr>
            <a:endParaRPr lang="en-US" dirty="0"/>
          </a:p>
        </p:txBody>
      </p:sp>
      <p:sp>
        <p:nvSpPr>
          <p:cNvPr id="21" name="Text 17"/>
          <p:cNvSpPr/>
          <p:nvPr/>
        </p:nvSpPr>
        <p:spPr>
          <a:xfrm>
            <a:off x="789841" y="3177034"/>
            <a:ext cx="90020" cy="190500"/>
          </a:xfrm>
          <a:prstGeom prst="rect">
            <a:avLst/>
          </a:prstGeom>
          <a:noFill/>
          <a:ln/>
        </p:spPr>
        <p:txBody>
          <a:bodyPr wrap="square" lIns="0" tIns="0" rIns="0" bIns="0" rtlCol="0" anchor="t"/>
          <a:lstStyle/>
          <a:p>
            <a:pPr algn="ctr" indent="0" marL="0">
              <a:buNone/>
            </a:pPr>
            <a:r>
              <a:rPr lang="en-US" sz="1250" b="1" dirty="0">
                <a:solidFill>
                  <a:srgbClr val="FFFFFF"/>
                </a:solidFill>
                <a:latin typeface="Arial" pitchFamily="34" charset="0"/>
                <a:ea typeface="Arial" pitchFamily="34" charset="-122"/>
                <a:cs typeface="Arial" pitchFamily="34" charset="-120"/>
              </a:rPr>
              <a:t>3</a:t>
            </a:r>
            <a:endParaRPr lang="en-US" sz="1250" dirty="0"/>
          </a:p>
        </p:txBody>
      </p:sp>
      <p:sp>
        <p:nvSpPr>
          <p:cNvPr id="22" name="Text 18"/>
          <p:cNvSpPr/>
          <p:nvPr/>
        </p:nvSpPr>
        <p:spPr>
          <a:xfrm>
            <a:off x="1152227" y="3164979"/>
            <a:ext cx="1813459" cy="214610"/>
          </a:xfrm>
          <a:prstGeom prst="rect">
            <a:avLst/>
          </a:prstGeom>
          <a:noFill/>
          <a:ln/>
        </p:spPr>
        <p:txBody>
          <a:bodyPr wrap="square" lIns="0" tIns="0" rIns="0" bIns="0" rtlCol="0" anchor="t"/>
          <a:lstStyle/>
          <a:p>
            <a:pPr algn="l" indent="0" marL="0">
              <a:lnSpc>
                <a:spcPts val="1690"/>
              </a:lnSpc>
              <a:buNone/>
            </a:pPr>
            <a:r>
              <a:rPr lang="en-US" sz="1500" b="1" dirty="0">
                <a:solidFill>
                  <a:srgbClr val="1F2328"/>
                </a:solidFill>
                <a:latin typeface="Arial" pitchFamily="34" charset="0"/>
                <a:ea typeface="Arial" pitchFamily="34" charset="-122"/>
                <a:cs typeface="Arial" pitchFamily="34" charset="-120"/>
              </a:rPr>
              <a:t>Run it once</a:t>
            </a:r>
            <a:endParaRPr lang="en-US" sz="1500" dirty="0"/>
          </a:p>
        </p:txBody>
      </p:sp>
      <p:sp>
        <p:nvSpPr>
          <p:cNvPr id="23" name="Text 19"/>
          <p:cNvSpPr/>
          <p:nvPr/>
        </p:nvSpPr>
        <p:spPr>
          <a:xfrm>
            <a:off x="3107829" y="3168848"/>
            <a:ext cx="2338703" cy="207020"/>
          </a:xfrm>
          <a:prstGeom prst="rect">
            <a:avLst/>
          </a:prstGeom>
          <a:noFill/>
          <a:ln/>
        </p:spPr>
        <p:txBody>
          <a:bodyPr wrap="square" lIns="0" tIns="0" rIns="0" bIns="0" rtlCol="0" anchor="t"/>
          <a:lstStyle/>
          <a:p>
            <a:pPr algn="l" indent="0" marL="0">
              <a:lnSpc>
                <a:spcPts val="1630"/>
              </a:lnSpc>
              <a:buNone/>
            </a:pPr>
            <a:r>
              <a:rPr lang="en-US" sz="1400" dirty="0">
                <a:solidFill>
                  <a:srgbClr val="59636E"/>
                </a:solidFill>
                <a:latin typeface="Arial" pitchFamily="34" charset="0"/>
                <a:ea typeface="Arial" pitchFamily="34" charset="-122"/>
                <a:cs typeface="Arial" pitchFamily="34" charset="-120"/>
              </a:rPr>
              <a:t>Then open the run history.</a:t>
            </a:r>
            <a:endParaRPr lang="en-US" sz="1400" dirty="0"/>
          </a:p>
        </p:txBody>
      </p:sp>
      <p:sp>
        <p:nvSpPr>
          <p:cNvPr id="24" name="Text 20"/>
          <p:cNvSpPr/>
          <p:nvPr/>
        </p:nvSpPr>
        <p:spPr>
          <a:xfrm>
            <a:off x="695176" y="3650159"/>
            <a:ext cx="279350" cy="279350"/>
          </a:xfrm>
          <a:prstGeom prst="roundRect">
            <a:avLst>
              <a:gd name="adj" fmla="val 327331"/>
            </a:avLst>
          </a:prstGeom>
          <a:solidFill>
            <a:srgbClr val="BC4C00"/>
          </a:solidFill>
          <a:ln/>
        </p:spPr>
        <p:txBody>
          <a:bodyPr wrap="square" rtlCol="0" anchor="ctr"/>
          <a:lstStyle/>
          <a:p>
            <a:pPr indent="0" marL="0">
              <a:buNone/>
            </a:pPr>
            <a:endParaRPr lang="en-US" dirty="0"/>
          </a:p>
        </p:txBody>
      </p:sp>
      <p:sp>
        <p:nvSpPr>
          <p:cNvPr id="25" name="Text 21"/>
          <p:cNvSpPr/>
          <p:nvPr/>
        </p:nvSpPr>
        <p:spPr>
          <a:xfrm>
            <a:off x="789841" y="3694509"/>
            <a:ext cx="90020" cy="190500"/>
          </a:xfrm>
          <a:prstGeom prst="rect">
            <a:avLst/>
          </a:prstGeom>
          <a:noFill/>
          <a:ln/>
        </p:spPr>
        <p:txBody>
          <a:bodyPr wrap="square" lIns="0" tIns="0" rIns="0" bIns="0" rtlCol="0" anchor="t"/>
          <a:lstStyle/>
          <a:p>
            <a:pPr algn="ctr" indent="0" marL="0">
              <a:buNone/>
            </a:pPr>
            <a:r>
              <a:rPr lang="en-US" sz="1250" b="1" dirty="0">
                <a:solidFill>
                  <a:srgbClr val="FFFFFF"/>
                </a:solidFill>
                <a:latin typeface="Arial" pitchFamily="34" charset="0"/>
                <a:ea typeface="Arial" pitchFamily="34" charset="-122"/>
                <a:cs typeface="Arial" pitchFamily="34" charset="-120"/>
              </a:rPr>
              <a:t>4</a:t>
            </a:r>
            <a:endParaRPr lang="en-US" sz="1250" dirty="0"/>
          </a:p>
        </p:txBody>
      </p:sp>
      <p:sp>
        <p:nvSpPr>
          <p:cNvPr id="26" name="Text 22"/>
          <p:cNvSpPr/>
          <p:nvPr/>
        </p:nvSpPr>
        <p:spPr>
          <a:xfrm>
            <a:off x="1152227" y="3682454"/>
            <a:ext cx="1813459" cy="214610"/>
          </a:xfrm>
          <a:prstGeom prst="rect">
            <a:avLst/>
          </a:prstGeom>
          <a:noFill/>
          <a:ln/>
        </p:spPr>
        <p:txBody>
          <a:bodyPr wrap="square" lIns="0" tIns="0" rIns="0" bIns="0" rtlCol="0" anchor="t"/>
          <a:lstStyle/>
          <a:p>
            <a:pPr algn="l" indent="0" marL="0">
              <a:lnSpc>
                <a:spcPts val="1690"/>
              </a:lnSpc>
              <a:buNone/>
            </a:pPr>
            <a:r>
              <a:rPr lang="en-US" sz="1500" b="1" dirty="0">
                <a:solidFill>
                  <a:srgbClr val="1F2328"/>
                </a:solidFill>
                <a:latin typeface="Arial" pitchFamily="34" charset="0"/>
                <a:ea typeface="Arial" pitchFamily="34" charset="-122"/>
                <a:cs typeface="Arial" pitchFamily="34" charset="-120"/>
              </a:rPr>
              <a:t>Revise the prompt</a:t>
            </a:r>
            <a:endParaRPr lang="en-US" sz="1500" dirty="0"/>
          </a:p>
        </p:txBody>
      </p:sp>
      <p:sp>
        <p:nvSpPr>
          <p:cNvPr id="27" name="Text 23"/>
          <p:cNvSpPr/>
          <p:nvPr/>
        </p:nvSpPr>
        <p:spPr>
          <a:xfrm>
            <a:off x="3107829" y="3686324"/>
            <a:ext cx="2338703" cy="207020"/>
          </a:xfrm>
          <a:prstGeom prst="rect">
            <a:avLst/>
          </a:prstGeom>
          <a:noFill/>
          <a:ln/>
        </p:spPr>
        <p:txBody>
          <a:bodyPr wrap="square" lIns="0" tIns="0" rIns="0" bIns="0" rtlCol="0" anchor="t"/>
          <a:lstStyle/>
          <a:p>
            <a:pPr algn="l" indent="0" marL="0">
              <a:lnSpc>
                <a:spcPts val="1630"/>
              </a:lnSpc>
              <a:buNone/>
            </a:pPr>
            <a:r>
              <a:rPr lang="en-US" sz="1400" dirty="0">
                <a:solidFill>
                  <a:srgbClr val="59636E"/>
                </a:solidFill>
                <a:latin typeface="Arial" pitchFamily="34" charset="0"/>
                <a:ea typeface="Arial" pitchFamily="34" charset="-122"/>
                <a:cs typeface="Arial" pitchFamily="34" charset="-120"/>
              </a:rPr>
              <a:t>Tighten scope and noise.</a:t>
            </a:r>
            <a:endParaRPr lang="en-US" sz="1400" dirty="0"/>
          </a:p>
        </p:txBody>
      </p:sp>
      <p:sp>
        <p:nvSpPr>
          <p:cNvPr id="28" name="Text 24"/>
          <p:cNvSpPr/>
          <p:nvPr/>
        </p:nvSpPr>
        <p:spPr>
          <a:xfrm>
            <a:off x="5791051" y="1839218"/>
            <a:ext cx="2844850" cy="2214116"/>
          </a:xfrm>
          <a:prstGeom prst="roundRect">
            <a:avLst>
              <a:gd name="adj" fmla="val 5736"/>
            </a:avLst>
          </a:prstGeom>
          <a:solidFill>
            <a:srgbClr val="FFFFFF"/>
          </a:solidFill>
          <a:ln w="9525">
            <a:solidFill>
              <a:srgbClr val="FFC49B"/>
            </a:solidFill>
          </a:ln>
        </p:spPr>
        <p:txBody>
          <a:bodyPr wrap="square" rtlCol="0" anchor="ctr"/>
          <a:lstStyle/>
          <a:p>
            <a:pPr indent="0" marL="0">
              <a:buNone/>
            </a:pPr>
            <a:endParaRPr lang="en-US" dirty="0"/>
          </a:p>
        </p:txBody>
      </p:sp>
      <p:sp>
        <p:nvSpPr>
          <p:cNvPr id="29" name="Text 25"/>
          <p:cNvSpPr/>
          <p:nvPr/>
        </p:nvSpPr>
        <p:spPr>
          <a:xfrm>
            <a:off x="5978277" y="2026444"/>
            <a:ext cx="381000" cy="381000"/>
          </a:xfrm>
          <a:prstGeom prst="roundRect">
            <a:avLst>
              <a:gd name="adj" fmla="val 23333"/>
            </a:avLst>
          </a:prstGeom>
          <a:solidFill>
            <a:srgbClr val="FFF1E5"/>
          </a:solidFill>
          <a:ln/>
        </p:spPr>
        <p:txBody>
          <a:bodyPr wrap="square" rtlCol="0" anchor="ctr"/>
          <a:lstStyle/>
          <a:p>
            <a:pPr indent="0" marL="0">
              <a:buNone/>
            </a:pPr>
            <a:endParaRPr lang="en-US" dirty="0"/>
          </a:p>
        </p:txBody>
      </p:sp>
      <p:pic>
        <p:nvPicPr>
          <p:cNvPr id="30" name="Image 2"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6060877" y="2109043"/>
            <a:ext cx="215801" cy="215801"/>
          </a:xfrm>
          <a:prstGeom prst="rect">
            <a:avLst/>
          </a:prstGeom>
        </p:spPr>
      </p:pic>
      <p:sp>
        <p:nvSpPr>
          <p:cNvPr id="31" name="Text 26"/>
          <p:cNvSpPr/>
          <p:nvPr/>
        </p:nvSpPr>
        <p:spPr>
          <a:xfrm>
            <a:off x="6473577" y="2102644"/>
            <a:ext cx="867564" cy="228600"/>
          </a:xfrm>
          <a:prstGeom prst="rect">
            <a:avLst/>
          </a:prstGeom>
          <a:noFill/>
          <a:ln/>
        </p:spPr>
        <p:txBody>
          <a:bodyPr wrap="square" lIns="0" tIns="0" rIns="0" bIns="0" rtlCol="0" anchor="t"/>
          <a:lstStyle/>
          <a:p>
            <a:pPr algn="l" indent="0" marL="0">
              <a:lnSpc>
                <a:spcPts val="1800"/>
              </a:lnSpc>
              <a:buNone/>
            </a:pPr>
            <a:r>
              <a:rPr lang="en-US" sz="1650" b="1" dirty="0">
                <a:solidFill>
                  <a:srgbClr val="1F2328"/>
                </a:solidFill>
                <a:latin typeface="Arial" pitchFamily="34" charset="0"/>
                <a:ea typeface="Arial" pitchFamily="34" charset="-122"/>
                <a:cs typeface="Arial" pitchFamily="34" charset="-120"/>
              </a:rPr>
              <a:t>Success</a:t>
            </a:r>
            <a:endParaRPr lang="en-US" sz="1650" dirty="0"/>
          </a:p>
        </p:txBody>
      </p:sp>
      <p:sp>
        <p:nvSpPr>
          <p:cNvPr id="32" name="Text 27"/>
          <p:cNvSpPr/>
          <p:nvPr/>
        </p:nvSpPr>
        <p:spPr>
          <a:xfrm>
            <a:off x="5978277" y="2483644"/>
            <a:ext cx="2519806" cy="429220"/>
          </a:xfrm>
          <a:prstGeom prst="rect">
            <a:avLst/>
          </a:prstGeom>
          <a:noFill/>
          <a:ln/>
        </p:spPr>
        <p:txBody>
          <a:bodyPr wrap="square" lIns="0" tIns="0" rIns="0" bIns="0" rtlCol="0" anchor="t"/>
          <a:lstStyle/>
          <a:p>
            <a:pPr algn="l" indent="0" marL="0">
              <a:lnSpc>
                <a:spcPts val="1690"/>
              </a:lnSpc>
              <a:buNone/>
            </a:pPr>
            <a:r>
              <a:rPr lang="en-US" sz="1400" dirty="0">
                <a:solidFill>
                  <a:srgbClr val="59636E"/>
                </a:solidFill>
                <a:latin typeface="Arial" pitchFamily="34" charset="0"/>
                <a:ea typeface="Arial" pitchFamily="34" charset="-122"/>
                <a:cs typeface="Arial" pitchFamily="34" charset="-120"/>
              </a:rPr>
              <a:t>You can explain why it is safe to run again.</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pic>
        <p:nvPicPr>
          <p:cNvPr id="2"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6349901" y="0"/>
            <a:ext cx="2793950" cy="1308050"/>
          </a:xfrm>
          <a:prstGeom prst="rect">
            <a:avLst/>
          </a:prstGeom>
        </p:spPr>
      </p:pic>
      <p:sp>
        <p:nvSpPr>
          <p:cNvPr id="3" name="Text 0"/>
          <p:cNvSpPr/>
          <p:nvPr/>
        </p:nvSpPr>
        <p:spPr>
          <a:xfrm>
            <a:off x="7340501" y="177701"/>
            <a:ext cx="1168301" cy="279350"/>
          </a:xfrm>
          <a:prstGeom prst="roundRect">
            <a:avLst>
              <a:gd name="adj" fmla="val 22731"/>
            </a:avLst>
          </a:prstGeom>
          <a:solidFill>
            <a:srgbClr val="1A7F37"/>
          </a:solidFill>
          <a:ln/>
        </p:spPr>
        <p:txBody>
          <a:bodyPr wrap="square" rtlCol="0" anchor="ctr"/>
          <a:lstStyle/>
          <a:p>
            <a:pPr indent="0" marL="0">
              <a:buNone/>
            </a:pPr>
            <a:endParaRPr lang="en-US" dirty="0"/>
          </a:p>
        </p:txBody>
      </p:sp>
      <p:sp>
        <p:nvSpPr>
          <p:cNvPr id="4" name="Text 1"/>
          <p:cNvSpPr/>
          <p:nvPr/>
        </p:nvSpPr>
        <p:spPr>
          <a:xfrm>
            <a:off x="7461041" y="231577"/>
            <a:ext cx="927071" cy="171450"/>
          </a:xfrm>
          <a:prstGeom prst="rect">
            <a:avLst/>
          </a:prstGeom>
          <a:noFill/>
          <a:ln/>
        </p:spPr>
        <p:txBody>
          <a:bodyPr wrap="square" lIns="0" tIns="0" rIns="0" bIns="0" rtlCol="0" anchor="t"/>
          <a:lstStyle/>
          <a:p>
            <a:pPr algn="ctr" indent="0" marL="0">
              <a:buNone/>
            </a:pPr>
            <a:r>
              <a:rPr lang="en-US" sz="1150" b="1" dirty="0">
                <a:solidFill>
                  <a:srgbClr val="FFFFFF"/>
                </a:solidFill>
                <a:latin typeface="Arial" pitchFamily="34" charset="0"/>
                <a:ea typeface="Arial" pitchFamily="34" charset="-122"/>
                <a:cs typeface="Arial" pitchFamily="34" charset="-120"/>
              </a:rPr>
              <a:t>CHAPTER 07</a:t>
            </a:r>
            <a:endParaRPr lang="en-US" sz="1150" dirty="0"/>
          </a:p>
        </p:txBody>
      </p:sp>
      <p:pic>
        <p:nvPicPr>
          <p:cNvPr id="5" name="Image 1" descr="Open this chapter on GitHub">
            <a:hlinkClick r:id="rId3" tooltip="https://github.com/github/copilot-app-for-beginners/tree/main/07-automations"/>
          </p:cNvPr>
          <p:cNvPicPr>
            <a:picLocks noChangeAspect="1"/>
          </p:cNvPicPr>
          <p:nvPr/>
        </p:nvPicPr>
        <p:blipFill>
          <a:blip r:embed="rId2"/>
          <a:stretch>
            <a:fillRect/>
          </a:stretch>
        </p:blipFill>
        <p:spPr>
          <a:xfrm>
            <a:off x="8610600" y="165050"/>
            <a:ext cx="304800" cy="304800"/>
          </a:xfrm>
          <a:prstGeom prst="rect">
            <a:avLst/>
          </a:prstGeom>
        </p:spPr>
      </p:pic>
      <p:sp>
        <p:nvSpPr>
          <p:cNvPr id="6" name="Text 2"/>
          <p:cNvSpPr/>
          <p:nvPr/>
        </p:nvSpPr>
        <p:spPr>
          <a:xfrm>
            <a:off x="507950" y="381000"/>
            <a:ext cx="8161020" cy="190500"/>
          </a:xfrm>
          <a:prstGeom prst="rect">
            <a:avLst/>
          </a:prstGeom>
          <a:noFill/>
          <a:ln/>
        </p:spPr>
        <p:txBody>
          <a:bodyPr wrap="square" lIns="0" tIns="0" rIns="0" bIns="0" rtlCol="0" anchor="t"/>
          <a:lstStyle/>
          <a:p>
            <a:pPr algn="l" indent="0" marL="0">
              <a:buNone/>
            </a:pPr>
            <a:r>
              <a:rPr lang="en-US" sz="1250" b="1" dirty="0">
                <a:solidFill>
                  <a:srgbClr val="1A7F37"/>
                </a:solidFill>
                <a:latin typeface="Arial" pitchFamily="34" charset="0"/>
                <a:ea typeface="Arial" pitchFamily="34" charset="-122"/>
                <a:cs typeface="Arial" pitchFamily="34" charset="-120"/>
              </a:rPr>
              <a:t>COURSE COMPLETE</a:t>
            </a:r>
            <a:endParaRPr lang="en-US" sz="1250" dirty="0"/>
          </a:p>
        </p:txBody>
      </p:sp>
      <p:sp>
        <p:nvSpPr>
          <p:cNvPr id="7" name="Text 3"/>
          <p:cNvSpPr/>
          <p:nvPr/>
        </p:nvSpPr>
        <p:spPr>
          <a:xfrm>
            <a:off x="507950" y="622250"/>
            <a:ext cx="8161020" cy="419100"/>
          </a:xfrm>
          <a:prstGeom prst="rect">
            <a:avLst/>
          </a:prstGeom>
          <a:noFill/>
          <a:ln/>
        </p:spPr>
        <p:txBody>
          <a:bodyPr wrap="square" lIns="0" tIns="0" rIns="0" bIns="0" rtlCol="0" anchor="t"/>
          <a:lstStyle/>
          <a:p>
            <a:pPr algn="l" indent="0" marL="0">
              <a:lnSpc>
                <a:spcPts val="3300"/>
              </a:lnSpc>
              <a:spcBef>
                <a:spcPts val="400"/>
              </a:spcBef>
              <a:buNone/>
            </a:pPr>
            <a:r>
              <a:rPr lang="en-US" sz="2800" b="1" dirty="0">
                <a:solidFill>
                  <a:srgbClr val="1F2328"/>
                </a:solidFill>
                <a:latin typeface="Arial" pitchFamily="34" charset="0"/>
                <a:ea typeface="Arial" pitchFamily="34" charset="-122"/>
                <a:cs typeface="Arial" pitchFamily="34" charset="-120"/>
              </a:rPr>
              <a:t>Human judgment stays in the loop</a:t>
            </a:r>
            <a:endParaRPr lang="en-US" sz="2800" dirty="0"/>
          </a:p>
        </p:txBody>
      </p:sp>
      <p:sp>
        <p:nvSpPr>
          <p:cNvPr id="8" name="Text 4"/>
          <p:cNvSpPr/>
          <p:nvPr/>
        </p:nvSpPr>
        <p:spPr>
          <a:xfrm>
            <a:off x="507950" y="1104751"/>
            <a:ext cx="8161020" cy="254050"/>
          </a:xfrm>
          <a:prstGeom prst="rect">
            <a:avLst/>
          </a:prstGeom>
          <a:noFill/>
          <a:ln/>
        </p:spPr>
        <p:txBody>
          <a:bodyPr wrap="square" lIns="0" tIns="0" rIns="0" bIns="0" rtlCol="0" anchor="t"/>
          <a:lstStyle/>
          <a:p>
            <a:pPr algn="l" indent="0" marL="0">
              <a:lnSpc>
                <a:spcPts val="2000"/>
              </a:lnSpc>
              <a:spcBef>
                <a:spcPts val="500"/>
              </a:spcBef>
              <a:buNone/>
            </a:pPr>
            <a:r>
              <a:rPr lang="en-US" sz="1650" dirty="0">
                <a:solidFill>
                  <a:srgbClr val="59636E"/>
                </a:solidFill>
                <a:latin typeface="Arial" pitchFamily="34" charset="0"/>
                <a:ea typeface="Arial" pitchFamily="34" charset="-122"/>
                <a:cs typeface="Arial" pitchFamily="34" charset="-120"/>
              </a:rPr>
              <a:t>You decide at every control point.</a:t>
            </a:r>
            <a:endParaRPr lang="en-US" sz="1650" dirty="0"/>
          </a:p>
        </p:txBody>
      </p:sp>
      <p:sp>
        <p:nvSpPr>
          <p:cNvPr id="9" name="Text 5"/>
          <p:cNvSpPr/>
          <p:nvPr/>
        </p:nvSpPr>
        <p:spPr>
          <a:xfrm>
            <a:off x="507950" y="1924050"/>
            <a:ext cx="2590800" cy="1060252"/>
          </a:xfrm>
          <a:prstGeom prst="roundRect">
            <a:avLst>
              <a:gd name="adj" fmla="val 11978"/>
            </a:avLst>
          </a:prstGeom>
          <a:solidFill>
            <a:srgbClr val="FFFFFF"/>
          </a:solidFill>
          <a:ln w="9525">
            <a:solidFill>
              <a:srgbClr val="8CE7A5"/>
            </a:solidFill>
          </a:ln>
        </p:spPr>
        <p:txBody>
          <a:bodyPr wrap="square" rtlCol="0" anchor="ctr"/>
          <a:lstStyle/>
          <a:p>
            <a:pPr indent="0" marL="0">
              <a:buNone/>
            </a:pPr>
            <a:endParaRPr lang="en-US" dirty="0"/>
          </a:p>
        </p:txBody>
      </p:sp>
      <p:sp>
        <p:nvSpPr>
          <p:cNvPr id="10" name="Text 6"/>
          <p:cNvSpPr/>
          <p:nvPr/>
        </p:nvSpPr>
        <p:spPr>
          <a:xfrm>
            <a:off x="695176" y="2263676"/>
            <a:ext cx="381000" cy="381000"/>
          </a:xfrm>
          <a:prstGeom prst="roundRect">
            <a:avLst>
              <a:gd name="adj" fmla="val 23333"/>
            </a:avLst>
          </a:prstGeom>
          <a:solidFill>
            <a:srgbClr val="DAFBE1"/>
          </a:solidFill>
          <a:ln/>
        </p:spPr>
        <p:txBody>
          <a:bodyPr wrap="square" rtlCol="0" anchor="ctr"/>
          <a:lstStyle/>
          <a:p>
            <a:pPr indent="0" marL="0">
              <a:buNone/>
            </a:pPr>
            <a:endParaRPr lang="en-US" dirty="0"/>
          </a:p>
        </p:txBody>
      </p:sp>
      <p:pic>
        <p:nvPicPr>
          <p:cNvPr id="11" name="Image 2"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777776" y="2346275"/>
            <a:ext cx="215801" cy="215801"/>
          </a:xfrm>
          <a:prstGeom prst="rect">
            <a:avLst/>
          </a:prstGeom>
        </p:spPr>
      </p:pic>
      <p:sp>
        <p:nvSpPr>
          <p:cNvPr id="12" name="Text 7"/>
          <p:cNvSpPr/>
          <p:nvPr/>
        </p:nvSpPr>
        <p:spPr>
          <a:xfrm>
            <a:off x="1190476" y="2111276"/>
            <a:ext cx="1755469" cy="685800"/>
          </a:xfrm>
          <a:prstGeom prst="rect">
            <a:avLst/>
          </a:prstGeom>
          <a:noFill/>
          <a:ln/>
        </p:spPr>
        <p:txBody>
          <a:bodyPr wrap="square" lIns="0" tIns="0" rIns="0" bIns="0" rtlCol="0" anchor="t"/>
          <a:lstStyle/>
          <a:p>
            <a:pPr algn="l" indent="0" marL="0">
              <a:lnSpc>
                <a:spcPts val="1800"/>
              </a:lnSpc>
              <a:buNone/>
            </a:pPr>
            <a:r>
              <a:rPr lang="en-US" sz="1650" b="1" dirty="0">
                <a:solidFill>
                  <a:srgbClr val="1F2328"/>
                </a:solidFill>
                <a:latin typeface="Arial" pitchFamily="34" charset="0"/>
                <a:ea typeface="Arial" pitchFamily="34" charset="-122"/>
                <a:cs typeface="Arial" pitchFamily="34" charset="-120"/>
              </a:rPr>
              <a:t>Before implementation starts</a:t>
            </a:r>
            <a:endParaRPr lang="en-US" sz="1650" dirty="0"/>
          </a:p>
        </p:txBody>
      </p:sp>
      <p:sp>
        <p:nvSpPr>
          <p:cNvPr id="13" name="Text 8"/>
          <p:cNvSpPr/>
          <p:nvPr/>
        </p:nvSpPr>
        <p:spPr>
          <a:xfrm>
            <a:off x="3276451" y="1924050"/>
            <a:ext cx="2590949" cy="1060252"/>
          </a:xfrm>
          <a:prstGeom prst="roundRect">
            <a:avLst>
              <a:gd name="adj" fmla="val 11978"/>
            </a:avLst>
          </a:prstGeom>
          <a:solidFill>
            <a:srgbClr val="FFFFFF"/>
          </a:solidFill>
          <a:ln w="9525">
            <a:solidFill>
              <a:srgbClr val="8CE7A5"/>
            </a:solidFill>
          </a:ln>
        </p:spPr>
        <p:txBody>
          <a:bodyPr wrap="square" rtlCol="0" anchor="ctr"/>
          <a:lstStyle/>
          <a:p>
            <a:pPr indent="0" marL="0">
              <a:buNone/>
            </a:pPr>
            <a:endParaRPr lang="en-US" dirty="0"/>
          </a:p>
        </p:txBody>
      </p:sp>
      <p:sp>
        <p:nvSpPr>
          <p:cNvPr id="14" name="Text 9"/>
          <p:cNvSpPr/>
          <p:nvPr/>
        </p:nvSpPr>
        <p:spPr>
          <a:xfrm>
            <a:off x="3463677" y="2149376"/>
            <a:ext cx="381000" cy="381000"/>
          </a:xfrm>
          <a:prstGeom prst="roundRect">
            <a:avLst>
              <a:gd name="adj" fmla="val 23333"/>
            </a:avLst>
          </a:prstGeom>
          <a:solidFill>
            <a:srgbClr val="DAFBE1"/>
          </a:solidFill>
          <a:ln/>
        </p:spPr>
        <p:txBody>
          <a:bodyPr wrap="square" rtlCol="0" anchor="ctr"/>
          <a:lstStyle/>
          <a:p>
            <a:pPr indent="0" marL="0">
              <a:buNone/>
            </a:pPr>
            <a:endParaRPr lang="en-US" dirty="0"/>
          </a:p>
        </p:txBody>
      </p:sp>
      <p:pic>
        <p:nvPicPr>
          <p:cNvPr id="15" name="Image 3" descr="">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3546277" y="2231975"/>
            <a:ext cx="215801" cy="215801"/>
          </a:xfrm>
          <a:prstGeom prst="rect">
            <a:avLst/>
          </a:prstGeom>
        </p:spPr>
      </p:pic>
      <p:sp>
        <p:nvSpPr>
          <p:cNvPr id="16" name="Text 10"/>
          <p:cNvSpPr/>
          <p:nvPr/>
        </p:nvSpPr>
        <p:spPr>
          <a:xfrm>
            <a:off x="3958977" y="2111276"/>
            <a:ext cx="1755621" cy="457200"/>
          </a:xfrm>
          <a:prstGeom prst="rect">
            <a:avLst/>
          </a:prstGeom>
          <a:noFill/>
          <a:ln/>
        </p:spPr>
        <p:txBody>
          <a:bodyPr wrap="square" lIns="0" tIns="0" rIns="0" bIns="0" rtlCol="0" anchor="t"/>
          <a:lstStyle/>
          <a:p>
            <a:pPr algn="l" indent="0" marL="0">
              <a:lnSpc>
                <a:spcPts val="1800"/>
              </a:lnSpc>
              <a:buNone/>
            </a:pPr>
            <a:r>
              <a:rPr lang="en-US" sz="1650" b="1" dirty="0">
                <a:solidFill>
                  <a:srgbClr val="1F2328"/>
                </a:solidFill>
                <a:latin typeface="Arial" pitchFamily="34" charset="0"/>
                <a:ea typeface="Arial" pitchFamily="34" charset="-122"/>
                <a:cs typeface="Arial" pitchFamily="34" charset="-120"/>
              </a:rPr>
              <a:t>Before a pull request opens</a:t>
            </a:r>
            <a:endParaRPr lang="en-US" sz="1650" dirty="0"/>
          </a:p>
        </p:txBody>
      </p:sp>
      <p:sp>
        <p:nvSpPr>
          <p:cNvPr id="17" name="Text 11"/>
          <p:cNvSpPr/>
          <p:nvPr/>
        </p:nvSpPr>
        <p:spPr>
          <a:xfrm>
            <a:off x="6045101" y="1924050"/>
            <a:ext cx="2590800" cy="1060252"/>
          </a:xfrm>
          <a:prstGeom prst="roundRect">
            <a:avLst>
              <a:gd name="adj" fmla="val 11978"/>
            </a:avLst>
          </a:prstGeom>
          <a:solidFill>
            <a:srgbClr val="FFFFFF"/>
          </a:solidFill>
          <a:ln w="9525">
            <a:solidFill>
              <a:srgbClr val="8CE7A5"/>
            </a:solidFill>
          </a:ln>
        </p:spPr>
        <p:txBody>
          <a:bodyPr wrap="square" rtlCol="0" anchor="ctr"/>
          <a:lstStyle/>
          <a:p>
            <a:pPr indent="0" marL="0">
              <a:buNone/>
            </a:pPr>
            <a:endParaRPr lang="en-US" dirty="0"/>
          </a:p>
        </p:txBody>
      </p:sp>
      <p:sp>
        <p:nvSpPr>
          <p:cNvPr id="18" name="Text 12"/>
          <p:cNvSpPr/>
          <p:nvPr/>
        </p:nvSpPr>
        <p:spPr>
          <a:xfrm>
            <a:off x="6232327" y="2263676"/>
            <a:ext cx="381000" cy="381000"/>
          </a:xfrm>
          <a:prstGeom prst="roundRect">
            <a:avLst>
              <a:gd name="adj" fmla="val 23333"/>
            </a:avLst>
          </a:prstGeom>
          <a:solidFill>
            <a:srgbClr val="DAFBE1"/>
          </a:solidFill>
          <a:ln/>
        </p:spPr>
        <p:txBody>
          <a:bodyPr wrap="square" rtlCol="0" anchor="ctr"/>
          <a:lstStyle/>
          <a:p>
            <a:pPr indent="0" marL="0">
              <a:buNone/>
            </a:pPr>
            <a:endParaRPr lang="en-US" dirty="0"/>
          </a:p>
        </p:txBody>
      </p:sp>
      <p:pic>
        <p:nvPicPr>
          <p:cNvPr id="19" name="Image 4" descr="">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6314926" y="2346275"/>
            <a:ext cx="215801" cy="215801"/>
          </a:xfrm>
          <a:prstGeom prst="rect">
            <a:avLst/>
          </a:prstGeom>
        </p:spPr>
      </p:pic>
      <p:sp>
        <p:nvSpPr>
          <p:cNvPr id="20" name="Text 13"/>
          <p:cNvSpPr/>
          <p:nvPr/>
        </p:nvSpPr>
        <p:spPr>
          <a:xfrm>
            <a:off x="6727627" y="2111276"/>
            <a:ext cx="1755469" cy="685800"/>
          </a:xfrm>
          <a:prstGeom prst="rect">
            <a:avLst/>
          </a:prstGeom>
          <a:noFill/>
          <a:ln/>
        </p:spPr>
        <p:txBody>
          <a:bodyPr wrap="square" lIns="0" tIns="0" rIns="0" bIns="0" rtlCol="0" anchor="t"/>
          <a:lstStyle/>
          <a:p>
            <a:pPr algn="l" indent="0" marL="0">
              <a:lnSpc>
                <a:spcPts val="1800"/>
              </a:lnSpc>
              <a:buNone/>
            </a:pPr>
            <a:r>
              <a:rPr lang="en-US" sz="1650" b="1" dirty="0">
                <a:solidFill>
                  <a:srgbClr val="1F2328"/>
                </a:solidFill>
                <a:latin typeface="Arial" pitchFamily="34" charset="0"/>
                <a:ea typeface="Arial" pitchFamily="34" charset="-122"/>
                <a:cs typeface="Arial" pitchFamily="34" charset="-120"/>
              </a:rPr>
              <a:t>Before any merge automation</a:t>
            </a:r>
            <a:endParaRPr lang="en-US" sz="1650" dirty="0"/>
          </a:p>
        </p:txBody>
      </p:sp>
      <p:sp>
        <p:nvSpPr>
          <p:cNvPr id="21" name="Text 14"/>
          <p:cNvSpPr/>
          <p:nvPr/>
        </p:nvSpPr>
        <p:spPr>
          <a:xfrm>
            <a:off x="507950" y="3263652"/>
            <a:ext cx="8290509" cy="515541"/>
          </a:xfrm>
          <a:prstGeom prst="rect">
            <a:avLst/>
          </a:prstGeom>
          <a:noFill/>
          <a:ln/>
        </p:spPr>
        <p:txBody>
          <a:bodyPr wrap="square" lIns="0" tIns="0" rIns="0" bIns="0" rtlCol="0" anchor="t"/>
          <a:lstStyle/>
          <a:p>
            <a:pPr algn="l" indent="0" marL="0">
              <a:lnSpc>
                <a:spcPts val="2030"/>
              </a:lnSpc>
              <a:buNone/>
            </a:pPr>
            <a:r>
              <a:rPr lang="en-US" sz="1650" dirty="0">
                <a:solidFill>
                  <a:srgbClr val="1F2328"/>
                </a:solidFill>
                <a:latin typeface="Arial" pitchFamily="34" charset="0"/>
                <a:ea typeface="Arial" pitchFamily="34" charset="-122"/>
                <a:cs typeface="Arial" pitchFamily="34" charset="-120"/>
              </a:rPr>
              <a:t>Practice on small, real issues first. Add advanced workflows as the work stays validated and reviewable.</a:t>
            </a:r>
            <a:endParaRPr lang="en-US" sz="1650" dirty="0"/>
          </a:p>
        </p:txBody>
      </p:sp>
      <p:sp>
        <p:nvSpPr>
          <p:cNvPr id="22" name="Text 15"/>
          <p:cNvSpPr/>
          <p:nvPr/>
        </p:nvSpPr>
        <p:spPr>
          <a:xfrm>
            <a:off x="507950" y="4058543"/>
            <a:ext cx="8290509" cy="240060"/>
          </a:xfrm>
          <a:prstGeom prst="rect">
            <a:avLst/>
          </a:prstGeom>
          <a:noFill/>
          <a:ln/>
        </p:spPr>
        <p:txBody>
          <a:bodyPr wrap="square" lIns="0" tIns="0" rIns="0" bIns="0" rtlCol="0" anchor="t"/>
          <a:lstStyle/>
          <a:p>
            <a:pPr algn="l" indent="0" marL="0">
              <a:lnSpc>
                <a:spcPts val="1890"/>
              </a:lnSpc>
              <a:buNone/>
            </a:pPr>
            <a:r>
              <a:rPr lang="en-US" sz="1550" dirty="0">
                <a:solidFill>
                  <a:srgbClr val="59636E"/>
                </a:solidFill>
                <a:latin typeface="Arial" pitchFamily="34" charset="0"/>
                <a:ea typeface="Arial" pitchFamily="34" charset="-122"/>
                <a:cs typeface="Arial" pitchFamily="34" charset="-120"/>
              </a:rPr>
              <a:t>Keep learning: </a:t>
            </a:r>
            <a:pPr algn="l" indent="0" marL="0">
              <a:lnSpc>
                <a:spcPts val="1890"/>
              </a:lnSpc>
              <a:buNone/>
            </a:pPr>
            <a:r>
              <a:rPr lang="en-US" sz="1550" b="1" u="sng" dirty="0">
                <a:solidFill>
                  <a:srgbClr val="0969DA"/>
                </a:solidFill>
                <a:latin typeface="Arial" pitchFamily="34" charset="0"/>
                <a:ea typeface="Arial" pitchFamily="34" charset="-122"/>
                <a:cs typeface="Arial" pitchFamily="34" charset="-120"/>
                <a:hlinkClick r:id="rId7" invalidUrl="" action="" tgtFrame="" tooltip="https://github.com/github/copilot-app-for-beginners" history="1" highlightClick="0" endSnd="0">
                  <a:extLst>
                    <a:ext uri="{A12FA001-AC4F-418D-AE19-62706E023703}">
                      <ahyp:hlinkClr xmlns:ahyp="http://schemas.microsoft.com/office/drawing/2018/hyperlinkcolor" val="tx"/>
                    </a:ext>
                  </a:extLst>
                </a:hlinkClick>
              </a:rPr>
              <a:t>github.com/github/copilot-app-for-beginners</a:t>
            </a:r>
            <a:endParaRPr lang="en-US" sz="15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pic>
        <p:nvPicPr>
          <p:cNvPr id="2"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6349901" y="0"/>
            <a:ext cx="2793950" cy="1308050"/>
          </a:xfrm>
          <a:prstGeom prst="rect">
            <a:avLst/>
          </a:prstGeom>
        </p:spPr>
      </p:pic>
      <p:sp>
        <p:nvSpPr>
          <p:cNvPr id="3" name="Text 0"/>
          <p:cNvSpPr/>
          <p:nvPr/>
        </p:nvSpPr>
        <p:spPr>
          <a:xfrm>
            <a:off x="7340501" y="177701"/>
            <a:ext cx="1168301" cy="279350"/>
          </a:xfrm>
          <a:prstGeom prst="roundRect">
            <a:avLst>
              <a:gd name="adj" fmla="val 22731"/>
            </a:avLst>
          </a:prstGeom>
          <a:solidFill>
            <a:srgbClr val="1A7F37"/>
          </a:solidFill>
          <a:ln/>
        </p:spPr>
        <p:txBody>
          <a:bodyPr wrap="square" rtlCol="0" anchor="ctr"/>
          <a:lstStyle/>
          <a:p>
            <a:pPr indent="0" marL="0">
              <a:buNone/>
            </a:pPr>
            <a:endParaRPr lang="en-US" dirty="0"/>
          </a:p>
        </p:txBody>
      </p:sp>
      <p:sp>
        <p:nvSpPr>
          <p:cNvPr id="4" name="Text 1"/>
          <p:cNvSpPr/>
          <p:nvPr/>
        </p:nvSpPr>
        <p:spPr>
          <a:xfrm>
            <a:off x="7461041" y="231577"/>
            <a:ext cx="927071" cy="171450"/>
          </a:xfrm>
          <a:prstGeom prst="rect">
            <a:avLst/>
          </a:prstGeom>
          <a:noFill/>
          <a:ln/>
        </p:spPr>
        <p:txBody>
          <a:bodyPr wrap="square" lIns="0" tIns="0" rIns="0" bIns="0" rtlCol="0" anchor="t"/>
          <a:lstStyle/>
          <a:p>
            <a:pPr algn="ctr" indent="0" marL="0">
              <a:buNone/>
            </a:pPr>
            <a:r>
              <a:rPr lang="en-US" sz="1150" b="1" dirty="0">
                <a:solidFill>
                  <a:srgbClr val="FFFFFF"/>
                </a:solidFill>
                <a:latin typeface="Arial" pitchFamily="34" charset="0"/>
                <a:ea typeface="Arial" pitchFamily="34" charset="-122"/>
                <a:cs typeface="Arial" pitchFamily="34" charset="-120"/>
              </a:rPr>
              <a:t>CHAPTER 07</a:t>
            </a:r>
            <a:endParaRPr lang="en-US" sz="1150" dirty="0"/>
          </a:p>
        </p:txBody>
      </p:sp>
      <p:pic>
        <p:nvPicPr>
          <p:cNvPr id="5" name="Image 1" descr="Open this chapter on GitHub">
            <a:hlinkClick r:id="rId3" tooltip="https://github.com/github/copilot-app-for-beginners/tree/main/07-automations"/>
          </p:cNvPr>
          <p:cNvPicPr>
            <a:picLocks noChangeAspect="1"/>
          </p:cNvPicPr>
          <p:nvPr/>
        </p:nvPicPr>
        <p:blipFill>
          <a:blip r:embed="rId2"/>
          <a:stretch>
            <a:fillRect/>
          </a:stretch>
        </p:blipFill>
        <p:spPr>
          <a:xfrm>
            <a:off x="8610600" y="165050"/>
            <a:ext cx="304800" cy="304800"/>
          </a:xfrm>
          <a:prstGeom prst="rect">
            <a:avLst/>
          </a:prstGeom>
        </p:spPr>
      </p:pic>
      <p:sp>
        <p:nvSpPr>
          <p:cNvPr id="6" name="Text 2"/>
          <p:cNvSpPr/>
          <p:nvPr/>
        </p:nvSpPr>
        <p:spPr>
          <a:xfrm>
            <a:off x="507950" y="381000"/>
            <a:ext cx="8161020" cy="190500"/>
          </a:xfrm>
          <a:prstGeom prst="rect">
            <a:avLst/>
          </a:prstGeom>
          <a:noFill/>
          <a:ln/>
        </p:spPr>
        <p:txBody>
          <a:bodyPr wrap="square" lIns="0" tIns="0" rIns="0" bIns="0" rtlCol="0" anchor="t"/>
          <a:lstStyle/>
          <a:p>
            <a:pPr algn="l" indent="0" marL="0">
              <a:buNone/>
            </a:pPr>
            <a:r>
              <a:rPr lang="en-US" sz="1250" b="1" dirty="0">
                <a:solidFill>
                  <a:srgbClr val="1A7F37"/>
                </a:solidFill>
                <a:latin typeface="Arial" pitchFamily="34" charset="0"/>
                <a:ea typeface="Arial" pitchFamily="34" charset="-122"/>
                <a:cs typeface="Arial" pitchFamily="34" charset="-120"/>
              </a:rPr>
              <a:t>KEY TAKEAWAYS</a:t>
            </a:r>
            <a:endParaRPr lang="en-US" sz="1250" dirty="0"/>
          </a:p>
        </p:txBody>
      </p:sp>
      <p:sp>
        <p:nvSpPr>
          <p:cNvPr id="7" name="Text 3"/>
          <p:cNvSpPr/>
          <p:nvPr/>
        </p:nvSpPr>
        <p:spPr>
          <a:xfrm>
            <a:off x="507950" y="622250"/>
            <a:ext cx="8161020" cy="419100"/>
          </a:xfrm>
          <a:prstGeom prst="rect">
            <a:avLst/>
          </a:prstGeom>
          <a:noFill/>
          <a:ln/>
        </p:spPr>
        <p:txBody>
          <a:bodyPr wrap="square" lIns="0" tIns="0" rIns="0" bIns="0" rtlCol="0" anchor="t"/>
          <a:lstStyle/>
          <a:p>
            <a:pPr algn="l" indent="0" marL="0">
              <a:lnSpc>
                <a:spcPts val="3300"/>
              </a:lnSpc>
              <a:spcBef>
                <a:spcPts val="400"/>
              </a:spcBef>
              <a:buNone/>
            </a:pPr>
            <a:r>
              <a:rPr lang="en-US" sz="2800" b="1" dirty="0">
                <a:solidFill>
                  <a:srgbClr val="1F2328"/>
                </a:solidFill>
                <a:latin typeface="Arial" pitchFamily="34" charset="0"/>
                <a:ea typeface="Arial" pitchFamily="34" charset="-122"/>
                <a:cs typeface="Arial" pitchFamily="34" charset="-120"/>
              </a:rPr>
              <a:t>What to remember</a:t>
            </a:r>
            <a:endParaRPr lang="en-US" sz="2800" dirty="0"/>
          </a:p>
        </p:txBody>
      </p:sp>
      <p:sp>
        <p:nvSpPr>
          <p:cNvPr id="8" name="Text 4"/>
          <p:cNvSpPr/>
          <p:nvPr/>
        </p:nvSpPr>
        <p:spPr>
          <a:xfrm>
            <a:off x="507950" y="1524000"/>
            <a:ext cx="3962400" cy="812750"/>
          </a:xfrm>
          <a:prstGeom prst="roundRect">
            <a:avLst>
              <a:gd name="adj" fmla="val 15626"/>
            </a:avLst>
          </a:prstGeom>
          <a:solidFill>
            <a:srgbClr val="F0FBF3"/>
          </a:solidFill>
          <a:ln w="9525">
            <a:solidFill>
              <a:srgbClr val="8CE7A5"/>
            </a:solidFill>
          </a:ln>
        </p:spPr>
        <p:txBody>
          <a:bodyPr wrap="square" rtlCol="0" anchor="ctr"/>
          <a:lstStyle/>
          <a:p>
            <a:pPr indent="0" marL="0">
              <a:buNone/>
            </a:pPr>
            <a:endParaRPr lang="en-US" dirty="0"/>
          </a:p>
        </p:txBody>
      </p:sp>
      <p:sp>
        <p:nvSpPr>
          <p:cNvPr id="9" name="Text 5"/>
          <p:cNvSpPr/>
          <p:nvPr/>
        </p:nvSpPr>
        <p:spPr>
          <a:xfrm>
            <a:off x="695176" y="1790700"/>
            <a:ext cx="279350" cy="279350"/>
          </a:xfrm>
          <a:prstGeom prst="roundRect">
            <a:avLst>
              <a:gd name="adj" fmla="val 327331"/>
            </a:avLst>
          </a:prstGeom>
          <a:solidFill>
            <a:srgbClr val="1A7F37"/>
          </a:solidFill>
          <a:ln/>
        </p:spPr>
        <p:txBody>
          <a:bodyPr wrap="square" rtlCol="0" anchor="ctr"/>
          <a:lstStyle/>
          <a:p>
            <a:pPr indent="0" marL="0">
              <a:buNone/>
            </a:pPr>
            <a:endParaRPr lang="en-US" dirty="0"/>
          </a:p>
        </p:txBody>
      </p:sp>
      <p:sp>
        <p:nvSpPr>
          <p:cNvPr id="10" name="Text 6"/>
          <p:cNvSpPr/>
          <p:nvPr/>
        </p:nvSpPr>
        <p:spPr>
          <a:xfrm>
            <a:off x="789841" y="1835051"/>
            <a:ext cx="90020" cy="190500"/>
          </a:xfrm>
          <a:prstGeom prst="rect">
            <a:avLst/>
          </a:prstGeom>
          <a:noFill/>
          <a:ln/>
        </p:spPr>
        <p:txBody>
          <a:bodyPr wrap="square" lIns="0" tIns="0" rIns="0" bIns="0" rtlCol="0" anchor="t"/>
          <a:lstStyle/>
          <a:p>
            <a:pPr algn="ctr" indent="0" marL="0">
              <a:buNone/>
            </a:pPr>
            <a:r>
              <a:rPr lang="en-US" sz="1250" b="1" dirty="0">
                <a:solidFill>
                  <a:srgbClr val="FFFFFF"/>
                </a:solidFill>
                <a:latin typeface="Arial" pitchFamily="34" charset="0"/>
                <a:ea typeface="Arial" pitchFamily="34" charset="-122"/>
                <a:cs typeface="Arial" pitchFamily="34" charset="-120"/>
              </a:rPr>
              <a:t>1</a:t>
            </a:r>
            <a:endParaRPr lang="en-US" sz="1250" dirty="0"/>
          </a:p>
        </p:txBody>
      </p:sp>
      <p:sp>
        <p:nvSpPr>
          <p:cNvPr id="11" name="Text 7"/>
          <p:cNvSpPr/>
          <p:nvPr/>
        </p:nvSpPr>
        <p:spPr>
          <a:xfrm>
            <a:off x="1126927" y="1714351"/>
            <a:ext cx="3219322" cy="431899"/>
          </a:xfrm>
          <a:prstGeom prst="rect">
            <a:avLst/>
          </a:prstGeom>
          <a:noFill/>
          <a:ln/>
        </p:spPr>
        <p:txBody>
          <a:bodyPr wrap="square" lIns="0" tIns="0" rIns="0" bIns="0" rtlCol="0" anchor="t"/>
          <a:lstStyle/>
          <a:p>
            <a:pPr algn="l" indent="0" marL="0">
              <a:lnSpc>
                <a:spcPts val="1700"/>
              </a:lnSpc>
              <a:buNone/>
            </a:pPr>
            <a:r>
              <a:rPr lang="en-US" sz="1450" dirty="0">
                <a:solidFill>
                  <a:srgbClr val="1F2328"/>
                </a:solidFill>
                <a:latin typeface="Arial" pitchFamily="34" charset="0"/>
                <a:ea typeface="Arial" pitchFamily="34" charset="-122"/>
                <a:cs typeface="Arial" pitchFamily="34" charset="-120"/>
              </a:rPr>
              <a:t>An automation is a saved prompt, trigger, tool set, and review path.</a:t>
            </a:r>
            <a:endParaRPr lang="en-US" sz="1450" dirty="0"/>
          </a:p>
        </p:txBody>
      </p:sp>
      <p:sp>
        <p:nvSpPr>
          <p:cNvPr id="12" name="Text 8"/>
          <p:cNvSpPr/>
          <p:nvPr/>
        </p:nvSpPr>
        <p:spPr>
          <a:xfrm>
            <a:off x="4673501" y="1524000"/>
            <a:ext cx="3962400" cy="812750"/>
          </a:xfrm>
          <a:prstGeom prst="roundRect">
            <a:avLst>
              <a:gd name="adj" fmla="val 15626"/>
            </a:avLst>
          </a:prstGeom>
          <a:solidFill>
            <a:srgbClr val="F0FBF3"/>
          </a:solidFill>
          <a:ln w="9525">
            <a:solidFill>
              <a:srgbClr val="8CE7A5"/>
            </a:solidFill>
          </a:ln>
        </p:spPr>
        <p:txBody>
          <a:bodyPr wrap="square" rtlCol="0" anchor="ctr"/>
          <a:lstStyle/>
          <a:p>
            <a:pPr indent="0" marL="0">
              <a:buNone/>
            </a:pPr>
            <a:endParaRPr lang="en-US" dirty="0"/>
          </a:p>
        </p:txBody>
      </p:sp>
      <p:sp>
        <p:nvSpPr>
          <p:cNvPr id="13" name="Text 9"/>
          <p:cNvSpPr/>
          <p:nvPr/>
        </p:nvSpPr>
        <p:spPr>
          <a:xfrm>
            <a:off x="4860727" y="1790700"/>
            <a:ext cx="279350" cy="279350"/>
          </a:xfrm>
          <a:prstGeom prst="roundRect">
            <a:avLst>
              <a:gd name="adj" fmla="val 327331"/>
            </a:avLst>
          </a:prstGeom>
          <a:solidFill>
            <a:srgbClr val="1A7F37"/>
          </a:solidFill>
          <a:ln/>
        </p:spPr>
        <p:txBody>
          <a:bodyPr wrap="square" rtlCol="0" anchor="ctr"/>
          <a:lstStyle/>
          <a:p>
            <a:pPr indent="0" marL="0">
              <a:buNone/>
            </a:pPr>
            <a:endParaRPr lang="en-US" dirty="0"/>
          </a:p>
        </p:txBody>
      </p:sp>
      <p:sp>
        <p:nvSpPr>
          <p:cNvPr id="14" name="Text 10"/>
          <p:cNvSpPr/>
          <p:nvPr/>
        </p:nvSpPr>
        <p:spPr>
          <a:xfrm>
            <a:off x="4955392" y="1835051"/>
            <a:ext cx="90020" cy="190500"/>
          </a:xfrm>
          <a:prstGeom prst="rect">
            <a:avLst/>
          </a:prstGeom>
          <a:noFill/>
          <a:ln/>
        </p:spPr>
        <p:txBody>
          <a:bodyPr wrap="square" lIns="0" tIns="0" rIns="0" bIns="0" rtlCol="0" anchor="t"/>
          <a:lstStyle/>
          <a:p>
            <a:pPr algn="ctr" indent="0" marL="0">
              <a:buNone/>
            </a:pPr>
            <a:r>
              <a:rPr lang="en-US" sz="1250" b="1" dirty="0">
                <a:solidFill>
                  <a:srgbClr val="FFFFFF"/>
                </a:solidFill>
                <a:latin typeface="Arial" pitchFamily="34" charset="0"/>
                <a:ea typeface="Arial" pitchFamily="34" charset="-122"/>
                <a:cs typeface="Arial" pitchFamily="34" charset="-120"/>
              </a:rPr>
              <a:t>2</a:t>
            </a:r>
            <a:endParaRPr lang="en-US" sz="1250" dirty="0"/>
          </a:p>
        </p:txBody>
      </p:sp>
      <p:sp>
        <p:nvSpPr>
          <p:cNvPr id="15" name="Text 11"/>
          <p:cNvSpPr/>
          <p:nvPr/>
        </p:nvSpPr>
        <p:spPr>
          <a:xfrm>
            <a:off x="5292477" y="1714351"/>
            <a:ext cx="3219322" cy="431899"/>
          </a:xfrm>
          <a:prstGeom prst="rect">
            <a:avLst/>
          </a:prstGeom>
          <a:noFill/>
          <a:ln/>
        </p:spPr>
        <p:txBody>
          <a:bodyPr wrap="square" lIns="0" tIns="0" rIns="0" bIns="0" rtlCol="0" anchor="t"/>
          <a:lstStyle/>
          <a:p>
            <a:pPr algn="l" indent="0" marL="0">
              <a:lnSpc>
                <a:spcPts val="1700"/>
              </a:lnSpc>
              <a:buNone/>
            </a:pPr>
            <a:r>
              <a:rPr lang="en-US" sz="1450" dirty="0">
                <a:solidFill>
                  <a:srgbClr val="1F2328"/>
                </a:solidFill>
                <a:latin typeface="Arial" pitchFamily="34" charset="0"/>
                <a:ea typeface="Arial" pitchFamily="34" charset="-122"/>
                <a:cs typeface="Arial" pitchFamily="34" charset="-120"/>
              </a:rPr>
              <a:t>Start manual. Test the prompt before you add a schedule.</a:t>
            </a:r>
            <a:endParaRPr lang="en-US" sz="1450" dirty="0"/>
          </a:p>
        </p:txBody>
      </p:sp>
      <p:sp>
        <p:nvSpPr>
          <p:cNvPr id="16" name="Text 12"/>
          <p:cNvSpPr/>
          <p:nvPr/>
        </p:nvSpPr>
        <p:spPr>
          <a:xfrm>
            <a:off x="507950" y="2514451"/>
            <a:ext cx="3962400" cy="812750"/>
          </a:xfrm>
          <a:prstGeom prst="roundRect">
            <a:avLst>
              <a:gd name="adj" fmla="val 15626"/>
            </a:avLst>
          </a:prstGeom>
          <a:solidFill>
            <a:srgbClr val="F0FBF3"/>
          </a:solidFill>
          <a:ln w="9525">
            <a:solidFill>
              <a:srgbClr val="8CE7A5"/>
            </a:solidFill>
          </a:ln>
        </p:spPr>
        <p:txBody>
          <a:bodyPr wrap="square" rtlCol="0" anchor="ctr"/>
          <a:lstStyle/>
          <a:p>
            <a:pPr indent="0" marL="0">
              <a:buNone/>
            </a:pPr>
            <a:endParaRPr lang="en-US" dirty="0"/>
          </a:p>
        </p:txBody>
      </p:sp>
      <p:sp>
        <p:nvSpPr>
          <p:cNvPr id="17" name="Text 13"/>
          <p:cNvSpPr/>
          <p:nvPr/>
        </p:nvSpPr>
        <p:spPr>
          <a:xfrm>
            <a:off x="695176" y="2781151"/>
            <a:ext cx="279350" cy="279350"/>
          </a:xfrm>
          <a:prstGeom prst="roundRect">
            <a:avLst>
              <a:gd name="adj" fmla="val 327331"/>
            </a:avLst>
          </a:prstGeom>
          <a:solidFill>
            <a:srgbClr val="1A7F37"/>
          </a:solidFill>
          <a:ln/>
        </p:spPr>
        <p:txBody>
          <a:bodyPr wrap="square" rtlCol="0" anchor="ctr"/>
          <a:lstStyle/>
          <a:p>
            <a:pPr indent="0" marL="0">
              <a:buNone/>
            </a:pPr>
            <a:endParaRPr lang="en-US" dirty="0"/>
          </a:p>
        </p:txBody>
      </p:sp>
      <p:sp>
        <p:nvSpPr>
          <p:cNvPr id="18" name="Text 14"/>
          <p:cNvSpPr/>
          <p:nvPr/>
        </p:nvSpPr>
        <p:spPr>
          <a:xfrm>
            <a:off x="789841" y="2825502"/>
            <a:ext cx="90020" cy="190500"/>
          </a:xfrm>
          <a:prstGeom prst="rect">
            <a:avLst/>
          </a:prstGeom>
          <a:noFill/>
          <a:ln/>
        </p:spPr>
        <p:txBody>
          <a:bodyPr wrap="square" lIns="0" tIns="0" rIns="0" bIns="0" rtlCol="0" anchor="t"/>
          <a:lstStyle/>
          <a:p>
            <a:pPr algn="ctr" indent="0" marL="0">
              <a:buNone/>
            </a:pPr>
            <a:r>
              <a:rPr lang="en-US" sz="1250" b="1" dirty="0">
                <a:solidFill>
                  <a:srgbClr val="FFFFFF"/>
                </a:solidFill>
                <a:latin typeface="Arial" pitchFamily="34" charset="0"/>
                <a:ea typeface="Arial" pitchFamily="34" charset="-122"/>
                <a:cs typeface="Arial" pitchFamily="34" charset="-120"/>
              </a:rPr>
              <a:t>3</a:t>
            </a:r>
            <a:endParaRPr lang="en-US" sz="1250" dirty="0"/>
          </a:p>
        </p:txBody>
      </p:sp>
      <p:sp>
        <p:nvSpPr>
          <p:cNvPr id="19" name="Text 15"/>
          <p:cNvSpPr/>
          <p:nvPr/>
        </p:nvSpPr>
        <p:spPr>
          <a:xfrm>
            <a:off x="1126927" y="2704802"/>
            <a:ext cx="3219322" cy="431899"/>
          </a:xfrm>
          <a:prstGeom prst="rect">
            <a:avLst/>
          </a:prstGeom>
          <a:noFill/>
          <a:ln/>
        </p:spPr>
        <p:txBody>
          <a:bodyPr wrap="square" lIns="0" tIns="0" rIns="0" bIns="0" rtlCol="0" anchor="t"/>
          <a:lstStyle/>
          <a:p>
            <a:pPr algn="l" indent="0" marL="0">
              <a:lnSpc>
                <a:spcPts val="1700"/>
              </a:lnSpc>
              <a:buNone/>
            </a:pPr>
            <a:r>
              <a:rPr lang="en-US" sz="1450" dirty="0">
                <a:solidFill>
                  <a:srgbClr val="1F2328"/>
                </a:solidFill>
                <a:latin typeface="Arial" pitchFamily="34" charset="0"/>
                <a:ea typeface="Arial" pitchFamily="34" charset="-122"/>
                <a:cs typeface="Arial" pitchFamily="34" charset="-120"/>
              </a:rPr>
              <a:t>Event triggers and cloud come later. Keep them read-only and narrow.</a:t>
            </a:r>
            <a:endParaRPr lang="en-US" sz="1450" dirty="0"/>
          </a:p>
        </p:txBody>
      </p:sp>
      <p:sp>
        <p:nvSpPr>
          <p:cNvPr id="20" name="Text 16"/>
          <p:cNvSpPr/>
          <p:nvPr/>
        </p:nvSpPr>
        <p:spPr>
          <a:xfrm>
            <a:off x="4673501" y="2514451"/>
            <a:ext cx="3962400" cy="812750"/>
          </a:xfrm>
          <a:prstGeom prst="roundRect">
            <a:avLst>
              <a:gd name="adj" fmla="val 15626"/>
            </a:avLst>
          </a:prstGeom>
          <a:solidFill>
            <a:srgbClr val="F0FBF3"/>
          </a:solidFill>
          <a:ln w="9525">
            <a:solidFill>
              <a:srgbClr val="8CE7A5"/>
            </a:solidFill>
          </a:ln>
        </p:spPr>
        <p:txBody>
          <a:bodyPr wrap="square" rtlCol="0" anchor="ctr"/>
          <a:lstStyle/>
          <a:p>
            <a:pPr indent="0" marL="0">
              <a:buNone/>
            </a:pPr>
            <a:endParaRPr lang="en-US" dirty="0"/>
          </a:p>
        </p:txBody>
      </p:sp>
      <p:sp>
        <p:nvSpPr>
          <p:cNvPr id="21" name="Text 17"/>
          <p:cNvSpPr/>
          <p:nvPr/>
        </p:nvSpPr>
        <p:spPr>
          <a:xfrm>
            <a:off x="4860727" y="2781151"/>
            <a:ext cx="279350" cy="279350"/>
          </a:xfrm>
          <a:prstGeom prst="roundRect">
            <a:avLst>
              <a:gd name="adj" fmla="val 327331"/>
            </a:avLst>
          </a:prstGeom>
          <a:solidFill>
            <a:srgbClr val="1A7F37"/>
          </a:solidFill>
          <a:ln/>
        </p:spPr>
        <p:txBody>
          <a:bodyPr wrap="square" rtlCol="0" anchor="ctr"/>
          <a:lstStyle/>
          <a:p>
            <a:pPr indent="0" marL="0">
              <a:buNone/>
            </a:pPr>
            <a:endParaRPr lang="en-US" dirty="0"/>
          </a:p>
        </p:txBody>
      </p:sp>
      <p:sp>
        <p:nvSpPr>
          <p:cNvPr id="22" name="Text 18"/>
          <p:cNvSpPr/>
          <p:nvPr/>
        </p:nvSpPr>
        <p:spPr>
          <a:xfrm>
            <a:off x="4955392" y="2825502"/>
            <a:ext cx="90020" cy="190500"/>
          </a:xfrm>
          <a:prstGeom prst="rect">
            <a:avLst/>
          </a:prstGeom>
          <a:noFill/>
          <a:ln/>
        </p:spPr>
        <p:txBody>
          <a:bodyPr wrap="square" lIns="0" tIns="0" rIns="0" bIns="0" rtlCol="0" anchor="t"/>
          <a:lstStyle/>
          <a:p>
            <a:pPr algn="ctr" indent="0" marL="0">
              <a:buNone/>
            </a:pPr>
            <a:r>
              <a:rPr lang="en-US" sz="1250" b="1" dirty="0">
                <a:solidFill>
                  <a:srgbClr val="FFFFFF"/>
                </a:solidFill>
                <a:latin typeface="Arial" pitchFamily="34" charset="0"/>
                <a:ea typeface="Arial" pitchFamily="34" charset="-122"/>
                <a:cs typeface="Arial" pitchFamily="34" charset="-120"/>
              </a:rPr>
              <a:t>4</a:t>
            </a:r>
            <a:endParaRPr lang="en-US" sz="1250" dirty="0"/>
          </a:p>
        </p:txBody>
      </p:sp>
      <p:sp>
        <p:nvSpPr>
          <p:cNvPr id="23" name="Text 19"/>
          <p:cNvSpPr/>
          <p:nvPr/>
        </p:nvSpPr>
        <p:spPr>
          <a:xfrm>
            <a:off x="5292477" y="2704802"/>
            <a:ext cx="3219322" cy="431899"/>
          </a:xfrm>
          <a:prstGeom prst="rect">
            <a:avLst/>
          </a:prstGeom>
          <a:noFill/>
          <a:ln/>
        </p:spPr>
        <p:txBody>
          <a:bodyPr wrap="square" lIns="0" tIns="0" rIns="0" bIns="0" rtlCol="0" anchor="t"/>
          <a:lstStyle/>
          <a:p>
            <a:pPr algn="l" indent="0" marL="0">
              <a:lnSpc>
                <a:spcPts val="1700"/>
              </a:lnSpc>
              <a:buNone/>
            </a:pPr>
            <a:r>
              <a:rPr lang="en-US" sz="1450" dirty="0">
                <a:solidFill>
                  <a:srgbClr val="1F2328"/>
                </a:solidFill>
                <a:latin typeface="Arial" pitchFamily="34" charset="0"/>
                <a:ea typeface="Arial" pitchFamily="34" charset="-122"/>
                <a:cs typeface="Arial" pitchFamily="34" charset="-120"/>
              </a:rPr>
              <a:t>A read-only report adds analysis the Pull requests view does not.</a:t>
            </a:r>
            <a:endParaRPr lang="en-US" sz="1450" dirty="0"/>
          </a:p>
        </p:txBody>
      </p:sp>
      <p:sp>
        <p:nvSpPr>
          <p:cNvPr id="24" name="Text 20"/>
          <p:cNvSpPr/>
          <p:nvPr/>
        </p:nvSpPr>
        <p:spPr>
          <a:xfrm>
            <a:off x="507950" y="3784550"/>
            <a:ext cx="8127950" cy="812750"/>
          </a:xfrm>
          <a:prstGeom prst="roundRect">
            <a:avLst>
              <a:gd name="adj" fmla="val 15626"/>
            </a:avLst>
          </a:prstGeom>
          <a:solidFill>
            <a:srgbClr val="DDF4FF"/>
          </a:solidFill>
          <a:ln w="9525">
            <a:solidFill>
              <a:srgbClr val="9CD7FF"/>
            </a:solidFill>
          </a:ln>
        </p:spPr>
        <p:txBody>
          <a:bodyPr wrap="square" rtlCol="0" anchor="ctr"/>
          <a:lstStyle/>
          <a:p>
            <a:pPr indent="0" marL="0">
              <a:buNone/>
            </a:pPr>
            <a:endParaRPr lang="en-US" dirty="0"/>
          </a:p>
        </p:txBody>
      </p:sp>
      <p:sp>
        <p:nvSpPr>
          <p:cNvPr id="25" name="Text 21"/>
          <p:cNvSpPr/>
          <p:nvPr/>
        </p:nvSpPr>
        <p:spPr>
          <a:xfrm>
            <a:off x="746075" y="3987701"/>
            <a:ext cx="406301" cy="406301"/>
          </a:xfrm>
          <a:prstGeom prst="roundRect">
            <a:avLst>
              <a:gd name="adj" fmla="val 21880"/>
            </a:avLst>
          </a:prstGeom>
          <a:solidFill>
            <a:srgbClr val="DDF4FF"/>
          </a:solidFill>
          <a:ln/>
        </p:spPr>
        <p:txBody>
          <a:bodyPr wrap="square" rtlCol="0" anchor="ctr"/>
          <a:lstStyle/>
          <a:p>
            <a:pPr indent="0" marL="0">
              <a:buNone/>
            </a:pPr>
            <a:endParaRPr lang="en-US" dirty="0"/>
          </a:p>
        </p:txBody>
      </p:sp>
      <p:pic>
        <p:nvPicPr>
          <p:cNvPr id="26" name="Image 2"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834926" y="4076551"/>
            <a:ext cx="228600" cy="228600"/>
          </a:xfrm>
          <a:prstGeom prst="rect">
            <a:avLst/>
          </a:prstGeom>
        </p:spPr>
      </p:pic>
      <p:sp>
        <p:nvSpPr>
          <p:cNvPr id="27" name="Text 22"/>
          <p:cNvSpPr/>
          <p:nvPr/>
        </p:nvSpPr>
        <p:spPr>
          <a:xfrm>
            <a:off x="1304776" y="3971776"/>
            <a:ext cx="2631838" cy="171450"/>
          </a:xfrm>
          <a:prstGeom prst="rect">
            <a:avLst/>
          </a:prstGeom>
          <a:noFill/>
          <a:ln/>
        </p:spPr>
        <p:txBody>
          <a:bodyPr wrap="square" lIns="0" tIns="0" rIns="0" bIns="0" rtlCol="0" anchor="t"/>
          <a:lstStyle/>
          <a:p>
            <a:pPr algn="l" indent="0" marL="0">
              <a:buNone/>
            </a:pPr>
            <a:r>
              <a:rPr lang="en-US" sz="1150" b="1" dirty="0">
                <a:solidFill>
                  <a:srgbClr val="0969DA"/>
                </a:solidFill>
                <a:latin typeface="Arial" pitchFamily="34" charset="0"/>
                <a:ea typeface="Arial" pitchFamily="34" charset="-122"/>
                <a:cs typeface="Arial" pitchFamily="34" charset="-120"/>
              </a:rPr>
              <a:t>REVISIT THIS CHAPTER</a:t>
            </a:r>
            <a:endParaRPr lang="en-US" sz="1150" dirty="0"/>
          </a:p>
        </p:txBody>
      </p:sp>
      <p:sp>
        <p:nvSpPr>
          <p:cNvPr id="28" name="Text 23"/>
          <p:cNvSpPr/>
          <p:nvPr/>
        </p:nvSpPr>
        <p:spPr>
          <a:xfrm>
            <a:off x="1304776" y="4181326"/>
            <a:ext cx="2631838" cy="228600"/>
          </a:xfrm>
          <a:prstGeom prst="rect">
            <a:avLst/>
          </a:prstGeom>
          <a:noFill/>
          <a:ln/>
        </p:spPr>
        <p:txBody>
          <a:bodyPr wrap="square" lIns="0" tIns="0" rIns="0" bIns="0" rtlCol="0" anchor="t"/>
          <a:lstStyle/>
          <a:p>
            <a:pPr algn="l" indent="0" marL="0">
              <a:buNone/>
            </a:pPr>
            <a:r>
              <a:rPr lang="en-US" sz="1550" b="1" u="sng" dirty="0">
                <a:solidFill>
                  <a:srgbClr val="0969DA"/>
                </a:solidFill>
                <a:latin typeface="Arial" pitchFamily="34" charset="0"/>
                <a:ea typeface="Arial" pitchFamily="34" charset="-122"/>
                <a:cs typeface="Arial" pitchFamily="34" charset="-120"/>
                <a:hlinkClick r:id="rId5" invalidUrl="" action="" tgtFrame="" tooltip="https://github.com/github/copilot-app-for-beginners/tree/main/07-automations" history="1" highlightClick="0" endSnd="0">
                  <a:extLst>
                    <a:ext uri="{A12FA001-AC4F-418D-AE19-62706E023703}">
                      <ahyp:hlinkClr xmlns:ahyp="http://schemas.microsoft.com/office/drawing/2018/hyperlinkcolor" val="tx"/>
                    </a:ext>
                  </a:extLst>
                </a:hlinkClick>
              </a:rPr>
              <a:t>Open Chapter 07 on GitHub</a:t>
            </a:r>
            <a:endParaRPr lang="en-US" sz="1550" dirty="0"/>
          </a:p>
        </p:txBody>
      </p:sp>
      <p:sp>
        <p:nvSpPr>
          <p:cNvPr id="29" name="Text 24"/>
          <p:cNvSpPr/>
          <p:nvPr/>
        </p:nvSpPr>
        <p:spPr>
          <a:xfrm>
            <a:off x="4714875" y="3971776"/>
            <a:ext cx="3756559" cy="171450"/>
          </a:xfrm>
          <a:prstGeom prst="rect">
            <a:avLst/>
          </a:prstGeom>
          <a:noFill/>
          <a:ln/>
        </p:spPr>
        <p:txBody>
          <a:bodyPr wrap="square" lIns="0" tIns="0" rIns="0" bIns="0" rtlCol="0" anchor="t"/>
          <a:lstStyle/>
          <a:p>
            <a:pPr algn="l" indent="0" marL="0">
              <a:buNone/>
            </a:pPr>
            <a:r>
              <a:rPr lang="en-US" sz="1150" b="1" dirty="0">
                <a:solidFill>
                  <a:srgbClr val="0969DA"/>
                </a:solidFill>
                <a:latin typeface="Arial" pitchFamily="34" charset="0"/>
                <a:ea typeface="Arial" pitchFamily="34" charset="-122"/>
                <a:cs typeface="Arial" pitchFamily="34" charset="-120"/>
              </a:rPr>
              <a:t>COURSE HOME</a:t>
            </a:r>
            <a:endParaRPr lang="en-US" sz="1150" dirty="0"/>
          </a:p>
        </p:txBody>
      </p:sp>
      <p:sp>
        <p:nvSpPr>
          <p:cNvPr id="30" name="Text 25"/>
          <p:cNvSpPr/>
          <p:nvPr/>
        </p:nvSpPr>
        <p:spPr>
          <a:xfrm>
            <a:off x="4714875" y="4181326"/>
            <a:ext cx="3756559" cy="228600"/>
          </a:xfrm>
          <a:prstGeom prst="rect">
            <a:avLst/>
          </a:prstGeom>
          <a:noFill/>
          <a:ln/>
        </p:spPr>
        <p:txBody>
          <a:bodyPr wrap="square" lIns="0" tIns="0" rIns="0" bIns="0" rtlCol="0" anchor="t"/>
          <a:lstStyle/>
          <a:p>
            <a:pPr algn="l" indent="0" marL="0">
              <a:buNone/>
            </a:pPr>
            <a:r>
              <a:rPr lang="en-US" sz="1550" b="1" u="sng" dirty="0">
                <a:solidFill>
                  <a:srgbClr val="1F2328"/>
                </a:solidFill>
                <a:latin typeface="Arial" pitchFamily="34" charset="0"/>
                <a:ea typeface="Arial" pitchFamily="34" charset="-122"/>
                <a:cs typeface="Arial" pitchFamily="34" charset="-120"/>
                <a:hlinkClick r:id="rId6" invalidUrl="" action="" tgtFrame="" tooltip="https://github.com/github/copilot-app-for-beginners" history="1" highlightClick="0" endSnd="0">
                  <a:extLst>
                    <a:ext uri="{A12FA001-AC4F-418D-AE19-62706E023703}">
                      <ahyp:hlinkClr xmlns:ahyp="http://schemas.microsoft.com/office/drawing/2018/hyperlinkcolor" val="tx"/>
                    </a:ext>
                  </a:extLst>
                </a:hlinkClick>
              </a:rPr>
              <a:t>GitHub Copilot app for Beginners →</a:t>
            </a:r>
            <a:endParaRPr lang="en-US" sz="15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07: Automations</dc:title>
  <dc:subject>PptxGenJS Presentation</dc:subject>
  <dc:creator>GitHub Copilot app for Beginners</dc:creator>
  <cp:lastModifiedBy>GitHub Copilot app for Beginners</cp:lastModifiedBy>
  <cp:revision>1</cp:revision>
  <dcterms:created xsi:type="dcterms:W3CDTF">2026-10-06T21:19:19Z</dcterms:created>
  <dcterms:modified xsi:type="dcterms:W3CDTF">2026-10-06T21:19:19Z</dcterms:modified>
</cp:coreProperties>
</file>