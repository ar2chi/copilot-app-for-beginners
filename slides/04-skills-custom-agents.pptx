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03 connected a change to its diff, tests, preview, and pull request. This chapter makes that workflow reusable. A skill stores review guidance. A custom agent defines a role and the tools it may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2 parts: Skills save your checklist, Custom agents define a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options. A one-off prompt applies once. Repository instructions in .github/copilot-instructions.md are house rules for every task in the project. A skill in .github/skills is guidance for one repeated task, such as a review checklist. A custom agent in .github/agents is a named role with instructions and a limited set of tools, such as a read-only explainer. Find skills in the Customize view. Select custom agents with slash agent or the agent picker.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players already know their instruments. The bandleader still hands out a chart so everyone plays this song the same way. A skill is that chart. A custom agent is the specialist who follows it. You still check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are the house rules. A skill is the chart for one kind of song. Use a skill when you repeat the same kind of work. A one-off prompt is easy to forget and hard to share. A skill is a reusable checklist that lives in the repository and gives the same guidance each time. Repository skills are shared through Git; personal skills apply across projects on your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A skill is a folder with a SKILL.md file. The block between the dashes is YAML frontmatter. Keep each description line indented under its key so the YAML remains valid. The description matters: it tells the app when to load the skill. Below it is the Markdown checklist. Repository skills are shared through Git; personal skills apply across your projects. A skill is guidance, not a permission boundary. Review without editing does not disable editing tools. Skills can also include scripts or tell Copilot to use tools, so read unfamiliar skills before you enable them.</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7</ns1:t>
            </ns1:fld>
            <ns1:endParaRPr lang="en-US"/>
          </ns1:p>
        </ns0:txBody>
      </ns0:sp>
    </ns0:spTree>
    <ns0:extLst>
      <ns0:ext uri="{BB962C8B-B14F-4D97-AF65-F5344CB8AC3E}">
        <ns2:creationId val="1024086991"/>
      </ns0:ext>
    </ns0:extLst>
  </ns0:cSld>
  <ns0:clrMapOvr>
    <ns1:masterClrMapping/>
  </ns0:clrMapOvr>
</ns0: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Work in a new worktree session from main in Interactive mode. In Customize, open Installed, select the Skills type filter, and search for book-app-reviewer; confirm it is enabled. Use the type and scope filters to find repository skills. Ask Copilot to explain the frontmatter, then append two rules: headings describe page structure, and informative images and icons have text alternatives. Edit only SKILL.md. Reload skills, switch to Plan mode, and ask for a review of samples/book-app-web/src that applies the new rules and proposes at most one improvement. Expand the activity to confirm the skill loaded.</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original sample, the book titles and the results heading both use h2. A good review applies the heading rule and may propose h3 for book titles. If so, it must account for the book-card h2 CSS selector. It must not claim that any tests ran. The skill should appear in the slash menu as book-app-reviewer. A general prompt can also load a matching skill, so check the activity rather than the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custom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house repairs you choose a specialist based on the job: a plumber, an electrician, or a roofer. Each knows the requirements and brings the right tools. Custom agents apply the same idea to code review, testing, security, and documentation. A custom agent is not a different mode or necessarily a different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Ask Copilot to create .github/agents/book-app-explainer.agent.md with the exact Markdown from the chapter, and to stop if the file already exists. Inspect it in Changes and confirm tools contains only read and search. Keep the description as a valid, indented YAML value if it wraps across lines. The name identifies it in the agent picker. The description states its purpose. The body defines behavior and a four-part answer format: what it does, how the data moves, one small example, and what the tests cover plus one manual check.</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12</ns1:t>
            </ns1:fld>
            <ns1:endParaRPr lang="en-US"/>
          </ns1:p>
        </ns0:txBody>
      </ns0:sp>
    </ns0:spTree>
    <ns0:extLst>
      <ns0:ext uri="{BB962C8B-B14F-4D97-AF65-F5344CB8AC3E}">
        <ns2:creationId val="1024086991"/>
      </ns0:ext>
    </ns0:extLst>
  </ns0:cSld>
  <ns0:clrMapOvr>
    <ns1:masterClrMapping/>
  </ns0:clrMapOvr>
</ns0: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loads custom agents when it starts. Wait for active work in all sessions to finish, quit the GitHub Copilot app, open it again, and select this chapter's session. Closing the window is not the same as quitting. Then type slash agent and select book-app-explainer, and send the command. The screenshot shows the list before sending, so it still says Default agent; after sending, the live picker should show book-app-explainer. Ask it to explain how App.tsx keeps statistics aligned with filtered books, following its four-part format. A good answer traces filters through filterBooks to filteredBooks, and shows how that list reaches ReadingStats and the book cards. It separates test coverage from a manual check. No files change. Return to the default agent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list is the real limit. The skill said review without editing, but only the agent tool list actually removes editing. Omitting the list allows all available tools. Instructions like only work in this folder guide the agent but are not a file-system sandbox. When you need to run tests, switch back to the default agent rather than widening the explainer.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skill heading recommendation, or a focused test for the heading structure if no change was needed. Plan with the skill, record a baseline, implement only that change, and validate it with tests, build, and the browser at desktop and narrow widths. Ask Copilot to inspect the rendered heading levels, because appearance alone does not show structure. Finally, ask the default agent to write samples/book-app-web/docs/chapter-04-review.md, marking any check you did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and custom agents customize how the app works with your project. Match an agent's tools to its task. Next, Chapter 05 extends what the app can access: an MCP server for documentation and a plugin that supplies a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5" Type="http://schemas.openxmlformats.org/officeDocument/2006/relationships/hyperlink" Target="https://github.com/github/copilot-app-for-beginners/tree/main/04-skills-custom-agent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jp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jp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jp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image" Target="../media/image-14-5.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hyperlink" Target="https://github.com/github/copilot-app-for-beginners/tree/main/04-skills-custom-agents" TargetMode="External"/><Relationship Id="rId5" Type="http://schemas.openxmlformats.org/officeDocument/2006/relationships/hyperlink" Target="https://github.com/github/copilot-app-for-beginners/tree/main/04-skills-custom-agents" TargetMode="External"/><Relationship Id="rId6" Type="http://schemas.openxmlformats.org/officeDocument/2006/relationships/hyperlink" Target="https://github.com/github/copilot-app-for-beginners/tree/main/05-mcp-plugins" TargetMode="Externa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image" Target="../media/image-16-3.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823913"/>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04</a:t>
            </a:r>
            <a:endParaRPr lang="en-US" sz="1450" dirty="0"/>
          </a:p>
        </p:txBody>
      </p:sp>
      <p:sp>
        <p:nvSpPr>
          <p:cNvPr id="5" name="Text 1"/>
          <p:cNvSpPr/>
          <p:nvPr/>
        </p:nvSpPr>
        <p:spPr>
          <a:xfrm>
            <a:off x="1015901" y="11349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Skills and Custom Agents</a:t>
            </a:r>
            <a:endParaRPr lang="en-US" sz="4200" dirty="0"/>
          </a:p>
        </p:txBody>
      </p:sp>
      <p:sp>
        <p:nvSpPr>
          <p:cNvPr id="6" name="Text 2"/>
          <p:cNvSpPr/>
          <p:nvPr/>
        </p:nvSpPr>
        <p:spPr>
          <a:xfrm>
            <a:off x="1015901" y="25827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2874764"/>
            <a:ext cx="6088279" cy="99074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you could reuse your review checklist instead of typing the same reminders for each task?</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4130576"/>
            <a:ext cx="177701" cy="177701"/>
          </a:xfrm>
          <a:prstGeom prst="rect">
            <a:avLst/>
          </a:prstGeom>
        </p:spPr>
      </p:pic>
      <p:sp>
        <p:nvSpPr>
          <p:cNvPr id="9" name="Text 4"/>
          <p:cNvSpPr/>
          <p:nvPr/>
        </p:nvSpPr>
        <p:spPr>
          <a:xfrm>
            <a:off x="1282452" y="4119414"/>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4-skills-custom-agent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04</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2000250"/>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2005013"/>
            <a:ext cx="8127950" cy="0"/>
          </a:xfrm>
          <a:prstGeom prst="line">
            <a:avLst/>
          </a:prstGeom>
          <a:noFill/>
          <a:ln w="9525">
            <a:solidFill>
              <a:srgbClr val="9CD7FF"/>
            </a:solidFill>
            <a:prstDash val="solid"/>
          </a:ln>
        </p:spPr>
      </p:sp>
      <p:sp>
        <p:nvSpPr>
          <p:cNvPr id="10" name="Shape 6"/>
          <p:cNvSpPr/>
          <p:nvPr/>
        </p:nvSpPr>
        <p:spPr>
          <a:xfrm>
            <a:off x="8631138" y="2000250"/>
            <a:ext cx="0" cy="857250"/>
          </a:xfrm>
          <a:prstGeom prst="line">
            <a:avLst/>
          </a:prstGeom>
          <a:noFill/>
          <a:ln w="9525">
            <a:solidFill>
              <a:srgbClr val="9CD7FF"/>
            </a:solidFill>
            <a:prstDash val="solid"/>
          </a:ln>
        </p:spPr>
      </p:sp>
      <p:sp>
        <p:nvSpPr>
          <p:cNvPr id="11" name="Shape 7"/>
          <p:cNvSpPr/>
          <p:nvPr/>
        </p:nvSpPr>
        <p:spPr>
          <a:xfrm>
            <a:off x="507950" y="2852738"/>
            <a:ext cx="8127950" cy="0"/>
          </a:xfrm>
          <a:prstGeom prst="line">
            <a:avLst/>
          </a:prstGeom>
          <a:noFill/>
          <a:ln w="9525">
            <a:solidFill>
              <a:srgbClr val="9CD7FF"/>
            </a:solidFill>
            <a:prstDash val="solid"/>
          </a:ln>
        </p:spPr>
      </p:sp>
      <p:sp>
        <p:nvSpPr>
          <p:cNvPr id="12" name="Shape 8"/>
          <p:cNvSpPr/>
          <p:nvPr/>
        </p:nvSpPr>
        <p:spPr>
          <a:xfrm>
            <a:off x="546050" y="2000250"/>
            <a:ext cx="0" cy="857250"/>
          </a:xfrm>
          <a:prstGeom prst="line">
            <a:avLst/>
          </a:prstGeom>
          <a:noFill/>
          <a:ln w="76200">
            <a:solidFill>
              <a:srgbClr val="0969DA"/>
            </a:solidFill>
            <a:prstDash val="solid"/>
          </a:ln>
        </p:spPr>
      </p:sp>
      <p:sp>
        <p:nvSpPr>
          <p:cNvPr id="13" name="Text 9"/>
          <p:cNvSpPr/>
          <p:nvPr/>
        </p:nvSpPr>
        <p:spPr>
          <a:xfrm>
            <a:off x="812750" y="2214563"/>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2162175"/>
            <a:ext cx="609602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Skills save your checklist</a:t>
            </a:r>
            <a:endParaRPr lang="en-US" sz="1800" dirty="0"/>
          </a:p>
        </p:txBody>
      </p:sp>
      <p:sp>
        <p:nvSpPr>
          <p:cNvPr id="15" name="Text 11"/>
          <p:cNvSpPr/>
          <p:nvPr/>
        </p:nvSpPr>
        <p:spPr>
          <a:xfrm>
            <a:off x="1625501" y="2479625"/>
            <a:ext cx="6096021"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Store a review checklist once, then apply it every time the task comes up.</a:t>
            </a:r>
            <a:endParaRPr lang="en-US" sz="1450" dirty="0"/>
          </a:p>
        </p:txBody>
      </p:sp>
      <p:sp>
        <p:nvSpPr>
          <p:cNvPr id="16" name="Text 12"/>
          <p:cNvSpPr/>
          <p:nvPr/>
        </p:nvSpPr>
        <p:spPr>
          <a:xfrm>
            <a:off x="507950" y="3009900"/>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3014663"/>
            <a:ext cx="8127950" cy="0"/>
          </a:xfrm>
          <a:prstGeom prst="line">
            <a:avLst/>
          </a:prstGeom>
          <a:noFill/>
          <a:ln w="9525">
            <a:solidFill>
              <a:srgbClr val="E0C5FF"/>
            </a:solidFill>
            <a:prstDash val="solid"/>
          </a:ln>
        </p:spPr>
      </p:sp>
      <p:sp>
        <p:nvSpPr>
          <p:cNvPr id="18" name="Shape 14"/>
          <p:cNvSpPr/>
          <p:nvPr/>
        </p:nvSpPr>
        <p:spPr>
          <a:xfrm>
            <a:off x="8631138" y="3009900"/>
            <a:ext cx="0" cy="857250"/>
          </a:xfrm>
          <a:prstGeom prst="line">
            <a:avLst/>
          </a:prstGeom>
          <a:noFill/>
          <a:ln w="9525">
            <a:solidFill>
              <a:srgbClr val="E0C5FF"/>
            </a:solidFill>
            <a:prstDash val="solid"/>
          </a:ln>
        </p:spPr>
      </p:sp>
      <p:sp>
        <p:nvSpPr>
          <p:cNvPr id="19" name="Shape 15"/>
          <p:cNvSpPr/>
          <p:nvPr/>
        </p:nvSpPr>
        <p:spPr>
          <a:xfrm>
            <a:off x="507950" y="3862387"/>
            <a:ext cx="8127950" cy="0"/>
          </a:xfrm>
          <a:prstGeom prst="line">
            <a:avLst/>
          </a:prstGeom>
          <a:noFill/>
          <a:ln w="9525">
            <a:solidFill>
              <a:srgbClr val="E0C5FF"/>
            </a:solidFill>
            <a:prstDash val="solid"/>
          </a:ln>
        </p:spPr>
      </p:sp>
      <p:sp>
        <p:nvSpPr>
          <p:cNvPr id="20" name="Shape 16"/>
          <p:cNvSpPr/>
          <p:nvPr/>
        </p:nvSpPr>
        <p:spPr>
          <a:xfrm>
            <a:off x="546050" y="3009900"/>
            <a:ext cx="0" cy="857250"/>
          </a:xfrm>
          <a:prstGeom prst="line">
            <a:avLst/>
          </a:prstGeom>
          <a:noFill/>
          <a:ln w="76200">
            <a:solidFill>
              <a:srgbClr val="8250DF"/>
            </a:solidFill>
            <a:prstDash val="solid"/>
          </a:ln>
        </p:spPr>
      </p:sp>
      <p:sp>
        <p:nvSpPr>
          <p:cNvPr id="21" name="Text 17"/>
          <p:cNvSpPr/>
          <p:nvPr/>
        </p:nvSpPr>
        <p:spPr>
          <a:xfrm>
            <a:off x="812750" y="3224213"/>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3171825"/>
            <a:ext cx="5219652"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Custom agents define a role</a:t>
            </a:r>
            <a:endParaRPr lang="en-US" sz="1800" dirty="0"/>
          </a:p>
        </p:txBody>
      </p:sp>
      <p:sp>
        <p:nvSpPr>
          <p:cNvPr id="23" name="Text 19"/>
          <p:cNvSpPr/>
          <p:nvPr/>
        </p:nvSpPr>
        <p:spPr>
          <a:xfrm>
            <a:off x="1625501" y="3489275"/>
            <a:ext cx="5219652"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Give a specialist a clear role and only the tools that role needs.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CHOOSE THE RIGHT FEATURE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Prompt, rules, workflow, or role?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do not need an agent for every skill, or a skill for every prompt.</a:t>
            </a:r>
            <a:endParaRPr lang="en-US" sz="1650" dirty="0"/>
          </a:p>
        </p:txBody>
      </p:sp>
      <p:sp>
        <p:nvSpPr>
          <p:cNvPr id="9" name="Text 5"/>
          <p:cNvSpPr/>
          <p:nvPr/>
        </p:nvSpPr>
        <p:spPr>
          <a:xfrm>
            <a:off x="507950" y="1930301"/>
            <a:ext cx="8127950" cy="2362200"/>
          </a:xfrm>
          <a:prstGeom prst="roundRect">
            <a:avLst>
              <a:gd name="adj" fmla="val 4301"/>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1939826"/>
            <a:ext cx="8108900" cy="326975"/>
          </a:xfrm>
          <a:prstGeom prst="rect">
            <a:avLst/>
          </a:prstGeom>
          <a:solidFill>
            <a:srgbClr val="DDF4FF"/>
          </a:solidFill>
          <a:ln/>
        </p:spPr>
        <p:txBody>
          <a:bodyPr wrap="square" rtlCol="0" anchor="ctr"/>
          <a:lstStyle/>
          <a:p>
            <a:pPr indent="0" marL="0">
              <a:buNone/>
            </a:pPr>
            <a:endParaRPr lang="en-US" dirty="0"/>
          </a:p>
        </p:txBody>
      </p:sp>
      <p:sp>
        <p:nvSpPr>
          <p:cNvPr id="11" name="Shape 7"/>
          <p:cNvSpPr/>
          <p:nvPr/>
        </p:nvSpPr>
        <p:spPr>
          <a:xfrm>
            <a:off x="517475" y="2262039"/>
            <a:ext cx="8108900" cy="0"/>
          </a:xfrm>
          <a:prstGeom prst="line">
            <a:avLst/>
          </a:prstGeom>
          <a:noFill/>
          <a:ln w="9525">
            <a:solidFill>
              <a:srgbClr val="9CD7FF"/>
            </a:solidFill>
            <a:prstDash val="solid"/>
          </a:ln>
        </p:spPr>
      </p:sp>
      <p:sp>
        <p:nvSpPr>
          <p:cNvPr id="12" name="Text 8"/>
          <p:cNvSpPr/>
          <p:nvPr/>
        </p:nvSpPr>
        <p:spPr>
          <a:xfrm>
            <a:off x="669875" y="2016026"/>
            <a:ext cx="189118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FEATURE</a:t>
            </a:r>
            <a:endParaRPr lang="en-US" sz="1150" dirty="0"/>
          </a:p>
        </p:txBody>
      </p:sp>
      <p:sp>
        <p:nvSpPr>
          <p:cNvPr id="13" name="Text 9"/>
          <p:cNvSpPr/>
          <p:nvPr/>
        </p:nvSpPr>
        <p:spPr>
          <a:xfrm>
            <a:off x="2828776" y="2016026"/>
            <a:ext cx="2668423"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LIVES IN</a:t>
            </a:r>
            <a:endParaRPr lang="en-US" sz="1150" dirty="0"/>
          </a:p>
        </p:txBody>
      </p:sp>
      <p:sp>
        <p:nvSpPr>
          <p:cNvPr id="14" name="Text 10"/>
          <p:cNvSpPr/>
          <p:nvPr/>
        </p:nvSpPr>
        <p:spPr>
          <a:xfrm>
            <a:off x="5749677" y="2016026"/>
            <a:ext cx="2798064" cy="165050"/>
          </a:xfrm>
          <a:prstGeom prst="rect">
            <a:avLst/>
          </a:prstGeom>
          <a:noFill/>
          <a:ln/>
        </p:spPr>
        <p:txBody>
          <a:bodyPr wrap="square" lIns="0" tIns="0" rIns="0" bIns="0" rtlCol="0" anchor="t"/>
          <a:lstStyle/>
          <a:p>
            <a:pPr algn="l" indent="0" marL="0">
              <a:lnSpc>
                <a:spcPts val="1300"/>
              </a:lnSpc>
              <a:buNone/>
            </a:pPr>
            <a:r>
              <a:rPr lang="en-US" sz="1150" b="1" dirty="0">
                <a:solidFill>
                  <a:srgbClr val="0969DA"/>
                </a:solidFill>
                <a:latin typeface="Arial" pitchFamily="34" charset="0"/>
                <a:ea typeface="Arial" pitchFamily="34" charset="-122"/>
                <a:cs typeface="Arial" pitchFamily="34" charset="-120"/>
              </a:rPr>
              <a:t>APPLIES</a:t>
            </a:r>
            <a:endParaRPr lang="en-US" sz="1150" dirty="0"/>
          </a:p>
        </p:txBody>
      </p:sp>
      <p:sp>
        <p:nvSpPr>
          <p:cNvPr id="15" name="Shape 11"/>
          <p:cNvSpPr/>
          <p:nvPr/>
        </p:nvSpPr>
        <p:spPr>
          <a:xfrm>
            <a:off x="517475" y="2707184"/>
            <a:ext cx="8108900" cy="0"/>
          </a:xfrm>
          <a:prstGeom prst="line">
            <a:avLst/>
          </a:prstGeom>
          <a:noFill/>
          <a:ln w="9525">
            <a:solidFill>
              <a:srgbClr val="D1D9E0"/>
            </a:solidFill>
            <a:prstDash val="solid"/>
          </a:ln>
        </p:spPr>
      </p:sp>
      <p:sp>
        <p:nvSpPr>
          <p:cNvPr id="16" name="Text 12"/>
          <p:cNvSpPr/>
          <p:nvPr/>
        </p:nvSpPr>
        <p:spPr>
          <a:xfrm>
            <a:off x="669875" y="2381101"/>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One-off prompt</a:t>
            </a:r>
            <a:endParaRPr lang="en-US" sz="1400" dirty="0"/>
          </a:p>
        </p:txBody>
      </p:sp>
      <p:sp>
        <p:nvSpPr>
          <p:cNvPr id="17" name="Text 13"/>
          <p:cNvSpPr/>
          <p:nvPr/>
        </p:nvSpPr>
        <p:spPr>
          <a:xfrm>
            <a:off x="2828776" y="2381101"/>
            <a:ext cx="266842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 current conversation</a:t>
            </a:r>
            <a:endParaRPr lang="en-US" sz="1400" dirty="0"/>
          </a:p>
        </p:txBody>
      </p:sp>
      <p:sp>
        <p:nvSpPr>
          <p:cNvPr id="18" name="Text 14"/>
          <p:cNvSpPr/>
          <p:nvPr/>
        </p:nvSpPr>
        <p:spPr>
          <a:xfrm>
            <a:off x="5749677" y="2381101"/>
            <a:ext cx="2798064"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When you send it</a:t>
            </a:r>
            <a:endParaRPr lang="en-US" sz="1400" dirty="0"/>
          </a:p>
        </p:txBody>
      </p:sp>
      <p:sp>
        <p:nvSpPr>
          <p:cNvPr id="19" name="Shape 15"/>
          <p:cNvSpPr/>
          <p:nvPr/>
        </p:nvSpPr>
        <p:spPr>
          <a:xfrm>
            <a:off x="517475" y="3171379"/>
            <a:ext cx="8108900" cy="0"/>
          </a:xfrm>
          <a:prstGeom prst="line">
            <a:avLst/>
          </a:prstGeom>
          <a:noFill/>
          <a:ln w="9525">
            <a:solidFill>
              <a:srgbClr val="D1D9E0"/>
            </a:solidFill>
            <a:prstDash val="solid"/>
          </a:ln>
        </p:spPr>
      </p:sp>
      <p:sp>
        <p:nvSpPr>
          <p:cNvPr id="20" name="Text 16"/>
          <p:cNvSpPr/>
          <p:nvPr/>
        </p:nvSpPr>
        <p:spPr>
          <a:xfrm>
            <a:off x="669875" y="2835771"/>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Instructions</a:t>
            </a:r>
            <a:endParaRPr lang="en-US" sz="1400" dirty="0"/>
          </a:p>
        </p:txBody>
      </p:sp>
      <p:sp>
        <p:nvSpPr>
          <p:cNvPr id="21" name="Text 17"/>
          <p:cNvSpPr/>
          <p:nvPr/>
        </p:nvSpPr>
        <p:spPr>
          <a:xfrm>
            <a:off x="2828776" y="2826246"/>
            <a:ext cx="266842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copilot-instructions.md</a:t>
            </a:r>
            <a:endParaRPr lang="en-US" sz="1400" dirty="0"/>
          </a:p>
        </p:txBody>
      </p:sp>
      <p:sp>
        <p:nvSpPr>
          <p:cNvPr id="22" name="Text 18"/>
          <p:cNvSpPr/>
          <p:nvPr/>
        </p:nvSpPr>
        <p:spPr>
          <a:xfrm>
            <a:off x="5749677" y="2835771"/>
            <a:ext cx="2798064"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Every task in the project</a:t>
            </a:r>
            <a:endParaRPr lang="en-US" sz="1400" dirty="0"/>
          </a:p>
        </p:txBody>
      </p:sp>
      <p:sp>
        <p:nvSpPr>
          <p:cNvPr id="23" name="Shape 19"/>
          <p:cNvSpPr/>
          <p:nvPr/>
        </p:nvSpPr>
        <p:spPr>
          <a:xfrm>
            <a:off x="517475" y="3823543"/>
            <a:ext cx="8108900" cy="0"/>
          </a:xfrm>
          <a:prstGeom prst="line">
            <a:avLst/>
          </a:prstGeom>
          <a:noFill/>
          <a:ln w="9525">
            <a:solidFill>
              <a:srgbClr val="D1D9E0"/>
            </a:solidFill>
            <a:prstDash val="solid"/>
          </a:ln>
        </p:spPr>
      </p:sp>
      <p:sp>
        <p:nvSpPr>
          <p:cNvPr id="24" name="Text 20"/>
          <p:cNvSpPr/>
          <p:nvPr/>
        </p:nvSpPr>
        <p:spPr>
          <a:xfrm>
            <a:off x="669875" y="3393877"/>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Skill</a:t>
            </a:r>
            <a:endParaRPr lang="en-US" sz="1400" dirty="0"/>
          </a:p>
        </p:txBody>
      </p:sp>
      <p:sp>
        <p:nvSpPr>
          <p:cNvPr id="25" name="Text 21"/>
          <p:cNvSpPr/>
          <p:nvPr/>
        </p:nvSpPr>
        <p:spPr>
          <a:xfrm>
            <a:off x="2828776" y="3384352"/>
            <a:ext cx="266842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skills/&lt;name&gt;/SKILL.md</a:t>
            </a:r>
            <a:endParaRPr lang="en-US" sz="1400" dirty="0"/>
          </a:p>
        </p:txBody>
      </p:sp>
      <p:sp>
        <p:nvSpPr>
          <p:cNvPr id="26" name="Text 22"/>
          <p:cNvSpPr/>
          <p:nvPr/>
        </p:nvSpPr>
        <p:spPr>
          <a:xfrm>
            <a:off x="5749677" y="3290441"/>
            <a:ext cx="2798064"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When the task matches, or you invoke it</a:t>
            </a:r>
            <a:endParaRPr lang="en-US" sz="1400" dirty="0"/>
          </a:p>
        </p:txBody>
      </p:sp>
      <p:sp>
        <p:nvSpPr>
          <p:cNvPr id="27" name="Text 23"/>
          <p:cNvSpPr/>
          <p:nvPr/>
        </p:nvSpPr>
        <p:spPr>
          <a:xfrm>
            <a:off x="669875" y="3952131"/>
            <a:ext cx="1891183" cy="207020"/>
          </a:xfrm>
          <a:prstGeom prst="rect">
            <a:avLst/>
          </a:prstGeom>
          <a:noFill/>
          <a:ln/>
        </p:spPr>
        <p:txBody>
          <a:bodyPr wrap="square" lIns="0" tIns="0" rIns="0" bIns="0" rtlCol="0" anchor="t"/>
          <a:lstStyle/>
          <a:p>
            <a:pPr algn="l" indent="0" marL="0">
              <a:lnSpc>
                <a:spcPts val="1630"/>
              </a:lnSpc>
              <a:buNone/>
            </a:pPr>
            <a:r>
              <a:rPr lang="en-US" sz="1400" b="1" dirty="0">
                <a:solidFill>
                  <a:srgbClr val="1F2328"/>
                </a:solidFill>
                <a:latin typeface="Arial" pitchFamily="34" charset="0"/>
                <a:ea typeface="Arial" pitchFamily="34" charset="-122"/>
                <a:cs typeface="Arial" pitchFamily="34" charset="-120"/>
              </a:rPr>
              <a:t>Custom agent</a:t>
            </a:r>
            <a:endParaRPr lang="en-US" sz="1400" dirty="0"/>
          </a:p>
        </p:txBody>
      </p:sp>
      <p:sp>
        <p:nvSpPr>
          <p:cNvPr id="28" name="Text 24"/>
          <p:cNvSpPr/>
          <p:nvPr/>
        </p:nvSpPr>
        <p:spPr>
          <a:xfrm>
            <a:off x="2828776" y="3942606"/>
            <a:ext cx="2668423" cy="226070"/>
          </a:xfrm>
          <a:prstGeom prst="rect">
            <a:avLst/>
          </a:prstGeom>
          <a:noFill/>
          <a:ln/>
        </p:spPr>
        <p:txBody>
          <a:bodyPr wrap="square" lIns="0" tIns="0" rIns="0" bIns="0" rtlCol="0" anchor="t"/>
          <a:lstStyle/>
          <a:p>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agents/&lt;name&gt;.agent.md</a:t>
            </a:r>
            <a:endParaRPr lang="en-US" sz="1400" dirty="0"/>
          </a:p>
        </p:txBody>
      </p:sp>
      <p:sp>
        <p:nvSpPr>
          <p:cNvPr id="29" name="Text 25"/>
          <p:cNvSpPr/>
          <p:nvPr/>
        </p:nvSpPr>
        <p:spPr>
          <a:xfrm>
            <a:off x="5749677" y="3942606"/>
            <a:ext cx="2798064"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When you select it with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/agent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8"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2</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Skills save your checklist</a:t>
            </a:r>
            <a:endParaRPr lang="en-US" sz="4000" dirty="0"/>
          </a:p>
        </p:txBody>
      </p:sp>
      <p:sp>
        <p:nvSpPr>
          <p:cNvPr id="11" name="Text 7"/>
          <p:cNvSpPr/>
          <p:nvPr/>
        </p:nvSpPr>
        <p:spPr>
          <a:xfrm>
            <a:off x="711101" y="296227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Store a review checklist once, then apply it every time the task comes up.</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 song chart for the session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The players know their instruments. The chart keeps this song consistent.</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ong chart analogy for skills in the Copilot app"/>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98626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2068860"/>
            <a:ext cx="215801" cy="215801"/>
          </a:xfrm>
          <a:prstGeom prst="rect">
            <a:avLst/>
          </a:prstGeom>
        </p:spPr>
      </p:pic>
      <p:sp>
        <p:nvSpPr>
          <p:cNvPr id="13" name="Text 7"/>
          <p:cNvSpPr/>
          <p:nvPr/>
        </p:nvSpPr>
        <p:spPr>
          <a:xfrm>
            <a:off x="5537150" y="1950839"/>
            <a:ext cx="2449672"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 skill is the chart</a:t>
            </a:r>
            <a:endParaRPr lang="en-US" sz="1550" dirty="0"/>
          </a:p>
        </p:txBody>
      </p:sp>
      <p:sp>
        <p:nvSpPr>
          <p:cNvPr id="14" name="Text 8"/>
          <p:cNvSpPr/>
          <p:nvPr/>
        </p:nvSpPr>
        <p:spPr>
          <a:xfrm>
            <a:off x="5537150" y="2204740"/>
            <a:ext cx="2449672"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Instructions for a repeated task.</a:t>
            </a:r>
            <a:endParaRPr lang="en-US" sz="1350" dirty="0"/>
          </a:p>
        </p:txBody>
      </p:sp>
      <p:sp>
        <p:nvSpPr>
          <p:cNvPr id="15" name="Text 9"/>
          <p:cNvSpPr/>
          <p:nvPr/>
        </p:nvSpPr>
        <p:spPr>
          <a:xfrm>
            <a:off x="5003750" y="292075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3003352"/>
            <a:ext cx="215801" cy="215801"/>
          </a:xfrm>
          <a:prstGeom prst="rect">
            <a:avLst/>
          </a:prstGeom>
        </p:spPr>
      </p:pic>
      <p:sp>
        <p:nvSpPr>
          <p:cNvPr id="17" name="Text 10"/>
          <p:cNvSpPr/>
          <p:nvPr/>
        </p:nvSpPr>
        <p:spPr>
          <a:xfrm>
            <a:off x="5537150" y="2885331"/>
            <a:ext cx="240944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An agent is the specialist</a:t>
            </a:r>
            <a:endParaRPr lang="en-US" sz="1550" dirty="0"/>
          </a:p>
        </p:txBody>
      </p:sp>
      <p:sp>
        <p:nvSpPr>
          <p:cNvPr id="18" name="Text 11"/>
          <p:cNvSpPr/>
          <p:nvPr/>
        </p:nvSpPr>
        <p:spPr>
          <a:xfrm>
            <a:off x="5537150" y="3139232"/>
            <a:ext cx="240944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 role with the right tools.</a:t>
            </a:r>
            <a:endParaRPr lang="en-US" sz="1350" dirty="0"/>
          </a:p>
        </p:txBody>
      </p:sp>
      <p:sp>
        <p:nvSpPr>
          <p:cNvPr id="19" name="Text 12"/>
          <p:cNvSpPr/>
          <p:nvPr/>
        </p:nvSpPr>
        <p:spPr>
          <a:xfrm>
            <a:off x="5003750" y="3855244"/>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937843"/>
            <a:ext cx="215801" cy="215801"/>
          </a:xfrm>
          <a:prstGeom prst="rect">
            <a:avLst/>
          </a:prstGeom>
        </p:spPr>
      </p:pic>
      <p:sp>
        <p:nvSpPr>
          <p:cNvPr id="21" name="Text 13"/>
          <p:cNvSpPr/>
          <p:nvPr/>
        </p:nvSpPr>
        <p:spPr>
          <a:xfrm>
            <a:off x="5537150" y="3819823"/>
            <a:ext cx="3111389"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You still listen back</a:t>
            </a:r>
            <a:endParaRPr lang="en-US" sz="1550" dirty="0"/>
          </a:p>
        </p:txBody>
      </p:sp>
      <p:sp>
        <p:nvSpPr>
          <p:cNvPr id="22" name="Text 14"/>
          <p:cNvSpPr/>
          <p:nvPr/>
        </p:nvSpPr>
        <p:spPr>
          <a:xfrm>
            <a:off x="5537150" y="4073723"/>
            <a:ext cx="3111389"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 chart does not guarantee a good take.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WHY A SKILL</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Use a skill for work you repeat</a:t>
            </a:r>
            <a:endParaRPr lang="en-US" sz="2800" dirty="0"/>
          </a:p>
        </p:txBody>
      </p:sp>
      <p:sp>
        <p:nvSpPr>
          <p:cNvPr id="8" name="Text 4"/>
          <p:cNvSpPr/>
          <p:nvPr/>
        </p:nvSpPr>
        <p:spPr>
          <a:xfrm>
            <a:off x="511076" y="142101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One-off prompt versus skill: a skill is a reusable checklist that lives in the repo and gives the same guidance each time"/>
          <p:cNvPicPr>
            <a:picLocks noChangeAspect="1"/>
          </p:cNvPicPr>
          <p:nvPr/>
        </p:nvPicPr>
        <p:blipFill>
          <a:blip r:embed="rId4"/>
          <a:stretch>
            <a:fillRect/>
          </a:stretch>
        </p:blipFill>
        <p:spPr>
          <a:xfrm>
            <a:off x="558701" y="1468636"/>
            <a:ext cx="4089350" cy="2726680"/>
          </a:xfrm>
          <a:prstGeom prst="rect">
            <a:avLst/>
          </a:prstGeom>
        </p:spPr>
      </p:pic>
      <p:sp>
        <p:nvSpPr>
          <p:cNvPr id="10" name="Text 5"/>
          <p:cNvSpPr/>
          <p:nvPr/>
        </p:nvSpPr>
        <p:spPr>
          <a:xfrm>
            <a:off x="5003750" y="1937891"/>
            <a:ext cx="381000" cy="381000"/>
          </a:xfrm>
          <a:prstGeom prst="roundRect">
            <a:avLst>
              <a:gd name="adj" fmla="val 23333"/>
            </a:avLst>
          </a:prstGeom>
          <a:solidFill>
            <a:srgbClr val="F6F8FA"/>
          </a:solidFill>
          <a:ln/>
        </p:spPr>
        <p:txBody>
          <a:bodyPr wrap="square" rtlCol="0" anchor="ctr"/>
          <a:lstStyle/>
          <a:p>
            <a:pPr indent="0" marL="0">
              <a:buNone/>
            </a:pPr>
            <a:endParaRPr lang="en-US" dirty="0"/>
          </a:p>
        </p:txBody>
      </p:sp>
      <p:pic>
        <p:nvPicPr>
          <p:cNvPr id="11"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2020491"/>
            <a:ext cx="215801" cy="215801"/>
          </a:xfrm>
          <a:prstGeom prst="rect">
            <a:avLst/>
          </a:prstGeom>
        </p:spPr>
      </p:pic>
      <p:sp>
        <p:nvSpPr>
          <p:cNvPr id="12" name="Text 6"/>
          <p:cNvSpPr/>
          <p:nvPr/>
        </p:nvSpPr>
        <p:spPr>
          <a:xfrm>
            <a:off x="5537150" y="1902470"/>
            <a:ext cx="2362233"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 one-off prompt</a:t>
            </a:r>
            <a:endParaRPr lang="en-US" sz="1550" dirty="0"/>
          </a:p>
        </p:txBody>
      </p:sp>
      <p:sp>
        <p:nvSpPr>
          <p:cNvPr id="13" name="Text 7"/>
          <p:cNvSpPr/>
          <p:nvPr/>
        </p:nvSpPr>
        <p:spPr>
          <a:xfrm>
            <a:off x="5537150" y="2156371"/>
            <a:ext cx="2362233"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Helps once, then you retype it.</a:t>
            </a:r>
            <a:endParaRPr lang="en-US" sz="1350" dirty="0"/>
          </a:p>
        </p:txBody>
      </p:sp>
      <p:sp>
        <p:nvSpPr>
          <p:cNvPr id="14" name="Text 8"/>
          <p:cNvSpPr/>
          <p:nvPr/>
        </p:nvSpPr>
        <p:spPr>
          <a:xfrm>
            <a:off x="5003750" y="2717602"/>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5"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2800201"/>
            <a:ext cx="215801" cy="215801"/>
          </a:xfrm>
          <a:prstGeom prst="rect">
            <a:avLst/>
          </a:prstGeom>
        </p:spPr>
      </p:pic>
      <p:sp>
        <p:nvSpPr>
          <p:cNvPr id="16" name="Text 9"/>
          <p:cNvSpPr/>
          <p:nvPr/>
        </p:nvSpPr>
        <p:spPr>
          <a:xfrm>
            <a:off x="5537150" y="2583061"/>
            <a:ext cx="3160725"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 skill</a:t>
            </a:r>
            <a:endParaRPr lang="en-US" sz="1550" dirty="0"/>
          </a:p>
        </p:txBody>
      </p:sp>
      <p:sp>
        <p:nvSpPr>
          <p:cNvPr id="17" name="Text 10"/>
          <p:cNvSpPr/>
          <p:nvPr/>
        </p:nvSpPr>
        <p:spPr>
          <a:xfrm>
            <a:off x="5537150" y="2836962"/>
            <a:ext cx="3160725"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Lives in the repo. Same guidance every time.</a:t>
            </a:r>
            <a:endParaRPr lang="en-US" sz="1350" dirty="0"/>
          </a:p>
        </p:txBody>
      </p:sp>
      <p:sp>
        <p:nvSpPr>
          <p:cNvPr id="18" name="Text 11"/>
          <p:cNvSpPr/>
          <p:nvPr/>
        </p:nvSpPr>
        <p:spPr>
          <a:xfrm>
            <a:off x="5003750" y="3497163"/>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9"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579763"/>
            <a:ext cx="215801" cy="215801"/>
          </a:xfrm>
          <a:prstGeom prst="rect">
            <a:avLst/>
          </a:prstGeom>
        </p:spPr>
      </p:pic>
      <p:sp>
        <p:nvSpPr>
          <p:cNvPr id="20" name="Text 12"/>
          <p:cNvSpPr/>
          <p:nvPr/>
        </p:nvSpPr>
        <p:spPr>
          <a:xfrm>
            <a:off x="5537150" y="3461742"/>
            <a:ext cx="2734913"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Shared through Git</a:t>
            </a:r>
            <a:endParaRPr lang="en-US" sz="1550" dirty="0"/>
          </a:p>
        </p:txBody>
      </p:sp>
      <p:sp>
        <p:nvSpPr>
          <p:cNvPr id="21" name="Text 13"/>
          <p:cNvSpPr/>
          <p:nvPr/>
        </p:nvSpPr>
        <p:spPr>
          <a:xfrm>
            <a:off x="5537150" y="3715643"/>
            <a:ext cx="2734913"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Your whole team gets the checklist.</a:t>
            </a:r>
            <a:endParaRPr lang="en-US" sz="1350" dirty="0"/>
          </a:p>
        </p:txBody>
      </p:sp>
    </p:spTree>
  </p:cSld>
  <p:clrMapOvr>
    <a:masterClrMapping/>
  </p:clrMapOvr>
</p:sld>
</file>

<file path=ppt/slides/slide7.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7">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04</ns1:t>
            </ns1:r>
            <ns1:endParaRPr lang="en-US" sz="1150" dirty="0"/>
          </ns1:p>
        </ns0:txBody>
      </ns0:sp>
      <ns0:pic>
        <ns0:nvPicPr>
          <ns0:cNvPr id="5" name="Image 1" descr="Open this chapter on GitHub">
            <ns1:hlinkClick ns3:id="rId3" tooltip="https://github.com/github/copilot-app-for-beginners/tree/main/04-skills-custom-agent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0969DA"/>
                </ns1:solidFill>
                <ns1:latin typeface="Arial" pitchFamily="34" charset="0"/>
                <ns1:ea typeface="Arial" pitchFamily="34" charset="-122"/>
                <ns1:cs typeface="Arial" pitchFamily="34" charset="-120"/>
              </ns1:rPr>
              <ns1:t>ANATOMY OF A SKILL</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 folder with a SKILL.md file</ns1:t>
            </ns1:r>
            <ns1:endParaRPr lang="en-US" sz="2800" dirty="0"/>
          </ns1:p>
        </ns0:txBody>
      </ns0:sp>
      <ns0:sp>
        <ns0:nvSpPr>
          <ns0:cNvPr id="8" name="Text 4"/>
          <ns0:cNvSpPr/>
          <ns0:nvPr/>
        </ns0:nvSpPr>
        <ns0:spPr>
          <ns1:xfrm>
            <ns1:off x="507950" y="1104751"/>
            <ns1:ext cx="8161020" cy="27310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The course includes </ns1:t>
            </ns1:r>
            <ns1:pPr algn="l" indent="0" marL="0">
              <ns1:lnSpc>
                <ns1:spcPts val="2000"/>
              </ns1:lnSpc>
              <ns1:spcBef>
                <ns1:spcPts val="500"/>
              </ns1:spcBef>
              <ns1:buNone/>
            </ns1:pPr>
            <ns1:r>
              <ns1:rPr lang="en-US" sz="1650" b="1" dirty="0">
                <ns1:solidFill>
                  <ns1:srgbClr val="0550AE"/>
                </ns1:solidFill>
                <ns1:latin typeface="Courier New" pitchFamily="34" charset="0"/>
                <ns1:ea typeface="Courier New" pitchFamily="34" charset="-122"/>
                <ns1:cs typeface="Courier New" pitchFamily="34" charset="-120"/>
              </ns1:rPr>
              <ns1:t>.github/skills/book-app-reviewer/</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ns1:t>
            </ns1:r>
            <ns1:endParaRPr lang="en-US" sz="1650" dirty="0"/>
          </ns1:p>
        </ns0:txBody>
      </ns0:sp>
      <ns0:sp>
        <ns0:nvSpPr>
          <ns0:cNvPr id="9" name="Text 5"/>
          <ns0:cNvSpPr/>
          <ns0:nvPr/>
        </ns0:nvSpPr>
        <ns0:spPr>
          <ns1:xfrm>
            <ns1:off x="507950" y="1574750"/>
            <ns1:ext cx="3810000" cy="2942183"/>
          </ns1:xfrm>
          <ns1:prstGeom prst="roundRect">
            <ns1:avLst>
              <ns1:gd name="adj" fmla="val 3453"/>
            </ns1:avLst>
          </ns1:prstGeom>
          <ns1:solidFill>
            <ns1:srgbClr val="F6F8FA"/>
          </ns1:solidFill>
          <ns1:ln w="9525">
            <ns1:solidFill>
              <ns1:srgbClr val="D1D9E0"/>
            </ns1:solidFill>
          </ns1:ln>
        </ns0:spPr>
        <ns0:txBody>
          <ns1:bodyPr wrap="square" rtlCol="0" anchor="ctr"/>
          <ns1:lstStyle/>
          <ns1:p>
            <ns1:pPr indent="0" marL="0">
              <ns1:buNone/>
            </ns1:pPr>
            <ns1:endParaRPr lang="en-US" dirty="0"/>
          </ns1:p>
        </ns0:txBody>
      </ns0:sp>
      <ns0:sp>
        <ns0:nvSpPr>
          <ns0:cNvPr id="10" name="Text 6"/>
          <ns0:cNvSpPr/>
          <ns0:nvPr/>
        </ns0:nvSpPr>
        <ns0:spPr>
          <ns1:xfrm>
            <ns1:off x="517475" y="1584275"/>
            <ns1:ext cx="3790950" cy="238125"/>
          </ns1:xfrm>
          <ns1:prstGeom prst="rect">
            <ns1:avLst/>
          </ns1:prstGeom>
          <ns1:solidFill>
            <ns1:srgbClr val="EFF2F5"/>
          </ns1:solidFill>
          <ns1:ln/>
        </ns0:spPr>
        <ns0:txBody>
          <ns1:bodyPr wrap="square" rtlCol="0" anchor="ctr"/>
          <ns1:lstStyle/>
          <ns1:p>
            <ns1:pPr indent="0" marL="0">
              <ns1:buNone/>
            </ns1:pPr>
            <ns1:endParaRPr lang="en-US" dirty="0"/>
          </ns1:p>
        </ns0:txBody>
      </ns0:sp>
      <ns0:sp>
        <ns0:nvSpPr>
          <ns0:cNvPr id="11" name="Shape 7"/>
          <ns0:cNvSpPr/>
          <ns0:nvPr/>
        </ns0:nvSpPr>
        <ns0:spPr>
          <ns1:xfrm>
            <ns1:off x="517475" y="1817638"/>
            <ns1:ext cx="3790950" cy="0"/>
          </ns1:xfrm>
          <ns1:prstGeom prst="line">
            <ns1:avLst/>
          </ns1:prstGeom>
          <ns1:noFill/>
          <ns1:ln w="9525">
            <ns1:solidFill>
              <ns1:srgbClr val="D1D9E0"/>
            </ns1:solidFill>
            <ns1:prstDash val="solid"/>
          </ns1:ln>
        </ns0:spPr>
      </ns0:sp>
      <ns0:sp>
        <ns0:nvSpPr>
          <ns0:cNvPr id="12" name="Text 8"/>
          <ns0:cNvSpPr/>
          <ns0:nvPr/>
        </ns0:nvSpPr>
        <ns0:spPr>
          <ns1:xfrm>
            <ns1:off x="631775" y="1654076"/>
            <ns1:ext cx="88850" cy="88850"/>
          </ns1:xfrm>
          <ns1:prstGeom prst="roundRect">
            <ns1:avLst>
              <ns1:gd name="adj" fmla="val 1029150"/>
            </ns1:avLst>
          </ns1:prstGeom>
          <ns1:solidFill>
            <ns1:srgbClr val="FF5F57"/>
          </ns1:solidFill>
          <ns1:ln/>
        </ns0:spPr>
        <ns0:txBody>
          <ns1:bodyPr wrap="square" rtlCol="0" anchor="ctr"/>
          <ns1:lstStyle/>
          <ns1:p>
            <ns1:pPr indent="0" marL="0">
              <ns1:buNone/>
            </ns1:pPr>
            <ns1:endParaRPr lang="en-US" dirty="0"/>
          </ns1:p>
        </ns0:txBody>
      </ns0:sp>
      <ns0:sp>
        <ns0:nvSpPr>
          <ns0:cNvPr id="13" name="Text 9"/>
          <ns0:cNvSpPr/>
          <ns0:nvPr/>
        </ns0:nvSpPr>
        <ns0:spPr>
          <ns1:xfrm>
            <ns1:off x="771376" y="1654076"/>
            <ns1:ext cx="88850" cy="88850"/>
          </ns1:xfrm>
          <ns1:prstGeom prst="roundRect">
            <ns1:avLst>
              <ns1:gd name="adj" fmla="val 1029150"/>
            </ns1:avLst>
          </ns1:prstGeom>
          <ns1:solidFill>
            <ns1:srgbClr val="FEBC2E"/>
          </ns1:solidFill>
          <ns1:ln/>
        </ns0:spPr>
        <ns0:txBody>
          <ns1:bodyPr wrap="square" rtlCol="0" anchor="ctr"/>
          <ns1:lstStyle/>
          <ns1:p>
            <ns1:pPr indent="0" marL="0">
              <ns1:buNone/>
            </ns1:pPr>
            <ns1:endParaRPr lang="en-US" dirty="0"/>
          </ns1:p>
        </ns0:txBody>
      </ns0:sp>
      <ns0:sp>
        <ns0:nvSpPr>
          <ns0:cNvPr id="14" name="Text 10"/>
          <ns0:cNvSpPr/>
          <ns0:nvPr/>
        </ns0:nvSpPr>
        <ns0:spPr>
          <ns1:xfrm>
            <ns1:off x="910977" y="1654076"/>
            <ns1:ext cx="88850" cy="88850"/>
          </ns1:xfrm>
          <ns1:prstGeom prst="roundRect">
            <ns1:avLst>
              <ns1:gd name="adj" fmla="val 1029150"/>
            </ns1:avLst>
          </ns1:prstGeom>
          <ns1:solidFill>
            <ns1:srgbClr val="28C840"/>
          </ns1:solidFill>
          <ns1:ln/>
        </ns0:spPr>
        <ns0:txBody>
          <ns1:bodyPr wrap="square" rtlCol="0" anchor="ctr"/>
          <ns1:lstStyle/>
          <ns1:p>
            <ns1:pPr indent="0" marL="0">
              <ns1:buNone/>
            </ns1:pPr>
            <ns1:endParaRPr lang="en-US" dirty="0"/>
          </ns1:p>
        </ns0:txBody>
      </ns0:sp>
      <ns0:sp>
        <ns0:nvSpPr>
          <ns0:cNvPr id="15" name="Text 11"/>
          <ns0:cNvSpPr/>
          <ns0:nvPr/>
        </ns0:nvSpPr>
        <ns0:spPr>
          <ns1:xfrm>
            <ns1:off x="1126778" y="1612850"/>
            <ns1:ext cx="715152" cy="171450"/>
          </ns1:xfrm>
          <ns1:prstGeom prst="rect">
            <ns1:avLst/>
          </ns1:prstGeom>
          <ns1:noFill/>
          <ns1:ln/>
        </ns0:spPr>
        <ns0:txBody>
          <ns1:bodyPr wrap="square" lIns="0" tIns="0" rIns="0" bIns="0" rtlCol="0" anchor="t"/>
          <ns1:lstStyle/>
          <ns1:p>
            <ns1:pPr algn="l" indent="0" marL="0">
              <ns1:buNone/>
            </ns1:pPr>
            <ns1:r>
              <ns1:rPr lang="en-US" sz="1150" dirty="0">
                <ns1:solidFill>
                  <ns1:srgbClr val="59636E"/>
                </ns1:solidFill>
                <ns1:latin typeface="Courier New" pitchFamily="34" charset="0"/>
                <ns1:ea typeface="Courier New" pitchFamily="34" charset="-122"/>
                <ns1:cs typeface="Courier New" pitchFamily="34" charset="-120"/>
              </ns1:rPr>
              <ns1:t>SKILL.md</ns1:t>
            </ns1:r>
            <ns1:endParaRPr lang="en-US" sz="1150" dirty="0"/>
          </ns1:p>
        </ns0:txBody>
      </ns0:sp>
      <ns0:sp>
        <ns0:nvSpPr>
          <ns0:cNvPr id="16" name="Text 12"/>
          <ns0:cNvSpPr/>
          <ns0:nvPr/>
        </ns0:nvSpPr>
        <ns0:spPr>
          <ns1:xfrm>
            <ns1:off x="669875" y="1949351"/>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ns1:t>
            </ns1:r>
            <ns1:endParaRPr lang="en-US" sz="1350" dirty="0"/>
          </ns1:p>
        </ns0:txBody>
      </ns0:sp>
      <ns0:sp>
        <ns0:nvSpPr>
          <ns0:cNvPr id="17" name="Text 13"/>
          <ns0:cNvSpPr/>
          <ns0:nvPr/>
        </ns0:nvSpPr>
        <ns0:spPr>
          <ns1:xfrm>
            <ns1:off x="669875" y="2170361"/>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name</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book-app-reviewer</ns1:t>
            </ns1:r>
            <ns1:endParaRPr lang="en-US" sz="1350" dirty="0"/>
          </ns1:p>
        </ns0:txBody>
      </ns0:sp>
      <ns0:sp>
        <ns0:nvSpPr>
          <ns0:cNvPr id="18" name="Text 14"/>
          <ns0:cNvSpPr/>
          <ns0:nvPr/>
        </ns0:nvSpPr>
        <ns0:spPr>
          <ns1:xfrm>
            <ns1:off x="669875" y="2391370"/>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description: Review changes in</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ns1:r>
            <ns1:endParaRPr lang="en-US" sz="1350" dirty="0"/>
          </ns1:p>
        </ns0:txBody>
      </ns0:sp>
      <ns0:sp>
        <ns0:nvSpPr>
          <ns0:cNvPr id="19" name="Text 15"/>
          <ns0:cNvSpPr/>
          <ns0:nvPr/>
        </ns0:nvSpPr>
        <ns0:spPr>
          <ns1:xfrm>
            <ns1:off x="669875" y="2612380"/>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samples/book-app-web for</ns1:t>
            </ns1:r>
            <ns1:endParaRPr lang="en-US" sz="1350" dirty="0"/>
          </ns1:p>
        </ns0:txBody>
      </ns0:sp>
      <ns0:sp>
        <ns0:nvSpPr>
          <ns0:cNvPr id="20" name="Text 16"/>
          <ns0:cNvSpPr/>
          <ns0:nvPr/>
        </ns0:nvSpPr>
        <ns0:spPr>
          <ns1:xfrm>
            <ns1:off x="669875" y="2833390"/>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accessibility, layout, tests,</ns1:t>
            </ns1:r>
            <ns1:endParaRPr lang="en-US" sz="1350" dirty="0"/>
          </ns1:p>
        </ns0:txBody>
      </ns0:sp>
      <ns0:sp>
        <ns0:nvSpPr>
          <ns0:cNvPr id="21" name="Text 17"/>
          <ns0:cNvSpPr/>
          <ns0:nvPr/>
        </ns0:nvSpPr>
        <ns0:spPr>
          <ns1:xfrm>
            <ns1:off x="669875" y="3054400"/>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and small changes.</ns1:t>
            </ns1:r>
            <ns1:endParaRPr lang="en-US" sz="1350" dirty="0"/>
          </ns1:p>
        </ns0:txBody>
      </ns0:sp>
      <ns0:sp>
        <ns0:nvSpPr>
          <ns0:cNvPr id="22" name="Text 18"/>
          <ns0:cNvSpPr/>
          <ns0:nvPr/>
        </ns0:nvSpPr>
        <ns0:spPr>
          <ns1:xfrm>
            <ns1:off x="669875" y="3275409"/>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ns1:t>
            </ns1:r>
            <ns1:endParaRPr lang="en-US" sz="1350" dirty="0"/>
          </ns1:p>
        </ns0:txBody>
      </ns0:sp>
      <ns0:sp>
        <ns0:nvSpPr>
          <ns0:cNvPr id="23" name="Text 19"/>
          <ns0:cNvSpPr/>
          <ns0:nvPr/>
        </ns0:nvSpPr>
        <ns0:spPr>
          <ns1:xfrm>
            <ns1:off x="669875" y="3496419"/>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 Review focus</ns1:t>
            </ns1:r>
            <ns1:endParaRPr lang="en-US" sz="1350" dirty="0"/>
          </ns1:p>
        </ns0:txBody>
      </ns0:sp>
      <ns0:sp>
        <ns0:nvSpPr>
          <ns0:cNvPr id="24" name="Text 20"/>
          <ns0:cNvSpPr/>
          <ns0:nvPr/>
        </ns0:nvSpPr>
        <ns0:spPr>
          <ns1:xfrm>
            <ns1:off x="669875" y="3717429"/>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Stack, tests, and build</ns1:t>
            </ns1:r>
            <ns1:endParaRPr lang="en-US" sz="1350" dirty="0"/>
          </ns1:p>
        </ns0:txBody>
      </ns0:sp>
      <ns0:sp>
        <ns0:nvSpPr>
          <ns0:cNvPr id="25" name="Text 21"/>
          <ns0:cNvSpPr/>
          <ns0:nvPr/>
        </ns0:nvSpPr>
        <ns0:spPr>
          <ns1:xfrm>
            <ns1:off x="669875" y="3938439"/>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Accessibility</ns1:t>
            </ns1:r>
            <ns1:endParaRPr lang="en-US" sz="1350" dirty="0"/>
          </ns1:p>
        </ns0:txBody>
      </ns0:sp>
      <ns0:sp>
        <ns0:nvSpPr>
          <ns0:cNvPr id="26" name="Text 22"/>
          <ns0:cNvSpPr/>
          <ns0:nvPr/>
        </ns0:nvSpPr>
        <ns0:spPr>
          <ns1:xfrm>
            <ns1:off x="669875" y="4159448"/>
            <ns1:ext cx="355587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Responsive layout</ns1:t>
            </ns1:r>
            <ns1:endParaRPr lang="en-US" sz="1350" dirty="0"/>
          </ns1:p>
        </ns0:txBody>
      </ns0:sp>
      <ns0:sp>
        <ns0:nvSpPr>
          <ns0:cNvPr id="27" name="Text 23"/>
          <ns0:cNvSpPr/>
          <ns0:nvPr/>
        </ns0:nvSpPr>
        <ns0:spPr>
          <ns1:xfrm>
            <ns1:off x="4571851" y="2066181"/>
            <ns1:ext cx="381000" cy="381000"/>
          </ns1:xfrm>
          <ns1:prstGeom prst="roundRect">
            <ns1:avLst>
              <ns1:gd name="adj" fmla="val 23333"/>
            </ns1:avLst>
          </ns1:prstGeom>
          <ns1:solidFill>
            <ns1:srgbClr val="FBEFFF"/>
          </ns1:solidFill>
          <ns1:ln/>
        </ns0:spPr>
        <ns0:txBody>
          <ns1:bodyPr wrap="square" rtlCol="0" anchor="ctr"/>
          <ns1:lstStyle/>
          <ns1:p>
            <ns1:pPr indent="0" marL="0">
              <ns1:buNone/>
            </ns1:pPr>
            <ns1:endParaRPr lang="en-US" dirty="0"/>
          </ns1:p>
        </ns0:txBody>
      </ns0:sp>
      <ns0:pic>
        <ns0:nvPicPr>
          <ns0:cNvPr id="28"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4654451" y="2148780"/>
            <ns1:ext cx="215801" cy="215801"/>
          </ns1:xfrm>
          <ns1:prstGeom prst="rect">
            <ns1:avLst/>
          </ns1:prstGeom>
        </ns0:spPr>
      </ns0:pic>
      <ns0:sp>
        <ns0:nvSpPr>
          <ns0:cNvPr id="29" name="Text 24"/>
          <ns0:cNvSpPr/>
          <ns0:nvPr/>
        </ns0:nvSpPr>
        <ns0:spPr>
          <ns1:xfrm>
            <ns1:off x="5105251" y="1926878"/>
            <ns1:ext cx="3601263"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Frontmatter</ns1:t>
            </ns1:r>
            <ns1:endParaRPr lang="en-US" sz="1550" dirty="0"/>
          </ns1:p>
        </ns0:txBody>
      </ns0:sp>
      <ns0:sp>
        <ns0:nvSpPr>
          <ns0:cNvPr id="30" name="Text 25"/>
          <ns0:cNvSpPr/>
          <ns0:nvPr/>
        </ns0:nvSpPr>
        <ns0:spPr>
          <ns1:xfrm>
            <ns1:off x="5105251" y="2180779"/>
            <ns1:ext cx="3601263" cy="405705"/>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The </ns1:t>
            </ns1:r>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description</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tells the app when to load it.</ns1:t>
            </ns1:r>
            <ns1:endParaRPr lang="en-US" sz="1350" dirty="0"/>
          </ns1:p>
        </ns0:txBody>
      </ns0:sp>
      <ns0:sp>
        <ns0:nvSpPr>
          <ns0:cNvPr id="31" name="Text 26"/>
          <ns0:cNvSpPr/>
          <ns0:nvPr/>
        </ns0:nvSpPr>
        <ns0:spPr>
          <ns1:xfrm>
            <ns1:off x="4571851" y="2825055"/>
            <ns1:ext cx="381000" cy="381000"/>
          </ns1:xfrm>
          <ns1:prstGeom prst="roundRect">
            <ns1:avLst>
              <ns1:gd name="adj" fmla="val 23333"/>
            </ns1:avLst>
          </ns1:prstGeom>
          <ns1:solidFill>
            <ns1:srgbClr val="FBEFFF"/>
          </ns1:solidFill>
          <ns1:ln/>
        </ns0:spPr>
        <ns0:txBody>
          <ns1:bodyPr wrap="square" rtlCol="0" anchor="ctr"/>
          <ns1:lstStyle/>
          <ns1:p>
            <ns1:pPr indent="0" marL="0">
              <ns1:buNone/>
            </ns1:pPr>
            <ns1:endParaRPr lang="en-US" dirty="0"/>
          </ns1:p>
        </ns0:txBody>
      </ns0:sp>
      <ns0:pic>
        <ns0:nvPicPr>
          <ns0:cNvPr id="32"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4654451" y="2907655"/>
            <ns1:ext cx="215801" cy="215801"/>
          </ns1:xfrm>
          <ns1:prstGeom prst="rect">
            <ns1:avLst/>
          </ns1:prstGeom>
        </ns0:spPr>
      </ns0:pic>
      <ns0:sp>
        <ns0:nvSpPr>
          <ns0:cNvPr id="33" name="Text 27"/>
          <ns0:cNvSpPr/>
          <ns0:nvPr/>
        </ns0:nvSpPr>
        <ns0:spPr>
          <ns1:xfrm>
            <ns1:off x="5105251" y="2789634"/>
            <ns1:ext cx="2430241"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Instructions</ns1:t>
            </ns1:r>
            <ns1:endParaRPr lang="en-US" sz="1550" dirty="0"/>
          </ns1:p>
        </ns0:txBody>
      </ns0:sp>
      <ns0:sp>
        <ns0:nvSpPr>
          <ns0:cNvPr id="34" name="Text 28"/>
          <ns0:cNvSpPr/>
          <ns0:nvPr/>
        </ns0:nvSpPr>
        <ns0:spPr>
          <ns1:xfrm>
            <ns1:off x="5105251" y="3043535"/>
            <ns1:ext cx="2430241"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The checklist the agent follows.</ns1:t>
            </ns1:r>
            <ns1:endParaRPr lang="en-US" sz="1350" dirty="0"/>
          </ns1:p>
        </ns0:txBody>
      </ns0:sp>
      <ns0:sp>
        <ns0:nvSpPr>
          <ns0:cNvPr id="35" name="Text 29"/>
          <ns0:cNvSpPr/>
          <ns0:nvPr/>
        </ns0:nvSpPr>
        <ns0:spPr>
          <ns1:xfrm>
            <ns1:off x="4571851" y="3444776"/>
            <ns1:ext cx="4064050" cy="720030"/>
          </ns1:xfrm>
          <ns1:prstGeom prst="roundRect">
            <ns1:avLst>
              <ns1:gd name="adj" fmla="val 14111"/>
            </ns1:avLst>
          </ns1:prstGeom>
          <ns1:solidFill>
            <ns1:srgbClr val="FFEBE9"/>
          </ns1:solidFill>
          <ns1:ln w="9525">
            <ns1:solidFill>
              <ns1:srgbClr val="FFCECB"/>
            </ns1:solidFill>
          </ns1:ln>
        </ns0:spPr>
        <ns0:txBody>
          <ns1:bodyPr wrap="square" rtlCol="0" anchor="ctr"/>
          <ns1:lstStyle/>
          <ns1:p>
            <ns1:pPr indent="0" marL="0">
              <ns1:buNone/>
            </ns1:pPr>
            <ns1:endParaRPr lang="en-US" dirty="0"/>
          </ns1:p>
        </ns0:txBody>
      </ns0:sp>
      <ns0:pic>
        <ns0:nvPicPr>
          <ns0:cNvPr id="36"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4759077" y="3703141"/>
            <ns1:ext cx="203150" cy="203150"/>
          </ns1:xfrm>
          <ns1:prstGeom prst="rect">
            <ns1:avLst/>
          </ns1:prstGeom>
        </ns0:spPr>
      </ns0:pic>
      <ns0:sp>
        <ns0:nvSpPr>
          <ns0:cNvPr id="37" name="Text 30"/>
          <ns0:cNvSpPr/>
          <ns0:nvPr/>
        </ns0:nvSpPr>
        <ns0:spPr>
          <ns1:xfrm>
            <ns1:off x="5089178" y="3581251"/>
            <ns1:ext cx="3426687" cy="447080"/>
          </ns1:xfrm>
          <ns1:prstGeom prst="rect">
            <ns1:avLst/>
          </ns1:prstGeom>
          <ns1:noFill/>
          <ns1:ln/>
        </ns0:spPr>
        <ns0:txBody>
          <ns1:bodyPr wrap="square" lIns="0" tIns="0" rIns="0" bIns="0" rtlCol="0" anchor="t"/>
          <ns1:lstStyle/>
          <ns1:p>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A skill </ns1:t>
            </ns1:r>
            <ns1:pPr algn="l" indent="0" marL="0">
              <ns1:lnSpc>
                <ns1:spcPts val="1760"/>
              </ns1:lnSpc>
              <ns1:buNone/>
            </ns1:pPr>
            <ns1:r>
              <ns1:rPr lang="en-US" sz="1450" b="1" dirty="0">
                <ns1:solidFill>
                  <ns1:srgbClr val="1F2328"/>
                </ns1:solidFill>
                <ns1:latin typeface="Arial" pitchFamily="34" charset="0"/>
                <ns1:ea typeface="Arial" pitchFamily="34" charset="-122"/>
                <ns1:cs typeface="Arial" pitchFamily="34" charset="-120"/>
              </ns1:rPr>
              <ns1:t>guides</ns1:t>
            </ns1:r>
            <ns1:pPr algn="l" indent="0" marL="0">
              <ns1:lnSpc>
                <ns1:spcPts val="1760"/>
              </ns1:lnSpc>
              <ns1:buNone/>
            </ns1:pPr>
            <ns1:r>
              <ns1:rPr lang="en-US" sz="1450" dirty="0">
                <ns1:solidFill>
                  <ns1:srgbClr val="1F2328"/>
                </ns1:solidFill>
                <ns1:latin typeface="Arial" pitchFamily="34" charset="0"/>
                <ns1:ea typeface="Arial" pitchFamily="34" charset="-122"/>
                <ns1:cs typeface="Arial" pitchFamily="34" charset="-120"/>
              </ns1:rPr>
              <ns1:t>. It does not stop editing. Read unfamiliar skills first.</ns1:t>
            </ns1:r>
            <ns1:endParaRPr lang="en-US" sz="1450" dirty="0"/>
          </ns1:p>
        </ns0:txBody>
      </ns0:sp>
    </ns0:spTree>
  </ns0:cSld>
  <ns0:clrMapOvr>
    <ns1:masterClrMapping/>
  </ns0:clrMapOvr>
</ns0: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04</ns1:t>
            </ns1:r>
            <ns1:endParaRPr lang="en-US" sz="1150" dirty="0"/>
          </ns1:p>
        </ns0:txBody>
      </ns0:sp>
      <ns0:pic>
        <ns0:nvPicPr>
          <ns0:cNvPr id="5" name="Image 1" descr="Open this chapter on GitHub">
            <ns1:hlinkClick ns3:id="rId3" tooltip="https://github.com/github/copilot-app-for-beginners/tree/main/04-skills-custom-agent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0969DA"/>
                </ns1:solidFill>
                <ns1:latin typeface="Arial" pitchFamily="34" charset="0"/>
                <ns1:ea typeface="Arial" pitchFamily="34" charset="-122"/>
                <ns1:cs typeface="Arial" pitchFamily="34" charset="-120"/>
              </ns1:rPr>
              <ns1:t>EXERCISE</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Update the skill, then use it</ns1:t>
            </ns1:r>
            <ns1:endParaRPr lang="en-US" sz="2800" dirty="0"/>
          </ns1:p>
        </ns0:txBody>
      </ns0:sp>
      <ns0:sp>
        <ns0:nvSpPr>
          <ns0:cNvPr id="8" name="Text 4"/>
          <ns0:cNvSpPr/>
          <ns0:nvPr/>
        </ns0:nvSpPr>
        <ns0:spPr>
          <ns1:xfrm>
            <ns1:off x="511076" y="1311771"/>
            <ns1:ext cx="8121551" cy="1516261"/>
          </ns1:xfrm>
          <ns1:prstGeom prst="roundRect">
            <ns1:avLst>
              <ns1:gd name="adj" fmla="val 5026"/>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9" name="Image 2" descr="Customize Installed tab with Skills filter and the book-app-reviewer result"/>
          <ns0:cNvPicPr>
            <ns1:picLocks noChangeAspect="1"/>
          </ns0:cNvPicPr>
          <ns0:nvPr/>
        </ns0:nvPicPr>
        <ns0:blipFill>
          <ns1:blip ns3:embed="rId4"/>
          <ns1:stretch>
            <ns1:fillRect/>
          </ns1:stretch>
        </ns0:blipFill>
        <ns0:spPr>
          <ns1:xfrm>
            <ns1:off x="558701" y="1359396"/>
            <ns1:ext cx="8026301" cy="1421011"/>
          </ns1:xfrm>
          <ns1:prstGeom prst="rect">
            <ns1:avLst/>
          </ns1:prstGeom>
        </ns0:spPr>
      </ns0:pic>
      <ns0:sp>
        <ns0:nvSpPr>
          <ns0:cNvPr id="10" name="Text 5"/>
          <ns0:cNvSpPr/>
          <ns0:nvPr/>
        </ns0:nvSpPr>
        <ns0:spPr>
          <ns1:xfrm>
            <ns1:off x="507950" y="3047851"/>
            <ns1:ext cx="8127950" cy="1469827"/>
          </ns1:xfrm>
          <ns1:prstGeom prst="roundRect">
            <ns1:avLst>
              <ns1:gd name="adj" fmla="val 8640"/>
            </ns1:avLst>
          </ns1:prstGeom>
          <ns1:solidFill>
            <ns1:srgbClr val="FFFFFF"/>
          </ns1:solidFill>
          <ns1:ln w="9525">
            <ns1:solidFill>
              <ns1:srgbClr val="E0C5FF"/>
            </ns1:solidFill>
          </ns1:ln>
        </ns0:spPr>
        <ns0:txBody>
          <ns1:bodyPr wrap="square" rtlCol="0" anchor="ctr"/>
          <ns1:lstStyle/>
          <ns1:p>
            <ns1:pPr indent="0" marL="0">
              <ns1:buNone/>
            </ns1:pPr>
            <ns1:endParaRPr lang="en-US" dirty="0"/>
          </ns1:p>
        </ns0:txBody>
      </ns0:sp>
      <ns0:sp>
        <ns0:nvSpPr>
          <ns0:cNvPr id="11" name="Shape 6"/>
          <ns0:cNvSpPr/>
          <ns0:nvPr/>
        </ns0:nvSpPr>
        <ns0:spPr>
          <ns1:xfrm>
            <ns1:off x="517475" y="3417689"/>
            <ns1:ext cx="8108900" cy="0"/>
          </ns1:xfrm>
          <ns1:prstGeom prst="line">
            <ns1:avLst/>
          </ns1:prstGeom>
          <ns1:noFill/>
          <ns1:ln w="9525">
            <ns1:solidFill>
              <ns1:srgbClr val="D1D9E0"/>
            </ns1:solidFill>
            <ns1:prstDash val="solid"/>
          </ns1:ln>
        </ns0:spPr>
      </ns0:sp>
      <ns0:sp>
        <ns0:nvSpPr>
          <ns0:cNvPr id="12" name="Text 7"/>
          <ns0:cNvSpPr/>
          <ns0:nvPr/>
        </ns0:nvSpPr>
        <ns0:spPr>
          <ns1:xfrm>
            <ns1:off x="695176" y="3095476"/>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3" name="Text 8"/>
          <ns0:cNvSpPr/>
          <ns0:nvPr/>
        </ns0:nvSpPr>
        <ns0:spPr>
          <ns1:xfrm>
            <ns1:off x="789841" y="3139827"/>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4" name="Text 9"/>
          <ns0:cNvSpPr/>
          <ns0:nvPr/>
        </ns0:nvSpPr>
        <ns0:spPr>
          <ns1:xfrm>
            <ns1:off x="1152227" y="3127772"/>
            <ns1:ext cx="233172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Find and check it</ns1:t>
            </ns1:r>
            <ns1:endParaRPr lang="en-US" sz="1500" dirty="0"/>
          </ns1:p>
        </ns0:txBody>
      </ns0:sp>
      <ns0:sp>
        <ns0:nvSpPr>
          <ns0:cNvPr id="15" name="Text 10"/>
          <ns0:cNvSpPr/>
          <ns0:nvPr/>
        </ns0:nvSpPr>
        <ns0:spPr>
          <ns1:xfrm>
            <ns1:off x="3615928" y="3131641"/>
            <ns1:ext cx="4929402"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Customize &gt; Installed &gt; Skills.</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ns1:r>
            <ns1:endParaRPr lang="en-US" sz="1400" dirty="0"/>
          </ns1:p>
        </ns0:txBody>
      </ns0:sp>
      <ns0:sp>
        <ns0:nvSpPr>
          <ns0:cNvPr id="16" name="Shape 11"/>
          <ns0:cNvSpPr/>
          <ns0:nvPr/>
        </ns0:nvSpPr>
        <ns0:spPr>
          <ns1:xfrm>
            <ns1:off x="517475" y="3782764"/>
            <ns1:ext cx="8108900" cy="0"/>
          </ns1:xfrm>
          <ns1:prstGeom prst="line">
            <ns1:avLst/>
          </ns1:prstGeom>
          <ns1:noFill/>
          <ns1:ln w="9525">
            <ns1:solidFill>
              <ns1:srgbClr val="D1D9E0"/>
            </ns1:solidFill>
            <ns1:prstDash val="solid"/>
          </ns1:ln>
        </ns0:spPr>
      </ns0:sp>
      <ns0:sp>
        <ns0:nvSpPr>
          <ns0:cNvPr id="17" name="Text 12"/>
          <ns0:cNvSpPr/>
          <ns0:nvPr/>
        </ns0:nvSpPr>
        <ns0:spPr>
          <ns1:xfrm>
            <ns1:off x="695176" y="3460552"/>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8" name="Text 13"/>
          <ns0:cNvSpPr/>
          <ns0:nvPr/>
        </ns0:nvSpPr>
        <ns0:spPr>
          <ns1:xfrm>
            <ns1:off x="789841" y="3504902"/>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9" name="Text 14"/>
          <ns0:cNvSpPr/>
          <ns0:nvPr/>
        </ns0:nvSpPr>
        <ns0:spPr>
          <ns1:xfrm>
            <ns1:off x="1152227" y="3492847"/>
            <ns1:ext cx="233172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Append two rules</ns1:t>
            </ns1:r>
            <ns1:endParaRPr lang="en-US" sz="1500" dirty="0"/>
          </ns1:p>
        </ns0:txBody>
      </ns0:sp>
      <ns0:sp>
        <ns0:nvSpPr>
          <ns0:cNvPr id="20" name="Text 15"/>
          <ns0:cNvSpPr/>
          <ns0:nvPr/>
        </ns0:nvSpPr>
        <ns0:spPr>
          <ns1:xfrm>
            <ns1:off x="3615928" y="3496717"/>
            <ns1:ext cx="4929402"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Heading structure and text alternatives.</ns1:t>
            </ns1:r>
            <ns1:endParaRPr lang="en-US" sz="1400" dirty="0"/>
          </ns1:p>
        </ns0:txBody>
      </ns0:sp>
      <ns0:sp>
        <ns0:nvSpPr>
          <ns0:cNvPr id="21" name="Shape 16"/>
          <ns0:cNvSpPr/>
          <ns0:nvPr/>
        </ns0:nvSpPr>
        <ns0:spPr>
          <ns1:xfrm>
            <ns1:off x="517475" y="4147840"/>
            <ns1:ext cx="8108900" cy="0"/>
          </ns1:xfrm>
          <ns1:prstGeom prst="line">
            <ns1:avLst/>
          </ns1:prstGeom>
          <ns1:noFill/>
          <ns1:ln w="9525">
            <ns1:solidFill>
              <ns1:srgbClr val="D1D9E0"/>
            </ns1:solidFill>
            <ns1:prstDash val="solid"/>
          </ns1:ln>
        </ns0:spPr>
      </ns0:sp>
      <ns0:sp>
        <ns0:nvSpPr>
          <ns0:cNvPr id="22" name="Text 17"/>
          <ns0:cNvSpPr/>
          <ns0:nvPr/>
        </ns0:nvSpPr>
        <ns0:spPr>
          <ns1:xfrm>
            <ns1:off x="695176" y="3825627"/>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3" name="Text 18"/>
          <ns0:cNvSpPr/>
          <ns0:nvPr/>
        </ns0:nvSpPr>
        <ns0:spPr>
          <ns1:xfrm>
            <ns1:off x="789841" y="3869978"/>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24" name="Text 19"/>
          <ns0:cNvSpPr/>
          <ns0:nvPr/>
        </ns0:nvSpPr>
        <ns0:spPr>
          <ns1:xfrm>
            <ns1:off x="1152227" y="3857923"/>
            <ns1:ext cx="233172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Reload</ns1:t>
            </ns1:r>
            <ns1:endParaRPr lang="en-US" sz="1500" dirty="0"/>
          </ns1:p>
        </ns0:txBody>
      </ns0:sp>
      <ns0:sp>
        <ns0:nvSpPr>
          <ns0:cNvPr id="25" name="Text 20"/>
          <ns0:cNvSpPr/>
          <ns0:nvPr/>
        </ns0:nvSpPr>
        <ns0:spPr>
          <ns1:xfrm>
            <ns1:off x="3615928" y="3852267"/>
            <ns1:ext cx="4929402" cy="22607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Check </ns1:t>
            </ns1:r>
            <ns1:pPr algn="l" indent="0" marL="0">
              <ns1:lnSpc>
                <ns1:spcPts val="1630"/>
              </ns1:lnSpc>
              <ns1:buNone/>
            </ns1:pPr>
            <ns1:r>
              <ns1:rPr lang="en-US" sz="1400" b="1" dirty="0">
                <ns1:solidFill>
                  <ns1:srgbClr val="59636E"/>
                </ns1:solidFill>
                <ns1:latin typeface="Arial" pitchFamily="34" charset="0"/>
                <ns1:ea typeface="Arial" pitchFamily="34" charset="-122"/>
                <ns1:cs typeface="Arial" pitchFamily="34" charset="-120"/>
              </ns1:rPr>
              <ns1:t>Changes</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 then </ns1:t>
            </ns1:r>
            <ns1:pPr algn="l" indent="0" marL="0">
              <ns1:lnSpc>
                <ns1:spcPts val="1630"/>
              </ns1:lnSpc>
              <ns1:buNone/>
            </ns1:pPr>
            <ns1:r>
              <ns1:rPr lang="en-US" sz="1400" b="1" dirty="0">
                <ns1:solidFill>
                  <ns1:srgbClr val="0550AE"/>
                </ns1:solidFill>
                <ns1:latin typeface="Courier New" pitchFamily="34" charset="0"/>
                <ns1:ea typeface="Courier New" pitchFamily="34" charset="-122"/>
                <ns1:cs typeface="Courier New" pitchFamily="34" charset="-120"/>
              </ns1:rPr>
              <ns1:t>/skills reload</ns1:t>
            </ns1:r>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ns1:t>
            </ns1:r>
            <ns1:endParaRPr lang="en-US" sz="1400" dirty="0"/>
          </ns1:p>
        </ns0:txBody>
      </ns0:sp>
      <ns0:sp>
        <ns0:nvSpPr>
          <ns0:cNvPr id="26" name="Text 21"/>
          <ns0:cNvSpPr/>
          <ns0:nvPr/>
        </ns0:nvSpPr>
        <ns0:spPr>
          <ns1:xfrm>
            <ns1:off x="695176" y="4190702"/>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27" name="Text 22"/>
          <ns0:cNvSpPr/>
          <ns0:nvPr/>
        </ns0:nvSpPr>
        <ns0:spPr>
          <ns1:xfrm>
            <ns1:off x="789841" y="4235053"/>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4</ns1:t>
            </ns1:r>
            <ns1:endParaRPr lang="en-US" sz="1250" dirty="0"/>
          </ns1:p>
        </ns0:txBody>
      </ns0:sp>
      <ns0:sp>
        <ns0:nvSpPr>
          <ns0:cNvPr id="28" name="Text 23"/>
          <ns0:cNvSpPr/>
          <ns0:nvPr/>
        </ns0:nvSpPr>
        <ns0:spPr>
          <ns1:xfrm>
            <ns1:off x="1152227" y="4222998"/>
            <ns1:ext cx="2331720" cy="214610"/>
          </ns1:xfrm>
          <ns1:prstGeom prst="rect">
            <ns1:avLst/>
          </ns1:prstGeom>
          <ns1:noFill/>
          <ns1:ln/>
        </ns0:spPr>
        <ns0:txBody>
          <ns1:bodyPr wrap="square" lIns="0" tIns="0" rIns="0" bIns="0" rtlCol="0" anchor="t"/>
          <ns1:lstStyle/>
          <ns1:p>
            <ns1:pPr algn="l" indent="0" marL="0">
              <ns1:lnSpc>
                <ns1:spcPts val="1690"/>
              </ns1:lnSpc>
              <ns1:buNone/>
            </ns1:pPr>
            <ns1:r>
              <ns1:rPr lang="en-US" sz="1500" b="1" dirty="0">
                <ns1:solidFill>
                  <ns1:srgbClr val="1F2328"/>
                </ns1:solidFill>
                <ns1:latin typeface="Arial" pitchFamily="34" charset="0"/>
                <ns1:ea typeface="Arial" pitchFamily="34" charset="-122"/>
                <ns1:cs typeface="Arial" pitchFamily="34" charset="-120"/>
              </ns1:rPr>
              <ns1:t>Review in Plan mode</ns1:t>
            </ns1:r>
            <ns1:endParaRPr lang="en-US" sz="1500" dirty="0"/>
          </ns1:p>
        </ns0:txBody>
      </ns0:sp>
      <ns0:sp>
        <ns0:nvSpPr>
          <ns0:cNvPr id="29" name="Text 24"/>
          <ns0:cNvSpPr/>
          <ns0:nvPr/>
        </ns0:nvSpPr>
        <ns0:spPr>
          <ns1:xfrm>
            <ns1:off x="3615928" y="4226868"/>
            <ns1:ext cx="4929402" cy="207020"/>
          </ns1:xfrm>
          <ns1:prstGeom prst="rect">
            <ns1:avLst/>
          </ns1:prstGeom>
          <ns1:noFill/>
          <ns1:ln/>
        </ns0:spPr>
        <ns0:txBody>
          <ns1:bodyPr wrap="square" lIns="0" tIns="0" rIns="0" bIns="0" rtlCol="0" anchor="t"/>
          <ns1:lstStyle/>
          <ns1:p>
            <ns1:pPr algn="l" indent="0" marL="0">
              <ns1:lnSpc>
                <ns1:spcPts val="1630"/>
              </ns1:lnSpc>
              <ns1:buNone/>
            </ns1:pPr>
            <ns1:r>
              <ns1:rPr lang="en-US" sz="1400" dirty="0">
                <ns1:solidFill>
                  <ns1:srgbClr val="59636E"/>
                </ns1:solidFill>
                <ns1:latin typeface="Arial" pitchFamily="34" charset="0"/>
                <ns1:ea typeface="Arial" pitchFamily="34" charset="-122"/>
                <ns1:cs typeface="Arial" pitchFamily="34" charset="-120"/>
              </ns1:rPr>
              <ns1:t>Confirm the skill loaded in the activity.</ns1:t>
            </ns1:r>
            <ns1:endParaRPr lang="en-US" sz="1400" dirty="0"/>
          </ns1:p>
        </ns0:txBody>
      </ns0:sp>
    </ns0:spTree>
  </ns0:cSld>
  <ns0:clrMapOvr>
    <ns1:masterClrMapping/>
  </ns0:clrMapOvr>
</ns0: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CHECK THE RESULT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a good review points to</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Your new heading rule should find a real issue in the code.</a:t>
            </a:r>
            <a:endParaRPr lang="en-US" sz="1650" dirty="0"/>
          </a:p>
        </p:txBody>
      </p:sp>
      <p:sp>
        <p:nvSpPr>
          <p:cNvPr id="9" name="Text 5"/>
          <p:cNvSpPr/>
          <p:nvPr/>
        </p:nvSpPr>
        <p:spPr>
          <a:xfrm>
            <a:off x="507950" y="1574750"/>
            <a:ext cx="4124176" cy="2997101"/>
          </a:xfrm>
          <a:prstGeom prst="roundRect">
            <a:avLst>
              <a:gd name="adj" fmla="val 4237"/>
            </a:avLst>
          </a:prstGeom>
          <a:solidFill>
            <a:srgbClr val="FFFFFF"/>
          </a:solidFill>
          <a:ln w="9525">
            <a:solidFill>
              <a:srgbClr val="E0C5FF"/>
            </a:solidFill>
          </a:ln>
        </p:spPr>
        <p:txBody>
          <a:bodyPr wrap="square" rtlCol="0" anchor="ctr"/>
          <a:lstStyle/>
          <a:p>
            <a:pPr indent="0" marL="0">
              <a:buNone/>
            </a:pPr>
            <a:endParaRPr lang="en-US" dirty="0"/>
          </a:p>
        </p:txBody>
      </p:sp>
      <p:sp>
        <p:nvSpPr>
          <p:cNvPr id="10" name="Text 6"/>
          <p:cNvSpPr/>
          <p:nvPr/>
        </p:nvSpPr>
        <p:spPr>
          <a:xfrm>
            <a:off x="695176" y="1761976"/>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1844576"/>
            <a:ext cx="215801" cy="215801"/>
          </a:xfrm>
          <a:prstGeom prst="rect">
            <a:avLst/>
          </a:prstGeom>
        </p:spPr>
      </p:pic>
      <p:sp>
        <p:nvSpPr>
          <p:cNvPr id="12" name="Text 7"/>
          <p:cNvSpPr/>
          <p:nvPr/>
        </p:nvSpPr>
        <p:spPr>
          <a:xfrm>
            <a:off x="1190476" y="1838176"/>
            <a:ext cx="2126328"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Heading levels today</a:t>
            </a:r>
            <a:endParaRPr lang="en-US" sz="1650" dirty="0"/>
          </a:p>
        </p:txBody>
      </p:sp>
      <p:sp>
        <p:nvSpPr>
          <p:cNvPr id="13" name="Text 8"/>
          <p:cNvSpPr/>
          <p:nvPr/>
        </p:nvSpPr>
        <p:spPr>
          <a:xfrm>
            <a:off x="695176" y="2295376"/>
            <a:ext cx="457200" cy="330101"/>
          </a:xfrm>
          <a:prstGeom prst="roundRect">
            <a:avLst>
              <a:gd name="adj" fmla="val 23084"/>
            </a:avLst>
          </a:prstGeom>
          <a:solidFill>
            <a:srgbClr val="8250DF"/>
          </a:solidFill>
          <a:ln/>
        </p:spPr>
        <p:txBody>
          <a:bodyPr wrap="square" rtlCol="0" anchor="ctr"/>
          <a:lstStyle/>
          <a:p>
            <a:pPr indent="0" marL="0">
              <a:buNone/>
            </a:pPr>
            <a:endParaRPr lang="en-US" dirty="0"/>
          </a:p>
        </p:txBody>
      </p:sp>
      <p:sp>
        <p:nvSpPr>
          <p:cNvPr id="14" name="Text 9"/>
          <p:cNvSpPr/>
          <p:nvPr/>
        </p:nvSpPr>
        <p:spPr>
          <a:xfrm>
            <a:off x="818729" y="2365177"/>
            <a:ext cx="209946" cy="190500"/>
          </a:xfrm>
          <a:prstGeom prst="rect">
            <a:avLst/>
          </a:prstGeom>
          <a:noFill/>
          <a:ln/>
        </p:spPr>
        <p:txBody>
          <a:bodyPr wrap="square" lIns="0" tIns="0" rIns="0" bIns="0" rtlCol="0" anchor="t"/>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h1</a:t>
            </a:r>
            <a:endParaRPr lang="en-US" sz="1350" dirty="0"/>
          </a:p>
        </p:txBody>
      </p:sp>
      <p:sp>
        <p:nvSpPr>
          <p:cNvPr id="15" name="Text 10"/>
          <p:cNvSpPr/>
          <p:nvPr/>
        </p:nvSpPr>
        <p:spPr>
          <a:xfrm>
            <a:off x="1279327" y="2355652"/>
            <a:ext cx="783160" cy="209550"/>
          </a:xfrm>
          <a:prstGeom prst="rect">
            <a:avLst/>
          </a:prstGeom>
          <a:noFill/>
          <a:ln/>
        </p:spPr>
        <p:txBody>
          <a:bodyPr wrap="square" lIns="0" tIns="0" rIns="0" bIns="0" rtlCol="0" anchor="t"/>
          <a:lstStyle/>
          <a:p>
            <a:pPr algn="l" indent="0" marL="0">
              <a:buNone/>
            </a:pPr>
            <a:r>
              <a:rPr lang="en-US" sz="1450" dirty="0">
                <a:solidFill>
                  <a:srgbClr val="1F2328"/>
                </a:solidFill>
                <a:latin typeface="Arial" pitchFamily="34" charset="0"/>
                <a:ea typeface="Arial" pitchFamily="34" charset="-122"/>
                <a:cs typeface="Arial" pitchFamily="34" charset="-120"/>
              </a:rPr>
              <a:t>Page title</a:t>
            </a:r>
            <a:endParaRPr lang="en-US" sz="1450" dirty="0"/>
          </a:p>
        </p:txBody>
      </p:sp>
      <p:sp>
        <p:nvSpPr>
          <p:cNvPr id="16" name="Text 11"/>
          <p:cNvSpPr/>
          <p:nvPr/>
        </p:nvSpPr>
        <p:spPr>
          <a:xfrm>
            <a:off x="923776" y="2752427"/>
            <a:ext cx="457200" cy="330101"/>
          </a:xfrm>
          <a:prstGeom prst="roundRect">
            <a:avLst>
              <a:gd name="adj" fmla="val 23084"/>
            </a:avLst>
          </a:prstGeom>
          <a:solidFill>
            <a:srgbClr val="8250DF"/>
          </a:solidFill>
          <a:ln/>
        </p:spPr>
        <p:txBody>
          <a:bodyPr wrap="square" rtlCol="0" anchor="ctr"/>
          <a:lstStyle/>
          <a:p>
            <a:pPr indent="0" marL="0">
              <a:buNone/>
            </a:pPr>
            <a:endParaRPr lang="en-US" dirty="0"/>
          </a:p>
        </p:txBody>
      </p:sp>
      <p:sp>
        <p:nvSpPr>
          <p:cNvPr id="17" name="Text 12"/>
          <p:cNvSpPr/>
          <p:nvPr/>
        </p:nvSpPr>
        <p:spPr>
          <a:xfrm>
            <a:off x="1047329" y="2822228"/>
            <a:ext cx="209946" cy="190500"/>
          </a:xfrm>
          <a:prstGeom prst="rect">
            <a:avLst/>
          </a:prstGeom>
          <a:noFill/>
          <a:ln/>
        </p:spPr>
        <p:txBody>
          <a:bodyPr wrap="square" lIns="0" tIns="0" rIns="0" bIns="0" rtlCol="0" anchor="t"/>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h2</a:t>
            </a:r>
            <a:endParaRPr lang="en-US" sz="1350" dirty="0"/>
          </a:p>
        </p:txBody>
      </p:sp>
      <p:sp>
        <p:nvSpPr>
          <p:cNvPr id="18" name="Text 13"/>
          <p:cNvSpPr/>
          <p:nvPr/>
        </p:nvSpPr>
        <p:spPr>
          <a:xfrm>
            <a:off x="1507927" y="2812703"/>
            <a:ext cx="1346811" cy="209550"/>
          </a:xfrm>
          <a:prstGeom prst="rect">
            <a:avLst/>
          </a:prstGeom>
          <a:noFill/>
          <a:ln/>
        </p:spPr>
        <p:txBody>
          <a:bodyPr wrap="square" lIns="0" tIns="0" rIns="0" bIns="0" rtlCol="0" anchor="t"/>
          <a:lstStyle/>
          <a:p>
            <a:pPr algn="l" indent="0" marL="0">
              <a:buNone/>
            </a:pPr>
            <a:r>
              <a:rPr lang="en-US" sz="1450" dirty="0">
                <a:solidFill>
                  <a:srgbClr val="1F2328"/>
                </a:solidFill>
                <a:latin typeface="Arial" pitchFamily="34" charset="0"/>
                <a:ea typeface="Arial" pitchFamily="34" charset="-122"/>
                <a:cs typeface="Arial" pitchFamily="34" charset="-120"/>
              </a:rPr>
              <a:t>Results heading</a:t>
            </a:r>
            <a:endParaRPr lang="en-US" sz="1450" dirty="0"/>
          </a:p>
        </p:txBody>
      </p:sp>
      <p:sp>
        <p:nvSpPr>
          <p:cNvPr id="19" name="Text 14"/>
          <p:cNvSpPr/>
          <p:nvPr/>
        </p:nvSpPr>
        <p:spPr>
          <a:xfrm>
            <a:off x="923776" y="3209479"/>
            <a:ext cx="457200" cy="330101"/>
          </a:xfrm>
          <a:prstGeom prst="roundRect">
            <a:avLst>
              <a:gd name="adj" fmla="val 23084"/>
            </a:avLst>
          </a:prstGeom>
          <a:solidFill>
            <a:srgbClr val="CF222E"/>
          </a:solidFill>
          <a:ln/>
        </p:spPr>
        <p:txBody>
          <a:bodyPr wrap="square" rtlCol="0" anchor="ctr"/>
          <a:lstStyle/>
          <a:p>
            <a:pPr indent="0" marL="0">
              <a:buNone/>
            </a:pPr>
            <a:endParaRPr lang="en-US" dirty="0"/>
          </a:p>
        </p:txBody>
      </p:sp>
      <p:sp>
        <p:nvSpPr>
          <p:cNvPr id="20" name="Text 15"/>
          <p:cNvSpPr/>
          <p:nvPr/>
        </p:nvSpPr>
        <p:spPr>
          <a:xfrm>
            <a:off x="1047329" y="3279279"/>
            <a:ext cx="209946" cy="190500"/>
          </a:xfrm>
          <a:prstGeom prst="rect">
            <a:avLst/>
          </a:prstGeom>
          <a:noFill/>
          <a:ln/>
        </p:spPr>
        <p:txBody>
          <a:bodyPr wrap="square" lIns="0" tIns="0" rIns="0" bIns="0" rtlCol="0" anchor="t"/>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h2</a:t>
            </a:r>
            <a:endParaRPr lang="en-US" sz="1350" dirty="0"/>
          </a:p>
        </p:txBody>
      </p:sp>
      <p:sp>
        <p:nvSpPr>
          <p:cNvPr id="21" name="Text 16"/>
          <p:cNvSpPr/>
          <p:nvPr/>
        </p:nvSpPr>
        <p:spPr>
          <a:xfrm>
            <a:off x="1507927" y="3269754"/>
            <a:ext cx="1941430" cy="209550"/>
          </a:xfrm>
          <a:prstGeom prst="rect">
            <a:avLst/>
          </a:prstGeom>
          <a:noFill/>
          <a:ln/>
        </p:spPr>
        <p:txBody>
          <a:bodyPr wrap="square" lIns="0" tIns="0" rIns="0" bIns="0" rtlCol="0" anchor="t"/>
          <a:lstStyle/>
          <a:p>
            <a:pPr algn="l" indent="0" marL="0">
              <a:buNone/>
            </a:pPr>
            <a:r>
              <a:rPr lang="en-US" sz="1450" dirty="0">
                <a:solidFill>
                  <a:srgbClr val="1F2328"/>
                </a:solidFill>
                <a:latin typeface="Arial" pitchFamily="34" charset="0"/>
                <a:ea typeface="Arial" pitchFamily="34" charset="-122"/>
                <a:cs typeface="Arial" pitchFamily="34" charset="-120"/>
              </a:rPr>
              <a:t>Book titles </a:t>
            </a:r>
            <a:pPr algn="l" indent="0" marL="0">
              <a:buNone/>
            </a:pPr>
            <a:r>
              <a:rPr lang="en-US" sz="1450" dirty="0">
                <a:solidFill>
                  <a:srgbClr val="59636E"/>
                </a:solidFill>
                <a:latin typeface="Arial" pitchFamily="34" charset="0"/>
                <a:ea typeface="Arial" pitchFamily="34" charset="-122"/>
                <a:cs typeface="Arial" pitchFamily="34" charset="-120"/>
              </a:rPr>
              <a:t>(same level)</a:t>
            </a:r>
            <a:endParaRPr lang="en-US" sz="1450" dirty="0"/>
          </a:p>
        </p:txBody>
      </p:sp>
      <p:sp>
        <p:nvSpPr>
          <p:cNvPr id="22" name="Text 17"/>
          <p:cNvSpPr/>
          <p:nvPr/>
        </p:nvSpPr>
        <p:spPr>
          <a:xfrm>
            <a:off x="923776" y="3666530"/>
            <a:ext cx="457200" cy="330101"/>
          </a:xfrm>
          <a:prstGeom prst="roundRect">
            <a:avLst>
              <a:gd name="adj" fmla="val 23084"/>
            </a:avLst>
          </a:prstGeom>
          <a:solidFill>
            <a:srgbClr val="1A7F37"/>
          </a:solidFill>
          <a:ln/>
        </p:spPr>
        <p:txBody>
          <a:bodyPr wrap="square" rtlCol="0" anchor="ctr"/>
          <a:lstStyle/>
          <a:p>
            <a:pPr indent="0" marL="0">
              <a:buNone/>
            </a:pPr>
            <a:endParaRPr lang="en-US" dirty="0"/>
          </a:p>
        </p:txBody>
      </p:sp>
      <p:sp>
        <p:nvSpPr>
          <p:cNvPr id="23" name="Text 18"/>
          <p:cNvSpPr/>
          <p:nvPr/>
        </p:nvSpPr>
        <p:spPr>
          <a:xfrm>
            <a:off x="1047329" y="3736330"/>
            <a:ext cx="209946" cy="190500"/>
          </a:xfrm>
          <a:prstGeom prst="rect">
            <a:avLst/>
          </a:prstGeom>
          <a:noFill/>
          <a:ln/>
        </p:spPr>
        <p:txBody>
          <a:bodyPr wrap="square" lIns="0" tIns="0" rIns="0" bIns="0" rtlCol="0" anchor="t"/>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h3</a:t>
            </a:r>
            <a:endParaRPr lang="en-US" sz="1350" dirty="0"/>
          </a:p>
        </p:txBody>
      </p:sp>
      <p:sp>
        <p:nvSpPr>
          <p:cNvPr id="24" name="Text 19"/>
          <p:cNvSpPr/>
          <p:nvPr/>
        </p:nvSpPr>
        <p:spPr>
          <a:xfrm>
            <a:off x="1507927" y="3726805"/>
            <a:ext cx="1701123" cy="209550"/>
          </a:xfrm>
          <a:prstGeom prst="rect">
            <a:avLst/>
          </a:prstGeom>
          <a:noFill/>
          <a:ln/>
        </p:spPr>
        <p:txBody>
          <a:bodyPr wrap="square" lIns="0" tIns="0" rIns="0" bIns="0" rtlCol="0" anchor="t"/>
          <a:lstStyle/>
          <a:p>
            <a:pPr algn="l" indent="0" marL="0">
              <a:buNone/>
            </a:pPr>
            <a:r>
              <a:rPr lang="en-US" sz="1450" dirty="0">
                <a:solidFill>
                  <a:srgbClr val="1F2328"/>
                </a:solidFill>
                <a:latin typeface="Arial" pitchFamily="34" charset="0"/>
                <a:ea typeface="Arial" pitchFamily="34" charset="-122"/>
                <a:cs typeface="Arial" pitchFamily="34" charset="-120"/>
              </a:rPr>
              <a:t>Book titles </a:t>
            </a:r>
            <a:pPr algn="l" indent="0" marL="0">
              <a:buNone/>
            </a:pPr>
            <a:r>
              <a:rPr lang="en-US" sz="1450" dirty="0">
                <a:solidFill>
                  <a:srgbClr val="59636E"/>
                </a:solidFill>
                <a:latin typeface="Arial" pitchFamily="34" charset="0"/>
                <a:ea typeface="Arial" pitchFamily="34" charset="-122"/>
                <a:cs typeface="Arial" pitchFamily="34" charset="-120"/>
              </a:rPr>
              <a:t>(likely fix)</a:t>
            </a:r>
            <a:endParaRPr lang="en-US" sz="1450" dirty="0"/>
          </a:p>
        </p:txBody>
      </p:sp>
      <p:sp>
        <p:nvSpPr>
          <p:cNvPr id="25" name="Text 20"/>
          <p:cNvSpPr/>
          <p:nvPr/>
        </p:nvSpPr>
        <p:spPr>
          <a:xfrm>
            <a:off x="4886027" y="1821805"/>
            <a:ext cx="3749873" cy="758130"/>
          </a:xfrm>
          <a:prstGeom prst="roundRect">
            <a:avLst>
              <a:gd name="adj" fmla="val 13401"/>
            </a:avLst>
          </a:prstGeom>
          <a:solidFill>
            <a:srgbClr val="FFF8C5"/>
          </a:solidFill>
          <a:ln w="9525">
            <a:solidFill>
              <a:srgbClr val="E7C85A"/>
            </a:solidFill>
          </a:ln>
        </p:spPr>
        <p:txBody>
          <a:bodyPr wrap="square" rtlCol="0" anchor="ctr"/>
          <a:lstStyle/>
          <a:p>
            <a:pPr indent="0" marL="0">
              <a:buNone/>
            </a:pPr>
            <a:endParaRPr lang="en-US" dirty="0"/>
          </a:p>
        </p:txBody>
      </p:sp>
      <p:pic>
        <p:nvPicPr>
          <p:cNvPr id="26"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73253" y="2099221"/>
            <a:ext cx="203150" cy="203150"/>
          </a:xfrm>
          <a:prstGeom prst="rect">
            <a:avLst/>
          </a:prstGeom>
        </p:spPr>
      </p:pic>
      <p:sp>
        <p:nvSpPr>
          <p:cNvPr id="27" name="Text 21"/>
          <p:cNvSpPr/>
          <p:nvPr/>
        </p:nvSpPr>
        <p:spPr>
          <a:xfrm>
            <a:off x="5403354" y="1958280"/>
            <a:ext cx="3106228" cy="48518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A move to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h3</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must also update the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.book-card h2</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CSS.</a:t>
            </a:r>
            <a:endParaRPr lang="en-US" sz="1450" dirty="0"/>
          </a:p>
        </p:txBody>
      </p:sp>
      <p:sp>
        <p:nvSpPr>
          <p:cNvPr id="28" name="Text 22"/>
          <p:cNvSpPr/>
          <p:nvPr/>
        </p:nvSpPr>
        <p:spPr>
          <a:xfrm>
            <a:off x="4886027" y="2732336"/>
            <a:ext cx="3749873" cy="720030"/>
          </a:xfrm>
          <a:prstGeom prst="roundRect">
            <a:avLst>
              <a:gd name="adj" fmla="val 14111"/>
            </a:avLst>
          </a:prstGeom>
          <a:solidFill>
            <a:srgbClr val="FFEBE9"/>
          </a:solidFill>
          <a:ln w="9525">
            <a:solidFill>
              <a:srgbClr val="FFCECB"/>
            </a:solidFill>
          </a:ln>
        </p:spPr>
        <p:txBody>
          <a:bodyPr wrap="square" rtlCol="0" anchor="ctr"/>
          <a:lstStyle/>
          <a:p>
            <a:pPr indent="0" marL="0">
              <a:buNone/>
            </a:pPr>
            <a:endParaRPr lang="en-US" dirty="0"/>
          </a:p>
        </p:txBody>
      </p:sp>
      <p:pic>
        <p:nvPicPr>
          <p:cNvPr id="29"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73253" y="2990701"/>
            <a:ext cx="203150" cy="203150"/>
          </a:xfrm>
          <a:prstGeom prst="rect">
            <a:avLst/>
          </a:prstGeom>
        </p:spPr>
      </p:pic>
      <p:sp>
        <p:nvSpPr>
          <p:cNvPr id="30" name="Text 23"/>
          <p:cNvSpPr/>
          <p:nvPr/>
        </p:nvSpPr>
        <p:spPr>
          <a:xfrm>
            <a:off x="5403354" y="2868811"/>
            <a:ext cx="3106228" cy="44708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The plan must not claim tests passed. It only read code.</a:t>
            </a:r>
            <a:endParaRPr lang="en-US" sz="1450" dirty="0"/>
          </a:p>
        </p:txBody>
      </p:sp>
      <p:sp>
        <p:nvSpPr>
          <p:cNvPr id="31" name="Text 24"/>
          <p:cNvSpPr/>
          <p:nvPr/>
        </p:nvSpPr>
        <p:spPr>
          <a:xfrm>
            <a:off x="4886027" y="3604766"/>
            <a:ext cx="3749873" cy="720030"/>
          </a:xfrm>
          <a:prstGeom prst="roundRect">
            <a:avLst>
              <a:gd name="adj" fmla="val 14111"/>
            </a:avLst>
          </a:prstGeom>
          <a:solidFill>
            <a:srgbClr val="DAFBE1"/>
          </a:solidFill>
          <a:ln w="9525">
            <a:solidFill>
              <a:srgbClr val="8CE7A5"/>
            </a:solidFill>
          </a:ln>
        </p:spPr>
        <p:txBody>
          <a:bodyPr wrap="square" rtlCol="0" anchor="ctr"/>
          <a:lstStyle/>
          <a:p>
            <a:pPr indent="0" marL="0">
              <a:buNone/>
            </a:pPr>
            <a:endParaRPr lang="en-US" dirty="0"/>
          </a:p>
        </p:txBody>
      </p:sp>
      <p:pic>
        <p:nvPicPr>
          <p:cNvPr id="32"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73253" y="3863132"/>
            <a:ext cx="203150" cy="203150"/>
          </a:xfrm>
          <a:prstGeom prst="rect">
            <a:avLst/>
          </a:prstGeom>
        </p:spPr>
      </p:pic>
      <p:sp>
        <p:nvSpPr>
          <p:cNvPr id="33" name="Text 25"/>
          <p:cNvSpPr/>
          <p:nvPr/>
        </p:nvSpPr>
        <p:spPr>
          <a:xfrm>
            <a:off x="5403354" y="3741241"/>
            <a:ext cx="3106228" cy="44708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Check the activity, not only the answer.</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8"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2</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Custom agents define a role</a:t>
            </a:r>
            <a:endParaRPr lang="en-US" sz="4000" dirty="0"/>
          </a:p>
        </p:txBody>
      </p:sp>
      <p:sp>
        <p:nvSpPr>
          <p:cNvPr id="11" name="Text 7"/>
          <p:cNvSpPr/>
          <p:nvPr/>
        </p:nvSpPr>
        <p:spPr>
          <a:xfrm>
            <a:off x="711101" y="296227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Give a specialist a clear role and only the tools that role needs.</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Hire the right specialist</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call a plumber for a leak, not an electrician.</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A plumber, electrician, and roofer illustrate specialist roles, compared with AI agents for code review, testing, security, and documentation"/>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986260"/>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2068860"/>
            <a:ext cx="215801" cy="215801"/>
          </a:xfrm>
          <a:prstGeom prst="rect">
            <a:avLst/>
          </a:prstGeom>
        </p:spPr>
      </p:pic>
      <p:sp>
        <p:nvSpPr>
          <p:cNvPr id="13" name="Text 7"/>
          <p:cNvSpPr/>
          <p:nvPr/>
        </p:nvSpPr>
        <p:spPr>
          <a:xfrm>
            <a:off x="5537150" y="1950839"/>
            <a:ext cx="2582198"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A defined role</a:t>
            </a:r>
            <a:endParaRPr lang="en-US" sz="1550" dirty="0"/>
          </a:p>
        </p:txBody>
      </p:sp>
      <p:sp>
        <p:nvSpPr>
          <p:cNvPr id="14" name="Text 8"/>
          <p:cNvSpPr/>
          <p:nvPr/>
        </p:nvSpPr>
        <p:spPr>
          <a:xfrm>
            <a:off x="5537150" y="2204740"/>
            <a:ext cx="258219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Review, testing, security, or docs.</a:t>
            </a:r>
            <a:endParaRPr lang="en-US" sz="1350" dirty="0"/>
          </a:p>
        </p:txBody>
      </p:sp>
      <p:sp>
        <p:nvSpPr>
          <p:cNvPr id="15" name="Text 9"/>
          <p:cNvSpPr/>
          <p:nvPr/>
        </p:nvSpPr>
        <p:spPr>
          <a:xfrm>
            <a:off x="5003750" y="292075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3003352"/>
            <a:ext cx="215801" cy="215801"/>
          </a:xfrm>
          <a:prstGeom prst="rect">
            <a:avLst/>
          </a:prstGeom>
        </p:spPr>
      </p:pic>
      <p:sp>
        <p:nvSpPr>
          <p:cNvPr id="17" name="Text 10"/>
          <p:cNvSpPr/>
          <p:nvPr/>
        </p:nvSpPr>
        <p:spPr>
          <a:xfrm>
            <a:off x="5537150" y="2885331"/>
            <a:ext cx="2128909"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The right tools</a:t>
            </a:r>
            <a:endParaRPr lang="en-US" sz="1550" dirty="0"/>
          </a:p>
        </p:txBody>
      </p:sp>
      <p:sp>
        <p:nvSpPr>
          <p:cNvPr id="18" name="Text 11"/>
          <p:cNvSpPr/>
          <p:nvPr/>
        </p:nvSpPr>
        <p:spPr>
          <a:xfrm>
            <a:off x="5537150" y="3139232"/>
            <a:ext cx="2128909"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Only what that job requires.</a:t>
            </a:r>
            <a:endParaRPr lang="en-US" sz="1350" dirty="0"/>
          </a:p>
        </p:txBody>
      </p:sp>
      <p:sp>
        <p:nvSpPr>
          <p:cNvPr id="19" name="Text 12"/>
          <p:cNvSpPr/>
          <p:nvPr/>
        </p:nvSpPr>
        <p:spPr>
          <a:xfrm>
            <a:off x="5003750" y="3855244"/>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937843"/>
            <a:ext cx="215801" cy="215801"/>
          </a:xfrm>
          <a:prstGeom prst="rect">
            <a:avLst/>
          </a:prstGeom>
        </p:spPr>
      </p:pic>
      <p:sp>
        <p:nvSpPr>
          <p:cNvPr id="21" name="Text 13"/>
          <p:cNvSpPr/>
          <p:nvPr/>
        </p:nvSpPr>
        <p:spPr>
          <a:xfrm>
            <a:off x="5537150" y="3819823"/>
            <a:ext cx="241081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Clear instructions</a:t>
            </a:r>
            <a:endParaRPr lang="en-US" sz="1550" dirty="0"/>
          </a:p>
        </p:txBody>
      </p:sp>
      <p:sp>
        <p:nvSpPr>
          <p:cNvPr id="22" name="Text 14"/>
          <p:cNvSpPr/>
          <p:nvPr/>
        </p:nvSpPr>
        <p:spPr>
          <a:xfrm>
            <a:off x="5537150" y="4073723"/>
            <a:ext cx="241081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Defined once, used every time.</a:t>
            </a:r>
            <a:endParaRPr lang="en-US" sz="1350" dirty="0"/>
          </a:p>
        </p:txBody>
      </p:sp>
    </p:spTree>
  </p:cSld>
  <p:clrMapOvr>
    <a:masterClrMapping/>
  </p:clrMapOvr>
</p:sld>
</file>

<file path=ppt/slides/slide12.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2">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04</ns1:t>
            </ns1:r>
            <ns1:endParaRPr lang="en-US" sz="1150" dirty="0"/>
          </ns1:p>
        </ns0:txBody>
      </ns0:sp>
      <ns0:pic>
        <ns0:nvPicPr>
          <ns0:cNvPr id="5" name="Image 1" descr="Open this chapter on GitHub">
            <ns1:hlinkClick ns3:id="rId3" tooltip="https://github.com/github/copilot-app-for-beginners/tree/main/04-skills-custom-agent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ANATOMY OF A CUSTOM AGENT</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A read-only Book App explainer</ns1:t>
            </ns1:r>
            <ns1:endParaRPr lang="en-US" sz="2800" dirty="0"/>
          </ns1:p>
        </ns0:txBody>
      </ns0:sp>
      <ns0:sp>
        <ns0:nvSpPr>
          <ns0:cNvPr id="8" name="Text 4"/>
          <ns0:cNvSpPr/>
          <ns0:nvPr/>
        </ns0:nvSpPr>
        <ns0:spPr>
          <ns1:xfrm>
            <ns1:off x="507950" y="1104751"/>
            <ns1:ext cx="8161020" cy="27310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Like a skill, plus a </ns1:t>
            </ns1:r>
            <ns1:pPr algn="l" indent="0" marL="0">
              <ns1:lnSpc>
                <ns1:spcPts val="2000"/>
              </ns1:lnSpc>
              <ns1:spcBef>
                <ns1:spcPts val="500"/>
              </ns1:spcBef>
              <ns1:buNone/>
            </ns1:pPr>
            <ns1:r>
              <ns1:rPr lang="en-US" sz="1650" b="1" dirty="0">
                <ns1:solidFill>
                  <ns1:srgbClr val="0550AE"/>
                </ns1:solidFill>
                <ns1:latin typeface="Courier New" pitchFamily="34" charset="0"/>
                <ns1:ea typeface="Courier New" pitchFamily="34" charset="-122"/>
                <ns1:cs typeface="Courier New" pitchFamily="34" charset="-120"/>
              </ns1:rPr>
              <ns1:t>tools</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list.</ns1:t>
            </ns1:r>
            <ns1:endParaRPr lang="en-US" sz="1650" dirty="0"/>
          </ns1:p>
        </ns0:txBody>
      </ns0:sp>
      <ns0:sp>
        <ns0:nvSpPr>
          <ns0:cNvPr id="9" name="Text 5"/>
          <ns0:cNvSpPr/>
          <ns0:nvPr/>
        </ns0:nvSpPr>
        <ns0:spPr>
          <ns1:xfrm>
            <ns1:off x="507950" y="1574750"/>
            <ns1:ext cx="4191000" cy="2721173"/>
          </ns1:xfrm>
          <ns1:prstGeom prst="roundRect">
            <ns1:avLst>
              <ns1:gd name="adj" fmla="val 3734"/>
            </ns1:avLst>
          </ns1:prstGeom>
          <ns1:solidFill>
            <ns1:srgbClr val="F6F8FA"/>
          </ns1:solidFill>
          <ns1:ln w="9525">
            <ns1:solidFill>
              <ns1:srgbClr val="D1D9E0"/>
            </ns1:solidFill>
          </ns1:ln>
        </ns0:spPr>
        <ns0:txBody>
          <ns1:bodyPr wrap="square" rtlCol="0" anchor="ctr"/>
          <ns1:lstStyle/>
          <ns1:p>
            <ns1:pPr indent="0" marL="0">
              <ns1:buNone/>
            </ns1:pPr>
            <ns1:endParaRPr lang="en-US" dirty="0"/>
          </ns1:p>
        </ns0:txBody>
      </ns0:sp>
      <ns0:sp>
        <ns0:nvSpPr>
          <ns0:cNvPr id="10" name="Text 6"/>
          <ns0:cNvSpPr/>
          <ns0:nvPr/>
        </ns0:nvSpPr>
        <ns0:spPr>
          <ns1:xfrm>
            <ns1:off x="517475" y="1584275"/>
            <ns1:ext cx="4171950" cy="238125"/>
          </ns1:xfrm>
          <ns1:prstGeom prst="rect">
            <ns1:avLst/>
          </ns1:prstGeom>
          <ns1:solidFill>
            <ns1:srgbClr val="EFF2F5"/>
          </ns1:solidFill>
          <ns1:ln/>
        </ns0:spPr>
        <ns0:txBody>
          <ns1:bodyPr wrap="square" rtlCol="0" anchor="ctr"/>
          <ns1:lstStyle/>
          <ns1:p>
            <ns1:pPr indent="0" marL="0">
              <ns1:buNone/>
            </ns1:pPr>
            <ns1:endParaRPr lang="en-US" dirty="0"/>
          </ns1:p>
        </ns0:txBody>
      </ns0:sp>
      <ns0:sp>
        <ns0:nvSpPr>
          <ns0:cNvPr id="11" name="Shape 7"/>
          <ns0:cNvSpPr/>
          <ns0:nvPr/>
        </ns0:nvSpPr>
        <ns0:spPr>
          <ns1:xfrm>
            <ns1:off x="517475" y="1817638"/>
            <ns1:ext cx="4171950" cy="0"/>
          </ns1:xfrm>
          <ns1:prstGeom prst="line">
            <ns1:avLst/>
          </ns1:prstGeom>
          <ns1:noFill/>
          <ns1:ln w="9525">
            <ns1:solidFill>
              <ns1:srgbClr val="D1D9E0"/>
            </ns1:solidFill>
            <ns1:prstDash val="solid"/>
          </ns1:ln>
        </ns0:spPr>
      </ns0:sp>
      <ns0:sp>
        <ns0:nvSpPr>
          <ns0:cNvPr id="12" name="Text 8"/>
          <ns0:cNvSpPr/>
          <ns0:nvPr/>
        </ns0:nvSpPr>
        <ns0:spPr>
          <ns1:xfrm>
            <ns1:off x="631775" y="1654076"/>
            <ns1:ext cx="88850" cy="88850"/>
          </ns1:xfrm>
          <ns1:prstGeom prst="roundRect">
            <ns1:avLst>
              <ns1:gd name="adj" fmla="val 1029150"/>
            </ns1:avLst>
          </ns1:prstGeom>
          <ns1:solidFill>
            <ns1:srgbClr val="FF5F57"/>
          </ns1:solidFill>
          <ns1:ln/>
        </ns0:spPr>
        <ns0:txBody>
          <ns1:bodyPr wrap="square" rtlCol="0" anchor="ctr"/>
          <ns1:lstStyle/>
          <ns1:p>
            <ns1:pPr indent="0" marL="0">
              <ns1:buNone/>
            </ns1:pPr>
            <ns1:endParaRPr lang="en-US" dirty="0"/>
          </ns1:p>
        </ns0:txBody>
      </ns0:sp>
      <ns0:sp>
        <ns0:nvSpPr>
          <ns0:cNvPr id="13" name="Text 9"/>
          <ns0:cNvSpPr/>
          <ns0:nvPr/>
        </ns0:nvSpPr>
        <ns0:spPr>
          <ns1:xfrm>
            <ns1:off x="771376" y="1654076"/>
            <ns1:ext cx="88850" cy="88850"/>
          </ns1:xfrm>
          <ns1:prstGeom prst="roundRect">
            <ns1:avLst>
              <ns1:gd name="adj" fmla="val 1029150"/>
            </ns1:avLst>
          </ns1:prstGeom>
          <ns1:solidFill>
            <ns1:srgbClr val="FEBC2E"/>
          </ns1:solidFill>
          <ns1:ln/>
        </ns0:spPr>
        <ns0:txBody>
          <ns1:bodyPr wrap="square" rtlCol="0" anchor="ctr"/>
          <ns1:lstStyle/>
          <ns1:p>
            <ns1:pPr indent="0" marL="0">
              <ns1:buNone/>
            </ns1:pPr>
            <ns1:endParaRPr lang="en-US" dirty="0"/>
          </ns1:p>
        </ns0:txBody>
      </ns0:sp>
      <ns0:sp>
        <ns0:nvSpPr>
          <ns0:cNvPr id="14" name="Text 10"/>
          <ns0:cNvSpPr/>
          <ns0:nvPr/>
        </ns0:nvSpPr>
        <ns0:spPr>
          <ns1:xfrm>
            <ns1:off x="910977" y="1654076"/>
            <ns1:ext cx="88850" cy="88850"/>
          </ns1:xfrm>
          <ns1:prstGeom prst="roundRect">
            <ns1:avLst>
              <ns1:gd name="adj" fmla="val 1029150"/>
            </ns1:avLst>
          </ns1:prstGeom>
          <ns1:solidFill>
            <ns1:srgbClr val="28C840"/>
          </ns1:solidFill>
          <ns1:ln/>
        </ns0:spPr>
        <ns0:txBody>
          <ns1:bodyPr wrap="square" rtlCol="0" anchor="ctr"/>
          <ns1:lstStyle/>
          <ns1:p>
            <ns1:pPr indent="0" marL="0">
              <ns1:buNone/>
            </ns1:pPr>
            <ns1:endParaRPr lang="en-US" dirty="0"/>
          </ns1:p>
        </ns0:txBody>
      </ns0:sp>
      <ns0:sp>
        <ns0:nvSpPr>
          <ns0:cNvPr id="15" name="Text 11"/>
          <ns0:cNvSpPr/>
          <ns0:nvPr/>
        </ns0:nvSpPr>
        <ns0:spPr>
          <ns1:xfrm>
            <ns1:off x="1126778" y="1612850"/>
            <ns1:ext cx="2413239" cy="171450"/>
          </ns1:xfrm>
          <ns1:prstGeom prst="rect">
            <ns1:avLst/>
          </ns1:prstGeom>
          <ns1:noFill/>
          <ns1:ln/>
        </ns0:spPr>
        <ns0:txBody>
          <ns1:bodyPr wrap="square" lIns="0" tIns="0" rIns="0" bIns="0" rtlCol="0" anchor="t"/>
          <ns1:lstStyle/>
          <ns1:p>
            <ns1:pPr algn="l" indent="0" marL="0">
              <ns1:buNone/>
            </ns1:pPr>
            <ns1:r>
              <ns1:rPr lang="en-US" sz="1150" dirty="0">
                <ns1:solidFill>
                  <ns1:srgbClr val="59636E"/>
                </ns1:solidFill>
                <ns1:latin typeface="Courier New" pitchFamily="34" charset="0"/>
                <ns1:ea typeface="Courier New" pitchFamily="34" charset="-122"/>
                <ns1:cs typeface="Courier New" pitchFamily="34" charset="-120"/>
              </ns1:rPr>
              <ns1:t>book-app-explainer.agent.md</ns1:t>
            </ns1:r>
            <ns1:endParaRPr lang="en-US" sz="1150" dirty="0"/>
          </ns1:p>
        </ns0:txBody>
      </ns0:sp>
      <ns0:sp>
        <ns0:nvSpPr>
          <ns0:cNvPr id="16" name="Text 12"/>
          <ns0:cNvSpPr/>
          <ns0:nvPr/>
        </ns0:nvSpPr>
        <ns0:spPr>
          <ns1:xfrm>
            <ns1:off x="669875" y="1949351"/>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ns1:t>
            </ns1:r>
            <ns1:endParaRPr lang="en-US" sz="1350" dirty="0"/>
          </ns1:p>
        </ns0:txBody>
      </ns0:sp>
      <ns0:sp>
        <ns0:nvSpPr>
          <ns0:cNvPr id="17" name="Text 13"/>
          <ns0:cNvSpPr/>
          <ns0:nvPr/>
        </ns0:nvSpPr>
        <ns0:spPr>
          <ns1:xfrm>
            <ns1:off x="669875" y="2170361"/>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name</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book-app-explainer</ns1:t>
            </ns1:r>
            <ns1:endParaRPr lang="en-US" sz="1350" dirty="0"/>
          </ns1:p>
        </ns0:txBody>
      </ns0:sp>
      <ns0:sp>
        <ns0:nvSpPr>
          <ns0:cNvPr id="18" name="Text 14"/>
          <ns0:cNvSpPr/>
          <ns0:nvPr/>
        </ns0:nvSpPr>
        <ns0:spPr>
          <ns1:xfrm>
            <ns1:off x="669875" y="2391370"/>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description: Explain the Book App</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ns1:r>
            <ns1:endParaRPr lang="en-US" sz="1350" dirty="0"/>
          </ns1:p>
        </ns0:txBody>
      </ns0:sp>
      <ns0:sp>
        <ns0:nvSpPr>
          <ns0:cNvPr id="19" name="Text 15"/>
          <ns0:cNvSpPr/>
          <ns0:nvPr/>
        </ns0:nvSpPr>
        <ns0:spPr>
          <ns1:xfrm>
            <ns1:off x="669875" y="2612380"/>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to a beginner without changing</ns1:t>
            </ns1:r>
            <ns1:endParaRPr lang="en-US" sz="1350" dirty="0"/>
          </ns1:p>
        </ns0:txBody>
      </ns0:sp>
      <ns0:sp>
        <ns0:nvSpPr>
          <ns0:cNvPr id="20" name="Text 16"/>
          <ns0:cNvSpPr/>
          <ns0:nvPr/>
        </ns0:nvSpPr>
        <ns0:spPr>
          <ns1:xfrm>
            <ns1:off x="669875" y="2833390"/>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xml:space="preserve">  files.</ns1:t>
            </ns1:r>
            <ns1:endParaRPr lang="en-US" sz="1350" dirty="0"/>
          </ns1:p>
        </ns0:txBody>
      </ns0:sp>
      <ns0:sp>
        <ns0:nvSpPr>
          <ns0:cNvPr id="21" name="Text 17"/>
          <ns0:cNvSpPr/>
          <ns0:nvPr/>
        </ns0:nvSpPr>
        <ns0:spPr>
          <ns1:xfrm>
            <ns1:off x="669875" y="3054400"/>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250DF"/>
                </ns1:solidFill>
                <ns1:latin typeface="Courier New" pitchFamily="34" charset="0"/>
                <ns1:ea typeface="Courier New" pitchFamily="34" charset="-122"/>
                <ns1:cs typeface="Courier New" pitchFamily="34" charset="-120"/>
              </ns1:rPr>
              <ns1:t>tools</ns1:t>
            </ns1:r>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 ["read", "search"]</ns1:t>
            </ns1:r>
            <ns1:endParaRPr lang="en-US" sz="1350" dirty="0"/>
          </ns1:p>
        </ns0:txBody>
      </ns0:sp>
      <ns0:sp>
        <ns0:nvSpPr>
          <ns0:cNvPr id="22" name="Text 18"/>
          <ns0:cNvSpPr/>
          <ns0:nvPr/>
        </ns0:nvSpPr>
        <ns0:spPr>
          <ns1:xfrm>
            <ns1:off x="669875" y="3275409"/>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818B98"/>
                </ns1:solidFill>
                <ns1:latin typeface="Courier New" pitchFamily="34" charset="0"/>
                <ns1:ea typeface="Courier New" pitchFamily="34" charset="-122"/>
                <ns1:cs typeface="Courier New" pitchFamily="34" charset="-120"/>
              </ns1:rPr>
              <ns1:t>---</ns1:t>
            </ns1:r>
            <ns1:endParaRPr lang="en-US" sz="1350" dirty="0"/>
          </ns1:p>
        </ns0:txBody>
      </ns0:sp>
      <ns0:sp>
        <ns0:nvSpPr>
          <ns0:cNvPr id="23" name="Text 19"/>
          <ns0:cNvSpPr/>
          <ns0:nvPr/>
        </ns0:nvSpPr>
        <ns0:spPr>
          <ns1:xfrm>
            <ns1:off x="669875" y="3496419"/>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Read the code before answering.</ns1:t>
            </ns1:r>
            <ns1:endParaRPr lang="en-US" sz="1350" dirty="0"/>
          </ns1:p>
        </ns0:txBody>
      </ns0:sp>
      <ns0:sp>
        <ns0:nvSpPr>
          <ns0:cNvPr id="24" name="Text 20"/>
          <ns0:cNvSpPr/>
          <ns0:nvPr/>
        </ns0:nvSpPr>
        <ns0:spPr>
          <ns1:xfrm>
            <ns1:off x="669875" y="3717429"/>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Do not edit files or run commands.</ns1:t>
            </ns1:r>
            <ns1:endParaRPr lang="en-US" sz="1350" dirty="0"/>
          </ns1:p>
        </ns0:txBody>
      </ns0:sp>
      <ns0:sp>
        <ns0:nvSpPr>
          <ns0:cNvPr id="25" name="Text 21"/>
          <ns0:cNvSpPr/>
          <ns0:nvPr/>
        </ns0:nvSpPr>
        <ns0:spPr>
          <ns1:xfrm>
            <ns1:off x="669875" y="3938439"/>
            <ns1:ext cx="3944493" cy="221010"/>
          </ns1:xfrm>
          <ns1:prstGeom prst="rect">
            <ns1:avLst/>
          </ns1:prstGeom>
          <ns1:noFill/>
          <ns1:ln/>
        </ns0:spPr>
        <ns0:txBody>
          <ns1:bodyPr wrap="square" lIns="0" tIns="0" rIns="0" bIns="0" rtlCol="0" anchor="t"/>
          <ns1:lstStyle/>
          <ns1:p>
            <ns1:pPr algn="l" indent="0" marL="0">
              <ns1:lnSpc>
                <ns1:spcPts val="1740"/>
              </ns1:lnSpc>
              <ns1:buNone/>
            </ns1:pPr>
            <ns1:r>
              <ns1:rPr lang="en-US" sz="1350" dirty="0">
                <ns1:solidFill>
                  <ns1:srgbClr val="1F2328"/>
                </ns1:solidFill>
                <ns1:latin typeface="Courier New" pitchFamily="34" charset="0"/>
                <ns1:ea typeface="Courier New" pitchFamily="34" charset="-122"/>
                <ns1:cs typeface="Courier New" pitchFamily="34" charset="-120"/>
              </ns1:rPr>
              <ns1:t>Answer in four parts.</ns1:t>
            </ns1:r>
            <ns1:endParaRPr lang="en-US" sz="1350" dirty="0"/>
          </ns1:p>
        </ns0:txBody>
      </ns0:sp>
      <ns0:sp>
        <ns0:nvSpPr>
          <ns0:cNvPr id="26" name="Text 22"/>
          <ns0:cNvSpPr/>
          <ns0:nvPr/>
        </ns0:nvSpPr>
        <ns0:spPr>
          <ns1:xfrm>
            <ns1:off x="4952851" y="2054572"/>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27"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5035451" y="2137172"/>
            <ns1:ext cx="215801" cy="215801"/>
          </ns1:xfrm>
          <ns1:prstGeom prst="rect">
            <ns1:avLst/>
          </ns1:prstGeom>
        </ns0:spPr>
      </ns0:pic>
      <ns0:sp>
        <ns0:nvSpPr>
          <ns0:cNvPr id="28" name="Text 23"/>
          <ns0:cNvSpPr/>
          <ns0:nvPr/>
        </ns0:nvSpPr>
        <ns0:spPr>
          <ns1:xfrm>
            <ns1:off x="5486251" y="2014389"/>
            <ns1:ext cx="2275400" cy="238125"/>
          </ns1:xfrm>
          <ns1:prstGeom prst="rect">
            <ns1:avLst/>
          </ns1:prstGeom>
          <ns1:noFill/>
          <ns1:ln/>
        </ns0:spPr>
        <ns0:txBody>
          <ns1:bodyPr wrap="square" lIns="0" tIns="0" rIns="0" bIns="0" rtlCol="0" anchor="t"/>
          <ns1:lstStyle/>
          <ns1:p>
            <ns1:pPr algn="l" indent="0" marL="0">
              <ns1:buNone/>
            </ns1:pPr>
            <ns1:r>
              <ns1:rPr lang="en-US" sz="1550" b="1" dirty="0">
                <ns1:solidFill>
                  <ns1:srgbClr val="0550AE"/>
                </ns1:solidFill>
                <ns1:latin typeface="Courier New" pitchFamily="34" charset="0"/>
                <ns1:ea typeface="Courier New" pitchFamily="34" charset="-122"/>
                <ns1:cs typeface="Courier New" pitchFamily="34" charset="-120"/>
              </ns1:rPr>
              <ns1:t>name</ns1:t>
            </ns1:r>
            <ns1:pPr algn="l" indent="0" marL="0">
              <ns1:buNone/>
            </ns1:pPr>
            <ns1:r>
              <ns1:rPr lang="en-US" sz="1550" dirty="0">
                <ns1:solidFill>
                  <ns1:srgbClr val="1F2328"/>
                </ns1:solidFill>
                <ns1:latin typeface="Arial" pitchFamily="34" charset="0"/>
                <ns1:ea typeface="Arial" pitchFamily="34" charset="-122"/>
                <ns1:cs typeface="Arial" pitchFamily="34" charset="-120"/>
              </ns1:rPr>
              <ns1:t> and </ns1:t>
            </ns1:r>
            <ns1:pPr algn="l" indent="0" marL="0">
              <ns1:buNone/>
            </ns1:pPr>
            <ns1:r>
              <ns1:rPr lang="en-US" sz="1550" b="1" dirty="0">
                <ns1:solidFill>
                  <ns1:srgbClr val="0550AE"/>
                </ns1:solidFill>
                <ns1:latin typeface="Courier New" pitchFamily="34" charset="0"/>
                <ns1:ea typeface="Courier New" pitchFamily="34" charset="-122"/>
                <ns1:cs typeface="Courier New" pitchFamily="34" charset="-120"/>
              </ns1:rPr>
              <ns1:t>description</ns1:t>
            </ns1:r>
            <ns1:endParaRPr lang="en-US" sz="1550" dirty="0"/>
          </ns1:p>
        </ns0:txBody>
      </ns0:sp>
      <ns0:sp>
        <ns0:nvSpPr>
          <ns0:cNvPr id="29" name="Text 24"/>
          <ns0:cNvSpPr/>
          <ns0:nvPr/>
        </ns0:nvSpPr>
        <ns0:spPr>
          <ns1:xfrm>
            <ns1:off x="5486251" y="2277814"/>
            <ns1:ext cx="2275400"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Shown in the agent picker.</ns1:t>
            </ns1:r>
            <ns1:endParaRPr lang="en-US" sz="1350" dirty="0"/>
          </ns1:p>
        </ns0:txBody>
      </ns0:sp>
      <ns0:sp>
        <ns0:nvSpPr>
          <ns0:cNvPr id="30" name="Text 25"/>
          <ns0:cNvSpPr/>
          <ns0:nvPr/>
        </ns0:nvSpPr>
        <ns0:spPr>
          <ns1:xfrm>
            <ns1:off x="4952851" y="2749451"/>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31"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5035451" y="2832050"/>
            <ns1:ext cx="215801" cy="215801"/>
          </ns1:xfrm>
          <ns1:prstGeom prst="rect">
            <ns1:avLst/>
          </ns1:prstGeom>
        </ns0:spPr>
      </ns0:pic>
      <ns0:sp>
        <ns0:nvSpPr>
          <ns0:cNvPr id="32" name="Text 26"/>
          <ns0:cNvSpPr/>
          <ns0:nvPr/>
        </ns0:nvSpPr>
        <ns0:spPr>
          <ns1:xfrm>
            <ns1:off x="5486251" y="2704505"/>
            <ns1:ext cx="2582501" cy="238125"/>
          </ns1:xfrm>
          <ns1:prstGeom prst="rect">
            <ns1:avLst/>
          </ns1:prstGeom>
          <ns1:noFill/>
          <ns1:ln/>
        </ns0:spPr>
        <ns0:txBody>
          <ns1:bodyPr wrap="square" lIns="0" tIns="0" rIns="0" bIns="0" rtlCol="0" anchor="t"/>
          <ns1:lstStyle/>
          <ns1:p>
            <ns1:pPr algn="l" indent="0" marL="0">
              <ns1:buNone/>
            </ns1:pPr>
            <ns1:r>
              <ns1:rPr lang="en-US" sz="1550" b="1" dirty="0">
                <ns1:solidFill>
                  <ns1:srgbClr val="0550AE"/>
                </ns1:solidFill>
                <ns1:latin typeface="Courier New" pitchFamily="34" charset="0"/>
                <ns1:ea typeface="Courier New" pitchFamily="34" charset="-122"/>
                <ns1:cs typeface="Courier New" pitchFamily="34" charset="-120"/>
              </ns1:rPr>
              <ns1:t>tools</ns1:t>
            </ns1:r>
            <ns1:endParaRPr lang="en-US" sz="1550" dirty="0"/>
          </ns1:p>
        </ns0:txBody>
      </ns0:sp>
      <ns0:sp>
        <ns0:nvSpPr>
          <ns0:cNvPr id="33" name="Text 27"/>
          <ns0:cNvSpPr/>
          <ns0:nvPr/>
        </ns0:nvSpPr>
        <ns0:spPr>
          <ns1:xfrm>
            <ns1:off x="5486251" y="2967930"/>
            <ns1:ext cx="2582501" cy="207615"/>
          </ns1:xfrm>
          <ns1:prstGeom prst="rect">
            <ns1:avLst/>
          </ns1:prstGeom>
          <ns1:noFill/>
          <ns1:ln/>
        </ns0:spPr>
        <ns0:txBody>
          <ns1:bodyPr wrap="square" lIns="0" tIns="0" rIns="0" bIns="0" rtlCol="0" anchor="t"/>
          <ns1:lstStyle/>
          <ns1:p>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read</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and </ns1:t>
            </ns1:r>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search</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only. No edits.</ns1:t>
            </ns1:r>
            <ns1:endParaRPr lang="en-US" sz="1350" dirty="0"/>
          </ns1:p>
        </ns0:txBody>
      </ns0:sp>
      <ns0:sp>
        <ns0:nvSpPr>
          <ns0:cNvPr id="34" name="Text 28"/>
          <ns0:cNvSpPr/>
          <ns0:nvPr/>
        </ns0:nvSpPr>
        <ns0:spPr>
          <ns1:xfrm>
            <ns1:off x="4952851" y="3439567"/>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35" name="Image 4" descr="">
            <ns1:extLst>
              <ns1:ext uri="{C183D7F6-B498-43B3-948B-1728B52AA6E4}">
                <ns2:decorative val="1"/>
              </ns1:ext>
            </ns1:extLst>
          </ns0:cNvPr>
          <ns0:cNvPicPr>
            <ns1:picLocks noChangeAspect="1"/>
          </ns0:cNvPicPr>
          <ns0:nvPr/>
        </ns0:nvPicPr>
        <ns0:blipFill>
          <ns1:blip ns3:embed="rId6"/>
          <ns1:stretch>
            <ns1:fillRect/>
          </ns1:stretch>
        </ns0:blipFill>
        <ns0:spPr>
          <ns1:xfrm>
            <ns1:off x="5035451" y="3522166"/>
            <ns1:ext cx="215801" cy="215801"/>
          </ns1:xfrm>
          <ns1:prstGeom prst="rect">
            <ns1:avLst/>
          </ns1:prstGeom>
        </ns0:spPr>
      </ns0:pic>
      <ns0:sp>
        <ns0:nvSpPr>
          <ns0:cNvPr id="36" name="Text 29"/>
          <ns0:cNvSpPr/>
          <ns0:nvPr/>
        </ns0:nvSpPr>
        <ns0:spPr>
          <ns1:xfrm>
            <ns1:off x="5486251" y="3404146"/>
            <ns1:ext cx="2235779" cy="228600"/>
          </ns1:xfrm>
          <ns1:prstGeom prst="rect">
            <ns1:avLst/>
          </ns1:prstGeom>
          <ns1:noFill/>
          <ns1:ln/>
        </ns0:spPr>
        <ns0:txBody>
          <ns1:bodyPr wrap="square" lIns="0" tIns="0" rIns="0" bIns="0" rtlCol="0" anchor="t"/>
          <ns1:lstStyle/>
          <ns1:p>
            <ns1:pPr algn="l" indent="0" marL="0">
              <ns1:buNone/>
            </ns1:pPr>
            <ns1:r>
              <ns1:rPr lang="en-US" sz="1550" b="1" dirty="0">
                <ns1:solidFill>
                  <ns1:srgbClr val="1F2328"/>
                </ns1:solidFill>
                <ns1:latin typeface="Arial" pitchFamily="34" charset="0"/>
                <ns1:ea typeface="Arial" pitchFamily="34" charset="-122"/>
                <ns1:cs typeface="Arial" pitchFamily="34" charset="-120"/>
              </ns1:rPr>
              <ns1:t>Body</ns1:t>
            </ns1:r>
            <ns1:endParaRPr lang="en-US" sz="1550" dirty="0"/>
          </ns1:p>
        </ns0:txBody>
      </ns0:sp>
      <ns0:sp>
        <ns0:nvSpPr>
          <ns0:cNvPr id="37" name="Text 30"/>
          <ns0:cNvSpPr/>
          <ns0:nvPr/>
        </ns0:nvSpPr>
        <ns0:spPr>
          <ns1:xfrm>
            <ns1:off x="5486251" y="3658046"/>
            <ns1:ext cx="2235779"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Behavior and answer format.</ns1:t>
            </ns1:r>
            <ns1:endParaRPr lang="en-US" sz="1350" dirty="0"/>
          </ns1:p>
        </ns0:txBody>
      </ns0:sp>
    </ns0:spTree>
  </ns0:cSld>
  <ns0:clrMapOvr>
    <ns1:masterClrMapping/>
  </ns0:clrMapOvr>
</ns0: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EXERCISE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Load the agent, then ask it to explain</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The app loads custom agents when it starts.</a:t>
            </a:r>
            <a:endParaRPr lang="en-US" sz="1650" dirty="0"/>
          </a:p>
        </p:txBody>
      </p:sp>
      <p:sp>
        <p:nvSpPr>
          <p:cNvPr id="9" name="Text 5"/>
          <p:cNvSpPr/>
          <p:nvPr/>
        </p:nvSpPr>
        <p:spPr>
          <a:xfrm>
            <a:off x="2002780" y="1560165"/>
            <a:ext cx="5138291" cy="1771650"/>
          </a:xfrm>
          <a:prstGeom prst="roundRect">
            <a:avLst>
              <a:gd name="adj" fmla="val 4301"/>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The /agent suggestions with book-app-explainer highlighted and its read-only description visible"/>
          <p:cNvPicPr>
            <a:picLocks noChangeAspect="1"/>
          </p:cNvPicPr>
          <p:nvPr/>
        </p:nvPicPr>
        <p:blipFill>
          <a:blip r:embed="rId4"/>
          <a:stretch>
            <a:fillRect/>
          </a:stretch>
        </p:blipFill>
        <p:spPr>
          <a:xfrm>
            <a:off x="2050405" y="1607790"/>
            <a:ext cx="5043041" cy="1676400"/>
          </a:xfrm>
          <a:prstGeom prst="rect">
            <a:avLst/>
          </a:prstGeom>
        </p:spPr>
      </p:pic>
      <p:sp>
        <p:nvSpPr>
          <p:cNvPr id="11" name="Text 6"/>
          <p:cNvSpPr/>
          <p:nvPr/>
        </p:nvSpPr>
        <p:spPr>
          <a:xfrm>
            <a:off x="507950" y="3538091"/>
            <a:ext cx="2607618" cy="1127671"/>
          </a:xfrm>
          <a:prstGeom prst="roundRect">
            <a:avLst>
              <a:gd name="adj" fmla="val 11262"/>
            </a:avLst>
          </a:prstGeom>
          <a:solidFill>
            <a:srgbClr val="FFFFFF"/>
          </a:solidFill>
          <a:ln w="9525">
            <a:solidFill>
              <a:srgbClr val="8CE7A5"/>
            </a:solidFill>
          </a:ln>
        </p:spPr>
        <p:txBody>
          <a:bodyPr wrap="square" rtlCol="0" anchor="ctr"/>
          <a:lstStyle/>
          <a:p>
            <a:pPr indent="0" marL="0">
              <a:buNone/>
            </a:pPr>
            <a:endParaRPr lang="en-US" dirty="0"/>
          </a:p>
        </p:txBody>
      </p:sp>
      <p:sp>
        <p:nvSpPr>
          <p:cNvPr id="12" name="Text 7"/>
          <p:cNvSpPr/>
          <p:nvPr/>
        </p:nvSpPr>
        <p:spPr>
          <a:xfrm>
            <a:off x="669875" y="3700016"/>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3" name="Text 8"/>
          <p:cNvSpPr/>
          <p:nvPr/>
        </p:nvSpPr>
        <p:spPr>
          <a:xfrm>
            <a:off x="764540" y="3744367"/>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4" name="Text 9"/>
          <p:cNvSpPr/>
          <p:nvPr/>
        </p:nvSpPr>
        <p:spPr>
          <a:xfrm>
            <a:off x="1063526" y="3725317"/>
            <a:ext cx="1638883"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Quit and reopen</a:t>
            </a:r>
            <a:endParaRPr lang="en-US" sz="1650" dirty="0"/>
          </a:p>
        </p:txBody>
      </p:sp>
      <p:sp>
        <p:nvSpPr>
          <p:cNvPr id="15" name="Text 10"/>
          <p:cNvSpPr/>
          <p:nvPr/>
        </p:nvSpPr>
        <p:spPr>
          <a:xfrm>
            <a:off x="669875" y="4055566"/>
            <a:ext cx="2329443"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Closing the window is not enough.</a:t>
            </a:r>
            <a:endParaRPr lang="en-US" sz="1400" dirty="0"/>
          </a:p>
        </p:txBody>
      </p:sp>
      <p:sp>
        <p:nvSpPr>
          <p:cNvPr id="16" name="Text 11"/>
          <p:cNvSpPr/>
          <p:nvPr/>
        </p:nvSpPr>
        <p:spPr>
          <a:xfrm>
            <a:off x="3267968" y="3538091"/>
            <a:ext cx="2607766" cy="1127671"/>
          </a:xfrm>
          <a:prstGeom prst="roundRect">
            <a:avLst>
              <a:gd name="adj" fmla="val 11262"/>
            </a:avLst>
          </a:prstGeom>
          <a:solidFill>
            <a:srgbClr val="FFFFFF"/>
          </a:solidFill>
          <a:ln w="9525">
            <a:solidFill>
              <a:srgbClr val="8CE7A5"/>
            </a:solidFill>
          </a:ln>
        </p:spPr>
        <p:txBody>
          <a:bodyPr wrap="square" rtlCol="0" anchor="ctr"/>
          <a:lstStyle/>
          <a:p>
            <a:pPr indent="0" marL="0">
              <a:buNone/>
            </a:pPr>
            <a:endParaRPr lang="en-US" dirty="0"/>
          </a:p>
        </p:txBody>
      </p:sp>
      <p:sp>
        <p:nvSpPr>
          <p:cNvPr id="17" name="Text 12"/>
          <p:cNvSpPr/>
          <p:nvPr/>
        </p:nvSpPr>
        <p:spPr>
          <a:xfrm>
            <a:off x="3429893" y="3700016"/>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3"/>
          <p:cNvSpPr/>
          <p:nvPr/>
        </p:nvSpPr>
        <p:spPr>
          <a:xfrm>
            <a:off x="3524558" y="3744367"/>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9" name="Text 14"/>
          <p:cNvSpPr/>
          <p:nvPr/>
        </p:nvSpPr>
        <p:spPr>
          <a:xfrm>
            <a:off x="3823543" y="3725317"/>
            <a:ext cx="1639187"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Select the agent</a:t>
            </a:r>
            <a:endParaRPr lang="en-US" sz="1650" dirty="0"/>
          </a:p>
        </p:txBody>
      </p:sp>
      <p:sp>
        <p:nvSpPr>
          <p:cNvPr id="20" name="Text 15"/>
          <p:cNvSpPr/>
          <p:nvPr/>
        </p:nvSpPr>
        <p:spPr>
          <a:xfrm>
            <a:off x="3429893" y="4055566"/>
            <a:ext cx="2329595" cy="44827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Send </a:t>
            </a:r>
            <a:pPr algn="l" indent="0" marL="0">
              <a:lnSpc>
                <a:spcPts val="1690"/>
              </a:lnSpc>
              <a:buNone/>
            </a:pPr>
            <a:r>
              <a:rPr lang="en-US" sz="1400" b="1" dirty="0">
                <a:solidFill>
                  <a:srgbClr val="0550AE"/>
                </a:solidFill>
                <a:latin typeface="Courier New" pitchFamily="34" charset="0"/>
                <a:ea typeface="Courier New" pitchFamily="34" charset="-122"/>
                <a:cs typeface="Courier New" pitchFamily="34" charset="-120"/>
              </a:rPr>
              <a:t>/agent book-app-explainer</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21" name="Text 16"/>
          <p:cNvSpPr/>
          <p:nvPr/>
        </p:nvSpPr>
        <p:spPr>
          <a:xfrm>
            <a:off x="6028134" y="3538091"/>
            <a:ext cx="2607766" cy="1127671"/>
          </a:xfrm>
          <a:prstGeom prst="roundRect">
            <a:avLst>
              <a:gd name="adj" fmla="val 11262"/>
            </a:avLst>
          </a:prstGeom>
          <a:solidFill>
            <a:srgbClr val="FFFFFF"/>
          </a:solidFill>
          <a:ln w="9525">
            <a:solidFill>
              <a:srgbClr val="8CE7A5"/>
            </a:solidFill>
          </a:ln>
        </p:spPr>
        <p:txBody>
          <a:bodyPr wrap="square" rtlCol="0" anchor="ctr"/>
          <a:lstStyle/>
          <a:p>
            <a:pPr indent="0" marL="0">
              <a:buNone/>
            </a:pPr>
            <a:endParaRPr lang="en-US" dirty="0"/>
          </a:p>
        </p:txBody>
      </p:sp>
      <p:sp>
        <p:nvSpPr>
          <p:cNvPr id="22" name="Text 17"/>
          <p:cNvSpPr/>
          <p:nvPr/>
        </p:nvSpPr>
        <p:spPr>
          <a:xfrm>
            <a:off x="6190059" y="3700016"/>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3" name="Text 18"/>
          <p:cNvSpPr/>
          <p:nvPr/>
        </p:nvSpPr>
        <p:spPr>
          <a:xfrm>
            <a:off x="6284724" y="3744367"/>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4" name="Text 19"/>
          <p:cNvSpPr/>
          <p:nvPr/>
        </p:nvSpPr>
        <p:spPr>
          <a:xfrm>
            <a:off x="6583710" y="3725317"/>
            <a:ext cx="1639187"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Ask it to explain</a:t>
            </a:r>
            <a:endParaRPr lang="en-US" sz="1650" dirty="0"/>
          </a:p>
        </p:txBody>
      </p:sp>
      <p:sp>
        <p:nvSpPr>
          <p:cNvPr id="25" name="Text 20"/>
          <p:cNvSpPr/>
          <p:nvPr/>
        </p:nvSpPr>
        <p:spPr>
          <a:xfrm>
            <a:off x="6190059" y="4055566"/>
            <a:ext cx="2329595"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How stats follow the Unread filter.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LEAST PRIVILEGE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Give the agent only what it needs</a:t>
            </a:r>
            <a:endParaRPr lang="en-US" sz="2800" dirty="0"/>
          </a:p>
        </p:txBody>
      </p:sp>
      <p:sp>
        <p:nvSpPr>
          <p:cNvPr id="8" name="Text 4"/>
          <p:cNvSpPr/>
          <p:nvPr/>
        </p:nvSpPr>
        <p:spPr>
          <a:xfrm>
            <a:off x="507950" y="2263378"/>
            <a:ext cx="2590800" cy="1365647"/>
          </a:xfrm>
          <a:prstGeom prst="roundRect">
            <a:avLst>
              <a:gd name="adj" fmla="val 9300"/>
            </a:avLst>
          </a:prstGeom>
          <a:solidFill>
            <a:srgbClr val="FFFFFF"/>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2498229"/>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580829"/>
            <a:ext cx="215801" cy="215801"/>
          </a:xfrm>
          <a:prstGeom prst="rect">
            <a:avLst/>
          </a:prstGeom>
        </p:spPr>
      </p:pic>
      <p:sp>
        <p:nvSpPr>
          <p:cNvPr id="11" name="Text 6"/>
          <p:cNvSpPr/>
          <p:nvPr/>
        </p:nvSpPr>
        <p:spPr>
          <a:xfrm>
            <a:off x="1190476" y="2450604"/>
            <a:ext cx="1755469" cy="476250"/>
          </a:xfrm>
          <a:prstGeom prst="rect">
            <a:avLst/>
          </a:prstGeom>
          <a:noFill/>
          <a:ln/>
        </p:spPr>
        <p:txBody>
          <a:bodyPr wrap="square" lIns="0" tIns="0" rIns="0" bIns="0" rtlCol="0" anchor="t"/>
          <a:lstStyle/>
          <a:p>
            <a:pPr algn="l" indent="0" marL="0">
              <a:lnSpc>
                <a:spcPts val="1800"/>
              </a:lnSpc>
              <a:buNone/>
            </a:pPr>
            <a:r>
              <a:rPr lang="en-US" sz="1650" b="1" dirty="0">
                <a:solidFill>
                  <a:srgbClr val="0550AE"/>
                </a:solidFill>
                <a:latin typeface="Courier New" pitchFamily="34" charset="0"/>
                <a:ea typeface="Courier New" pitchFamily="34" charset="-122"/>
                <a:cs typeface="Courier New" pitchFamily="34" charset="-120"/>
              </a:rPr>
              <a:t>tools</a:t>
            </a:r>
            <a:pPr algn="l" indent="0" marL="0">
              <a:lnSpc>
                <a:spcPts val="1800"/>
              </a:lnSpc>
              <a:buNone/>
            </a:pPr>
            <a:r>
              <a:rPr lang="en-US" sz="1650" dirty="0">
                <a:solidFill>
                  <a:srgbClr val="1F2328"/>
                </a:solidFill>
                <a:latin typeface="Arial" pitchFamily="34" charset="0"/>
                <a:ea typeface="Arial" pitchFamily="34" charset="-122"/>
                <a:cs typeface="Arial" pitchFamily="34" charset="-120"/>
              </a:rPr>
              <a:t> is the real limit</a:t>
            </a:r>
            <a:endParaRPr lang="en-US" sz="1650" dirty="0"/>
          </a:p>
        </p:txBody>
      </p:sp>
      <p:sp>
        <p:nvSpPr>
          <p:cNvPr id="12" name="Text 7"/>
          <p:cNvSpPr/>
          <p:nvPr/>
        </p:nvSpPr>
        <p:spPr>
          <a:xfrm>
            <a:off x="695176" y="3003054"/>
            <a:ext cx="2260675" cy="438745"/>
          </a:xfrm>
          <a:prstGeom prst="rect">
            <a:avLst/>
          </a:prstGeom>
          <a:noFill/>
          <a:ln/>
        </p:spPr>
        <p:txBody>
          <a:bodyPr wrap="square" lIns="0" tIns="0" rIns="0" bIns="0" rtlCol="0" anchor="t"/>
          <a:lstStyle/>
          <a:p>
            <a:pPr algn="l" indent="0" marL="0">
              <a:lnSpc>
                <a:spcPts val="1690"/>
              </a:lnSpc>
              <a:buNone/>
            </a:pPr>
            <a:r>
              <a:rPr lang="en-US" sz="1400" b="1" dirty="0">
                <a:solidFill>
                  <a:srgbClr val="0550AE"/>
                </a:solidFill>
                <a:latin typeface="Courier New" pitchFamily="34" charset="0"/>
                <a:ea typeface="Courier New" pitchFamily="34" charset="-122"/>
                <a:cs typeface="Courier New" pitchFamily="34" charset="-120"/>
              </a:rPr>
              <a:t>read</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and </a:t>
            </a:r>
            <a:pPr algn="l" indent="0" marL="0">
              <a:lnSpc>
                <a:spcPts val="1690"/>
              </a:lnSpc>
              <a:buNone/>
            </a:pPr>
            <a:r>
              <a:rPr lang="en-US" sz="1400" b="1" dirty="0">
                <a:solidFill>
                  <a:srgbClr val="0550AE"/>
                </a:solidFill>
                <a:latin typeface="Courier New" pitchFamily="34" charset="0"/>
                <a:ea typeface="Courier New" pitchFamily="34" charset="-122"/>
                <a:cs typeface="Courier New" pitchFamily="34" charset="-120"/>
              </a:rPr>
              <a:t>search</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cannot edit files or run tests.</a:t>
            </a:r>
            <a:endParaRPr lang="en-US" sz="1400" dirty="0"/>
          </a:p>
        </p:txBody>
      </p:sp>
      <p:sp>
        <p:nvSpPr>
          <p:cNvPr id="13" name="Text 8"/>
          <p:cNvSpPr/>
          <p:nvPr/>
        </p:nvSpPr>
        <p:spPr>
          <a:xfrm>
            <a:off x="3276451" y="2263378"/>
            <a:ext cx="2590949" cy="1365647"/>
          </a:xfrm>
          <a:prstGeom prst="roundRect">
            <a:avLst>
              <a:gd name="adj" fmla="val 9300"/>
            </a:avLst>
          </a:prstGeom>
          <a:solidFill>
            <a:srgbClr val="FFFFFF"/>
          </a:solidFill>
          <a:ln w="9525">
            <a:solidFill>
              <a:srgbClr val="FFCECB"/>
            </a:solidFill>
          </a:ln>
        </p:spPr>
        <p:txBody>
          <a:bodyPr wrap="square" rtlCol="0" anchor="ctr"/>
          <a:lstStyle/>
          <a:p>
            <a:pPr indent="0" marL="0">
              <a:buNone/>
            </a:pPr>
            <a:endParaRPr lang="en-US" dirty="0"/>
          </a:p>
        </p:txBody>
      </p:sp>
      <p:sp>
        <p:nvSpPr>
          <p:cNvPr id="14" name="Text 9"/>
          <p:cNvSpPr/>
          <p:nvPr/>
        </p:nvSpPr>
        <p:spPr>
          <a:xfrm>
            <a:off x="3463677" y="2488704"/>
            <a:ext cx="381000" cy="381000"/>
          </a:xfrm>
          <a:prstGeom prst="roundRect">
            <a:avLst>
              <a:gd name="adj" fmla="val 23333"/>
            </a:avLst>
          </a:prstGeom>
          <a:solidFill>
            <a:srgbClr val="FFEBE9"/>
          </a:solidFill>
          <a:ln/>
        </p:spPr>
        <p:txBody>
          <a:bodyPr wrap="square" rtlCol="0" anchor="ctr"/>
          <a:lstStyle/>
          <a:p>
            <a:pPr indent="0" marL="0">
              <a:buNone/>
            </a:pPr>
            <a:endParaRPr lang="en-US" dirty="0"/>
          </a:p>
        </p:txBody>
      </p:sp>
      <p:pic>
        <p:nvPicPr>
          <p:cNvPr id="15"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546277" y="2571304"/>
            <a:ext cx="215801" cy="215801"/>
          </a:xfrm>
          <a:prstGeom prst="rect">
            <a:avLst/>
          </a:prstGeom>
        </p:spPr>
      </p:pic>
      <p:sp>
        <p:nvSpPr>
          <p:cNvPr id="16" name="Text 10"/>
          <p:cNvSpPr/>
          <p:nvPr/>
        </p:nvSpPr>
        <p:spPr>
          <a:xfrm>
            <a:off x="3958977" y="2450604"/>
            <a:ext cx="1755621" cy="4572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No list means all tools</a:t>
            </a:r>
            <a:endParaRPr lang="en-US" sz="1650" dirty="0"/>
          </a:p>
        </p:txBody>
      </p:sp>
      <p:sp>
        <p:nvSpPr>
          <p:cNvPr id="17" name="Text 11"/>
          <p:cNvSpPr/>
          <p:nvPr/>
        </p:nvSpPr>
        <p:spPr>
          <a:xfrm>
            <a:off x="3463677" y="2984004"/>
            <a:ext cx="226082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Always name the tools a role needs.</a:t>
            </a:r>
            <a:endParaRPr lang="en-US" sz="1400" dirty="0"/>
          </a:p>
        </p:txBody>
      </p:sp>
      <p:sp>
        <p:nvSpPr>
          <p:cNvPr id="18" name="Text 12"/>
          <p:cNvSpPr/>
          <p:nvPr/>
        </p:nvSpPr>
        <p:spPr>
          <a:xfrm>
            <a:off x="6045101" y="2263378"/>
            <a:ext cx="2590800" cy="1365647"/>
          </a:xfrm>
          <a:prstGeom prst="roundRect">
            <a:avLst>
              <a:gd name="adj" fmla="val 9300"/>
            </a:avLst>
          </a:prstGeom>
          <a:solidFill>
            <a:srgbClr val="FFFFFF"/>
          </a:solidFill>
          <a:ln w="9525">
            <a:solidFill>
              <a:srgbClr val="9CD7FF"/>
            </a:solidFill>
          </a:ln>
        </p:spPr>
        <p:txBody>
          <a:bodyPr wrap="square" rtlCol="0" anchor="ctr"/>
          <a:lstStyle/>
          <a:p>
            <a:pPr indent="0" marL="0">
              <a:buNone/>
            </a:pPr>
            <a:endParaRPr lang="en-US" dirty="0"/>
          </a:p>
        </p:txBody>
      </p:sp>
      <p:sp>
        <p:nvSpPr>
          <p:cNvPr id="19" name="Text 13"/>
          <p:cNvSpPr/>
          <p:nvPr/>
        </p:nvSpPr>
        <p:spPr>
          <a:xfrm>
            <a:off x="6232327" y="2450604"/>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20"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314926" y="2533204"/>
            <a:ext cx="215801" cy="215801"/>
          </a:xfrm>
          <a:prstGeom prst="rect">
            <a:avLst/>
          </a:prstGeom>
        </p:spPr>
      </p:pic>
      <p:sp>
        <p:nvSpPr>
          <p:cNvPr id="21" name="Text 14"/>
          <p:cNvSpPr/>
          <p:nvPr/>
        </p:nvSpPr>
        <p:spPr>
          <a:xfrm>
            <a:off x="6727627" y="2526804"/>
            <a:ext cx="1437135"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Switch agents</a:t>
            </a:r>
            <a:endParaRPr lang="en-US" sz="1650" dirty="0"/>
          </a:p>
        </p:txBody>
      </p:sp>
      <p:sp>
        <p:nvSpPr>
          <p:cNvPr id="22" name="Text 15"/>
          <p:cNvSpPr/>
          <p:nvPr/>
        </p:nvSpPr>
        <p:spPr>
          <a:xfrm>
            <a:off x="6232327" y="2907804"/>
            <a:ext cx="2260675"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Use the default agent to run tests.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One skill-guided change, fully validated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Same worktree, default agent.</a:t>
            </a:r>
            <a:endParaRPr lang="en-US" sz="1650" dirty="0"/>
          </a:p>
        </p:txBody>
      </p:sp>
      <p:sp>
        <p:nvSpPr>
          <p:cNvPr id="9" name="Text 5"/>
          <p:cNvSpPr/>
          <p:nvPr/>
        </p:nvSpPr>
        <p:spPr>
          <a:xfrm>
            <a:off x="507950" y="1917948"/>
            <a:ext cx="5334000" cy="2386905"/>
          </a:xfrm>
          <a:prstGeom prst="roundRect">
            <a:avLst>
              <a:gd name="adj" fmla="val 5321"/>
            </a:avLst>
          </a:prstGeom>
          <a:solidFill>
            <a:srgbClr val="FFFFFF"/>
          </a:solidFill>
          <a:ln w="9525">
            <a:solidFill>
              <a:srgbClr val="FFC49B"/>
            </a:solidFill>
          </a:ln>
        </p:spPr>
        <p:txBody>
          <a:bodyPr wrap="square" rtlCol="0" anchor="ctr"/>
          <a:lstStyle/>
          <a:p>
            <a:pPr indent="0" marL="0">
              <a:buNone/>
            </a:pPr>
            <a:endParaRPr lang="en-US" dirty="0"/>
          </a:p>
        </p:txBody>
      </p:sp>
      <p:sp>
        <p:nvSpPr>
          <p:cNvPr id="10" name="Shape 6"/>
          <p:cNvSpPr/>
          <p:nvPr/>
        </p:nvSpPr>
        <p:spPr>
          <a:xfrm>
            <a:off x="517475" y="2612975"/>
            <a:ext cx="5314950" cy="0"/>
          </a:xfrm>
          <a:prstGeom prst="line">
            <a:avLst/>
          </a:prstGeom>
          <a:noFill/>
          <a:ln w="9525">
            <a:solidFill>
              <a:srgbClr val="D1D9E0"/>
            </a:solidFill>
            <a:prstDash val="solid"/>
          </a:ln>
        </p:spPr>
      </p:sp>
      <p:sp>
        <p:nvSpPr>
          <p:cNvPr id="11" name="Text 7"/>
          <p:cNvSpPr/>
          <p:nvPr/>
        </p:nvSpPr>
        <p:spPr>
          <a:xfrm>
            <a:off x="695176" y="212809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2" name="Text 8"/>
          <p:cNvSpPr/>
          <p:nvPr/>
        </p:nvSpPr>
        <p:spPr>
          <a:xfrm>
            <a:off x="789841" y="217244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9"/>
          <p:cNvSpPr/>
          <p:nvPr/>
        </p:nvSpPr>
        <p:spPr>
          <a:xfrm>
            <a:off x="1152227" y="2160538"/>
            <a:ext cx="220207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Plan with the skill</a:t>
            </a:r>
            <a:endParaRPr lang="en-US" sz="1500" dirty="0"/>
          </a:p>
        </p:txBody>
      </p:sp>
      <p:sp>
        <p:nvSpPr>
          <p:cNvPr id="14" name="Text 10"/>
          <p:cNvSpPr/>
          <p:nvPr/>
        </p:nvSpPr>
        <p:spPr>
          <a:xfrm>
            <a:off x="3488829" y="2041773"/>
            <a:ext cx="2209214" cy="4521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Use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/book-app-reviewer</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15" name="Shape 11"/>
          <p:cNvSpPr/>
          <p:nvPr/>
        </p:nvSpPr>
        <p:spPr>
          <a:xfrm>
            <a:off x="517475" y="3130451"/>
            <a:ext cx="5314950" cy="0"/>
          </a:xfrm>
          <a:prstGeom prst="line">
            <a:avLst/>
          </a:prstGeom>
          <a:noFill/>
          <a:ln w="9525">
            <a:solidFill>
              <a:srgbClr val="D1D9E0"/>
            </a:solidFill>
            <a:prstDash val="solid"/>
          </a:ln>
        </p:spPr>
      </p:sp>
      <p:sp>
        <p:nvSpPr>
          <p:cNvPr id="16" name="Text 12"/>
          <p:cNvSpPr/>
          <p:nvPr/>
        </p:nvSpPr>
        <p:spPr>
          <a:xfrm>
            <a:off x="695176" y="2732038"/>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7" name="Text 13"/>
          <p:cNvSpPr/>
          <p:nvPr/>
        </p:nvSpPr>
        <p:spPr>
          <a:xfrm>
            <a:off x="789841" y="277638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4"/>
          <p:cNvSpPr/>
          <p:nvPr/>
        </p:nvSpPr>
        <p:spPr>
          <a:xfrm>
            <a:off x="1152227" y="2764334"/>
            <a:ext cx="220207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Record a baseline</a:t>
            </a:r>
            <a:endParaRPr lang="en-US" sz="1500" dirty="0"/>
          </a:p>
        </p:txBody>
      </p:sp>
      <p:sp>
        <p:nvSpPr>
          <p:cNvPr id="19" name="Text 15"/>
          <p:cNvSpPr/>
          <p:nvPr/>
        </p:nvSpPr>
        <p:spPr>
          <a:xfrm>
            <a:off x="3488829" y="2768203"/>
            <a:ext cx="2209214"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Tests and build pass first.</a:t>
            </a:r>
            <a:endParaRPr lang="en-US" sz="1400" dirty="0"/>
          </a:p>
        </p:txBody>
      </p:sp>
      <p:sp>
        <p:nvSpPr>
          <p:cNvPr id="20" name="Shape 16"/>
          <p:cNvSpPr/>
          <p:nvPr/>
        </p:nvSpPr>
        <p:spPr>
          <a:xfrm>
            <a:off x="517475" y="3782616"/>
            <a:ext cx="5314950" cy="0"/>
          </a:xfrm>
          <a:prstGeom prst="line">
            <a:avLst/>
          </a:prstGeom>
          <a:noFill/>
          <a:ln w="9525">
            <a:solidFill>
              <a:srgbClr val="D1D9E0"/>
            </a:solidFill>
            <a:prstDash val="solid"/>
          </a:ln>
        </p:spPr>
      </p:sp>
      <p:sp>
        <p:nvSpPr>
          <p:cNvPr id="21" name="Text 17"/>
          <p:cNvSpPr/>
          <p:nvPr/>
        </p:nvSpPr>
        <p:spPr>
          <a:xfrm>
            <a:off x="695176" y="3316784"/>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2" name="Text 18"/>
          <p:cNvSpPr/>
          <p:nvPr/>
        </p:nvSpPr>
        <p:spPr>
          <a:xfrm>
            <a:off x="789841" y="336113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3" name="Text 19"/>
          <p:cNvSpPr/>
          <p:nvPr/>
        </p:nvSpPr>
        <p:spPr>
          <a:xfrm>
            <a:off x="1152227" y="3349228"/>
            <a:ext cx="220207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Implement and validate</a:t>
            </a:r>
            <a:endParaRPr lang="en-US" sz="1500" dirty="0"/>
          </a:p>
        </p:txBody>
      </p:sp>
      <p:sp>
        <p:nvSpPr>
          <p:cNvPr id="24" name="Text 20"/>
          <p:cNvSpPr/>
          <p:nvPr/>
        </p:nvSpPr>
        <p:spPr>
          <a:xfrm>
            <a:off x="3488829" y="3249513"/>
            <a:ext cx="2209214" cy="41404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Exit plan mode. Diff, tests, build, browser.</a:t>
            </a:r>
            <a:endParaRPr lang="en-US" sz="1400" dirty="0"/>
          </a:p>
        </p:txBody>
      </p:sp>
      <p:sp>
        <p:nvSpPr>
          <p:cNvPr id="25" name="Text 21"/>
          <p:cNvSpPr/>
          <p:nvPr/>
        </p:nvSpPr>
        <p:spPr>
          <a:xfrm>
            <a:off x="695176" y="3901678"/>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6" name="Text 22"/>
          <p:cNvSpPr/>
          <p:nvPr/>
        </p:nvSpPr>
        <p:spPr>
          <a:xfrm>
            <a:off x="789841" y="394602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7" name="Text 23"/>
          <p:cNvSpPr/>
          <p:nvPr/>
        </p:nvSpPr>
        <p:spPr>
          <a:xfrm>
            <a:off x="1152227" y="3933974"/>
            <a:ext cx="220207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Save a record</a:t>
            </a:r>
            <a:endParaRPr lang="en-US" sz="1500" dirty="0"/>
          </a:p>
        </p:txBody>
      </p:sp>
      <p:sp>
        <p:nvSpPr>
          <p:cNvPr id="28" name="Text 24"/>
          <p:cNvSpPr/>
          <p:nvPr/>
        </p:nvSpPr>
        <p:spPr>
          <a:xfrm>
            <a:off x="3488829" y="3937843"/>
            <a:ext cx="2209214"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Only the checks you ran.</a:t>
            </a:r>
            <a:endParaRPr lang="en-US" sz="1400" dirty="0"/>
          </a:p>
        </p:txBody>
      </p:sp>
      <p:sp>
        <p:nvSpPr>
          <p:cNvPr id="29" name="Text 25"/>
          <p:cNvSpPr/>
          <p:nvPr/>
        </p:nvSpPr>
        <p:spPr>
          <a:xfrm>
            <a:off x="6045101" y="1917948"/>
            <a:ext cx="2590800" cy="2386905"/>
          </a:xfrm>
          <a:prstGeom prst="roundRect">
            <a:avLst>
              <a:gd name="adj" fmla="val 5321"/>
            </a:avLst>
          </a:prstGeom>
          <a:solidFill>
            <a:srgbClr val="FFFFFF"/>
          </a:solidFill>
          <a:ln w="9525">
            <a:solidFill>
              <a:srgbClr val="FFC49B"/>
            </a:solidFill>
          </a:ln>
        </p:spPr>
        <p:txBody>
          <a:bodyPr wrap="square" rtlCol="0" anchor="ctr"/>
          <a:lstStyle/>
          <a:p>
            <a:pPr indent="0" marL="0">
              <a:buNone/>
            </a:pPr>
            <a:endParaRPr lang="en-US" dirty="0"/>
          </a:p>
        </p:txBody>
      </p:sp>
      <p:sp>
        <p:nvSpPr>
          <p:cNvPr id="30" name="Text 26"/>
          <p:cNvSpPr/>
          <p:nvPr/>
        </p:nvSpPr>
        <p:spPr>
          <a:xfrm>
            <a:off x="6232327" y="2105174"/>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3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314926" y="2187773"/>
            <a:ext cx="215801" cy="215801"/>
          </a:xfrm>
          <a:prstGeom prst="rect">
            <a:avLst/>
          </a:prstGeom>
        </p:spPr>
      </p:pic>
      <p:sp>
        <p:nvSpPr>
          <p:cNvPr id="32" name="Text 27"/>
          <p:cNvSpPr/>
          <p:nvPr/>
        </p:nvSpPr>
        <p:spPr>
          <a:xfrm>
            <a:off x="6727627" y="2181374"/>
            <a:ext cx="86756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Success</a:t>
            </a:r>
            <a:endParaRPr lang="en-US" sz="1650" dirty="0"/>
          </a:p>
        </p:txBody>
      </p:sp>
      <p:sp>
        <p:nvSpPr>
          <p:cNvPr id="33" name="Text 28"/>
          <p:cNvSpPr/>
          <p:nvPr/>
        </p:nvSpPr>
        <p:spPr>
          <a:xfrm>
            <a:off x="6232327" y="2562374"/>
            <a:ext cx="2260675" cy="858441"/>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One focused change, passing checks, and you can explain instructions vs. skill vs. agent.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04</a:t>
            </a:r>
            <a:endParaRPr lang="en-US" sz="1150" dirty="0"/>
          </a:p>
        </p:txBody>
      </p:sp>
      <p:pic>
        <p:nvPicPr>
          <p:cNvPr id="5" name="Image 1" descr="Open this chapter on GitHub">
            <a:hlinkClick r:id="rId3" tooltip="https://github.com/github/copilot-app-for-beginners/tree/main/04-skills-custom-agent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Instructions are shared rules. Skills are reusable guidance for one task.</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A custom agent is a specialist role with its own tools.</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0040"/>
            <a:ext cx="3219322" cy="441424"/>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Skills guide. The agent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tools</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 list is what limits actions.</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Check the activity and the files, not only the agent's claims.</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4-skills-custom-agents" history="1" highlightClick="0" endSnd="0">
                  <a:extLst>
                    <a:ext uri="{A12FA001-AC4F-418D-AE19-62706E023703}">
                      <ahyp:hlinkClr xmlns:ahyp="http://schemas.microsoft.com/office/drawing/2018/hyperlinkcolor" val="tx"/>
                    </a:ext>
                  </a:extLst>
                </a:hlinkClick>
              </a:rPr>
              <a:t>Open Chapter 04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05</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5-mcp-plugins" history="1" highlightClick="0" endSnd="0">
                  <a:extLst>
                    <a:ext uri="{A12FA001-AC4F-418D-AE19-62706E023703}">
                      <ahyp:hlinkClr xmlns:ahyp="http://schemas.microsoft.com/office/drawing/2018/hyperlinkcolor" val="tx"/>
                    </a:ext>
                  </a:extLst>
                </a:hlinkClick>
              </a:rPr>
              <a:t>MCP Servers and Plugins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04: Skills and Custom Agents</dc:title>
  <dc:subject>PptxGenJS Presentation</dc:subject>
  <dc:creator>GitHub Copilot app for Beginners</dc:creator>
  <cp:lastModifiedBy>GitHub Copilot app for Beginners</cp:lastModifiedBy>
  <cp:revision>1</cp:revision>
  <dcterms:created xsi:type="dcterms:W3CDTF">2026-10-06T21:18:18Z</dcterms:created>
  <dcterms:modified xsi:type="dcterms:W3CDTF">2026-10-06T21:18:18Z</dcterms:modified>
</cp:coreProperties>
</file>