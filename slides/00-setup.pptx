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Fork the course repository so you have your own copy to change. In the app, select the plus next to Sessions and choose Add GitHub repository. Search for copilot-app-for-beginners, then select your fork, the result that starts with your GitHub username, not github/copilot-app-for-beginners. The app adds it under Sessions. If you already have a local clone, use Open folder. If you have the URL, use Clone repository.</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8</ns1:t>
            </ns1:fld>
            <ns1:endParaRPr lang="en-US"/>
          </ns1:p>
        </ns0:txBody>
      </ns0:sp>
    </ns0:spTree>
    <ns0:extLst>
      <ns0:ext uri="{BB962C8B-B14F-4D97-AF65-F5344CB8AC3E}">
        <ns2:creationId val="1024086991"/>
      </ns0:ext>
    </ns0:extLst>
  </ns0:cSld>
  <ns0:clrMapOvr>
    <ns1:masterClrMapping/>
  </ns0:clrMapOvr>
</ns0: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Open View &gt; Toggle Panel &gt; Terminal.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11</ns1:t>
            </ns1:fld>
            <ns1:endParaRPr lang="en-US"/>
          </ns1:p>
        </ns0:txBody>
      </ns0:sp>
    </ns0:spTree>
    <ns0:extLst>
      <ns0:ext uri="{BB962C8B-B14F-4D97-AF65-F5344CB8AC3E}">
        <ns2:creationId val="1024086991"/>
      </ns0:ext>
    </ns0:extLst>
  </ns0:cSld>
  <ns0:clrMapOvr>
    <ns1:masterClrMapping/>
  </ns0:clrMapOvr>
</ns0: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Setting up the studio analogy for GitHub Copilot app setup"/>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93753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224858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303588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74056"/>
            <a:ext cx="4311551" cy="1893540"/>
          </a:xfrm>
          <a:prstGeom prst="roundRect">
            <a:avLst>
              <a:gd name="adj" fmla="val 402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Sign in to the Copilot app"/>
          <p:cNvPicPr>
            <a:picLocks noChangeAspect="1"/>
          </p:cNvPicPr>
          <p:nvPr/>
        </p:nvPicPr>
        <p:blipFill>
          <a:blip r:embed="rId4"/>
          <a:stretch>
            <a:fillRect/>
          </a:stretch>
        </p:blipFill>
        <p:spPr>
          <a:xfrm>
            <a:off x="4368552" y="2021681"/>
            <a:ext cx="4216301" cy="17982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332803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8.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8">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00</ns1:t>
            </ns1:r>
            <ns1:endParaRPr lang="en-US" sz="1150" dirty="0"/>
          </ns1:p>
        </ns0:txBody>
      </ns0:sp>
      <ns0:pic>
        <ns0:nvPicPr>
          <ns0:cNvPr id="5" name="Image 1" descr="Open this chapter on GitHub">
            <ns1:hlinkClick ns3:id="rId3" tooltip="https://github.com/github/copilot-app-for-beginners/tree/main/00-setu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CONNECT YOUR REPOSITORY</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Fork it, then add it as a repository</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A fork is your own copy of the course on GitHub.</ns1:t>
            </ns1:r>
            <ns1:endParaRPr lang="en-US" sz="1650" dirty="0"/>
          </ns1:p>
        </ns0:txBody>
      </ns0:sp>
      <ns0:sp>
        <ns0:nvSpPr>
          <ns0:cNvPr id="9" name="Text 5"/>
          <ns0:cNvSpPr/>
          <ns0:nvPr/>
        </ns0:nvSpPr>
        <ns0:spPr>
          <ns1:xfrm>
            <ns1:off x="507950" y="1770757"/>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0" name="Text 6"/>
          <ns0:cNvSpPr/>
          <ns0:nvPr/>
        </ns0:nvSpPr>
        <ns0:spPr>
          <ns1:xfrm>
            <ns1:off x="602615" y="1815108"/>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1" name="Text 7"/>
          <ns0:cNvSpPr/>
          <ns0:nvPr/>
        </ns0:nvSpPr>
        <ns0:spPr>
          <ns1:xfrm>
            <ns1:off x="939701" y="1770757"/>
            <ns1:ext cx="3186684"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Fork the course</ns1:t>
            </ns1:r>
            <ns1:endParaRPr lang="en-US" sz="1550" dirty="0"/>
          </ns1:p>
        </ns0:txBody>
      </ns0:sp>
      <ns0:sp>
        <ns0:nvSpPr>
          <ns0:cNvPr id="12" name="Text 8"/>
          <ns0:cNvSpPr/>
          <ns0:nvPr/>
        </ns0:nvSpPr>
        <ns0:spPr>
          <ns1:xfrm>
            <ns1:off x="939701" y="2018258"/>
            <ns1:ext cx="3186684" cy="613321"/>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On GitHub.com, fork </ns1:t>
            </ns1:r>
            <ns1:pPr algn="l" indent="0" marL="0">
              <ns1:lnSpc>
                <ns1:spcPts val="1560"/>
              </ns1:lnSpc>
              <ns1:buNone/>
            </ns1:pPr>
            <ns1:r>
              <ns1:rPr lang="en-US" sz="1350" b="1" dirty="0">
                <ns1:solidFill>
                  <ns1:srgbClr val="0550AE"/>
                </ns1:solidFill>
                <ns1:latin typeface="Courier New" pitchFamily="34" charset="0"/>
                <ns1:ea typeface="Courier New" pitchFamily="34" charset="-122"/>
                <ns1:cs typeface="Courier New" pitchFamily="34" charset="-120"/>
              </ns1:rPr>
              <ns1:t>github/copilot-app-for-beginners</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
        <ns0:nvSpPr>
          <ns0:cNvPr id="13" name="Text 9"/>
          <ns0:cNvSpPr/>
          <ns0:nvPr/>
        </ns0:nvSpPr>
        <ns0:spPr>
          <ns1:xfrm>
            <ns1:off x="507950" y="2885480"/>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4" name="Text 10"/>
          <ns0:cNvSpPr/>
          <ns0:nvPr/>
        </ns0:nvSpPr>
        <ns0:spPr>
          <ns1:xfrm>
            <ns1:off x="602615" y="2929830"/>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5" name="Text 11"/>
          <ns0:cNvSpPr/>
          <ns0:nvPr/>
        </ns0:nvSpPr>
        <ns0:spPr>
          <ns1:xfrm>
            <ns1:off x="939701" y="2885480"/>
            <ns1:ext cx="3186684"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Add it to the app</ns1:t>
            </ns1:r>
            <ns1:endParaRPr lang="en-US" sz="1550" dirty="0"/>
          </ns1:p>
        </ns0:txBody>
      </ns0:sp>
      <ns0:sp>
        <ns0:nvSpPr>
          <ns0:cNvPr id="16" name="Text 12"/>
          <ns0:cNvSpPr/>
          <ns0:nvPr/>
        </ns0:nvSpPr>
        <ns0:spPr>
          <ns1:xfrm>
            <ns1:off x="939701" y="3132981"/>
            <ns1:ext cx="3186684"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Select + (1), then Add GitHub repository (2).</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
            </ns1:r>
            <ns1:endParaRPr lang="en-US" sz="1350" dirty="0"/>
          </ns1:p>
        </ns0:txBody>
      </ns0:sp>
      <ns0:sp>
        <ns0:nvSpPr>
          <ns0:cNvPr id="17" name="Text 13"/>
          <ns0:cNvSpPr/>
          <ns0:nvPr/>
        </ns0:nvSpPr>
        <ns0:spPr>
          <ns1:xfrm>
            <ns1:off x="507950" y="3783062"/>
            <ns1:ext cx="279350" cy="279350"/>
          </ns1:xfrm>
          <ns1:prstGeom prst="roundRect">
            <ns1:avLst>
              <ns1:gd name="adj" fmla="val 327331"/>
            </ns1:avLst>
          </ns1:prstGeom>
          <ns1:solidFill>
            <ns1:srgbClr val="8250DF"/>
          </ns1:solidFill>
          <ns1:ln/>
        </ns0:spPr>
        <ns0:txBody>
          <ns1:bodyPr wrap="square" rtlCol="0" anchor="ctr"/>
          <ns1:lstStyle/>
          <ns1:p>
            <ns1:pPr indent="0" marL="0">
              <ns1:buNone/>
            </ns1:pPr>
            <ns1:endParaRPr lang="en-US" dirty="0"/>
          </ns1:p>
        </ns0:txBody>
      </ns0:sp>
      <ns0:sp>
        <ns0:nvSpPr>
          <ns0:cNvPr id="18" name="Text 14"/>
          <ns0:cNvSpPr/>
          <ns0:nvPr/>
        </ns0:nvSpPr>
        <ns0:spPr>
          <ns1:xfrm>
            <ns1:off x="602615" y="3827413"/>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19" name="Text 15"/>
          <ns0:cNvSpPr/>
          <ns0:nvPr/>
        </ns0:nvSpPr>
        <ns0:spPr>
          <ns1:xfrm>
            <ns1:off x="939701" y="3783062"/>
            <ns1:ext cx="3186684" cy="222200"/>
          </ns1:xfrm>
          <ns1:prstGeom prst="rect">
            <ns1:avLst/>
          </ns1:prstGeom>
          <ns1:noFill/>
          <ns1:ln/>
        </ns0:spPr>
        <ns0:txBody>
          <ns1:bodyPr wrap="square" lIns="0" tIns="0" rIns="0" bIns="0" rtlCol="0" anchor="t"/>
          <ns1:lstStyle/>
          <ns1:p>
            <ns1:pPr algn="l" indent="0" marL="0">
              <ns1:lnSpc>
                <ns1:spcPts val="1750"/>
              </ns1:lnSpc>
              <ns1:buNone/>
            </ns1:pPr>
            <ns1:r>
              <ns1:rPr lang="en-US" sz="1550" b="1" dirty="0">
                <ns1:solidFill>
                  <ns1:srgbClr val="1F2328"/>
                </ns1:solidFill>
                <ns1:latin typeface="Arial" pitchFamily="34" charset="0"/>
                <ns1:ea typeface="Arial" pitchFamily="34" charset="-122"/>
                <ns1:cs typeface="Arial" pitchFamily="34" charset="-120"/>
              </ns1:rPr>
              <ns1:t>Select your fork</ns1:t>
            </ns1:r>
            <ns1:endParaRPr lang="en-US" sz="1550" dirty="0"/>
          </ns1:p>
        </ns0:txBody>
      </ns0:sp>
      <ns0:sp>
        <ns0:nvSpPr>
          <ns0:cNvPr id="20" name="Text 16"/>
          <ns0:cNvSpPr/>
          <ns0:nvPr/>
        </ns0:nvSpPr>
        <ns0:spPr>
          <ns1:xfrm>
            <ns1:off x="939701" y="4030563"/>
            <ns1:ext cx="3186684"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The result that starts with your username.</ns1:t>
            </ns1:r>
            <ns1:endParaRPr lang="en-US" sz="1350" dirty="0"/>
          </ns1:p>
        </ns0:txBody>
      </ns0:sp>
      <ns0:sp>
        <ns0:nvSpPr>
          <ns0:cNvPr id="21" name="Text 17"/>
          <ns0:cNvSpPr/>
          <ns0:nvPr/>
        </ns0:nvSpPr>
        <ns0:spPr>
          <ns1:xfrm>
            <ns1:off x="4320927" y="1579811"/>
            <ns1:ext cx="4311551" cy="3037731"/>
          </ns1:xfrm>
          <ns1:prstGeom prst="roundRect">
            <ns1:avLst>
              <ns1:gd name="adj" fmla="val 2508"/>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22" name="Image 2" descr="Sessions menu with callouts for + and Add GitHub repository"/>
          <ns0:cNvPicPr>
            <ns1:picLocks noChangeAspect="1"/>
          </ns0:cNvPicPr>
          <ns0:nvPr/>
        </ns0:nvPicPr>
        <ns0:blipFill>
          <ns1:blip ns3:embed="rId4"/>
          <ns1:stretch>
            <ns1:fillRect/>
          </ns1:stretch>
        </ns0:blipFill>
        <ns0:spPr>
          <ns1:xfrm>
            <ns1:off x="4368552" y="1627436"/>
            <ns1:ext cx="4216301" cy="2942481"/>
          </ns1:xfrm>
          <ns1:prstGeom prst="rect">
            <ns1:avLst/>
          </ns1:prstGeom>
        </ns0:spPr>
      </ns0:pic>
    </ns0:spTree>
  </ns0:cSld>
  <ns0:clrMapOvr>
    <ns1:masterClrMapping/>
  </ns0:clrMapOvr>
</ns0: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Where to work menu with callouts for the workspace selector and Current checkout"/>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93753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224858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303588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Tree>
  </p:cSld>
  <p:clrMapOvr>
    <a:masterClrMapping/>
  </p:clrMapOvr>
</p:sld>
</file>

<file path=ppt/slides/slide11.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1">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00</ns1:t>
            </ns1:r>
            <ns1:endParaRPr lang="en-US" sz="1150" dirty="0"/>
          </ns1:p>
        </ns0:txBody>
      </ns0:sp>
      <ns0:pic>
        <ns0:nvPicPr>
          <ns0:cNvPr id="5" name="Image 1" descr="Open this chapter on GitHub">
            <ns1:hlinkClick ns3:id="rId3" tooltip="https://github.com/github/copilot-app-for-beginners/tree/main/00-setu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SOUNDCHECK</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Check your tools in Terminal</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Open View &gt; Toggle Panel &gt; Terminal.</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b="1" dirty="0">
                <ns1:solidFill>
                  <ns1:srgbClr val="59636E"/>
                </ns1:solidFill>
                <ns1:latin typeface="Arial" pitchFamily="34" charset="0"/>
                <ns1:ea typeface="Arial" pitchFamily="34" charset="-122"/>
                <ns1:cs typeface="Arial" pitchFamily="34" charset="-120"/>
              </ns1:rPr>
              <ns1:t/>
            </ns1:r>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
            </ns1:r>
            <ns1:endParaRPr lang="en-US" sz="1650" dirty="0"/>
          </ns1:p>
        </ns0:txBody>
      </ns0:sp>
      <ns0:sp>
        <ns0:nvSpPr>
          <ns0:cNvPr id="9" name="Text 5"/>
          <ns0:cNvSpPr/>
          <ns0:nvPr/>
        </ns0:nvSpPr>
        <ns0:spPr>
          <ns1:xfrm>
            <ns1:off x="507950" y="1574750"/>
            <ns1:ext cx="3682901" cy="2503884"/>
          </ns1:xfrm>
          <ns1:prstGeom prst="roundRect">
            <ns1:avLst>
              <ns1:gd name="adj" fmla="val 4058"/>
            </ns1:avLst>
          </ns1:prstGeom>
          <ns1:solidFill>
            <ns1:srgbClr val="F6F8FA"/>
          </ns1:solidFill>
          <ns1:ln w="9525">
            <ns1:solidFill>
              <ns1:srgbClr val="D1D9E0"/>
            </ns1:solidFill>
          </ns1:ln>
        </ns0:spPr>
        <ns0:txBody>
          <ns1:bodyPr wrap="square" rtlCol="0" anchor="ctr"/>
          <ns1:lstStyle/>
          <ns1:p>
            <ns1:pPr indent="0" marL="0">
              <ns1:buNone/>
            </ns1:pPr>
            <ns1:endParaRPr lang="en-US" dirty="0"/>
          </ns1:p>
        </ns0:txBody>
      </ns0:sp>
      <ns0:sp>
        <ns0:nvSpPr>
          <ns0:cNvPr id="10" name="Text 6"/>
          <ns0:cNvSpPr/>
          <ns0:nvPr/>
        </ns0:nvSpPr>
        <ns0:spPr>
          <ns1:xfrm>
            <ns1:off x="517475" y="1584275"/>
            <ns1:ext cx="3663851" cy="238125"/>
          </ns1:xfrm>
          <ns1:prstGeom prst="rect">
            <ns1:avLst/>
          </ns1:prstGeom>
          <ns1:solidFill>
            <ns1:srgbClr val="EFF2F5"/>
          </ns1:solidFill>
          <ns1:ln/>
        </ns0:spPr>
        <ns0:txBody>
          <ns1:bodyPr wrap="square" rtlCol="0" anchor="ctr"/>
          <ns1:lstStyle/>
          <ns1:p>
            <ns1:pPr indent="0" marL="0">
              <ns1:buNone/>
            </ns1:pPr>
            <ns1:endParaRPr lang="en-US" dirty="0"/>
          </ns1:p>
        </ns0:txBody>
      </ns0:sp>
      <ns0:sp>
        <ns0:nvSpPr>
          <ns0:cNvPr id="11" name="Shape 7"/>
          <ns0:cNvSpPr/>
          <ns0:nvPr/>
        </ns0:nvSpPr>
        <ns0:spPr>
          <ns1:xfrm>
            <ns1:off x="517475" y="1817638"/>
            <ns1:ext cx="3663851" cy="0"/>
          </ns1:xfrm>
          <ns1:prstGeom prst="line">
            <ns1:avLst/>
          </ns1:prstGeom>
          <ns1:noFill/>
          <ns1:ln w="9525">
            <ns1:solidFill>
              <ns1:srgbClr val="D1D9E0"/>
            </ns1:solidFill>
            <ns1:prstDash val="solid"/>
          </ns1:ln>
        </ns0:spPr>
      </ns0:sp>
      <ns0:sp>
        <ns0:nvSpPr>
          <ns0:cNvPr id="12" name="Text 8"/>
          <ns0:cNvSpPr/>
          <ns0:nvPr/>
        </ns0:nvSpPr>
        <ns0:spPr>
          <ns1:xfrm>
            <ns1:off x="631775" y="1654076"/>
            <ns1:ext cx="88850" cy="88850"/>
          </ns1:xfrm>
          <ns1:prstGeom prst="roundRect">
            <ns1:avLst>
              <ns1:gd name="adj" fmla="val 1029150"/>
            </ns1:avLst>
          </ns1:prstGeom>
          <ns1:solidFill>
            <ns1:srgbClr val="FF5F57"/>
          </ns1:solidFill>
          <ns1:ln/>
        </ns0:spPr>
        <ns0:txBody>
          <ns1:bodyPr wrap="square" rtlCol="0" anchor="ctr"/>
          <ns1:lstStyle/>
          <ns1:p>
            <ns1:pPr indent="0" marL="0">
              <ns1:buNone/>
            </ns1:pPr>
            <ns1:endParaRPr lang="en-US" dirty="0"/>
          </ns1:p>
        </ns0:txBody>
      </ns0:sp>
      <ns0:sp>
        <ns0:nvSpPr>
          <ns0:cNvPr id="13" name="Text 9"/>
          <ns0:cNvSpPr/>
          <ns0:nvPr/>
        </ns0:nvSpPr>
        <ns0:spPr>
          <ns1:xfrm>
            <ns1:off x="771376" y="1654076"/>
            <ns1:ext cx="88850" cy="88850"/>
          </ns1:xfrm>
          <ns1:prstGeom prst="roundRect">
            <ns1:avLst>
              <ns1:gd name="adj" fmla="val 1029150"/>
            </ns1:avLst>
          </ns1:prstGeom>
          <ns1:solidFill>
            <ns1:srgbClr val="FEBC2E"/>
          </ns1:solidFill>
          <ns1:ln/>
        </ns0:spPr>
        <ns0:txBody>
          <ns1:bodyPr wrap="square" rtlCol="0" anchor="ctr"/>
          <ns1:lstStyle/>
          <ns1:p>
            <ns1:pPr indent="0" marL="0">
              <ns1:buNone/>
            </ns1:pPr>
            <ns1:endParaRPr lang="en-US" dirty="0"/>
          </ns1:p>
        </ns0:txBody>
      </ns0:sp>
      <ns0:sp>
        <ns0:nvSpPr>
          <ns0:cNvPr id="14" name="Text 10"/>
          <ns0:cNvSpPr/>
          <ns0:nvPr/>
        </ns0:nvSpPr>
        <ns0:spPr>
          <ns1:xfrm>
            <ns1:off x="910977" y="1654076"/>
            <ns1:ext cx="88850" cy="88850"/>
          </ns1:xfrm>
          <ns1:prstGeom prst="roundRect">
            <ns1:avLst>
              <ns1:gd name="adj" fmla="val 1029150"/>
            </ns1:avLst>
          </ns1:prstGeom>
          <ns1:solidFill>
            <ns1:srgbClr val="28C840"/>
          </ns1:solidFill>
          <ns1:ln/>
        </ns0:spPr>
        <ns0:txBody>
          <ns1:bodyPr wrap="square" rtlCol="0" anchor="ctr"/>
          <ns1:lstStyle/>
          <ns1:p>
            <ns1:pPr indent="0" marL="0">
              <ns1:buNone/>
            </ns1:pPr>
            <ns1:endParaRPr lang="en-US" dirty="0"/>
          </ns1:p>
        </ns0:txBody>
      </ns0:sp>
      <ns0:sp>
        <ns0:nvSpPr>
          <ns0:cNvPr id="15" name="Text 11"/>
          <ns0:cNvSpPr/>
          <ns0:nvPr/>
        </ns0:nvSpPr>
        <ns0:spPr>
          <ns1:xfrm>
            <ns1:off x="1126778" y="1612850"/>
            <ns1:ext cx="715152" cy="171450"/>
          </ns1:xfrm>
          <ns1:prstGeom prst="rect">
            <ns1:avLst/>
          </ns1:prstGeom>
          <ns1:noFill/>
          <ns1:ln/>
        </ns0:spPr>
        <ns0:txBody>
          <ns1:bodyPr wrap="square" lIns="0" tIns="0" rIns="0" bIns="0" rtlCol="0" anchor="t"/>
          <ns1:lstStyle/>
          <ns1:p>
            <ns1:pPr algn="l" indent="0" marL="0">
              <ns1:buNone/>
            </ns1:pPr>
            <ns1:r>
              <ns1:rPr lang="en-US" sz="1150" dirty="0">
                <ns1:solidFill>
                  <ns1:srgbClr val="59636E"/>
                </ns1:solidFill>
                <ns1:latin typeface="Courier New" pitchFamily="34" charset="0"/>
                <ns1:ea typeface="Courier New" pitchFamily="34" charset="-122"/>
                <ns1:cs typeface="Courier New" pitchFamily="34" charset="-120"/>
              </ns1:rPr>
              <ns1:t>Terminal</ns1:t>
            </ns1:r>
            <ns1:endParaRPr lang="en-US" sz="1150" dirty="0"/>
          </ns1:p>
        </ns0:txBody>
      </ns0:sp>
      <ns0:sp>
        <ns0:nvSpPr>
          <ns0:cNvPr id="16" name="Text 12"/>
          <ns0:cNvSpPr/>
          <ns0:nvPr/>
        </ns0:nvSpPr>
        <ns0:spPr>
          <ns1:xfrm>
            <ns1:off x="669875" y="1949351"/>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b="1" dirty="0">
                <ns1:solidFill>
                  <ns1:srgbClr val="1A7F37"/>
                </ns1:solidFill>
                <ns1:latin typeface="Courier New" pitchFamily="34" charset="0"/>
                <ns1:ea typeface="Courier New" pitchFamily="34" charset="-122"/>
                <ns1:cs typeface="Courier New" pitchFamily="34" charset="-120"/>
              </ns1:rPr>
              <ns1:t>$</ns1:t>
            </ns1:r>
            <ns1:pPr algn="l" indent="0" marL="0">
              <ns1:lnSpc>
                <ns1:spcPts val="1880"/>
              </ns1:lnSpc>
              <ns1:buNone/>
            </ns1:pPr>
            <ns1:r>
              <ns1:rPr lang="en-US" sz="1450" dirty="0">
                <ns1:solidFill>
                  <ns1:srgbClr val="1F2328"/>
                </ns1:solidFill>
                <ns1:latin typeface="Courier New" pitchFamily="34" charset="0"/>
                <ns1:ea typeface="Courier New" pitchFamily="34" charset="-122"/>
                <ns1:cs typeface="Courier New" pitchFamily="34" charset="-120"/>
              </ns1:rPr>
              <ns1:t> git --version</ns1:t>
            </ns1:r>
            <ns1:endParaRPr lang="en-US" sz="1450" dirty="0"/>
          </ns1:p>
        </ns0:txBody>
      </ns0:sp>
      <ns0:sp>
        <ns0:nvSpPr>
          <ns0:cNvPr id="17" name="Text 13"/>
          <ns0:cNvSpPr/>
          <ns0:nvPr/>
        </ns0:nvSpPr>
        <ns0:spPr>
          <ns1:xfrm>
            <ns1:off x="669875" y="2188071"/>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b="1" dirty="0">
                <ns1:solidFill>
                  <ns1:srgbClr val="1A7F37"/>
                </ns1:solidFill>
                <ns1:latin typeface="Courier New" pitchFamily="34" charset="0"/>
                <ns1:ea typeface="Courier New" pitchFamily="34" charset="-122"/>
                <ns1:cs typeface="Courier New" pitchFamily="34" charset="-120"/>
              </ns1:rPr>
              <ns1:t>$</ns1:t>
            </ns1:r>
            <ns1:pPr algn="l" indent="0" marL="0">
              <ns1:lnSpc>
                <ns1:spcPts val="1880"/>
              </ns1:lnSpc>
              <ns1:buNone/>
            </ns1:pPr>
            <ns1:r>
              <ns1:rPr lang="en-US" sz="1450" dirty="0">
                <ns1:solidFill>
                  <ns1:srgbClr val="1F2328"/>
                </ns1:solidFill>
                <ns1:latin typeface="Courier New" pitchFamily="34" charset="0"/>
                <ns1:ea typeface="Courier New" pitchFamily="34" charset="-122"/>
                <ns1:cs typeface="Courier New" pitchFamily="34" charset="-120"/>
              </ns1:rPr>
              <ns1:t> node -v</ns1:t>
            </ns1:r>
            <ns1:endParaRPr lang="en-US" sz="1450" dirty="0"/>
          </ns1:p>
        </ns0:txBody>
      </ns0:sp>
      <ns0:sp>
        <ns0:nvSpPr>
          <ns0:cNvPr id="18" name="Text 14"/>
          <ns0:cNvSpPr/>
          <ns0:nvPr/>
        </ns0:nvSpPr>
        <ns0:spPr>
          <ns1:xfrm>
            <ns1:off x="669875" y="2426791"/>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b="1" dirty="0">
                <ns1:solidFill>
                  <ns1:srgbClr val="1A7F37"/>
                </ns1:solidFill>
                <ns1:latin typeface="Courier New" pitchFamily="34" charset="0"/>
                <ns1:ea typeface="Courier New" pitchFamily="34" charset="-122"/>
                <ns1:cs typeface="Courier New" pitchFamily="34" charset="-120"/>
              </ns1:rPr>
              <ns1:t>$</ns1:t>
            </ns1:r>
            <ns1:pPr algn="l" indent="0" marL="0">
              <ns1:lnSpc>
                <ns1:spcPts val="1880"/>
              </ns1:lnSpc>
              <ns1:buNone/>
            </ns1:pPr>
            <ns1:r>
              <ns1:rPr lang="en-US" sz="1450" dirty="0">
                <ns1:solidFill>
                  <ns1:srgbClr val="1F2328"/>
                </ns1:solidFill>
                <ns1:latin typeface="Courier New" pitchFamily="34" charset="0"/>
                <ns1:ea typeface="Courier New" pitchFamily="34" charset="-122"/>
                <ns1:cs typeface="Courier New" pitchFamily="34" charset="-120"/>
              </ns1:rPr>
              <ns1:t> npm -v</ns1:t>
            </ns1:r>
            <ns1:endParaRPr lang="en-US" sz="1450" dirty="0"/>
          </ns1:p>
        </ns0:txBody>
      </ns0:sp>
      <ns0:sp>
        <ns0:nvSpPr>
          <ns0:cNvPr id="19" name="Text 15"/>
          <ns0:cNvSpPr/>
          <ns0:nvPr/>
        </ns0:nvSpPr>
        <ns0:spPr>
          <ns1:xfrm>
            <ns1:off x="669875" y="2665512"/>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b="1" dirty="0">
                <ns1:solidFill>
                  <ns1:srgbClr val="1A7F37"/>
                </ns1:solidFill>
                <ns1:latin typeface="Courier New" pitchFamily="34" charset="0"/>
                <ns1:ea typeface="Courier New" pitchFamily="34" charset="-122"/>
                <ns1:cs typeface="Courier New" pitchFamily="34" charset="-120"/>
              </ns1:rPr>
              <ns1:t>$</ns1:t>
            </ns1:r>
            <ns1:pPr algn="l" indent="0" marL="0">
              <ns1:lnSpc>
                <ns1:spcPts val="1880"/>
              </ns1:lnSpc>
              <ns1:buNone/>
            </ns1:pPr>
            <ns1:r>
              <ns1:rPr lang="en-US" sz="1450" dirty="0">
                <ns1:solidFill>
                  <ns1:srgbClr val="1F2328"/>
                </ns1:solidFill>
                <ns1:latin typeface="Courier New" pitchFamily="34" charset="0"/>
                <ns1:ea typeface="Courier New" pitchFamily="34" charset="-122"/>
                <ns1:cs typeface="Courier New" pitchFamily="34" charset="-120"/>
              </ns1:rPr>
              <ns1:t> gh --version</ns1:t>
            </ns1:r>
            <ns1:endParaRPr lang="en-US" sz="1450" dirty="0"/>
          </ns1:p>
        </ns0:txBody>
      </ns0:sp>
      <ns0:sp>
        <ns0:nvSpPr>
          <ns0:cNvPr id="20" name="Text 16"/>
          <ns0:cNvSpPr/>
          <ns0:nvPr/>
        </ns0:nvSpPr>
        <ns0:spPr>
          <ns1:xfrm>
            <ns1:off x="669875" y="2904232"/>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dirty="0">
                <ns1:solidFill>
                  <ns1:srgbClr val="818B98"/>
                </ns1:solidFill>
                <ns1:latin typeface="Courier New" pitchFamily="34" charset="0"/>
                <ns1:ea typeface="Courier New" pitchFamily="34" charset="-122"/>
                <ns1:cs typeface="Courier New" pitchFamily="34" charset="-120"/>
              </ns1:rPr>
              <ns1:t># gh has its own sign-in</ns1:t>
            </ns1:r>
            <ns1:endParaRPr lang="en-US" sz="1450" dirty="0"/>
          </ns1:p>
        </ns0:txBody>
      </ns0:sp>
      <ns0:sp>
        <ns0:nvSpPr>
          <ns0:cNvPr id="21" name="Text 17"/>
          <ns0:cNvSpPr/>
          <ns0:nvPr/>
        </ns0:nvSpPr>
        <ns0:spPr>
          <ns1:xfrm>
            <ns1:off x="669875" y="3142952"/>
            <ns1:ext cx="3426232" cy="238720"/>
          </ns1:xfrm>
          <ns1:prstGeom prst="rect">
            <ns1:avLst/>
          </ns1:prstGeom>
          <ns1:noFill/>
          <ns1:ln/>
        </ns0:spPr>
        <ns0:txBody>
          <ns1:bodyPr wrap="square" lIns="0" tIns="0" rIns="0" bIns="0" rtlCol="0" anchor="t"/>
          <ns1:lstStyle/>
          <ns1:p>
            <ns1:pPr algn="l" indent="0" marL="0">
              <ns1:lnSpc>
                <ns1:spcPts val="1880"/>
              </ns1:lnSpc>
              <ns1:buNone/>
            </ns1:pPr>
            <ns1:r>
              <ns1:rPr lang="en-US" sz="1450" b="1" dirty="0">
                <ns1:solidFill>
                  <ns1:srgbClr val="1A7F37"/>
                </ns1:solidFill>
                <ns1:latin typeface="Courier New" pitchFamily="34" charset="0"/>
                <ns1:ea typeface="Courier New" pitchFamily="34" charset="-122"/>
                <ns1:cs typeface="Courier New" pitchFamily="34" charset="-120"/>
              </ns1:rPr>
              <ns1:t>$</ns1:t>
            </ns1:r>
            <ns1:pPr algn="l" indent="0" marL="0">
              <ns1:lnSpc>
                <ns1:spcPts val="1880"/>
              </ns1:lnSpc>
              <ns1:buNone/>
            </ns1:pPr>
            <ns1:r>
              <ns1:rPr lang="en-US" sz="1450" dirty="0">
                <ns1:solidFill>
                  <ns1:srgbClr val="1F2328"/>
                </ns1:solidFill>
                <ns1:latin typeface="Courier New" pitchFamily="34" charset="0"/>
                <ns1:ea typeface="Courier New" pitchFamily="34" charset="-122"/>
                <ns1:cs typeface="Courier New" pitchFamily="34" charset="-120"/>
              </ns1:rPr>
              <ns1:t> gh auth status</ns1:t>
            </ns1:r>
            <ns1:endParaRPr lang="en-US" sz="1450" dirty="0"/>
          </ns1:p>
        </ns0:txBody>
      </ns0:sp>
      <ns0:sp>
        <ns0:nvSpPr>
          <ns0:cNvPr id="22" name="Text 18"/>
          <ns0:cNvSpPr/>
          <ns0:nvPr/>
        </ns0:nvSpPr>
        <ns0:spPr>
          <ns1:xfrm>
            <ns1:off x="4444752" y="1574750"/>
            <ns1:ext cx="4191149" cy="1046262"/>
          </ns1:xfrm>
          <ns1:prstGeom prst="roundRect">
            <ns1:avLst>
              <ns1:gd name="adj" fmla="val 12138"/>
            </ns1:avLst>
          </ns1:prstGeom>
          <ns1:solidFill>
            <ns1:srgbClr val="FFFFFF"/>
          </ns1:solidFill>
          <ns1:ln w="9525">
            <ns1:solidFill>
              <ns1:srgbClr val="8CE7A5"/>
            </ns1:solidFill>
          </ns1:ln>
        </ns0:spPr>
        <ns0:txBody>
          <ns1:bodyPr wrap="square" rtlCol="0" anchor="ctr"/>
          <ns1:lstStyle/>
          <ns1:p>
            <ns1:pPr indent="0" marL="0">
              <ns1:buNone/>
            </ns1:pPr>
            <ns1:endParaRPr lang="en-US" dirty="0"/>
          </ns1:p>
        </ns0:txBody>
      </ns0:sp>
      <ns0:sp>
        <ns0:nvSpPr>
          <ns0:cNvPr id="23" name="Text 19"/>
          <ns0:cNvSpPr/>
          <ns0:nvPr/>
        </ns0:nvSpPr>
        <ns0:spPr>
          <ns1:xfrm>
            <ns1:off x="4631978" y="1761976"/>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24"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4714577" y="1844576"/>
            <ns1:ext cx="215801" cy="215801"/>
          </ns1:xfrm>
          <ns1:prstGeom prst="rect">
            <ns1:avLst/>
          </ns1:prstGeom>
        </ns0:spPr>
      </ns0:pic>
      <ns0:sp>
        <ns0:nvSpPr>
          <ns0:cNvPr id="25" name="Text 20"/>
          <ns0:cNvSpPr/>
          <ns0:nvPr/>
        </ns0:nvSpPr>
        <ns0:spPr>
          <ns1:xfrm>
            <ns1:off x="5127278" y="1838176"/>
            <ns1:ext cx="2233351" cy="228600"/>
          </ns1:xfrm>
          <ns1:prstGeom prst="rect">
            <ns1:avLst/>
          </ns1:prstGeom>
          <ns1:noFill/>
          <ns1:ln/>
        </ns0:spPr>
        <ns0:txBody>
          <ns1:bodyPr wrap="square" lIns="0" tIns="0" rIns="0" bIns="0" rtlCol="0" anchor="t"/>
          <ns1:lstStyle/>
          <ns1:p>
            <ns1:pPr algn="l" indent="0" marL="0">
              <ns1:lnSpc>
                <ns1:spcPts val="1800"/>
              </ns1:lnSpc>
              <ns1:buNone/>
            </ns1:pPr>
            <ns1:r>
              <ns1:rPr lang="en-US" sz="1650" b="1" dirty="0">
                <ns1:solidFill>
                  <ns1:srgbClr val="1F2328"/>
                </ns1:solidFill>
                <ns1:latin typeface="Arial" pitchFamily="34" charset="0"/>
                <ns1:ea typeface="Arial" pitchFamily="34" charset="-122"/>
                <ns1:cs typeface="Arial" pitchFamily="34" charset="-120"/>
              </ns1:rPr>
              <ns1:t>Each shows a version</ns1:t>
            </ns1:r>
            <ns1:endParaRPr lang="en-US" sz="1650" dirty="0"/>
          </ns1:p>
        </ns0:txBody>
      </ns0:sp>
      <ns0:sp>
        <ns0:nvSpPr>
          <ns0:cNvPr id="26" name="Text 21"/>
          <ns0:cNvSpPr/>
          <ns0:nvPr/>
        </ns0:nvSpPr>
        <ns0:spPr>
          <ns1:xfrm>
            <ns1:off x="4631978" y="2219176"/>
            <ns1:ext cx="3893031" cy="214610"/>
          </ns1:xfrm>
          <ns1:prstGeom prst="rect">
            <ns1:avLst/>
          </ns1:prstGeom>
          <ns1:noFill/>
          <ns1:ln/>
        </ns0:spPr>
        <ns0:txBody>
          <ns1:bodyPr wrap="square" lIns="0" tIns="0" rIns="0" bIns="0" rtlCol="0" anchor="t"/>
          <ns1:lstStyle/>
          <ns1:p>
            <ns1:pPr algn="l" indent="0" marL="0">
              <ns1:lnSpc>
                <ns1:spcPts val="1690"/>
              </ns1:lnSpc>
              <ns1:buNone/>
            </ns1:pPr>
            <ns1:r>
              <ns1:rPr lang="en-US" sz="1400" dirty="0">
                <ns1:solidFill>
                  <ns1:srgbClr val="59636E"/>
                </ns1:solidFill>
                <ns1:latin typeface="Arial" pitchFamily="34" charset="0"/>
                <ns1:ea typeface="Arial" pitchFamily="34" charset="-122"/>
                <ns1:cs typeface="Arial" pitchFamily="34" charset="-120"/>
              </ns1:rPr>
              <ns1:t>Install only what is missing, then check again.</ns1:t>
            </ns1:r>
            <ns1:endParaRPr lang="en-US" sz="1400" dirty="0"/>
          </ns1:p>
        </ns0:txBody>
      </ns0:sp>
      <ns0:sp>
        <ns0:nvSpPr>
          <ns0:cNvPr id="27" name="Text 22"/>
          <ns0:cNvSpPr/>
          <ns0:nvPr/>
        </ns0:nvSpPr>
        <ns0:spPr>
          <ns1:xfrm>
            <ns1:off x="4444752" y="2798713"/>
            <ns1:ext cx="4191149" cy="1279922"/>
          </ns1:xfrm>
          <ns1:prstGeom prst="roundRect">
            <ns1:avLst>
              <ns1:gd name="adj" fmla="val 9922"/>
            </ns1:avLst>
          </ns1:prstGeom>
          <ns1:solidFill>
            <ns1:srgbClr val="FFFFFF"/>
          </ns1:solidFill>
          <ns1:ln w="9525">
            <ns1:solidFill>
              <ns1:srgbClr val="9CD7FF"/>
            </ns1:solidFill>
          </ns1:ln>
        </ns0:spPr>
        <ns0:txBody>
          <ns1:bodyPr wrap="square" rtlCol="0" anchor="ctr"/>
          <ns1:lstStyle/>
          <ns1:p>
            <ns1:pPr indent="0" marL="0">
              <ns1:buNone/>
            </ns1:pPr>
            <ns1:endParaRPr lang="en-US" dirty="0"/>
          </ns1:p>
        </ns0:txBody>
      </ns0:sp>
      <ns0:sp>
        <ns0:nvSpPr>
          <ns0:cNvPr id="28" name="Text 23"/>
          <ns0:cNvSpPr/>
          <ns0:nvPr/>
        </ns0:nvSpPr>
        <ns0:spPr>
          <ns1:xfrm>
            <ns1:off x="4631978" y="2985939"/>
            <ns1:ext cx="381000" cy="381000"/>
          </ns1:xfrm>
          <ns1:prstGeom prst="roundRect">
            <ns1:avLst>
              <ns1:gd name="adj" fmla="val 23333"/>
            </ns1:avLst>
          </ns1:prstGeom>
          <ns1:solidFill>
            <ns1:srgbClr val="DDF4FF"/>
          </ns1:solidFill>
          <ns1:ln/>
        </ns0:spPr>
        <ns0:txBody>
          <ns1:bodyPr wrap="square" rtlCol="0" anchor="ctr"/>
          <ns1:lstStyle/>
          <ns1:p>
            <ns1:pPr indent="0" marL="0">
              <ns1:buNone/>
            </ns1:pPr>
            <ns1:endParaRPr lang="en-US" dirty="0"/>
          </ns1:p>
        </ns0:txBody>
      </ns0:sp>
      <ns0:pic>
        <ns0:nvPicPr>
          <ns0:cNvPr id="29"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4714577" y="3068538"/>
            <ns1:ext cx="215801" cy="215801"/>
          </ns1:xfrm>
          <ns1:prstGeom prst="rect">
            <ns1:avLst/>
          </ns1:prstGeom>
        </ns0:spPr>
      </ns0:pic>
      <ns0:sp>
        <ns0:nvSpPr>
          <ns0:cNvPr id="30" name="Text 24"/>
          <ns0:cNvSpPr/>
          <ns0:nvPr/>
        </ns0:nvSpPr>
        <ns0:spPr>
          <ns1:xfrm>
            <ns1:off x="5127278" y="3062139"/>
            <ns1:ext cx="2220903" cy="228600"/>
          </ns1:xfrm>
          <ns1:prstGeom prst="rect">
            <ns1:avLst/>
          </ns1:prstGeom>
          <ns1:noFill/>
          <ns1:ln/>
        </ns0:spPr>
        <ns0:txBody>
          <ns1:bodyPr wrap="square" lIns="0" tIns="0" rIns="0" bIns="0" rtlCol="0" anchor="t"/>
          <ns1:lstStyle/>
          <ns1:p>
            <ns1:pPr algn="l" indent="0" marL="0">
              <ns1:lnSpc>
                <ns1:spcPts val="1800"/>
              </ns1:lnSpc>
              <ns1:buNone/>
            </ns1:pPr>
            <ns1:r>
              <ns1:rPr lang="en-US" sz="1650" b="1" dirty="0">
                <ns1:solidFill>
                  <ns1:srgbClr val="1F2328"/>
                </ns1:solidFill>
                <ns1:latin typeface="Arial" pitchFamily="34" charset="0"/>
                <ns1:ea typeface="Arial" pitchFamily="34" charset="-122"/>
                <ns1:cs typeface="Arial" pitchFamily="34" charset="-120"/>
              </ns1:rPr>
              <ns1:t>Check the gh account</ns1:t>
            </ns1:r>
            <ns1:endParaRPr lang="en-US" sz="1650" dirty="0"/>
          </ns1:p>
        </ns0:txBody>
      </ns0:sp>
      <ns0:sp>
        <ns0:nvSpPr>
          <ns0:cNvPr id="31" name="Text 25"/>
          <ns0:cNvSpPr/>
          <ns0:nvPr/>
        </ns0:nvSpPr>
        <ns0:spPr>
          <ns1:xfrm>
            <ns1:off x="4631978" y="3443139"/>
            <ns1:ext cx="3893031" cy="448270"/>
          </ns1:xfrm>
          <ns1:prstGeom prst="rect">
            <ns1:avLst/>
          </ns1:prstGeom>
          <ns1:noFill/>
          <ns1:ln/>
        </ns0:spPr>
        <ns0:txBody>
          <ns1:bodyPr wrap="square" lIns="0" tIns="0" rIns="0" bIns="0" rtlCol="0" anchor="t"/>
          <ns1:lstStyle/>
          <ns1:p>
            <ns1:pPr algn="l" indent="0" marL="0">
              <ns1:lnSpc>
                <ns1:spcPts val="1690"/>
              </ns1:lnSpc>
              <ns1:buNone/>
            </ns1:pPr>
            <ns1:r>
              <ns1:rPr lang="en-US" sz="1400" dirty="0">
                <ns1:solidFill>
                  <ns1:srgbClr val="59636E"/>
                </ns1:solidFill>
                <ns1:latin typeface="Arial" pitchFamily="34" charset="0"/>
                <ns1:ea typeface="Arial" pitchFamily="34" charset="-122"/>
                <ns1:cs typeface="Arial" pitchFamily="34" charset="-120"/>
              </ns1:rPr>
              <ns1:t>It must own your fork. If not, run </ns1:t>
            </ns1:r>
            <ns1:pPr algn="l" indent="0" marL="0">
              <ns1:lnSpc>
                <ns1:spcPts val="1690"/>
              </ns1:lnSpc>
              <ns1:buNone/>
            </ns1:pPr>
            <ns1:r>
              <ns1:rPr lang="en-US" sz="1400" b="1" dirty="0">
                <ns1:solidFill>
                  <ns1:srgbClr val="0550AE"/>
                </ns1:solidFill>
                <ns1:latin typeface="Courier New" pitchFamily="34" charset="0"/>
                <ns1:ea typeface="Courier New" pitchFamily="34" charset="-122"/>
                <ns1:cs typeface="Courier New" pitchFamily="34" charset="-120"/>
              </ns1:rPr>
              <ns1:t>gh auth login</ns1:t>
            </ns1:r>
            <ns1:pPr algn="l" indent="0" marL="0">
              <ns1:lnSpc>
                <ns1:spcPts val="1690"/>
              </ns1:lnSpc>
              <ns1:buNone/>
            </ns1:pPr>
            <ns1:r>
              <ns1:rPr lang="en-US" sz="1400" dirty="0">
                <ns1:solidFill>
                  <ns1:srgbClr val="59636E"/>
                </ns1:solidFill>
                <ns1:latin typeface="Arial" pitchFamily="34" charset="0"/>
                <ns1:ea typeface="Arial" pitchFamily="34" charset="-122"/>
                <ns1:cs typeface="Arial" pitchFamily="34" charset="-120"/>
              </ns1:rPr>
              <ns1:t>.</ns1:t>
            </ns1:r>
            <ns1:endParaRPr lang="en-US" sz="1400" dirty="0"/>
          </ns1:p>
        </ns0:txBody>
      </ns0:sp>
    </ns0:spTree>
  </ns0:cSld>
  <ns0:clrMapOvr>
    <ns1:masterClrMapping/>
  </ns0:clrMapOvr>
</ns0: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Open this chapter on GitHub">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2026-10-06T21:16:45Z</dcterms:created>
  <dcterms:modified xsi:type="dcterms:W3CDTF">2026-10-06T21:16:45Z</dcterms:modified>
</cp:coreProperties>
</file>