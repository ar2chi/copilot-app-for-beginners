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can direct agents in the GitHub Copilot app, you need the app installed and signed in, your copy of the course repository connected, and the practice items that later chapters use. This chapter walks through that setup and checks the tools the exercises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Install and sign in, Connect your repository, Soundcheck and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the course, a recording studio is the recurring analogy. Before you record anything, you get the studio ready: sign in for access, plug in your gear, load the song, and run a quick soundcheck. This chapter is that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prerequisites. The Copilot plan can be replaced by your own model provider during sign-in. For Copilot Business or Enterprise, the GitHub Copilot app policy must be enabled, and it is separate from the Copilot CLI policy. Git, Node.js, and the GitHub CLI are checked later in the Terminal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install the app and sign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Download and install the app from github.com/features/ai/github-app, then select Sign in to GitHub. Enterprise Cloud users with a ghe.com domain use the second button. At Connect your repositories, leave every repository unselected and select Continue; you will connect your fork in the next section. The app opens the New view. If it shows a short tip about a new feature, you can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give the app a repository to work in, your own fork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Fork the course repository so you have your own copy to change. In the app, select the plus next to Sessions and choose Add GitHub repository. Search for copilot-app-for-beginners, then select your fork, the result that starts with your GitHub username, not github/copilot-app-for-beginners. The app adds it under Sessions. If you already have a local clone, use Open folder. If you have the URL, use Clone repository.</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project in the sidebar and select the plus that appears. In the workspace selector below the prompt box, choose Current checkout. This uses the clone already on your machine. You will learn about the other options later. Then submit a short prompt to create the session: Name the top-level folders in this repository. Do not change any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soundcheck. Confirm the tools work, then load the 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Open View &gt; Toggle Panel &gt; Terminal. Run the four version checks. Each should print a version number. On Windows, if npm fails because running scripts is disabled, use npm.cmd instead. The GitHub CLI has its own sign-in, separate from the app. It must use the account that owns your fork, because the setup script creates items there. If needed, run gh auth login, choose GitHub.com and Login with a web browser, then check again.</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11</ns1:t>
            </ns1:fld>
            <ns1:endParaRPr lang="en-US"/>
          </ns1:p>
        </ns0:txBody>
      </ns0:sp>
    </ns0:spTree>
    <ns0:extLst>
      <ns0:ext uri="{BB962C8B-B14F-4D97-AF65-F5344CB8AC3E}">
        <ns2:creationId val="1024086991"/>
      </ns0:ext>
    </ns0:extLst>
  </ns0:cSld>
  <ns0:clrMapOvr>
    <ns1:masterClrMapping/>
  </ns0:clrMapOvr>
</ns0: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browser, open your fork, select the Actions tab, and enable workflows so the practice checks can run. Then run the script with dry-run from the repository root. It ends with Dry run complete, No changes were made. Confirm the Repository line shows your fork. Then run it for real with the yes flag. It creates labels, issues, practice branches with intentional bugs, and pull requests with a review comment and a failing check. If it stops with Setup failed, fix the reported problem and run it again; it does not make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this prompt from the project session prompt box. The expected answer summarizes the course structure and identifies samples/book-app-web as the web sample used later. If the script could not run, the Training GitHub Scenarios appendix has manual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studio is ready. Next, Chapter 01 answers why you would use the desktop app if you already use Copilot in an editor or terminal, then tours the interface, session types, and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5" Type="http://schemas.openxmlformats.org/officeDocument/2006/relationships/hyperlink" Target="https://github.com/github/copilot-app-for-beginners/tree/main/00-setup"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image" Target="../media/image-3-3.jp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5" Type="http://schemas.openxmlformats.org/officeDocument/2006/relationships/hyperlink" Target="https://github.com/github/copilot-app-for-beginners/tree/main/00-setup" TargetMode="External"/><Relationship Id="rId6" Type="http://schemas.openxmlformats.org/officeDocument/2006/relationships/hyperlink" Target="https://github.com/github/copilot-app-for-beginners/tree/main/01-tour-the-app"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9891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00</a:t>
            </a:r>
            <a:endParaRPr lang="en-US" sz="1450" dirty="0"/>
          </a:p>
        </p:txBody>
      </p:sp>
      <p:sp>
        <p:nvSpPr>
          <p:cNvPr id="5" name="Text 1"/>
          <p:cNvSpPr/>
          <p:nvPr/>
        </p:nvSpPr>
        <p:spPr>
          <a:xfrm>
            <a:off x="1015901" y="13001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Set Up the GitHub Copilot app</a:t>
            </a:r>
            <a:endParaRPr lang="en-US" sz="4200" dirty="0"/>
          </a:p>
        </p:txBody>
      </p:sp>
      <p:sp>
        <p:nvSpPr>
          <p:cNvPr id="6" name="Text 2"/>
          <p:cNvSpPr/>
          <p:nvPr/>
        </p:nvSpPr>
        <p:spPr>
          <a:xfrm>
            <a:off x="1015901" y="27479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30399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A little setup now means a lot more hands-on learning later.</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965525"/>
            <a:ext cx="177701" cy="177701"/>
          </a:xfrm>
          <a:prstGeom prst="rect">
            <a:avLst/>
          </a:prstGeom>
        </p:spPr>
      </p:pic>
      <p:sp>
        <p:nvSpPr>
          <p:cNvPr id="9" name="Text 4"/>
          <p:cNvSpPr/>
          <p:nvPr/>
        </p:nvSpPr>
        <p:spPr>
          <a:xfrm>
            <a:off x="1282452" y="39543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0-setup"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00</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495425"/>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500188"/>
            <a:ext cx="8127950" cy="0"/>
          </a:xfrm>
          <a:prstGeom prst="line">
            <a:avLst/>
          </a:prstGeom>
          <a:noFill/>
          <a:ln w="9525">
            <a:solidFill>
              <a:srgbClr val="9CD7FF"/>
            </a:solidFill>
            <a:prstDash val="solid"/>
          </a:ln>
        </p:spPr>
      </p:sp>
      <p:sp>
        <p:nvSpPr>
          <p:cNvPr id="10" name="Shape 6"/>
          <p:cNvSpPr/>
          <p:nvPr/>
        </p:nvSpPr>
        <p:spPr>
          <a:xfrm>
            <a:off x="8631138" y="1495425"/>
            <a:ext cx="0" cy="857250"/>
          </a:xfrm>
          <a:prstGeom prst="line">
            <a:avLst/>
          </a:prstGeom>
          <a:noFill/>
          <a:ln w="9525">
            <a:solidFill>
              <a:srgbClr val="9CD7FF"/>
            </a:solidFill>
            <a:prstDash val="solid"/>
          </a:ln>
        </p:spPr>
      </p:sp>
      <p:sp>
        <p:nvSpPr>
          <p:cNvPr id="11" name="Shape 7"/>
          <p:cNvSpPr/>
          <p:nvPr/>
        </p:nvSpPr>
        <p:spPr>
          <a:xfrm>
            <a:off x="507950" y="2347913"/>
            <a:ext cx="8127950" cy="0"/>
          </a:xfrm>
          <a:prstGeom prst="line">
            <a:avLst/>
          </a:prstGeom>
          <a:noFill/>
          <a:ln w="9525">
            <a:solidFill>
              <a:srgbClr val="9CD7FF"/>
            </a:solidFill>
            <a:prstDash val="solid"/>
          </a:ln>
        </p:spPr>
      </p:sp>
      <p:sp>
        <p:nvSpPr>
          <p:cNvPr id="12" name="Shape 8"/>
          <p:cNvSpPr/>
          <p:nvPr/>
        </p:nvSpPr>
        <p:spPr>
          <a:xfrm>
            <a:off x="546050" y="1495425"/>
            <a:ext cx="0" cy="857250"/>
          </a:xfrm>
          <a:prstGeom prst="line">
            <a:avLst/>
          </a:prstGeom>
          <a:noFill/>
          <a:ln w="76200">
            <a:solidFill>
              <a:srgbClr val="0969DA"/>
            </a:solidFill>
            <a:prstDash val="solid"/>
          </a:ln>
        </p:spPr>
      </p:sp>
      <p:sp>
        <p:nvSpPr>
          <p:cNvPr id="13" name="Text 9"/>
          <p:cNvSpPr/>
          <p:nvPr/>
        </p:nvSpPr>
        <p:spPr>
          <a:xfrm>
            <a:off x="812750" y="170973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657350"/>
            <a:ext cx="538694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Install and sign in</a:t>
            </a:r>
            <a:endParaRPr lang="en-US" sz="1800" dirty="0"/>
          </a:p>
        </p:txBody>
      </p:sp>
      <p:sp>
        <p:nvSpPr>
          <p:cNvPr id="15" name="Text 11"/>
          <p:cNvSpPr/>
          <p:nvPr/>
        </p:nvSpPr>
        <p:spPr>
          <a:xfrm>
            <a:off x="1625501" y="1974800"/>
            <a:ext cx="5386941"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Download the desktop app and sign in with your GitHub account.</a:t>
            </a:r>
            <a:endParaRPr lang="en-US" sz="1450" dirty="0"/>
          </a:p>
        </p:txBody>
      </p:sp>
      <p:sp>
        <p:nvSpPr>
          <p:cNvPr id="16" name="Text 12"/>
          <p:cNvSpPr/>
          <p:nvPr/>
        </p:nvSpPr>
        <p:spPr>
          <a:xfrm>
            <a:off x="507950" y="2505075"/>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857250"/>
          </a:xfrm>
          <a:prstGeom prst="line">
            <a:avLst/>
          </a:prstGeom>
          <a:noFill/>
          <a:ln w="9525">
            <a:solidFill>
              <a:srgbClr val="E0C5FF"/>
            </a:solidFill>
            <a:prstDash val="solid"/>
          </a:ln>
        </p:spPr>
      </p:sp>
      <p:sp>
        <p:nvSpPr>
          <p:cNvPr id="19" name="Shape 15"/>
          <p:cNvSpPr/>
          <p:nvPr/>
        </p:nvSpPr>
        <p:spPr>
          <a:xfrm>
            <a:off x="507950" y="3357563"/>
            <a:ext cx="8127950" cy="0"/>
          </a:xfrm>
          <a:prstGeom prst="line">
            <a:avLst/>
          </a:prstGeom>
          <a:noFill/>
          <a:ln w="9525">
            <a:solidFill>
              <a:srgbClr val="E0C5FF"/>
            </a:solidFill>
            <a:prstDash val="solid"/>
          </a:ln>
        </p:spPr>
      </p:sp>
      <p:sp>
        <p:nvSpPr>
          <p:cNvPr id="20" name="Shape 16"/>
          <p:cNvSpPr/>
          <p:nvPr/>
        </p:nvSpPr>
        <p:spPr>
          <a:xfrm>
            <a:off x="546050" y="2505075"/>
            <a:ext cx="0" cy="857250"/>
          </a:xfrm>
          <a:prstGeom prst="line">
            <a:avLst/>
          </a:prstGeom>
          <a:noFill/>
          <a:ln w="76200">
            <a:solidFill>
              <a:srgbClr val="8250DF"/>
            </a:solidFill>
            <a:prstDash val="solid"/>
          </a:ln>
        </p:spPr>
      </p:sp>
      <p:sp>
        <p:nvSpPr>
          <p:cNvPr id="21" name="Text 17"/>
          <p:cNvSpPr/>
          <p:nvPr/>
        </p:nvSpPr>
        <p:spPr>
          <a:xfrm>
            <a:off x="812750" y="27193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6743316"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Connect your repository</a:t>
            </a:r>
            <a:endParaRPr lang="en-US" sz="1800" dirty="0"/>
          </a:p>
        </p:txBody>
      </p:sp>
      <p:sp>
        <p:nvSpPr>
          <p:cNvPr id="23" name="Text 19"/>
          <p:cNvSpPr/>
          <p:nvPr/>
        </p:nvSpPr>
        <p:spPr>
          <a:xfrm>
            <a:off x="1625501" y="2984450"/>
            <a:ext cx="6743316"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Fork the course, add it to the app as a project, and start your first project session.</a:t>
            </a:r>
            <a:endParaRPr lang="en-US" sz="1450" dirty="0"/>
          </a:p>
        </p:txBody>
      </p:sp>
      <p:sp>
        <p:nvSpPr>
          <p:cNvPr id="24" name="Text 20"/>
          <p:cNvSpPr/>
          <p:nvPr/>
        </p:nvSpPr>
        <p:spPr>
          <a:xfrm>
            <a:off x="507950" y="351472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519488"/>
            <a:ext cx="8127950" cy="0"/>
          </a:xfrm>
          <a:prstGeom prst="line">
            <a:avLst/>
          </a:prstGeom>
          <a:noFill/>
          <a:ln w="9525">
            <a:solidFill>
              <a:srgbClr val="8CE7A5"/>
            </a:solidFill>
            <a:prstDash val="solid"/>
          </a:ln>
        </p:spPr>
      </p:sp>
      <p:sp>
        <p:nvSpPr>
          <p:cNvPr id="26" name="Shape 22"/>
          <p:cNvSpPr/>
          <p:nvPr/>
        </p:nvSpPr>
        <p:spPr>
          <a:xfrm>
            <a:off x="8631138" y="3514725"/>
            <a:ext cx="0" cy="857250"/>
          </a:xfrm>
          <a:prstGeom prst="line">
            <a:avLst/>
          </a:prstGeom>
          <a:noFill/>
          <a:ln w="9525">
            <a:solidFill>
              <a:srgbClr val="8CE7A5"/>
            </a:solidFill>
            <a:prstDash val="solid"/>
          </a:ln>
        </p:spPr>
      </p:sp>
      <p:sp>
        <p:nvSpPr>
          <p:cNvPr id="27" name="Shape 23"/>
          <p:cNvSpPr/>
          <p:nvPr/>
        </p:nvSpPr>
        <p:spPr>
          <a:xfrm>
            <a:off x="507950" y="4367213"/>
            <a:ext cx="8127950" cy="0"/>
          </a:xfrm>
          <a:prstGeom prst="line">
            <a:avLst/>
          </a:prstGeom>
          <a:noFill/>
          <a:ln w="9525">
            <a:solidFill>
              <a:srgbClr val="8CE7A5"/>
            </a:solidFill>
            <a:prstDash val="solid"/>
          </a:ln>
        </p:spPr>
      </p:sp>
      <p:sp>
        <p:nvSpPr>
          <p:cNvPr id="28" name="Shape 24"/>
          <p:cNvSpPr/>
          <p:nvPr/>
        </p:nvSpPr>
        <p:spPr>
          <a:xfrm>
            <a:off x="546050" y="3514725"/>
            <a:ext cx="0" cy="857250"/>
          </a:xfrm>
          <a:prstGeom prst="line">
            <a:avLst/>
          </a:prstGeom>
          <a:noFill/>
          <a:ln w="76200">
            <a:solidFill>
              <a:srgbClr val="1A7F37"/>
            </a:solidFill>
            <a:prstDash val="solid"/>
          </a:ln>
        </p:spPr>
      </p:sp>
      <p:sp>
        <p:nvSpPr>
          <p:cNvPr id="29" name="Text 25"/>
          <p:cNvSpPr/>
          <p:nvPr/>
        </p:nvSpPr>
        <p:spPr>
          <a:xfrm>
            <a:off x="812750" y="3729038"/>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676650"/>
            <a:ext cx="6482060"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Soundcheck and seed</a:t>
            </a:r>
            <a:endParaRPr lang="en-US" sz="1800" dirty="0"/>
          </a:p>
        </p:txBody>
      </p:sp>
      <p:sp>
        <p:nvSpPr>
          <p:cNvPr id="31" name="Text 27"/>
          <p:cNvSpPr/>
          <p:nvPr/>
        </p:nvSpPr>
        <p:spPr>
          <a:xfrm>
            <a:off x="1625501" y="3994100"/>
            <a:ext cx="6482060"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Check your tools, then seed your fork with the practice work for later chapters.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Setting up the studio</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Every chapter ties agent work to making a record.</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etting up the studio analogy for GitHub Copilot app setup"/>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633389"/>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1715988"/>
            <a:ext cx="215801" cy="215801"/>
          </a:xfrm>
          <a:prstGeom prst="rect">
            <a:avLst/>
          </a:prstGeom>
        </p:spPr>
      </p:pic>
      <p:sp>
        <p:nvSpPr>
          <p:cNvPr id="13" name="Text 7"/>
          <p:cNvSpPr/>
          <p:nvPr/>
        </p:nvSpPr>
        <p:spPr>
          <a:xfrm>
            <a:off x="5537150" y="1597968"/>
            <a:ext cx="171797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Sign in for access</a:t>
            </a:r>
            <a:endParaRPr lang="en-US" sz="1550" dirty="0"/>
          </a:p>
        </p:txBody>
      </p:sp>
      <p:sp>
        <p:nvSpPr>
          <p:cNvPr id="14" name="Text 8"/>
          <p:cNvSpPr/>
          <p:nvPr/>
        </p:nvSpPr>
        <p:spPr>
          <a:xfrm>
            <a:off x="5537150" y="1851868"/>
            <a:ext cx="171797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Sign in with GitHub.</a:t>
            </a:r>
            <a:endParaRPr lang="en-US" sz="1350" dirty="0"/>
          </a:p>
        </p:txBody>
      </p:sp>
      <p:sp>
        <p:nvSpPr>
          <p:cNvPr id="15" name="Text 9"/>
          <p:cNvSpPr/>
          <p:nvPr/>
        </p:nvSpPr>
        <p:spPr>
          <a:xfrm>
            <a:off x="5003750" y="249168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2574280"/>
            <a:ext cx="215801" cy="215801"/>
          </a:xfrm>
          <a:prstGeom prst="rect">
            <a:avLst/>
          </a:prstGeom>
        </p:spPr>
      </p:pic>
      <p:sp>
        <p:nvSpPr>
          <p:cNvPr id="17" name="Text 10"/>
          <p:cNvSpPr/>
          <p:nvPr/>
        </p:nvSpPr>
        <p:spPr>
          <a:xfrm>
            <a:off x="5537150" y="2456259"/>
            <a:ext cx="1639642"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Plug in your gear</a:t>
            </a:r>
            <a:endParaRPr lang="en-US" sz="1550" dirty="0"/>
          </a:p>
        </p:txBody>
      </p:sp>
      <p:sp>
        <p:nvSpPr>
          <p:cNvPr id="18" name="Text 11"/>
          <p:cNvSpPr/>
          <p:nvPr/>
        </p:nvSpPr>
        <p:spPr>
          <a:xfrm>
            <a:off x="5537150" y="2710160"/>
            <a:ext cx="1639642"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Connect your fork.</a:t>
            </a:r>
            <a:endParaRPr lang="en-US" sz="1350" dirty="0"/>
          </a:p>
        </p:txBody>
      </p:sp>
      <p:sp>
        <p:nvSpPr>
          <p:cNvPr id="19" name="Text 12"/>
          <p:cNvSpPr/>
          <p:nvPr/>
        </p:nvSpPr>
        <p:spPr>
          <a:xfrm>
            <a:off x="5003750" y="334997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432572"/>
            <a:ext cx="215801" cy="215801"/>
          </a:xfrm>
          <a:prstGeom prst="rect">
            <a:avLst/>
          </a:prstGeom>
        </p:spPr>
      </p:pic>
      <p:sp>
        <p:nvSpPr>
          <p:cNvPr id="21" name="Text 13"/>
          <p:cNvSpPr/>
          <p:nvPr/>
        </p:nvSpPr>
        <p:spPr>
          <a:xfrm>
            <a:off x="5537150" y="3314551"/>
            <a:ext cx="173027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Load the song</a:t>
            </a:r>
            <a:endParaRPr lang="en-US" sz="1550" dirty="0"/>
          </a:p>
        </p:txBody>
      </p:sp>
      <p:sp>
        <p:nvSpPr>
          <p:cNvPr id="22" name="Text 14"/>
          <p:cNvSpPr/>
          <p:nvPr/>
        </p:nvSpPr>
        <p:spPr>
          <a:xfrm>
            <a:off x="5537150" y="3568452"/>
            <a:ext cx="173027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Add the practice work.</a:t>
            </a:r>
            <a:endParaRPr lang="en-US" sz="1350" dirty="0"/>
          </a:p>
        </p:txBody>
      </p:sp>
      <p:sp>
        <p:nvSpPr>
          <p:cNvPr id="23" name="Text 15"/>
          <p:cNvSpPr/>
          <p:nvPr/>
        </p:nvSpPr>
        <p:spPr>
          <a:xfrm>
            <a:off x="5003750" y="4208264"/>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24"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086350" y="4290864"/>
            <a:ext cx="215801" cy="215801"/>
          </a:xfrm>
          <a:prstGeom prst="rect">
            <a:avLst/>
          </a:prstGeom>
        </p:spPr>
      </p:pic>
      <p:sp>
        <p:nvSpPr>
          <p:cNvPr id="25" name="Text 16"/>
          <p:cNvSpPr/>
          <p:nvPr/>
        </p:nvSpPr>
        <p:spPr>
          <a:xfrm>
            <a:off x="5537150" y="4172843"/>
            <a:ext cx="185642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Run a soundcheck</a:t>
            </a:r>
            <a:endParaRPr lang="en-US" sz="1550" dirty="0"/>
          </a:p>
        </p:txBody>
      </p:sp>
      <p:sp>
        <p:nvSpPr>
          <p:cNvPr id="26" name="Text 17"/>
          <p:cNvSpPr/>
          <p:nvPr/>
        </p:nvSpPr>
        <p:spPr>
          <a:xfrm>
            <a:off x="5537150" y="4426744"/>
            <a:ext cx="185642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Send your first prompts.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BEFORE YOU START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you need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will verify the tools from inside the app.</a:t>
            </a:r>
            <a:endParaRPr lang="en-US" sz="1650" dirty="0"/>
          </a:p>
        </p:txBody>
      </p:sp>
      <p:sp>
        <p:nvSpPr>
          <p:cNvPr id="9" name="Text 5"/>
          <p:cNvSpPr/>
          <p:nvPr/>
        </p:nvSpPr>
        <p:spPr>
          <a:xfrm>
            <a:off x="507950" y="1574750"/>
            <a:ext cx="8127950" cy="2378869"/>
          </a:xfrm>
          <a:prstGeom prst="roundRect">
            <a:avLst>
              <a:gd name="adj" fmla="val 4271"/>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Shape 6"/>
          <p:cNvSpPr/>
          <p:nvPr/>
        </p:nvSpPr>
        <p:spPr>
          <a:xfrm>
            <a:off x="517475" y="2006650"/>
            <a:ext cx="8108900" cy="0"/>
          </a:xfrm>
          <a:prstGeom prst="line">
            <a:avLst/>
          </a:prstGeom>
          <a:noFill/>
          <a:ln w="9525">
            <a:solidFill>
              <a:srgbClr val="D1D9E0"/>
            </a:solidFill>
            <a:prstDash val="solid"/>
          </a:ln>
        </p:spPr>
      </p:sp>
      <p:sp>
        <p:nvSpPr>
          <p:cNvPr id="11" name="Text 7"/>
          <p:cNvSpPr/>
          <p:nvPr/>
        </p:nvSpPr>
        <p:spPr>
          <a:xfrm>
            <a:off x="669875" y="1685776"/>
            <a:ext cx="2409444"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GitHub account</a:t>
            </a:r>
            <a:endParaRPr lang="en-US" sz="1450" dirty="0"/>
          </a:p>
        </p:txBody>
      </p:sp>
      <p:sp>
        <p:nvSpPr>
          <p:cNvPr id="12" name="Text 8"/>
          <p:cNvSpPr/>
          <p:nvPr/>
        </p:nvSpPr>
        <p:spPr>
          <a:xfrm>
            <a:off x="3336875" y="1685776"/>
            <a:ext cx="5259273" cy="214610"/>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Signs in to the app and owns your fork of the course</a:t>
            </a:r>
            <a:endParaRPr lang="en-US" sz="1450" dirty="0"/>
          </a:p>
        </p:txBody>
      </p:sp>
      <p:sp>
        <p:nvSpPr>
          <p:cNvPr id="13" name="Shape 9"/>
          <p:cNvSpPr/>
          <p:nvPr/>
        </p:nvSpPr>
        <p:spPr>
          <a:xfrm>
            <a:off x="517475" y="2648396"/>
            <a:ext cx="8108900" cy="0"/>
          </a:xfrm>
          <a:prstGeom prst="line">
            <a:avLst/>
          </a:prstGeom>
          <a:noFill/>
          <a:ln w="9525">
            <a:solidFill>
              <a:srgbClr val="D1D9E0"/>
            </a:solidFill>
            <a:prstDash val="solid"/>
          </a:ln>
        </p:spPr>
      </p:sp>
      <p:sp>
        <p:nvSpPr>
          <p:cNvPr id="14" name="Text 10"/>
          <p:cNvSpPr/>
          <p:nvPr/>
        </p:nvSpPr>
        <p:spPr>
          <a:xfrm>
            <a:off x="669875" y="2220218"/>
            <a:ext cx="2409444"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Copilot plan</a:t>
            </a:r>
            <a:endParaRPr lang="en-US" sz="1450" dirty="0"/>
          </a:p>
        </p:txBody>
      </p:sp>
      <p:sp>
        <p:nvSpPr>
          <p:cNvPr id="15" name="Text 11"/>
          <p:cNvSpPr/>
          <p:nvPr/>
        </p:nvSpPr>
        <p:spPr>
          <a:xfrm>
            <a:off x="3336875" y="2112913"/>
            <a:ext cx="5259273" cy="429220"/>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Or your own model provider. Organizations must enable the </a:t>
            </a:r>
            <a:pPr algn="l" indent="0" marL="0">
              <a:lnSpc>
                <a:spcPts val="1690"/>
              </a:lnSpc>
              <a:buNone/>
            </a:pPr>
            <a:r>
              <a:rPr lang="en-US" sz="1450" b="1" dirty="0">
                <a:solidFill>
                  <a:srgbClr val="59636E"/>
                </a:solidFill>
                <a:latin typeface="Arial" pitchFamily="34" charset="0"/>
                <a:ea typeface="Arial" pitchFamily="34" charset="-122"/>
                <a:cs typeface="Arial" pitchFamily="34" charset="-120"/>
              </a:rPr>
              <a:t>GitHub Copilot app</a:t>
            </a:r>
            <a:pPr algn="l" indent="0" marL="0">
              <a:lnSpc>
                <a:spcPts val="1690"/>
              </a:lnSpc>
              <a:buNone/>
            </a:pPr>
            <a:r>
              <a:rPr lang="en-US" sz="1450" dirty="0">
                <a:solidFill>
                  <a:srgbClr val="59636E"/>
                </a:solidFill>
                <a:latin typeface="Arial" pitchFamily="34" charset="0"/>
                <a:ea typeface="Arial" pitchFamily="34" charset="-122"/>
                <a:cs typeface="Arial" pitchFamily="34" charset="-120"/>
              </a:rPr>
              <a:t> policy.</a:t>
            </a:r>
            <a:endParaRPr lang="en-US" sz="1450" dirty="0"/>
          </a:p>
        </p:txBody>
      </p:sp>
      <p:sp>
        <p:nvSpPr>
          <p:cNvPr id="16" name="Shape 12"/>
          <p:cNvSpPr/>
          <p:nvPr/>
        </p:nvSpPr>
        <p:spPr>
          <a:xfrm>
            <a:off x="517475" y="3075533"/>
            <a:ext cx="8108900" cy="0"/>
          </a:xfrm>
          <a:prstGeom prst="line">
            <a:avLst/>
          </a:prstGeom>
          <a:noFill/>
          <a:ln w="9525">
            <a:solidFill>
              <a:srgbClr val="D1D9E0"/>
            </a:solidFill>
            <a:prstDash val="solid"/>
          </a:ln>
        </p:spPr>
      </p:sp>
      <p:sp>
        <p:nvSpPr>
          <p:cNvPr id="17" name="Text 13"/>
          <p:cNvSpPr/>
          <p:nvPr/>
        </p:nvSpPr>
        <p:spPr>
          <a:xfrm>
            <a:off x="669875" y="2754660"/>
            <a:ext cx="2409444"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Git</a:t>
            </a:r>
            <a:endParaRPr lang="en-US" sz="1450" dirty="0"/>
          </a:p>
        </p:txBody>
      </p:sp>
      <p:sp>
        <p:nvSpPr>
          <p:cNvPr id="18" name="Text 14"/>
          <p:cNvSpPr/>
          <p:nvPr/>
        </p:nvSpPr>
        <p:spPr>
          <a:xfrm>
            <a:off x="3336875" y="2754660"/>
            <a:ext cx="5259273" cy="214610"/>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Clones and manages your repository</a:t>
            </a:r>
            <a:endParaRPr lang="en-US" sz="1450" dirty="0"/>
          </a:p>
        </p:txBody>
      </p:sp>
      <p:sp>
        <p:nvSpPr>
          <p:cNvPr id="19" name="Shape 15"/>
          <p:cNvSpPr/>
          <p:nvPr/>
        </p:nvSpPr>
        <p:spPr>
          <a:xfrm>
            <a:off x="517475" y="3512195"/>
            <a:ext cx="8108900" cy="0"/>
          </a:xfrm>
          <a:prstGeom prst="line">
            <a:avLst/>
          </a:prstGeom>
          <a:noFill/>
          <a:ln w="9525">
            <a:solidFill>
              <a:srgbClr val="D1D9E0"/>
            </a:solidFill>
            <a:prstDash val="solid"/>
          </a:ln>
        </p:spPr>
      </p:sp>
      <p:sp>
        <p:nvSpPr>
          <p:cNvPr id="20" name="Text 16"/>
          <p:cNvSpPr/>
          <p:nvPr/>
        </p:nvSpPr>
        <p:spPr>
          <a:xfrm>
            <a:off x="669875" y="3186559"/>
            <a:ext cx="2409444"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Node.js LTS</a:t>
            </a:r>
            <a:endParaRPr lang="en-US" sz="1450" dirty="0"/>
          </a:p>
        </p:txBody>
      </p:sp>
      <p:sp>
        <p:nvSpPr>
          <p:cNvPr id="21" name="Text 17"/>
          <p:cNvSpPr/>
          <p:nvPr/>
        </p:nvSpPr>
        <p:spPr>
          <a:xfrm>
            <a:off x="3336875" y="3181796"/>
            <a:ext cx="5259273" cy="224135"/>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Runs </a:t>
            </a:r>
            <a:pPr algn="l" indent="0" marL="0">
              <a:lnSpc>
                <a:spcPts val="1690"/>
              </a:lnSpc>
              <a:buNone/>
            </a:pPr>
            <a:r>
              <a:rPr lang="en-US" sz="1450" b="1" dirty="0">
                <a:solidFill>
                  <a:srgbClr val="0550AE"/>
                </a:solidFill>
                <a:latin typeface="Courier New" pitchFamily="34" charset="0"/>
                <a:ea typeface="Courier New" pitchFamily="34" charset="-122"/>
                <a:cs typeface="Courier New" pitchFamily="34" charset="-120"/>
              </a:rPr>
              <a:t>samples/book-app-web</a:t>
            </a:r>
            <a:pPr algn="l" indent="0" marL="0">
              <a:lnSpc>
                <a:spcPts val="1690"/>
              </a:lnSpc>
              <a:buNone/>
            </a:pPr>
            <a:r>
              <a:rPr lang="en-US" sz="1450" dirty="0">
                <a:solidFill>
                  <a:srgbClr val="59636E"/>
                </a:solidFill>
                <a:latin typeface="Arial" pitchFamily="34" charset="0"/>
                <a:ea typeface="Arial" pitchFamily="34" charset="-122"/>
                <a:cs typeface="Arial" pitchFamily="34" charset="-120"/>
              </a:rPr>
              <a:t> in the exercises</a:t>
            </a:r>
            <a:endParaRPr lang="en-US" sz="1450" dirty="0"/>
          </a:p>
        </p:txBody>
      </p:sp>
      <p:sp>
        <p:nvSpPr>
          <p:cNvPr id="22" name="Text 18"/>
          <p:cNvSpPr/>
          <p:nvPr/>
        </p:nvSpPr>
        <p:spPr>
          <a:xfrm>
            <a:off x="669875" y="3618458"/>
            <a:ext cx="2409444" cy="224135"/>
          </a:xfrm>
          <a:prstGeom prst="rect">
            <a:avLst/>
          </a:prstGeom>
          <a:noFill/>
          <a:ln/>
        </p:spPr>
        <p:txBody>
          <a:bodyPr wrap="square" lIns="0" tIns="0" rIns="0" bIns="0" rtlCol="0" anchor="t"/>
          <a:lstStyle/>
          <a:p>
            <a:pPr algn="l" indent="0" marL="0">
              <a:lnSpc>
                <a:spcPts val="1690"/>
              </a:lnSpc>
              <a:buNone/>
            </a:pPr>
            <a:r>
              <a:rPr lang="en-US" sz="1450" dirty="0">
                <a:solidFill>
                  <a:srgbClr val="1F2328"/>
                </a:solidFill>
                <a:latin typeface="Arial" pitchFamily="34" charset="0"/>
                <a:ea typeface="Arial" pitchFamily="34" charset="-122"/>
                <a:cs typeface="Arial" pitchFamily="34" charset="-120"/>
              </a:rPr>
              <a:t>GitHub CLI (</a:t>
            </a:r>
            <a:pPr algn="l" indent="0" marL="0">
              <a:lnSpc>
                <a:spcPts val="1690"/>
              </a:lnSpc>
              <a:buNone/>
            </a:pPr>
            <a:r>
              <a:rPr lang="en-US" sz="1450" b="1" dirty="0">
                <a:solidFill>
                  <a:srgbClr val="0550AE"/>
                </a:solidFill>
                <a:latin typeface="Courier New" pitchFamily="34" charset="0"/>
                <a:ea typeface="Courier New" pitchFamily="34" charset="-122"/>
                <a:cs typeface="Courier New" pitchFamily="34" charset="-120"/>
              </a:rPr>
              <a:t>gh</a:t>
            </a:r>
            <a:pPr algn="l" indent="0" marL="0">
              <a:lnSpc>
                <a:spcPts val="1690"/>
              </a:lnSpc>
              <a:buNone/>
            </a:pPr>
            <a:r>
              <a:rPr lang="en-US" sz="1450" dirty="0">
                <a:solidFill>
                  <a:srgbClr val="1F2328"/>
                </a:solidFill>
                <a:latin typeface="Arial" pitchFamily="34" charset="0"/>
                <a:ea typeface="Arial" pitchFamily="34" charset="-122"/>
                <a:cs typeface="Arial" pitchFamily="34" charset="-120"/>
              </a:rPr>
              <a:t>)</a:t>
            </a:r>
            <a:endParaRPr lang="en-US" sz="1450" dirty="0"/>
          </a:p>
        </p:txBody>
      </p:sp>
      <p:sp>
        <p:nvSpPr>
          <p:cNvPr id="23" name="Text 19"/>
          <p:cNvSpPr/>
          <p:nvPr/>
        </p:nvSpPr>
        <p:spPr>
          <a:xfrm>
            <a:off x="3336875" y="3623221"/>
            <a:ext cx="5259273" cy="214610"/>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Runs the one-time setup script</a:t>
            </a:r>
            <a:endParaRPr lang="en-US" sz="1450" dirty="0"/>
          </a:p>
        </p:txBody>
      </p:sp>
      <p:sp>
        <p:nvSpPr>
          <p:cNvPr id="24" name="Text 20"/>
          <p:cNvSpPr/>
          <p:nvPr/>
        </p:nvSpPr>
        <p:spPr>
          <a:xfrm>
            <a:off x="507950" y="4131320"/>
            <a:ext cx="8127950" cy="496491"/>
          </a:xfrm>
          <a:prstGeom prst="roundRect">
            <a:avLst>
              <a:gd name="adj" fmla="val 20464"/>
            </a:avLst>
          </a:prstGeom>
          <a:solidFill>
            <a:srgbClr val="DDF4FF"/>
          </a:solidFill>
          <a:ln w="9525">
            <a:solidFill>
              <a:srgbClr val="9CD7FF"/>
            </a:solidFill>
          </a:ln>
        </p:spPr>
        <p:txBody>
          <a:bodyPr wrap="square" rtlCol="0" anchor="ctr"/>
          <a:lstStyle/>
          <a:p>
            <a:pPr indent="0" marL="0">
              <a:buNone/>
            </a:pPr>
            <a:endParaRPr lang="en-US" dirty="0"/>
          </a:p>
        </p:txBody>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5176" y="4277916"/>
            <a:ext cx="203150" cy="203150"/>
          </a:xfrm>
          <a:prstGeom prst="rect">
            <a:avLst/>
          </a:prstGeom>
        </p:spPr>
      </p:pic>
      <p:sp>
        <p:nvSpPr>
          <p:cNvPr id="26" name="Text 21"/>
          <p:cNvSpPr/>
          <p:nvPr/>
        </p:nvSpPr>
        <p:spPr>
          <a:xfrm>
            <a:off x="1025277" y="4267795"/>
            <a:ext cx="5650626" cy="223540"/>
          </a:xfrm>
          <a:prstGeom prst="rect">
            <a:avLst/>
          </a:prstGeom>
          <a:noFill/>
          <a:ln/>
        </p:spPr>
        <p:txBody>
          <a:bodyPr wrap="square" lIns="0" tIns="0" rIns="0" bIns="0" rtlCol="0" anchor="t"/>
          <a:lstStyle/>
          <a:p>
            <a:pPr algn="l" indent="0" marL="0">
              <a:lnSpc>
                <a:spcPts val="1760"/>
              </a:lnSpc>
              <a:buNone/>
            </a:pPr>
            <a:r>
              <a:rPr lang="en-US" sz="1450" b="1" dirty="0">
                <a:solidFill>
                  <a:srgbClr val="0969DA"/>
                </a:solidFill>
                <a:latin typeface="Arial" pitchFamily="34" charset="0"/>
                <a:ea typeface="Arial" pitchFamily="34" charset="-122"/>
                <a:cs typeface="Arial" pitchFamily="34" charset="-120"/>
              </a:rPr>
              <a:t>Note:</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The Copilot app policy is separate from the Copilot CLI policy.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8"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571774"/>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188282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Install and sign in</a:t>
            </a:r>
            <a:endParaRPr lang="en-US" sz="4000" dirty="0"/>
          </a:p>
        </p:txBody>
      </p:sp>
      <p:sp>
        <p:nvSpPr>
          <p:cNvPr id="11" name="Text 7"/>
          <p:cNvSpPr/>
          <p:nvPr/>
        </p:nvSpPr>
        <p:spPr>
          <a:xfrm>
            <a:off x="711101" y="267012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
        <p:nvSpPr>
          <p:cNvPr id="12" name="Text 8"/>
          <p:cNvSpPr/>
          <p:nvPr/>
        </p:nvSpPr>
        <p:spPr>
          <a:xfrm>
            <a:off x="711101" y="2936677"/>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Download the desktop app and sign in with your GitHub account.</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INSTALL AND SIGN IN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Three steps to the New view</a:t>
            </a:r>
            <a:endParaRPr lang="en-US" sz="2800" dirty="0"/>
          </a:p>
        </p:txBody>
      </p:sp>
      <p:sp>
        <p:nvSpPr>
          <p:cNvPr id="8" name="Text 4"/>
          <p:cNvSpPr/>
          <p:nvPr/>
        </p:nvSpPr>
        <p:spPr>
          <a:xfrm>
            <a:off x="507950" y="1770311"/>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9" name="Text 5"/>
          <p:cNvSpPr/>
          <p:nvPr/>
        </p:nvSpPr>
        <p:spPr>
          <a:xfrm>
            <a:off x="602615" y="181466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0" name="Text 6"/>
          <p:cNvSpPr/>
          <p:nvPr/>
        </p:nvSpPr>
        <p:spPr>
          <a:xfrm>
            <a:off x="939701" y="1770311"/>
            <a:ext cx="2984328"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Download and install</a:t>
            </a:r>
            <a:endParaRPr lang="en-US" sz="1550" dirty="0"/>
          </a:p>
        </p:txBody>
      </p:sp>
      <p:sp>
        <p:nvSpPr>
          <p:cNvPr id="11" name="Text 7"/>
          <p:cNvSpPr/>
          <p:nvPr/>
        </p:nvSpPr>
        <p:spPr>
          <a:xfrm>
            <a:off x="939701" y="2017812"/>
            <a:ext cx="298432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Get the app for your operating system.</a:t>
            </a:r>
            <a:endParaRPr lang="en-US" sz="1350" dirty="0"/>
          </a:p>
        </p:txBody>
      </p:sp>
      <p:sp>
        <p:nvSpPr>
          <p:cNvPr id="12" name="Text 8"/>
          <p:cNvSpPr/>
          <p:nvPr/>
        </p:nvSpPr>
        <p:spPr>
          <a:xfrm>
            <a:off x="507950" y="2495252"/>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3" name="Text 9"/>
          <p:cNvSpPr/>
          <p:nvPr/>
        </p:nvSpPr>
        <p:spPr>
          <a:xfrm>
            <a:off x="602615" y="253960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4" name="Text 10"/>
          <p:cNvSpPr/>
          <p:nvPr/>
        </p:nvSpPr>
        <p:spPr>
          <a:xfrm>
            <a:off x="939701" y="2495252"/>
            <a:ext cx="318668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Sign in to GitHub</a:t>
            </a:r>
            <a:endParaRPr lang="en-US" sz="1550" dirty="0"/>
          </a:p>
        </p:txBody>
      </p:sp>
      <p:sp>
        <p:nvSpPr>
          <p:cNvPr id="15" name="Text 11"/>
          <p:cNvSpPr/>
          <p:nvPr/>
        </p:nvSpPr>
        <p:spPr>
          <a:xfrm>
            <a:off x="939701" y="2742754"/>
            <a:ext cx="3186684" cy="405705"/>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On </a:t>
            </a:r>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*.ghe.com</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use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Sign in to GitHub Enterprise Cloud</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16" name="Text 12"/>
          <p:cNvSpPr/>
          <p:nvPr/>
        </p:nvSpPr>
        <p:spPr>
          <a:xfrm>
            <a:off x="507950" y="3427809"/>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7" name="Text 13"/>
          <p:cNvSpPr/>
          <p:nvPr/>
        </p:nvSpPr>
        <p:spPr>
          <a:xfrm>
            <a:off x="602615" y="3472160"/>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8" name="Text 14"/>
          <p:cNvSpPr/>
          <p:nvPr/>
        </p:nvSpPr>
        <p:spPr>
          <a:xfrm>
            <a:off x="939701" y="3427809"/>
            <a:ext cx="318668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Skip repositories for now</a:t>
            </a:r>
            <a:endParaRPr lang="en-US" sz="1550" dirty="0"/>
          </a:p>
        </p:txBody>
      </p:sp>
      <p:sp>
        <p:nvSpPr>
          <p:cNvPr id="19" name="Text 15"/>
          <p:cNvSpPr/>
          <p:nvPr/>
        </p:nvSpPr>
        <p:spPr>
          <a:xfrm>
            <a:off x="939701" y="3675311"/>
            <a:ext cx="3186684"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Leave them unselected, then select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Continue</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20" name="Text 16"/>
          <p:cNvSpPr/>
          <p:nvPr/>
        </p:nvSpPr>
        <p:spPr>
          <a:xfrm>
            <a:off x="4320927" y="1974056"/>
            <a:ext cx="4311551" cy="1893540"/>
          </a:xfrm>
          <a:prstGeom prst="roundRect">
            <a:avLst>
              <a:gd name="adj" fmla="val 4024"/>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1" name="Image 2" descr="Sign in to the Copilot app"/>
          <p:cNvPicPr>
            <a:picLocks noChangeAspect="1"/>
          </p:cNvPicPr>
          <p:nvPr/>
        </p:nvPicPr>
        <p:blipFill>
          <a:blip r:embed="rId4"/>
          <a:stretch>
            <a:fillRect/>
          </a:stretch>
        </p:blipFill>
        <p:spPr>
          <a:xfrm>
            <a:off x="4368552" y="2021681"/>
            <a:ext cx="4216301" cy="17982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8"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Connect your repository</a:t>
            </a:r>
            <a:endParaRPr lang="en-US" sz="4000" dirty="0"/>
          </a:p>
        </p:txBody>
      </p:sp>
      <p:sp>
        <p:nvSpPr>
          <p:cNvPr id="11" name="Text 7"/>
          <p:cNvSpPr/>
          <p:nvPr/>
        </p:nvSpPr>
        <p:spPr>
          <a:xfrm>
            <a:off x="711101" y="296227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Fork the course, add it to the app as a project, and start your first project session.</a:t>
            </a:r>
            <a:endParaRPr lang="en-US" sz="1900" dirty="0"/>
          </a:p>
        </p:txBody>
      </p:sp>
    </p:spTree>
  </p:cSld>
  <p:clrMapOvr>
    <a:masterClrMapping/>
  </p:clrMapOvr>
</p: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00</ns1:t>
            </ns1:r>
            <ns1:endParaRPr lang="en-US" sz="1150" dirty="0"/>
          </ns1:p>
        </ns0:txBody>
      </ns0:sp>
      <ns0:pic>
        <ns0:nvPicPr>
          <ns0:cNvPr id="5" name="Image 1" descr="Open this chapter on GitHub">
            <ns1:hlinkClick ns3:id="rId3" tooltip="https://github.com/github/copilot-app-for-beginners/tree/main/00-setu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CONNECT YOUR REPOSITORY</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Fork it, then add it as a repository</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A fork is your own copy of the course on GitHub.</ns1:t>
            </ns1:r>
            <ns1:endParaRPr lang="en-US" sz="1650" dirty="0"/>
          </ns1:p>
        </ns0:txBody>
      </ns0:sp>
      <ns0:sp>
        <ns0:nvSpPr>
          <ns0:cNvPr id="9" name="Text 5"/>
          <ns0:cNvSpPr/>
          <ns0:nvPr/>
        </ns0:nvSpPr>
        <ns0:spPr>
          <ns1:xfrm>
            <ns1:off x="507950" y="1770757"/>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0" name="Text 6"/>
          <ns0:cNvSpPr/>
          <ns0:nvPr/>
        </ns0:nvSpPr>
        <ns0:spPr>
          <ns1:xfrm>
            <ns1:off x="602615" y="1815108"/>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1" name="Text 7"/>
          <ns0:cNvSpPr/>
          <ns0:nvPr/>
        </ns0:nvSpPr>
        <ns0:spPr>
          <ns1:xfrm>
            <ns1:off x="939701" y="1770757"/>
            <ns1:ext cx="3186684"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Fork the course</ns1:t>
            </ns1:r>
            <ns1:endParaRPr lang="en-US" sz="1550" dirty="0"/>
          </ns1:p>
        </ns0:txBody>
      </ns0:sp>
      <ns0:sp>
        <ns0:nvSpPr>
          <ns0:cNvPr id="12" name="Text 8"/>
          <ns0:cNvSpPr/>
          <ns0:nvPr/>
        </ns0:nvSpPr>
        <ns0:spPr>
          <ns1:xfrm>
            <ns1:off x="939701" y="2018258"/>
            <ns1:ext cx="3186684" cy="613321"/>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On GitHub.com, fork </ns1:t>
            </ns1:r>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github/copilot-app-for-beginners</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
        <ns0:nvSpPr>
          <ns0:cNvPr id="13" name="Text 9"/>
          <ns0:cNvSpPr/>
          <ns0:nvPr/>
        </ns0:nvSpPr>
        <ns0:spPr>
          <ns1:xfrm>
            <ns1:off x="507950" y="2885480"/>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4" name="Text 10"/>
          <ns0:cNvSpPr/>
          <ns0:nvPr/>
        </ns0:nvSpPr>
        <ns0:spPr>
          <ns1:xfrm>
            <ns1:off x="602615" y="292983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5" name="Text 11"/>
          <ns0:cNvSpPr/>
          <ns0:nvPr/>
        </ns0:nvSpPr>
        <ns0:spPr>
          <ns1:xfrm>
            <ns1:off x="939701" y="2885480"/>
            <ns1:ext cx="3186684"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Add it to the app</ns1:t>
            </ns1:r>
            <ns1:endParaRPr lang="en-US" sz="1550" dirty="0"/>
          </ns1:p>
        </ns0:txBody>
      </ns0:sp>
      <ns0:sp>
        <ns0:nvSpPr>
          <ns0:cNvPr id="16" name="Text 12"/>
          <ns0:cNvSpPr/>
          <ns0:nvPr/>
        </ns0:nvSpPr>
        <ns0:spPr>
          <ns1:xfrm>
            <ns1:off x="939701" y="3132981"/>
            <ns1:ext cx="3186684"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Select + (1), then Add GitHub repository (2).</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
        <ns0:nvSpPr>
          <ns0:cNvPr id="17" name="Text 13"/>
          <ns0:cNvSpPr/>
          <ns0:nvPr/>
        </ns0:nvSpPr>
        <ns0:spPr>
          <ns1:xfrm>
            <ns1:off x="507950" y="3783062"/>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8" name="Text 14"/>
          <ns0:cNvSpPr/>
          <ns0:nvPr/>
        </ns0:nvSpPr>
        <ns0:spPr>
          <ns1:xfrm>
            <ns1:off x="602615" y="3827413"/>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19" name="Text 15"/>
          <ns0:cNvSpPr/>
          <ns0:nvPr/>
        </ns0:nvSpPr>
        <ns0:spPr>
          <ns1:xfrm>
            <ns1:off x="939701" y="3783062"/>
            <ns1:ext cx="3186684"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Select your fork</ns1:t>
            </ns1:r>
            <ns1:endParaRPr lang="en-US" sz="1550" dirty="0"/>
          </ns1:p>
        </ns0:txBody>
      </ns0:sp>
      <ns0:sp>
        <ns0:nvSpPr>
          <ns0:cNvPr id="20" name="Text 16"/>
          <ns0:cNvSpPr/>
          <ns0:nvPr/>
        </ns0:nvSpPr>
        <ns0:spPr>
          <ns1:xfrm>
            <ns1:off x="939701" y="4030563"/>
            <ns1:ext cx="3186684"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The result that starts with your username.</ns1:t>
            </ns1:r>
            <ns1:endParaRPr lang="en-US" sz="1350" dirty="0"/>
          </ns1:p>
        </ns0:txBody>
      </ns0:sp>
      <ns0:sp>
        <ns0:nvSpPr>
          <ns0:cNvPr id="21" name="Text 17"/>
          <ns0:cNvSpPr/>
          <ns0:nvPr/>
        </ns0:nvSpPr>
        <ns0:spPr>
          <ns1:xfrm>
            <ns1:off x="4320927" y="1579811"/>
            <ns1:ext cx="4311551" cy="3037731"/>
          </ns1:xfrm>
          <ns1:prstGeom prst="roundRect">
            <ns1:avLst>
              <ns1:gd name="adj" fmla="val 250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22" name="Image 2" descr="Sessions menu with callouts for + and Add GitHub repository"/>
          <ns0:cNvPicPr>
            <ns1:picLocks noChangeAspect="1"/>
          </ns0:cNvPicPr>
          <ns0:nvPr/>
        </ns0:nvPicPr>
        <ns0:blipFill>
          <ns1:blip ns3:embed="rId4"/>
          <ns1:stretch>
            <ns1:fillRect/>
          </ns1:stretch>
        </ns0:blipFill>
        <ns0:spPr>
          <ns1:xfrm>
            <ns1:off x="4368552" y="1627436"/>
            <ns1:ext cx="4216301" cy="2942481"/>
          </ns1:xfrm>
          <ns1:prstGeom prst="rect">
            <ns1:avLst/>
          </ns1:prstGeom>
        </ns0:spPr>
      </ns0:pic>
    </ns0:spTree>
  </ns0:cSld>
  <ns0:clrMapOvr>
    <ns1:masterClrMapping/>
  </ns0:clrMapOvr>
</ns0: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CONNECT YOUR REPOSITORY</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Start a session in your current checkout</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Only for this one-time setup. Chapter 02 introduces worktrees.</a:t>
            </a:r>
            <a:endParaRPr lang="en-US" sz="1650" dirty="0"/>
          </a:p>
        </p:txBody>
      </p:sp>
      <p:sp>
        <p:nvSpPr>
          <p:cNvPr id="9" name="Text 5"/>
          <p:cNvSpPr/>
          <p:nvPr/>
        </p:nvSpPr>
        <p:spPr>
          <a:xfrm>
            <a:off x="893415" y="1577876"/>
            <a:ext cx="3420070" cy="2990850"/>
          </a:xfrm>
          <a:prstGeom prst="roundRect">
            <a:avLst>
              <a:gd name="adj" fmla="val 254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Where to work menu with callouts for the workspace selector and Current checkout"/>
          <p:cNvPicPr>
            <a:picLocks noChangeAspect="1"/>
          </p:cNvPicPr>
          <p:nvPr/>
        </p:nvPicPr>
        <p:blipFill>
          <a:blip r:embed="rId4"/>
          <a:stretch>
            <a:fillRect/>
          </a:stretch>
        </p:blipFill>
        <p:spPr>
          <a:xfrm>
            <a:off x="941040" y="1625501"/>
            <a:ext cx="3324820" cy="2895600"/>
          </a:xfrm>
          <a:prstGeom prst="rect">
            <a:avLst/>
          </a:prstGeom>
        </p:spPr>
      </p:pic>
      <p:sp>
        <p:nvSpPr>
          <p:cNvPr id="11" name="Text 6"/>
          <p:cNvSpPr/>
          <p:nvPr/>
        </p:nvSpPr>
        <p:spPr>
          <a:xfrm>
            <a:off x="5003750" y="1952923"/>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12" name="Text 7"/>
          <p:cNvSpPr/>
          <p:nvPr/>
        </p:nvSpPr>
        <p:spPr>
          <a:xfrm>
            <a:off x="5098415" y="199727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8"/>
          <p:cNvSpPr/>
          <p:nvPr/>
        </p:nvSpPr>
        <p:spPr>
          <a:xfrm>
            <a:off x="5435501" y="1952923"/>
            <a:ext cx="2600718"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Start a project session</a:t>
            </a:r>
            <a:endParaRPr lang="en-US" sz="1550" dirty="0"/>
          </a:p>
        </p:txBody>
      </p:sp>
      <p:sp>
        <p:nvSpPr>
          <p:cNvPr id="14" name="Text 9"/>
          <p:cNvSpPr/>
          <p:nvPr/>
        </p:nvSpPr>
        <p:spPr>
          <a:xfrm>
            <a:off x="5435501" y="2200424"/>
            <a:ext cx="260071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Point to the project, then select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15" name="Text 10"/>
          <p:cNvSpPr/>
          <p:nvPr/>
        </p:nvSpPr>
        <p:spPr>
          <a:xfrm>
            <a:off x="5003750" y="2652415"/>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16" name="Text 11"/>
          <p:cNvSpPr/>
          <p:nvPr/>
        </p:nvSpPr>
        <p:spPr>
          <a:xfrm>
            <a:off x="5098415" y="2696766"/>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7" name="Text 12"/>
          <p:cNvSpPr/>
          <p:nvPr/>
        </p:nvSpPr>
        <p:spPr>
          <a:xfrm>
            <a:off x="5435501" y="2652415"/>
            <a:ext cx="3264408"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Choose Current checkout</a:t>
            </a:r>
            <a:endParaRPr lang="en-US" sz="1550" dirty="0"/>
          </a:p>
        </p:txBody>
      </p:sp>
      <p:sp>
        <p:nvSpPr>
          <p:cNvPr id="18" name="Text 13"/>
          <p:cNvSpPr/>
          <p:nvPr/>
        </p:nvSpPr>
        <p:spPr>
          <a:xfrm>
            <a:off x="5435501" y="2899916"/>
            <a:ext cx="3264408"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 the workspace selector below the prompt.</a:t>
            </a:r>
            <a:endParaRPr lang="en-US" sz="1350" dirty="0"/>
          </a:p>
        </p:txBody>
      </p:sp>
      <p:sp>
        <p:nvSpPr>
          <p:cNvPr id="19" name="Text 14"/>
          <p:cNvSpPr/>
          <p:nvPr/>
        </p:nvSpPr>
        <p:spPr>
          <a:xfrm>
            <a:off x="5003750" y="3549997"/>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20" name="Text 15"/>
          <p:cNvSpPr/>
          <p:nvPr/>
        </p:nvSpPr>
        <p:spPr>
          <a:xfrm>
            <a:off x="5098415" y="3594348"/>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1" name="Text 16"/>
          <p:cNvSpPr/>
          <p:nvPr/>
        </p:nvSpPr>
        <p:spPr>
          <a:xfrm>
            <a:off x="5435501" y="3549997"/>
            <a:ext cx="3264408"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Send a test prompt</a:t>
            </a:r>
            <a:endParaRPr lang="en-US" sz="1550" dirty="0"/>
          </a:p>
        </p:txBody>
      </p:sp>
      <p:sp>
        <p:nvSpPr>
          <p:cNvPr id="22" name="Text 17"/>
          <p:cNvSpPr/>
          <p:nvPr/>
        </p:nvSpPr>
        <p:spPr>
          <a:xfrm>
            <a:off x="5435501" y="3797498"/>
            <a:ext cx="3264408"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"Name the top-level folders in this repository."</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8"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571774"/>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188282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Soundcheck and seed</a:t>
            </a:r>
            <a:endParaRPr lang="en-US" sz="4000" dirty="0"/>
          </a:p>
        </p:txBody>
      </p:sp>
      <p:sp>
        <p:nvSpPr>
          <p:cNvPr id="11" name="Text 7"/>
          <p:cNvSpPr/>
          <p:nvPr/>
        </p:nvSpPr>
        <p:spPr>
          <a:xfrm>
            <a:off x="711101" y="267012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12" name="Text 8"/>
          <p:cNvSpPr/>
          <p:nvPr/>
        </p:nvSpPr>
        <p:spPr>
          <a:xfrm>
            <a:off x="711101" y="2936677"/>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Check your tools, then seed your fork with the practice work for later chapters.</a:t>
            </a:r>
            <a:endParaRPr lang="en-US" sz="1900" dirty="0"/>
          </a:p>
        </p:txBody>
      </p:sp>
    </p:spTree>
  </p:cSld>
  <p:clrMapOvr>
    <a:masterClrMapping/>
  </p:clrMapOvr>
</p:sld>
</file>

<file path=ppt/slides/slide11.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1">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00</ns1:t>
            </ns1:r>
            <ns1:endParaRPr lang="en-US" sz="1150" dirty="0"/>
          </ns1:p>
        </ns0:txBody>
      </ns0:sp>
      <ns0:pic>
        <ns0:nvPicPr>
          <ns0:cNvPr id="5" name="Image 1" descr="Open this chapter on GitHub">
            <ns1:hlinkClick ns3:id="rId3" tooltip="https://github.com/github/copilot-app-for-beginners/tree/main/00-setu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SOUNDCHECK</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Check your tools in Terminal</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Open View &gt; Toggle Panel &gt; Terminal.</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ns1:r>
            <ns1:endParaRPr lang="en-US" sz="1650" dirty="0"/>
          </ns1:p>
        </ns0:txBody>
      </ns0:sp>
      <ns0:sp>
        <ns0:nvSpPr>
          <ns0:cNvPr id="9" name="Text 5"/>
          <ns0:cNvSpPr/>
          <ns0:nvPr/>
        </ns0:nvSpPr>
        <ns0:spPr>
          <ns1:xfrm>
            <ns1:off x="507950" y="1574750"/>
            <ns1:ext cx="3682901" cy="2503884"/>
          </ns1:xfrm>
          <ns1:prstGeom prst="roundRect">
            <ns1:avLst>
              <ns1:gd name="adj" fmla="val 4058"/>
            </ns1:avLst>
          </ns1:prstGeom>
          <ns1:solidFill>
            <ns1:srgbClr val="F6F8FA"/>
          </ns1:solidFill>
          <ns1:ln w="9525">
            <ns1:solidFill>
              <ns1:srgbClr val="D1D9E0"/>
            </ns1:solidFill>
          </ns1:ln>
        </ns0:spPr>
        <ns0:txBody>
          <ns1:bodyPr wrap="square" rtlCol="0" anchor="ctr"/>
          <ns1:lstStyle/>
          <ns1:p>
            <ns1:pPr indent="0" marL="0">
              <ns1:buNone/>
            </ns1:pPr>
            <ns1:endParaRPr lang="en-US" dirty="0"/>
          </ns1:p>
        </ns0:txBody>
      </ns0:sp>
      <ns0:sp>
        <ns0:nvSpPr>
          <ns0:cNvPr id="10" name="Text 6"/>
          <ns0:cNvSpPr/>
          <ns0:nvPr/>
        </ns0:nvSpPr>
        <ns0:spPr>
          <ns1:xfrm>
            <ns1:off x="517475" y="1584275"/>
            <ns1:ext cx="3663851" cy="238125"/>
          </ns1:xfrm>
          <ns1:prstGeom prst="rect">
            <ns1:avLst/>
          </ns1:prstGeom>
          <ns1:solidFill>
            <ns1:srgbClr val="EFF2F5"/>
          </ns1:solidFill>
          <ns1:ln/>
        </ns0:spPr>
        <ns0:txBody>
          <ns1:bodyPr wrap="square" rtlCol="0" anchor="ctr"/>
          <ns1:lstStyle/>
          <ns1:p>
            <ns1:pPr indent="0" marL="0">
              <ns1:buNone/>
            </ns1:pPr>
            <ns1:endParaRPr lang="en-US" dirty="0"/>
          </ns1:p>
        </ns0:txBody>
      </ns0:sp>
      <ns0:sp>
        <ns0:nvSpPr>
          <ns0:cNvPr id="11" name="Shape 7"/>
          <ns0:cNvSpPr/>
          <ns0:nvPr/>
        </ns0:nvSpPr>
        <ns0:spPr>
          <ns1:xfrm>
            <ns1:off x="517475" y="1817638"/>
            <ns1:ext cx="3663851" cy="0"/>
          </ns1:xfrm>
          <ns1:prstGeom prst="line">
            <ns1:avLst/>
          </ns1:prstGeom>
          <ns1:noFill/>
          <ns1:ln w="9525">
            <ns1:solidFill>
              <ns1:srgbClr val="D1D9E0"/>
            </ns1:solidFill>
            <ns1:prstDash val="solid"/>
          </ns1:ln>
        </ns0:spPr>
      </ns0:sp>
      <ns0:sp>
        <ns0:nvSpPr>
          <ns0:cNvPr id="12" name="Text 8"/>
          <ns0:cNvSpPr/>
          <ns0:nvPr/>
        </ns0:nvSpPr>
        <ns0:spPr>
          <ns1:xfrm>
            <ns1:off x="631775" y="1654076"/>
            <ns1:ext cx="88850" cy="88850"/>
          </ns1:xfrm>
          <ns1:prstGeom prst="roundRect">
            <ns1:avLst>
              <ns1:gd name="adj" fmla="val 1029150"/>
            </ns1:avLst>
          </ns1:prstGeom>
          <ns1:solidFill>
            <ns1:srgbClr val="FF5F57"/>
          </ns1:solidFill>
          <ns1:ln/>
        </ns0:spPr>
        <ns0:txBody>
          <ns1:bodyPr wrap="square" rtlCol="0" anchor="ctr"/>
          <ns1:lstStyle/>
          <ns1:p>
            <ns1:pPr indent="0" marL="0">
              <ns1:buNone/>
            </ns1:pPr>
            <ns1:endParaRPr lang="en-US" dirty="0"/>
          </ns1:p>
        </ns0:txBody>
      </ns0:sp>
      <ns0:sp>
        <ns0:nvSpPr>
          <ns0:cNvPr id="13" name="Text 9"/>
          <ns0:cNvSpPr/>
          <ns0:nvPr/>
        </ns0:nvSpPr>
        <ns0:spPr>
          <ns1:xfrm>
            <ns1:off x="771376" y="1654076"/>
            <ns1:ext cx="88850" cy="88850"/>
          </ns1:xfrm>
          <ns1:prstGeom prst="roundRect">
            <ns1:avLst>
              <ns1:gd name="adj" fmla="val 1029150"/>
            </ns1:avLst>
          </ns1:prstGeom>
          <ns1:solidFill>
            <ns1:srgbClr val="FEBC2E"/>
          </ns1:solidFill>
          <ns1:ln/>
        </ns0:spPr>
        <ns0:txBody>
          <ns1:bodyPr wrap="square" rtlCol="0" anchor="ctr"/>
          <ns1:lstStyle/>
          <ns1:p>
            <ns1:pPr indent="0" marL="0">
              <ns1:buNone/>
            </ns1:pPr>
            <ns1:endParaRPr lang="en-US" dirty="0"/>
          </ns1:p>
        </ns0:txBody>
      </ns0:sp>
      <ns0:sp>
        <ns0:nvSpPr>
          <ns0:cNvPr id="14" name="Text 10"/>
          <ns0:cNvSpPr/>
          <ns0:nvPr/>
        </ns0:nvSpPr>
        <ns0:spPr>
          <ns1:xfrm>
            <ns1:off x="910977" y="1654076"/>
            <ns1:ext cx="88850" cy="88850"/>
          </ns1:xfrm>
          <ns1:prstGeom prst="roundRect">
            <ns1:avLst>
              <ns1:gd name="adj" fmla="val 1029150"/>
            </ns1:avLst>
          </ns1:prstGeom>
          <ns1:solidFill>
            <ns1:srgbClr val="28C840"/>
          </ns1:solidFill>
          <ns1:ln/>
        </ns0:spPr>
        <ns0:txBody>
          <ns1:bodyPr wrap="square" rtlCol="0" anchor="ctr"/>
          <ns1:lstStyle/>
          <ns1:p>
            <ns1:pPr indent="0" marL="0">
              <ns1:buNone/>
            </ns1:pPr>
            <ns1:endParaRPr lang="en-US" dirty="0"/>
          </ns1:p>
        </ns0:txBody>
      </ns0:sp>
      <ns0:sp>
        <ns0:nvSpPr>
          <ns0:cNvPr id="15" name="Text 11"/>
          <ns0:cNvSpPr/>
          <ns0:nvPr/>
        </ns0:nvSpPr>
        <ns0:spPr>
          <ns1:xfrm>
            <ns1:off x="1126778" y="1612850"/>
            <ns1:ext cx="715152" cy="171450"/>
          </ns1:xfrm>
          <ns1:prstGeom prst="rect">
            <ns1:avLst/>
          </ns1:prstGeom>
          <ns1:noFill/>
          <ns1:ln/>
        </ns0:spPr>
        <ns0:txBody>
          <ns1:bodyPr wrap="square" lIns="0" tIns="0" rIns="0" bIns="0" rtlCol="0" anchor="t"/>
          <ns1:lstStyle/>
          <ns1:p>
            <ns1:pPr algn="l" indent="0" marL="0">
              <ns1:buNone/>
            </ns1:pPr>
            <ns1:r>
              <ns1:rPr lang="en-US" sz="1150" dirty="0">
                <ns1:solidFill>
                  <ns1:srgbClr val="59636E"/>
                </ns1:solidFill>
                <ns1:latin typeface="Courier New" pitchFamily="34" charset="0"/>
                <ns1:ea typeface="Courier New" pitchFamily="34" charset="-122"/>
                <ns1:cs typeface="Courier New" pitchFamily="34" charset="-120"/>
              </ns1:rPr>
              <ns1:t>Terminal</ns1:t>
            </ns1:r>
            <ns1:endParaRPr lang="en-US" sz="1150" dirty="0"/>
          </ns1:p>
        </ns0:txBody>
      </ns0:sp>
      <ns0:sp>
        <ns0:nvSpPr>
          <ns0:cNvPr id="16" name="Text 12"/>
          <ns0:cNvSpPr/>
          <ns0:nvPr/>
        </ns0:nvSpPr>
        <ns0:spPr>
          <ns1:xfrm>
            <ns1:off x="669875" y="1949351"/>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git --version</ns1:t>
            </ns1:r>
            <ns1:endParaRPr lang="en-US" sz="1450" dirty="0"/>
          </ns1:p>
        </ns0:txBody>
      </ns0:sp>
      <ns0:sp>
        <ns0:nvSpPr>
          <ns0:cNvPr id="17" name="Text 13"/>
          <ns0:cNvSpPr/>
          <ns0:nvPr/>
        </ns0:nvSpPr>
        <ns0:spPr>
          <ns1:xfrm>
            <ns1:off x="669875" y="2188071"/>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node -v</ns1:t>
            </ns1:r>
            <ns1:endParaRPr lang="en-US" sz="1450" dirty="0"/>
          </ns1:p>
        </ns0:txBody>
      </ns0:sp>
      <ns0:sp>
        <ns0:nvSpPr>
          <ns0:cNvPr id="18" name="Text 14"/>
          <ns0:cNvSpPr/>
          <ns0:nvPr/>
        </ns0:nvSpPr>
        <ns0:spPr>
          <ns1:xfrm>
            <ns1:off x="669875" y="2426791"/>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npm -v</ns1:t>
            </ns1:r>
            <ns1:endParaRPr lang="en-US" sz="1450" dirty="0"/>
          </ns1:p>
        </ns0:txBody>
      </ns0:sp>
      <ns0:sp>
        <ns0:nvSpPr>
          <ns0:cNvPr id="19" name="Text 15"/>
          <ns0:cNvSpPr/>
          <ns0:nvPr/>
        </ns0:nvSpPr>
        <ns0:spPr>
          <ns1:xfrm>
            <ns1:off x="669875" y="2665512"/>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gh --version</ns1:t>
            </ns1:r>
            <ns1:endParaRPr lang="en-US" sz="1450" dirty="0"/>
          </ns1:p>
        </ns0:txBody>
      </ns0:sp>
      <ns0:sp>
        <ns0:nvSpPr>
          <ns0:cNvPr id="20" name="Text 16"/>
          <ns0:cNvSpPr/>
          <ns0:nvPr/>
        </ns0:nvSpPr>
        <ns0:spPr>
          <ns1:xfrm>
            <ns1:off x="669875" y="2904232"/>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dirty="0">
                <ns1:solidFill>
                  <ns1:srgbClr val="818B98"/>
                </ns1:solidFill>
                <ns1:latin typeface="Courier New" pitchFamily="34" charset="0"/>
                <ns1:ea typeface="Courier New" pitchFamily="34" charset="-122"/>
                <ns1:cs typeface="Courier New" pitchFamily="34" charset="-120"/>
              </ns1:rPr>
              <ns1:t># gh has its own sign-in</ns1:t>
            </ns1:r>
            <ns1:endParaRPr lang="en-US" sz="1450" dirty="0"/>
          </ns1:p>
        </ns0:txBody>
      </ns0:sp>
      <ns0:sp>
        <ns0:nvSpPr>
          <ns0:cNvPr id="21" name="Text 17"/>
          <ns0:cNvSpPr/>
          <ns0:nvPr/>
        </ns0:nvSpPr>
        <ns0:spPr>
          <ns1:xfrm>
            <ns1:off x="669875" y="3142952"/>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gh auth status</ns1:t>
            </ns1:r>
            <ns1:endParaRPr lang="en-US" sz="1450" dirty="0"/>
          </ns1:p>
        </ns0:txBody>
      </ns0:sp>
      <ns0:sp>
        <ns0:nvSpPr>
          <ns0:cNvPr id="22" name="Text 18"/>
          <ns0:cNvSpPr/>
          <ns0:nvPr/>
        </ns0:nvSpPr>
        <ns0:spPr>
          <ns1:xfrm>
            <ns1:off x="4444752" y="1574750"/>
            <ns1:ext cx="4191149" cy="1046262"/>
          </ns1:xfrm>
          <ns1:prstGeom prst="roundRect">
            <ns1:avLst>
              <ns1:gd name="adj" fmla="val 12138"/>
            </ns1:avLst>
          </ns1:prstGeom>
          <ns1:solidFill>
            <ns1:srgbClr val="FFFFFF"/>
          </ns1:solidFill>
          <ns1:ln w="9525">
            <ns1:solidFill>
              <ns1:srgbClr val="8CE7A5"/>
            </ns1:solidFill>
          </ns1:ln>
        </ns0:spPr>
        <ns0:txBody>
          <ns1:bodyPr wrap="square" rtlCol="0" anchor="ctr"/>
          <ns1:lstStyle/>
          <ns1:p>
            <ns1:pPr indent="0" marL="0">
              <ns1:buNone/>
            </ns1:pPr>
            <ns1:endParaRPr lang="en-US" dirty="0"/>
          </ns1:p>
        </ns0:txBody>
      </ns0:sp>
      <ns0:sp>
        <ns0:nvSpPr>
          <ns0:cNvPr id="23" name="Text 19"/>
          <ns0:cNvSpPr/>
          <ns0:nvPr/>
        </ns0:nvSpPr>
        <ns0:spPr>
          <ns1:xfrm>
            <ns1:off x="4631978" y="1761976"/>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24"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4714577" y="1844576"/>
            <ns1:ext cx="215801" cy="215801"/>
          </ns1:xfrm>
          <ns1:prstGeom prst="rect">
            <ns1:avLst/>
          </ns1:prstGeom>
        </ns0:spPr>
      </ns0:pic>
      <ns0:sp>
        <ns0:nvSpPr>
          <ns0:cNvPr id="25" name="Text 20"/>
          <ns0:cNvSpPr/>
          <ns0:nvPr/>
        </ns0:nvSpPr>
        <ns0:spPr>
          <ns1:xfrm>
            <ns1:off x="5127278" y="1838176"/>
            <ns1:ext cx="2233351"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Each shows a version</ns1:t>
            </ns1:r>
            <ns1:endParaRPr lang="en-US" sz="1650" dirty="0"/>
          </ns1:p>
        </ns0:txBody>
      </ns0:sp>
      <ns0:sp>
        <ns0:nvSpPr>
          <ns0:cNvPr id="26" name="Text 21"/>
          <ns0:cNvSpPr/>
          <ns0:nvPr/>
        </ns0:nvSpPr>
        <ns0:spPr>
          <ns1:xfrm>
            <ns1:off x="4631978" y="2219176"/>
            <ns1:ext cx="3893031" cy="21461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Install only what is missing, then check again.</ns1:t>
            </ns1:r>
            <ns1:endParaRPr lang="en-US" sz="1400" dirty="0"/>
          </ns1:p>
        </ns0:txBody>
      </ns0:sp>
      <ns0:sp>
        <ns0:nvSpPr>
          <ns0:cNvPr id="27" name="Text 22"/>
          <ns0:cNvSpPr/>
          <ns0:nvPr/>
        </ns0:nvSpPr>
        <ns0:spPr>
          <ns1:xfrm>
            <ns1:off x="4444752" y="2798713"/>
            <ns1:ext cx="4191149" cy="1279922"/>
          </ns1:xfrm>
          <ns1:prstGeom prst="roundRect">
            <ns1:avLst>
              <ns1:gd name="adj" fmla="val 9922"/>
            </ns1:avLst>
          </ns1:prstGeom>
          <ns1:solidFill>
            <ns1:srgbClr val="FFFFFF"/>
          </ns1:solidFill>
          <ns1:ln w="9525">
            <ns1:solidFill>
              <ns1:srgbClr val="9CD7FF"/>
            </ns1:solidFill>
          </ns1:ln>
        </ns0:spPr>
        <ns0:txBody>
          <ns1:bodyPr wrap="square" rtlCol="0" anchor="ctr"/>
          <ns1:lstStyle/>
          <ns1:p>
            <ns1:pPr indent="0" marL="0">
              <ns1:buNone/>
            </ns1:pPr>
            <ns1:endParaRPr lang="en-US" dirty="0"/>
          </ns1:p>
        </ns0:txBody>
      </ns0:sp>
      <ns0:sp>
        <ns0:nvSpPr>
          <ns0:cNvPr id="28" name="Text 23"/>
          <ns0:cNvSpPr/>
          <ns0:nvPr/>
        </ns0:nvSpPr>
        <ns0:spPr>
          <ns1:xfrm>
            <ns1:off x="4631978" y="2985939"/>
            <ns1:ext cx="381000" cy="381000"/>
          </ns1:xfrm>
          <ns1:prstGeom prst="roundRect">
            <ns1:avLst>
              <ns1:gd name="adj" fmla="val 23333"/>
            </ns1:avLst>
          </ns1:prstGeom>
          <ns1:solidFill>
            <ns1:srgbClr val="DDF4FF"/>
          </ns1:solidFill>
          <ns1:ln/>
        </ns0:spPr>
        <ns0:txBody>
          <ns1:bodyPr wrap="square" rtlCol="0" anchor="ctr"/>
          <ns1:lstStyle/>
          <ns1:p>
            <ns1:pPr indent="0" marL="0">
              <ns1:buNone/>
            </ns1:pPr>
            <ns1:endParaRPr lang="en-US" dirty="0"/>
          </ns1:p>
        </ns0:txBody>
      </ns0:sp>
      <ns0:pic>
        <ns0:nvPicPr>
          <ns0:cNvPr id="29"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4714577" y="3068538"/>
            <ns1:ext cx="215801" cy="215801"/>
          </ns1:xfrm>
          <ns1:prstGeom prst="rect">
            <ns1:avLst/>
          </ns1:prstGeom>
        </ns0:spPr>
      </ns0:pic>
      <ns0:sp>
        <ns0:nvSpPr>
          <ns0:cNvPr id="30" name="Text 24"/>
          <ns0:cNvSpPr/>
          <ns0:nvPr/>
        </ns0:nvSpPr>
        <ns0:spPr>
          <ns1:xfrm>
            <ns1:off x="5127278" y="3062139"/>
            <ns1:ext cx="2220903"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Check the gh account</ns1:t>
            </ns1:r>
            <ns1:endParaRPr lang="en-US" sz="1650" dirty="0"/>
          </ns1:p>
        </ns0:txBody>
      </ns0:sp>
      <ns0:sp>
        <ns0:nvSpPr>
          <ns0:cNvPr id="31" name="Text 25"/>
          <ns0:cNvSpPr/>
          <ns0:nvPr/>
        </ns0:nvSpPr>
        <ns0:spPr>
          <ns1:xfrm>
            <ns1:off x="4631978" y="3443139"/>
            <ns1:ext cx="3893031" cy="44827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It must own your fork. If not, run </ns1:t>
            </ns1:r>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gh auth login</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ns1:t>
            </ns1:r>
            <ns1:endParaRPr lang="en-US" sz="1400" dirty="0"/>
          </ns1:p>
        </ns0:txBody>
      </ns0:sp>
    </ns0:spTree>
  </ns0:cSld>
  <ns0:clrMapOvr>
    <ns1:masterClrMapping/>
  </ns0:clrMapOvr>
</ns0: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LOAD THE SONG</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Seed your fork with practice work</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Preview the script before you run it.</a:t>
            </a:r>
            <a:endParaRPr lang="en-US" sz="1650" dirty="0"/>
          </a:p>
        </p:txBody>
      </p:sp>
      <p:sp>
        <p:nvSpPr>
          <p:cNvPr id="9" name="Text 5"/>
          <p:cNvSpPr/>
          <p:nvPr/>
        </p:nvSpPr>
        <p:spPr>
          <a:xfrm>
            <a:off x="507950" y="157475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602615" y="161910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939701" y="1574750"/>
            <a:ext cx="269878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Enable Actions in your fork</a:t>
            </a:r>
            <a:endParaRPr lang="en-US" sz="1550" dirty="0"/>
          </a:p>
        </p:txBody>
      </p:sp>
      <p:sp>
        <p:nvSpPr>
          <p:cNvPr id="12" name="Text 8"/>
          <p:cNvSpPr/>
          <p:nvPr/>
        </p:nvSpPr>
        <p:spPr>
          <a:xfrm>
            <a:off x="939701" y="1822252"/>
            <a:ext cx="269878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Forks turn workflows off by default.</a:t>
            </a:r>
            <a:endParaRPr lang="en-US" sz="1350" dirty="0"/>
          </a:p>
        </p:txBody>
      </p:sp>
      <p:sp>
        <p:nvSpPr>
          <p:cNvPr id="13" name="Text 9"/>
          <p:cNvSpPr/>
          <p:nvPr/>
        </p:nvSpPr>
        <p:spPr>
          <a:xfrm>
            <a:off x="507950" y="2121843"/>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602615" y="216619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939701" y="2121843"/>
            <a:ext cx="313704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Preview with a dry run</a:t>
            </a:r>
            <a:endParaRPr lang="en-US" sz="1550" dirty="0"/>
          </a:p>
        </p:txBody>
      </p:sp>
      <p:sp>
        <p:nvSpPr>
          <p:cNvPr id="16" name="Text 12"/>
          <p:cNvSpPr/>
          <p:nvPr/>
        </p:nvSpPr>
        <p:spPr>
          <a:xfrm>
            <a:off x="939701" y="2369344"/>
            <a:ext cx="3137044" cy="207615"/>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Confirm </a:t>
            </a:r>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Repository:</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shows your fork.</a:t>
            </a:r>
            <a:endParaRPr lang="en-US" sz="1350" dirty="0"/>
          </a:p>
        </p:txBody>
      </p:sp>
      <p:sp>
        <p:nvSpPr>
          <p:cNvPr id="17" name="Text 13"/>
          <p:cNvSpPr/>
          <p:nvPr/>
        </p:nvSpPr>
        <p:spPr>
          <a:xfrm>
            <a:off x="507950" y="2678460"/>
            <a:ext cx="5740301" cy="465981"/>
          </a:xfrm>
          <a:prstGeom prst="roundRect">
            <a:avLst>
              <a:gd name="adj" fmla="val 21804"/>
            </a:avLst>
          </a:prstGeom>
          <a:solidFill>
            <a:srgbClr val="F6F8FA"/>
          </a:solidFill>
          <a:ln w="9525">
            <a:solidFill>
              <a:srgbClr val="D1D9E0"/>
            </a:solidFill>
          </a:ln>
        </p:spPr>
        <p:txBody>
          <a:bodyPr wrap="square" rtlCol="0" anchor="ctr"/>
          <a:lstStyle/>
          <a:p>
            <a:pPr indent="0" marL="0">
              <a:buNone/>
            </a:pPr>
            <a:endParaRPr lang="en-US" dirty="0"/>
          </a:p>
        </p:txBody>
      </p:sp>
      <p:sp>
        <p:nvSpPr>
          <p:cNvPr id="18" name="Text 14"/>
          <p:cNvSpPr/>
          <p:nvPr/>
        </p:nvSpPr>
        <p:spPr>
          <a:xfrm>
            <a:off x="669875" y="2814935"/>
            <a:ext cx="5524780" cy="193030"/>
          </a:xfrm>
          <a:prstGeom prst="rect">
            <a:avLst/>
          </a:prstGeom>
          <a:noFill/>
          <a:ln/>
        </p:spPr>
        <p:txBody>
          <a:bodyPr wrap="square" lIns="0" tIns="0" rIns="0" bIns="0" rtlCol="0" anchor="t"/>
          <a:lstStyle/>
          <a:p>
            <a:pPr algn="l" indent="0" marL="0">
              <a:lnSpc>
                <a:spcPts val="1520"/>
              </a:lnSpc>
              <a:buNone/>
            </a:pPr>
            <a:r>
              <a:rPr lang="en-US" sz="1200" dirty="0">
                <a:solidFill>
                  <a:srgbClr val="1F2328"/>
                </a:solidFill>
                <a:latin typeface="Courier New" pitchFamily="34" charset="0"/>
                <a:ea typeface="Courier New" pitchFamily="34" charset="-122"/>
                <a:cs typeface="Courier New" pitchFamily="34" charset="-120"/>
              </a:rPr>
              <a:t>node .github/scripts/setup-training-scenarios.js --dry-run</a:t>
            </a:r>
            <a:endParaRPr lang="en-US" sz="1200" dirty="0"/>
          </a:p>
        </p:txBody>
      </p:sp>
      <p:sp>
        <p:nvSpPr>
          <p:cNvPr id="19" name="Text 15"/>
          <p:cNvSpPr/>
          <p:nvPr/>
        </p:nvSpPr>
        <p:spPr>
          <a:xfrm>
            <a:off x="507950" y="324594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0" name="Text 16"/>
          <p:cNvSpPr/>
          <p:nvPr/>
        </p:nvSpPr>
        <p:spPr>
          <a:xfrm>
            <a:off x="602615" y="329029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1" name="Text 17"/>
          <p:cNvSpPr/>
          <p:nvPr/>
        </p:nvSpPr>
        <p:spPr>
          <a:xfrm>
            <a:off x="939701" y="3245941"/>
            <a:ext cx="2218777"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Run it</a:t>
            </a:r>
            <a:endParaRPr lang="en-US" sz="1550" dirty="0"/>
          </a:p>
        </p:txBody>
      </p:sp>
      <p:sp>
        <p:nvSpPr>
          <p:cNvPr id="22" name="Text 18"/>
          <p:cNvSpPr/>
          <p:nvPr/>
        </p:nvSpPr>
        <p:spPr>
          <a:xfrm>
            <a:off x="939701" y="3493443"/>
            <a:ext cx="2218777" cy="207615"/>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Wait for </a:t>
            </a:r>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Setup complete.</a:t>
            </a:r>
            <a:endParaRPr lang="en-US" sz="1350" dirty="0"/>
          </a:p>
        </p:txBody>
      </p:sp>
      <p:sp>
        <p:nvSpPr>
          <p:cNvPr id="23" name="Text 19"/>
          <p:cNvSpPr/>
          <p:nvPr/>
        </p:nvSpPr>
        <p:spPr>
          <a:xfrm>
            <a:off x="507950" y="3802559"/>
            <a:ext cx="5740301" cy="465981"/>
          </a:xfrm>
          <a:prstGeom prst="roundRect">
            <a:avLst>
              <a:gd name="adj" fmla="val 21804"/>
            </a:avLst>
          </a:prstGeom>
          <a:solidFill>
            <a:srgbClr val="F6F8FA"/>
          </a:solidFill>
          <a:ln w="9525">
            <a:solidFill>
              <a:srgbClr val="D1D9E0"/>
            </a:solidFill>
          </a:ln>
        </p:spPr>
        <p:txBody>
          <a:bodyPr wrap="square" rtlCol="0" anchor="ctr"/>
          <a:lstStyle/>
          <a:p>
            <a:pPr indent="0" marL="0">
              <a:buNone/>
            </a:pPr>
            <a:endParaRPr lang="en-US" dirty="0"/>
          </a:p>
        </p:txBody>
      </p:sp>
      <p:sp>
        <p:nvSpPr>
          <p:cNvPr id="24" name="Text 20"/>
          <p:cNvSpPr/>
          <p:nvPr/>
        </p:nvSpPr>
        <p:spPr>
          <a:xfrm>
            <a:off x="669875" y="3939034"/>
            <a:ext cx="5524780" cy="193030"/>
          </a:xfrm>
          <a:prstGeom prst="rect">
            <a:avLst/>
          </a:prstGeom>
          <a:noFill/>
          <a:ln/>
        </p:spPr>
        <p:txBody>
          <a:bodyPr wrap="square" lIns="0" tIns="0" rIns="0" bIns="0" rtlCol="0" anchor="t"/>
          <a:lstStyle/>
          <a:p>
            <a:pPr algn="l" indent="0" marL="0">
              <a:lnSpc>
                <a:spcPts val="1520"/>
              </a:lnSpc>
              <a:buNone/>
            </a:pPr>
            <a:r>
              <a:rPr lang="en-US" sz="1200" dirty="0">
                <a:solidFill>
                  <a:srgbClr val="1F2328"/>
                </a:solidFill>
                <a:latin typeface="Courier New" pitchFamily="34" charset="0"/>
                <a:ea typeface="Courier New" pitchFamily="34" charset="-122"/>
                <a:cs typeface="Courier New" pitchFamily="34" charset="-120"/>
              </a:rPr>
              <a:t>node .github/scripts/setup-training-scenarios.js --yes</a:t>
            </a:r>
            <a:endParaRPr lang="en-US" sz="1200" dirty="0"/>
          </a:p>
        </p:txBody>
      </p:sp>
      <p:sp>
        <p:nvSpPr>
          <p:cNvPr id="25" name="Text 21"/>
          <p:cNvSpPr/>
          <p:nvPr/>
        </p:nvSpPr>
        <p:spPr>
          <a:xfrm>
            <a:off x="6425952" y="1574750"/>
            <a:ext cx="2209949" cy="2078682"/>
          </a:xfrm>
          <a:prstGeom prst="roundRect">
            <a:avLst>
              <a:gd name="adj" fmla="val 6110"/>
            </a:avLst>
          </a:prstGeom>
          <a:solidFill>
            <a:srgbClr val="FFFFFF"/>
          </a:solidFill>
          <a:ln w="9525">
            <a:solidFill>
              <a:srgbClr val="8CE7A5"/>
            </a:solidFill>
          </a:ln>
        </p:spPr>
        <p:txBody>
          <a:bodyPr wrap="square" rtlCol="0" anchor="ctr"/>
          <a:lstStyle/>
          <a:p>
            <a:pPr indent="0" marL="0">
              <a:buNone/>
            </a:pPr>
            <a:endParaRPr lang="en-US" dirty="0"/>
          </a:p>
        </p:txBody>
      </p:sp>
      <p:sp>
        <p:nvSpPr>
          <p:cNvPr id="26" name="Text 22"/>
          <p:cNvSpPr/>
          <p:nvPr/>
        </p:nvSpPr>
        <p:spPr>
          <a:xfrm>
            <a:off x="6587877" y="1736675"/>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7"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70477" y="1819275"/>
            <a:ext cx="215801" cy="215801"/>
          </a:xfrm>
          <a:prstGeom prst="rect">
            <a:avLst/>
          </a:prstGeom>
        </p:spPr>
      </p:pic>
      <p:sp>
        <p:nvSpPr>
          <p:cNvPr id="28" name="Text 23"/>
          <p:cNvSpPr/>
          <p:nvPr/>
        </p:nvSpPr>
        <p:spPr>
          <a:xfrm>
            <a:off x="7083177" y="1820466"/>
            <a:ext cx="721072" cy="213420"/>
          </a:xfrm>
          <a:prstGeom prst="rect">
            <a:avLst/>
          </a:prstGeom>
          <a:noFill/>
          <a:ln/>
        </p:spPr>
        <p:txBody>
          <a:bodyPr wrap="square" lIns="0" tIns="0" rIns="0" bIns="0" rtlCol="0" anchor="t"/>
          <a:lstStyle/>
          <a:p>
            <a:pPr algn="l" indent="0" marL="0">
              <a:lnSpc>
                <a:spcPts val="1680"/>
              </a:lnSpc>
              <a:buNone/>
            </a:pPr>
            <a:r>
              <a:rPr lang="en-US" sz="1550" b="1" dirty="0">
                <a:solidFill>
                  <a:srgbClr val="1F2328"/>
                </a:solidFill>
                <a:latin typeface="Arial" pitchFamily="34" charset="0"/>
                <a:ea typeface="Arial" pitchFamily="34" charset="-122"/>
                <a:cs typeface="Arial" pitchFamily="34" charset="-120"/>
              </a:rPr>
              <a:t>You get</a:t>
            </a:r>
            <a:endParaRPr lang="en-US" sz="1550" dirty="0"/>
          </a:p>
        </p:txBody>
      </p:sp>
      <p:sp>
        <p:nvSpPr>
          <p:cNvPr id="29" name="Text 24"/>
          <p:cNvSpPr/>
          <p:nvPr/>
        </p:nvSpPr>
        <p:spPr>
          <a:xfrm>
            <a:off x="6587877" y="2273796"/>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0" name="Text 25"/>
          <p:cNvSpPr/>
          <p:nvPr/>
        </p:nvSpPr>
        <p:spPr>
          <a:xfrm>
            <a:off x="6746528" y="2193875"/>
            <a:ext cx="53435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Labels</a:t>
            </a:r>
            <a:endParaRPr lang="en-US" sz="1400" dirty="0"/>
          </a:p>
        </p:txBody>
      </p:sp>
      <p:sp>
        <p:nvSpPr>
          <p:cNvPr id="31" name="Text 26"/>
          <p:cNvSpPr/>
          <p:nvPr/>
        </p:nvSpPr>
        <p:spPr>
          <a:xfrm>
            <a:off x="6587877" y="2544217"/>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2" name="Text 27"/>
          <p:cNvSpPr/>
          <p:nvPr/>
        </p:nvSpPr>
        <p:spPr>
          <a:xfrm>
            <a:off x="6746528" y="2464296"/>
            <a:ext cx="524030"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Issues</a:t>
            </a:r>
            <a:endParaRPr lang="en-US" sz="1400" dirty="0"/>
          </a:p>
        </p:txBody>
      </p:sp>
      <p:sp>
        <p:nvSpPr>
          <p:cNvPr id="33" name="Text 28"/>
          <p:cNvSpPr/>
          <p:nvPr/>
        </p:nvSpPr>
        <p:spPr>
          <a:xfrm>
            <a:off x="6587877" y="2814638"/>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4" name="Text 29"/>
          <p:cNvSpPr/>
          <p:nvPr/>
        </p:nvSpPr>
        <p:spPr>
          <a:xfrm>
            <a:off x="6746528" y="2734717"/>
            <a:ext cx="1451101"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Practice branches</a:t>
            </a:r>
            <a:endParaRPr lang="en-US" sz="1400" dirty="0"/>
          </a:p>
        </p:txBody>
      </p:sp>
      <p:sp>
        <p:nvSpPr>
          <p:cNvPr id="35" name="Text 30"/>
          <p:cNvSpPr/>
          <p:nvPr/>
        </p:nvSpPr>
        <p:spPr>
          <a:xfrm>
            <a:off x="6587877" y="3085058"/>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6" name="Text 31"/>
          <p:cNvSpPr/>
          <p:nvPr/>
        </p:nvSpPr>
        <p:spPr>
          <a:xfrm>
            <a:off x="6746528" y="3005138"/>
            <a:ext cx="1048060"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Pull requests</a:t>
            </a:r>
            <a:endParaRPr lang="en-US" sz="1400" dirty="0"/>
          </a:p>
        </p:txBody>
      </p:sp>
      <p:sp>
        <p:nvSpPr>
          <p:cNvPr id="37" name="Text 32"/>
          <p:cNvSpPr/>
          <p:nvPr/>
        </p:nvSpPr>
        <p:spPr>
          <a:xfrm>
            <a:off x="6425952" y="3780383"/>
            <a:ext cx="2209949" cy="488156"/>
          </a:xfrm>
          <a:prstGeom prst="roundRect">
            <a:avLst>
              <a:gd name="adj" fmla="val 20813"/>
            </a:avLst>
          </a:prstGeom>
          <a:solidFill>
            <a:srgbClr val="FFF8C5"/>
          </a:solidFill>
          <a:ln w="9525">
            <a:solidFill>
              <a:srgbClr val="E7C85A"/>
            </a:solidFill>
          </a:ln>
        </p:spPr>
        <p:txBody>
          <a:bodyPr wrap="square" rtlCol="0" anchor="ctr"/>
          <a:lstStyle/>
          <a:p>
            <a:pPr indent="0" marL="0">
              <a:buNone/>
            </a:pPr>
            <a:endParaRPr lang="en-US" dirty="0"/>
          </a:p>
        </p:txBody>
      </p:sp>
      <p:pic>
        <p:nvPicPr>
          <p:cNvPr id="3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13178" y="3922812"/>
            <a:ext cx="203150" cy="203150"/>
          </a:xfrm>
          <a:prstGeom prst="rect">
            <a:avLst/>
          </a:prstGeom>
        </p:spPr>
      </p:pic>
      <p:sp>
        <p:nvSpPr>
          <p:cNvPr id="39" name="Text 33"/>
          <p:cNvSpPr/>
          <p:nvPr/>
        </p:nvSpPr>
        <p:spPr>
          <a:xfrm>
            <a:off x="6943279" y="3916859"/>
            <a:ext cx="1525030" cy="215205"/>
          </a:xfrm>
          <a:prstGeom prst="rect">
            <a:avLst/>
          </a:prstGeom>
          <a:noFill/>
          <a:ln/>
        </p:spPr>
        <p:txBody>
          <a:bodyPr wrap="square" lIns="0" tIns="0" rIns="0" bIns="0" rtlCol="0" anchor="t"/>
          <a:lstStyle/>
          <a:p>
            <a:pPr algn="l" indent="0" marL="0">
              <a:lnSpc>
                <a:spcPts val="1620"/>
              </a:lnSpc>
              <a:buNone/>
            </a:pPr>
            <a:r>
              <a:rPr lang="en-US" sz="1350" dirty="0">
                <a:solidFill>
                  <a:srgbClr val="1F2328"/>
                </a:solidFill>
                <a:latin typeface="Arial" pitchFamily="34" charset="0"/>
                <a:ea typeface="Arial" pitchFamily="34" charset="-122"/>
                <a:cs typeface="Arial" pitchFamily="34" charset="-120"/>
              </a:rPr>
              <a:t>Bugs stay off </a:t>
            </a:r>
            <a:pPr algn="l" indent="0" marL="0">
              <a:lnSpc>
                <a:spcPts val="1620"/>
              </a:lnSpc>
              <a:buNone/>
            </a:pPr>
            <a:r>
              <a:rPr lang="en-US" sz="1350" b="1" dirty="0">
                <a:solidFill>
                  <a:srgbClr val="0550AE"/>
                </a:solidFill>
                <a:latin typeface="Courier New" pitchFamily="34" charset="0"/>
                <a:ea typeface="Courier New" pitchFamily="34" charset="-122"/>
                <a:cs typeface="Courier New" pitchFamily="34" charset="-120"/>
              </a:rPr>
              <a:t>main</a:t>
            </a:r>
            <a:pPr algn="l" indent="0" marL="0">
              <a:lnSpc>
                <a:spcPts val="1620"/>
              </a:lnSpc>
              <a:buNone/>
            </a:pPr>
            <a:r>
              <a:rPr lang="en-US" sz="1350" dirty="0">
                <a:solidFill>
                  <a:srgbClr val="1F2328"/>
                </a:solidFill>
                <a:latin typeface="Arial" pitchFamily="34" charset="0"/>
                <a:ea typeface="Arial" pitchFamily="34" charset="-122"/>
                <a:cs typeface="Arial" pitchFamily="34" charset="-120"/>
              </a:rPr>
              <a: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SOUNDCHECK</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Learn more about the course repository</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Use the prompt box in the project session, not Terminal.</a:t>
            </a:r>
            <a:endParaRPr lang="en-US" sz="1650" dirty="0"/>
          </a:p>
        </p:txBody>
      </p:sp>
      <p:sp>
        <p:nvSpPr>
          <p:cNvPr id="9" name="Text 5"/>
          <p:cNvSpPr/>
          <p:nvPr/>
        </p:nvSpPr>
        <p:spPr>
          <a:xfrm>
            <a:off x="507950" y="2096691"/>
            <a:ext cx="8127950" cy="1028551"/>
          </a:xfrm>
          <a:prstGeom prst="roundRect">
            <a:avLst>
              <a:gd name="adj" fmla="val 7408"/>
            </a:avLst>
          </a:prstGeom>
          <a:solidFill>
            <a:srgbClr val="FFFFFF"/>
          </a:solidFill>
          <a:ln/>
        </p:spPr>
        <p:txBody>
          <a:bodyPr wrap="square" rtlCol="0" anchor="ctr"/>
          <a:lstStyle/>
          <a:p>
            <a:pPr indent="0" marL="0">
              <a:buNone/>
            </a:pPr>
            <a:endParaRPr lang="en-US" dirty="0"/>
          </a:p>
        </p:txBody>
      </p:sp>
      <p:sp>
        <p:nvSpPr>
          <p:cNvPr id="10" name="Shape 6"/>
          <p:cNvSpPr/>
          <p:nvPr/>
        </p:nvSpPr>
        <p:spPr>
          <a:xfrm>
            <a:off x="507950" y="2101453"/>
            <a:ext cx="8127950" cy="0"/>
          </a:xfrm>
          <a:prstGeom prst="line">
            <a:avLst/>
          </a:prstGeom>
          <a:noFill/>
          <a:ln w="9525">
            <a:solidFill>
              <a:srgbClr val="E0C5FF"/>
            </a:solidFill>
            <a:prstDash val="solid"/>
          </a:ln>
        </p:spPr>
      </p:sp>
      <p:sp>
        <p:nvSpPr>
          <p:cNvPr id="11" name="Shape 7"/>
          <p:cNvSpPr/>
          <p:nvPr/>
        </p:nvSpPr>
        <p:spPr>
          <a:xfrm>
            <a:off x="8631138" y="2096691"/>
            <a:ext cx="0" cy="1028551"/>
          </a:xfrm>
          <a:prstGeom prst="line">
            <a:avLst/>
          </a:prstGeom>
          <a:noFill/>
          <a:ln w="9525">
            <a:solidFill>
              <a:srgbClr val="E0C5FF"/>
            </a:solidFill>
            <a:prstDash val="solid"/>
          </a:ln>
        </p:spPr>
      </p:sp>
      <p:sp>
        <p:nvSpPr>
          <p:cNvPr id="12" name="Shape 8"/>
          <p:cNvSpPr/>
          <p:nvPr/>
        </p:nvSpPr>
        <p:spPr>
          <a:xfrm>
            <a:off x="507950" y="3120479"/>
            <a:ext cx="8127950" cy="0"/>
          </a:xfrm>
          <a:prstGeom prst="line">
            <a:avLst/>
          </a:prstGeom>
          <a:noFill/>
          <a:ln w="9525">
            <a:solidFill>
              <a:srgbClr val="E0C5FF"/>
            </a:solidFill>
            <a:prstDash val="solid"/>
          </a:ln>
        </p:spPr>
      </p:sp>
      <p:sp>
        <p:nvSpPr>
          <p:cNvPr id="13" name="Shape 9"/>
          <p:cNvSpPr/>
          <p:nvPr/>
        </p:nvSpPr>
        <p:spPr>
          <a:xfrm>
            <a:off x="531763" y="2096691"/>
            <a:ext cx="0" cy="1028551"/>
          </a:xfrm>
          <a:prstGeom prst="line">
            <a:avLst/>
          </a:prstGeom>
          <a:noFill/>
          <a:ln w="47625">
            <a:solidFill>
              <a:srgbClr val="8250DF"/>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33276" y="2236291"/>
            <a:ext cx="165050" cy="165050"/>
          </a:xfrm>
          <a:prstGeom prst="rect">
            <a:avLst/>
          </a:prstGeom>
        </p:spPr>
      </p:pic>
      <p:sp>
        <p:nvSpPr>
          <p:cNvPr id="15" name="Text 10"/>
          <p:cNvSpPr/>
          <p:nvPr/>
        </p:nvSpPr>
        <p:spPr>
          <a:xfrm>
            <a:off x="974527" y="2233166"/>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16" name="Text 11"/>
          <p:cNvSpPr/>
          <p:nvPr/>
        </p:nvSpPr>
        <p:spPr>
          <a:xfrm>
            <a:off x="733276" y="2455366"/>
            <a:ext cx="7869707" cy="533400"/>
          </a:xfrm>
          <a:prstGeom prst="rect">
            <a:avLst/>
          </a:prstGeom>
          <a:noFill/>
          <a:ln/>
        </p:spPr>
        <p:txBody>
          <a:bodyPr wrap="square" lIns="0" tIns="0" rIns="0" bIns="0" rtlCol="0" anchor="t"/>
          <a:lstStyle/>
          <a:p>
            <a:pPr algn="l" indent="0" marL="0">
              <a:lnSpc>
                <a:spcPts val="2100"/>
              </a:lnSpc>
              <a:buNone/>
            </a:pPr>
            <a:r>
              <a:rPr lang="en-US" sz="1650" dirty="0">
                <a:solidFill>
                  <a:srgbClr val="1F2328"/>
                </a:solidFill>
                <a:latin typeface="Arial" pitchFamily="34" charset="0"/>
                <a:ea typeface="Arial" pitchFamily="34" charset="-122"/>
                <a:cs typeface="Arial" pitchFamily="34" charset="-120"/>
              </a:rPr>
              <a:t>Give me an overview of the copilot-app-for-beginners course repository. Focus on the learning path and the samples/book-app-web folder.</a:t>
            </a:r>
            <a:endParaRPr lang="en-US" sz="1650" dirty="0"/>
          </a:p>
        </p:txBody>
      </p:sp>
      <p:sp>
        <p:nvSpPr>
          <p:cNvPr id="17" name="Text 12"/>
          <p:cNvSpPr/>
          <p:nvPr/>
        </p:nvSpPr>
        <p:spPr>
          <a:xfrm>
            <a:off x="507950" y="3353842"/>
            <a:ext cx="8127950" cy="772120"/>
          </a:xfrm>
          <a:prstGeom prst="roundRect">
            <a:avLst>
              <a:gd name="adj" fmla="val 13159"/>
            </a:avLst>
          </a:prstGeom>
          <a:solidFill>
            <a:srgbClr val="DAFBE1"/>
          </a:solidFill>
          <a:ln w="9525">
            <a:solidFill>
              <a:srgbClr val="8CE7A5"/>
            </a:solidFill>
          </a:ln>
        </p:spPr>
        <p:txBody>
          <a:bodyPr wrap="square" rtlCol="0" anchor="ctr"/>
          <a:lstStyle/>
          <a:p>
            <a:pPr indent="0" marL="0">
              <a:buNone/>
            </a:pPr>
            <a:endParaRPr lang="en-US" dirty="0"/>
          </a:p>
        </p:txBody>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95176" y="3638252"/>
            <a:ext cx="203150" cy="203150"/>
          </a:xfrm>
          <a:prstGeom prst="rect">
            <a:avLst/>
          </a:prstGeom>
        </p:spPr>
      </p:pic>
      <p:sp>
        <p:nvSpPr>
          <p:cNvPr id="19" name="Text 13"/>
          <p:cNvSpPr/>
          <p:nvPr/>
        </p:nvSpPr>
        <p:spPr>
          <a:xfrm>
            <a:off x="1025277" y="3490317"/>
            <a:ext cx="7571866" cy="499170"/>
          </a:xfrm>
          <a:prstGeom prst="rect">
            <a:avLst/>
          </a:prstGeom>
          <a:noFill/>
          <a:ln/>
        </p:spPr>
        <p:txBody>
          <a:bodyPr wrap="square" lIns="0" tIns="0" rIns="0" bIns="0" rtlCol="0" anchor="t"/>
          <a:lstStyle/>
          <a:p>
            <a:pPr algn="l" indent="0" marL="0">
              <a:lnSpc>
                <a:spcPts val="1890"/>
              </a:lnSpc>
              <a:buNone/>
            </a:pPr>
            <a:r>
              <a:rPr lang="en-US" sz="1550" b="1" dirty="0">
                <a:solidFill>
                  <a:srgbClr val="1A7F37"/>
                </a:solidFill>
                <a:latin typeface="Arial" pitchFamily="34" charset="0"/>
                <a:ea typeface="Arial" pitchFamily="34" charset="-122"/>
                <a:cs typeface="Arial" pitchFamily="34" charset="-120"/>
              </a:rPr>
              <a:t>Expected:</a:t>
            </a:r>
            <a:pPr algn="l" indent="0" marL="0">
              <a:lnSpc>
                <a:spcPts val="1890"/>
              </a:lnSpc>
              <a:buNone/>
            </a:pPr>
            <a:r>
              <a:rPr lang="en-US" sz="1550" dirty="0">
                <a:solidFill>
                  <a:srgbClr val="1F2328"/>
                </a:solidFill>
                <a:latin typeface="Arial" pitchFamily="34" charset="0"/>
                <a:ea typeface="Arial" pitchFamily="34" charset="-122"/>
                <a:cs typeface="Arial" pitchFamily="34" charset="-120"/>
              </a:rPr>
              <a:t> A summary of the course path that names </a:t>
            </a:r>
            <a:pPr algn="l" indent="0" marL="0">
              <a:lnSpc>
                <a:spcPts val="1890"/>
              </a:lnSpc>
              <a:buNone/>
            </a:pPr>
            <a:r>
              <a:rPr lang="en-US" sz="1550" b="1" dirty="0">
                <a:solidFill>
                  <a:srgbClr val="0550AE"/>
                </a:solidFill>
                <a:latin typeface="Courier New" pitchFamily="34" charset="0"/>
                <a:ea typeface="Courier New" pitchFamily="34" charset="-122"/>
                <a:cs typeface="Courier New" pitchFamily="34" charset="-120"/>
              </a:rPr>
              <a:t>samples/book-app-web</a:t>
            </a:r>
            <a:pPr algn="l" indent="0" marL="0">
              <a:lnSpc>
                <a:spcPts val="1890"/>
              </a:lnSpc>
              <a:buNone/>
            </a:pPr>
            <a:r>
              <a:rPr lang="en-US" sz="1550" dirty="0">
                <a:solidFill>
                  <a:srgbClr val="1F2328"/>
                </a:solidFill>
                <a:latin typeface="Arial" pitchFamily="34" charset="0"/>
                <a:ea typeface="Arial" pitchFamily="34" charset="-122"/>
                <a:cs typeface="Arial" pitchFamily="34" charset="-120"/>
              </a:rPr>
              <a:t> as the sample app.</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606451"/>
            <a:ext cx="3219322" cy="64784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The GitHub Copilot app is a desktop control center for agent-driven coding work.</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596926"/>
            <a:ext cx="3219322" cy="666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Your fork is connected as a project. The course uses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samples/book-app-web</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Terminal runs commands. The prompt box sends requests to the agent.</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The setup script created the practice work that later chapters use.</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0-setup" history="1" highlightClick="0" endSnd="0">
                  <a:extLst>
                    <a:ext uri="{A12FA001-AC4F-418D-AE19-62706E023703}">
                      <ahyp:hlinkClr xmlns:ahyp="http://schemas.microsoft.com/office/drawing/2018/hyperlinkcolor" val="tx"/>
                    </a:ext>
                  </a:extLst>
                </a:hlinkClick>
              </a:rPr>
              <a:t>Open Chapter 00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01</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1-tour-the-app" history="1" highlightClick="0" endSnd="0">
                  <a:extLst>
                    <a:ext uri="{A12FA001-AC4F-418D-AE19-62706E023703}">
                      <ahyp:hlinkClr xmlns:ahyp="http://schemas.microsoft.com/office/drawing/2018/hyperlinkcolor" val="tx"/>
                    </a:ext>
                  </a:extLst>
                </a:hlinkClick>
              </a:rPr>
              <a:t>Tour the App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00: Set Up the GitHub Copilot app</dc:title>
  <dc:subject>PptxGenJS Presentation</dc:subject>
  <dc:creator>GitHub Copilot app for Beginners</dc:creator>
  <cp:lastModifiedBy>GitHub Copilot app for Beginners</cp:lastModifiedBy>
  <cp:revision>1</cp:revision>
  <dcterms:created xsi:type="dcterms:W3CDTF">2026-10-06T21:16:45Z</dcterms:created>
  <dcterms:modified xsi:type="dcterms:W3CDTF">2026-10-06T21:16:45Z</dcterms:modified>
</cp:coreProperties>
</file>